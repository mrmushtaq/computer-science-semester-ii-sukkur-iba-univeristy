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9" r:id="rId6"/>
    <p:sldId id="324" r:id="rId7"/>
    <p:sldId id="260" r:id="rId8"/>
    <p:sldId id="261" r:id="rId9"/>
    <p:sldId id="266" r:id="rId10"/>
    <p:sldId id="267" r:id="rId11"/>
    <p:sldId id="275" r:id="rId12"/>
    <p:sldId id="268" r:id="rId13"/>
    <p:sldId id="269" r:id="rId14"/>
    <p:sldId id="270" r:id="rId15"/>
    <p:sldId id="271" r:id="rId16"/>
    <p:sldId id="276" r:id="rId17"/>
    <p:sldId id="272" r:id="rId18"/>
    <p:sldId id="274" r:id="rId19"/>
    <p:sldId id="278" r:id="rId20"/>
    <p:sldId id="277" r:id="rId21"/>
    <p:sldId id="279" r:id="rId22"/>
    <p:sldId id="280" r:id="rId23"/>
    <p:sldId id="282" r:id="rId24"/>
    <p:sldId id="283" r:id="rId25"/>
    <p:sldId id="281" r:id="rId26"/>
    <p:sldId id="285" r:id="rId27"/>
    <p:sldId id="286" r:id="rId28"/>
    <p:sldId id="287" r:id="rId29"/>
    <p:sldId id="289" r:id="rId30"/>
    <p:sldId id="288" r:id="rId31"/>
    <p:sldId id="290" r:id="rId32"/>
    <p:sldId id="291" r:id="rId33"/>
    <p:sldId id="292" r:id="rId34"/>
    <p:sldId id="293" r:id="rId35"/>
    <p:sldId id="294" r:id="rId36"/>
    <p:sldId id="295" r:id="rId37"/>
    <p:sldId id="296" r:id="rId38"/>
    <p:sldId id="298" r:id="rId39"/>
    <p:sldId id="297" r:id="rId40"/>
    <p:sldId id="301" r:id="rId41"/>
    <p:sldId id="299" r:id="rId42"/>
    <p:sldId id="300" r:id="rId43"/>
    <p:sldId id="302" r:id="rId44"/>
    <p:sldId id="303" r:id="rId45"/>
    <p:sldId id="304" r:id="rId46"/>
    <p:sldId id="305" r:id="rId47"/>
    <p:sldId id="306" r:id="rId48"/>
    <p:sldId id="307" r:id="rId49"/>
    <p:sldId id="308" r:id="rId50"/>
    <p:sldId id="309" r:id="rId51"/>
    <p:sldId id="310" r:id="rId52"/>
    <p:sldId id="311" r:id="rId53"/>
    <p:sldId id="312" r:id="rId54"/>
    <p:sldId id="313" r:id="rId55"/>
    <p:sldId id="314" r:id="rId56"/>
    <p:sldId id="315" r:id="rId57"/>
    <p:sldId id="316" r:id="rId58"/>
    <p:sldId id="317" r:id="rId59"/>
    <p:sldId id="318" r:id="rId60"/>
    <p:sldId id="319" r:id="rId61"/>
    <p:sldId id="322" r:id="rId62"/>
    <p:sldId id="323" r:id="rId63"/>
    <p:sldId id="325" r:id="rId6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BDE872-F95D-4DD7-A161-22DA0453C810}" v="16" dt="2023-04-04T17:18:19.0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63" d="100"/>
          <a:sy n="63" d="100"/>
        </p:scale>
        <p:origin x="804" y="2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viewProps" Target="view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DC8A8-929A-59CA-326E-36B46E5381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6B7F989-6A69-3A33-38A0-FB1DB5CAAFA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7413511-962E-289B-6872-A3AEC1DC820B}"/>
              </a:ext>
            </a:extLst>
          </p:cNvPr>
          <p:cNvSpPr>
            <a:spLocks noGrp="1"/>
          </p:cNvSpPr>
          <p:nvPr>
            <p:ph type="dt" sz="half" idx="10"/>
          </p:nvPr>
        </p:nvSpPr>
        <p:spPr/>
        <p:txBody>
          <a:bodyPr/>
          <a:lstStyle/>
          <a:p>
            <a:fld id="{1C13ECD4-5F91-46A6-9472-538EDE734801}" type="datetimeFigureOut">
              <a:rPr lang="en-US" smtClean="0"/>
              <a:t>4/5/2023</a:t>
            </a:fld>
            <a:endParaRPr lang="en-US"/>
          </a:p>
        </p:txBody>
      </p:sp>
      <p:sp>
        <p:nvSpPr>
          <p:cNvPr id="5" name="Footer Placeholder 4">
            <a:extLst>
              <a:ext uri="{FF2B5EF4-FFF2-40B4-BE49-F238E27FC236}">
                <a16:creationId xmlns:a16="http://schemas.microsoft.com/office/drawing/2014/main" id="{2D5057A8-FD29-7B59-1D09-A3E8D492D9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0F058D-0C27-7335-3E65-3D7B7EFC4BE6}"/>
              </a:ext>
            </a:extLst>
          </p:cNvPr>
          <p:cNvSpPr>
            <a:spLocks noGrp="1"/>
          </p:cNvSpPr>
          <p:nvPr>
            <p:ph type="sldNum" sz="quarter" idx="12"/>
          </p:nvPr>
        </p:nvSpPr>
        <p:spPr/>
        <p:txBody>
          <a:bodyPr/>
          <a:lstStyle/>
          <a:p>
            <a:fld id="{CCBDFF1C-04F1-4469-BE79-840E532DD3FC}" type="slidenum">
              <a:rPr lang="en-US" smtClean="0"/>
              <a:t>‹#›</a:t>
            </a:fld>
            <a:endParaRPr lang="en-US"/>
          </a:p>
        </p:txBody>
      </p:sp>
    </p:spTree>
    <p:extLst>
      <p:ext uri="{BB962C8B-B14F-4D97-AF65-F5344CB8AC3E}">
        <p14:creationId xmlns:p14="http://schemas.microsoft.com/office/powerpoint/2010/main" val="31692834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38322-36AC-09FB-EBAA-89AE33593F3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169CA4A-74EF-7B53-4D1A-1836A92AC0A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4D70C8-1577-5204-1A31-D216167EA941}"/>
              </a:ext>
            </a:extLst>
          </p:cNvPr>
          <p:cNvSpPr>
            <a:spLocks noGrp="1"/>
          </p:cNvSpPr>
          <p:nvPr>
            <p:ph type="dt" sz="half" idx="10"/>
          </p:nvPr>
        </p:nvSpPr>
        <p:spPr/>
        <p:txBody>
          <a:bodyPr/>
          <a:lstStyle/>
          <a:p>
            <a:fld id="{1C13ECD4-5F91-46A6-9472-538EDE734801}" type="datetimeFigureOut">
              <a:rPr lang="en-US" smtClean="0"/>
              <a:t>4/5/2023</a:t>
            </a:fld>
            <a:endParaRPr lang="en-US"/>
          </a:p>
        </p:txBody>
      </p:sp>
      <p:sp>
        <p:nvSpPr>
          <p:cNvPr id="5" name="Footer Placeholder 4">
            <a:extLst>
              <a:ext uri="{FF2B5EF4-FFF2-40B4-BE49-F238E27FC236}">
                <a16:creationId xmlns:a16="http://schemas.microsoft.com/office/drawing/2014/main" id="{87438CA6-3B90-CDC3-5014-A549DC82B7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78EA83-CBF7-7036-B275-F0BF85574491}"/>
              </a:ext>
            </a:extLst>
          </p:cNvPr>
          <p:cNvSpPr>
            <a:spLocks noGrp="1"/>
          </p:cNvSpPr>
          <p:nvPr>
            <p:ph type="sldNum" sz="quarter" idx="12"/>
          </p:nvPr>
        </p:nvSpPr>
        <p:spPr/>
        <p:txBody>
          <a:bodyPr/>
          <a:lstStyle/>
          <a:p>
            <a:fld id="{CCBDFF1C-04F1-4469-BE79-840E532DD3FC}" type="slidenum">
              <a:rPr lang="en-US" smtClean="0"/>
              <a:t>‹#›</a:t>
            </a:fld>
            <a:endParaRPr lang="en-US"/>
          </a:p>
        </p:txBody>
      </p:sp>
    </p:spTree>
    <p:extLst>
      <p:ext uri="{BB962C8B-B14F-4D97-AF65-F5344CB8AC3E}">
        <p14:creationId xmlns:p14="http://schemas.microsoft.com/office/powerpoint/2010/main" val="35693825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56D78-52D9-A9AC-2AD0-E1BB942E16C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2CEF39D-2653-7D04-8BA1-7F834332E69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51A1500-88FF-08C0-8070-A2DB182D72D1}"/>
              </a:ext>
            </a:extLst>
          </p:cNvPr>
          <p:cNvSpPr>
            <a:spLocks noGrp="1"/>
          </p:cNvSpPr>
          <p:nvPr>
            <p:ph type="dt" sz="half" idx="10"/>
          </p:nvPr>
        </p:nvSpPr>
        <p:spPr/>
        <p:txBody>
          <a:bodyPr/>
          <a:lstStyle/>
          <a:p>
            <a:fld id="{1C13ECD4-5F91-46A6-9472-538EDE734801}" type="datetimeFigureOut">
              <a:rPr lang="en-US" smtClean="0"/>
              <a:t>4/5/2023</a:t>
            </a:fld>
            <a:endParaRPr lang="en-US"/>
          </a:p>
        </p:txBody>
      </p:sp>
      <p:sp>
        <p:nvSpPr>
          <p:cNvPr id="5" name="Footer Placeholder 4">
            <a:extLst>
              <a:ext uri="{FF2B5EF4-FFF2-40B4-BE49-F238E27FC236}">
                <a16:creationId xmlns:a16="http://schemas.microsoft.com/office/drawing/2014/main" id="{185159F9-8BBF-3A63-9D55-82CEE5B494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E2C08D-CE87-01F9-CDCC-3221F859C109}"/>
              </a:ext>
            </a:extLst>
          </p:cNvPr>
          <p:cNvSpPr>
            <a:spLocks noGrp="1"/>
          </p:cNvSpPr>
          <p:nvPr>
            <p:ph type="sldNum" sz="quarter" idx="12"/>
          </p:nvPr>
        </p:nvSpPr>
        <p:spPr/>
        <p:txBody>
          <a:bodyPr/>
          <a:lstStyle/>
          <a:p>
            <a:fld id="{CCBDFF1C-04F1-4469-BE79-840E532DD3FC}" type="slidenum">
              <a:rPr lang="en-US" smtClean="0"/>
              <a:t>‹#›</a:t>
            </a:fld>
            <a:endParaRPr lang="en-US"/>
          </a:p>
        </p:txBody>
      </p:sp>
    </p:spTree>
    <p:extLst>
      <p:ext uri="{BB962C8B-B14F-4D97-AF65-F5344CB8AC3E}">
        <p14:creationId xmlns:p14="http://schemas.microsoft.com/office/powerpoint/2010/main" val="4157083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D9E7A-54D9-A3EF-7CD0-834B1017D5E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3FCDC16-F3E5-172B-1071-233FDE5EEAE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B0FFA13-60E7-6C31-9740-2E68B578B60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B4E70F5-9255-019A-31AD-125BE00651DF}"/>
              </a:ext>
            </a:extLst>
          </p:cNvPr>
          <p:cNvSpPr>
            <a:spLocks noGrp="1"/>
          </p:cNvSpPr>
          <p:nvPr>
            <p:ph type="dt" sz="half" idx="10"/>
          </p:nvPr>
        </p:nvSpPr>
        <p:spPr/>
        <p:txBody>
          <a:bodyPr/>
          <a:lstStyle/>
          <a:p>
            <a:fld id="{1C13ECD4-5F91-46A6-9472-538EDE734801}" type="datetimeFigureOut">
              <a:rPr lang="en-US" smtClean="0"/>
              <a:t>4/5/2023</a:t>
            </a:fld>
            <a:endParaRPr lang="en-US"/>
          </a:p>
        </p:txBody>
      </p:sp>
      <p:sp>
        <p:nvSpPr>
          <p:cNvPr id="6" name="Footer Placeholder 5">
            <a:extLst>
              <a:ext uri="{FF2B5EF4-FFF2-40B4-BE49-F238E27FC236}">
                <a16:creationId xmlns:a16="http://schemas.microsoft.com/office/drawing/2014/main" id="{1FAE20F5-AA6E-492C-D938-CA35686E5F9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A02CBE-0789-170C-8311-104A552B5ADE}"/>
              </a:ext>
            </a:extLst>
          </p:cNvPr>
          <p:cNvSpPr>
            <a:spLocks noGrp="1"/>
          </p:cNvSpPr>
          <p:nvPr>
            <p:ph type="sldNum" sz="quarter" idx="12"/>
          </p:nvPr>
        </p:nvSpPr>
        <p:spPr/>
        <p:txBody>
          <a:bodyPr/>
          <a:lstStyle/>
          <a:p>
            <a:fld id="{CCBDFF1C-04F1-4469-BE79-840E532DD3FC}" type="slidenum">
              <a:rPr lang="en-US" smtClean="0"/>
              <a:t>‹#›</a:t>
            </a:fld>
            <a:endParaRPr lang="en-US"/>
          </a:p>
        </p:txBody>
      </p:sp>
    </p:spTree>
    <p:extLst>
      <p:ext uri="{BB962C8B-B14F-4D97-AF65-F5344CB8AC3E}">
        <p14:creationId xmlns:p14="http://schemas.microsoft.com/office/powerpoint/2010/main" val="4355472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E05D6-A975-2BE7-DA4C-9F60B91DC6C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4BDA8EB-3171-4693-442D-574B21840B4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D496D3C-6DA0-E474-6CA8-2354EF2F4E5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124FE83-005B-41D8-7C20-527F975CF45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CD5ECA0-09CF-9B17-A1BF-9AA0B845B5D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781CFC1-147A-D521-64C7-84FABF16720C}"/>
              </a:ext>
            </a:extLst>
          </p:cNvPr>
          <p:cNvSpPr>
            <a:spLocks noGrp="1"/>
          </p:cNvSpPr>
          <p:nvPr>
            <p:ph type="dt" sz="half" idx="10"/>
          </p:nvPr>
        </p:nvSpPr>
        <p:spPr/>
        <p:txBody>
          <a:bodyPr/>
          <a:lstStyle/>
          <a:p>
            <a:fld id="{1C13ECD4-5F91-46A6-9472-538EDE734801}" type="datetimeFigureOut">
              <a:rPr lang="en-US" smtClean="0"/>
              <a:t>4/5/2023</a:t>
            </a:fld>
            <a:endParaRPr lang="en-US"/>
          </a:p>
        </p:txBody>
      </p:sp>
      <p:sp>
        <p:nvSpPr>
          <p:cNvPr id="8" name="Footer Placeholder 7">
            <a:extLst>
              <a:ext uri="{FF2B5EF4-FFF2-40B4-BE49-F238E27FC236}">
                <a16:creationId xmlns:a16="http://schemas.microsoft.com/office/drawing/2014/main" id="{D5E9300E-C216-4C0C-F2A4-2A85CFE1884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09A4184-2ED1-4081-D08D-B30F16CD41AF}"/>
              </a:ext>
            </a:extLst>
          </p:cNvPr>
          <p:cNvSpPr>
            <a:spLocks noGrp="1"/>
          </p:cNvSpPr>
          <p:nvPr>
            <p:ph type="sldNum" sz="quarter" idx="12"/>
          </p:nvPr>
        </p:nvSpPr>
        <p:spPr/>
        <p:txBody>
          <a:bodyPr/>
          <a:lstStyle/>
          <a:p>
            <a:fld id="{CCBDFF1C-04F1-4469-BE79-840E532DD3FC}" type="slidenum">
              <a:rPr lang="en-US" smtClean="0"/>
              <a:t>‹#›</a:t>
            </a:fld>
            <a:endParaRPr lang="en-US"/>
          </a:p>
        </p:txBody>
      </p:sp>
    </p:spTree>
    <p:extLst>
      <p:ext uri="{BB962C8B-B14F-4D97-AF65-F5344CB8AC3E}">
        <p14:creationId xmlns:p14="http://schemas.microsoft.com/office/powerpoint/2010/main" val="12016094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6017A-E127-3FAB-15E9-CEDAF381ADE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38BC981-A08E-C252-6F3C-943818A3259A}"/>
              </a:ext>
            </a:extLst>
          </p:cNvPr>
          <p:cNvSpPr>
            <a:spLocks noGrp="1"/>
          </p:cNvSpPr>
          <p:nvPr>
            <p:ph type="dt" sz="half" idx="10"/>
          </p:nvPr>
        </p:nvSpPr>
        <p:spPr/>
        <p:txBody>
          <a:bodyPr/>
          <a:lstStyle/>
          <a:p>
            <a:fld id="{1C13ECD4-5F91-46A6-9472-538EDE734801}" type="datetimeFigureOut">
              <a:rPr lang="en-US" smtClean="0"/>
              <a:t>4/5/2023</a:t>
            </a:fld>
            <a:endParaRPr lang="en-US"/>
          </a:p>
        </p:txBody>
      </p:sp>
      <p:sp>
        <p:nvSpPr>
          <p:cNvPr id="4" name="Footer Placeholder 3">
            <a:extLst>
              <a:ext uri="{FF2B5EF4-FFF2-40B4-BE49-F238E27FC236}">
                <a16:creationId xmlns:a16="http://schemas.microsoft.com/office/drawing/2014/main" id="{5A26F776-F937-98F0-ECC5-4A248BB5F8B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1919E3F-BFC0-2AA1-6956-332DE2A5C211}"/>
              </a:ext>
            </a:extLst>
          </p:cNvPr>
          <p:cNvSpPr>
            <a:spLocks noGrp="1"/>
          </p:cNvSpPr>
          <p:nvPr>
            <p:ph type="sldNum" sz="quarter" idx="12"/>
          </p:nvPr>
        </p:nvSpPr>
        <p:spPr/>
        <p:txBody>
          <a:bodyPr/>
          <a:lstStyle/>
          <a:p>
            <a:fld id="{CCBDFF1C-04F1-4469-BE79-840E532DD3FC}" type="slidenum">
              <a:rPr lang="en-US" smtClean="0"/>
              <a:t>‹#›</a:t>
            </a:fld>
            <a:endParaRPr lang="en-US"/>
          </a:p>
        </p:txBody>
      </p:sp>
    </p:spTree>
    <p:extLst>
      <p:ext uri="{BB962C8B-B14F-4D97-AF65-F5344CB8AC3E}">
        <p14:creationId xmlns:p14="http://schemas.microsoft.com/office/powerpoint/2010/main" val="4303689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6E1957-F4DE-9A7F-2BDB-245B1BADB1CD}"/>
              </a:ext>
            </a:extLst>
          </p:cNvPr>
          <p:cNvSpPr>
            <a:spLocks noGrp="1"/>
          </p:cNvSpPr>
          <p:nvPr>
            <p:ph type="dt" sz="half" idx="10"/>
          </p:nvPr>
        </p:nvSpPr>
        <p:spPr/>
        <p:txBody>
          <a:bodyPr/>
          <a:lstStyle/>
          <a:p>
            <a:fld id="{1C13ECD4-5F91-46A6-9472-538EDE734801}" type="datetimeFigureOut">
              <a:rPr lang="en-US" smtClean="0"/>
              <a:t>4/5/2023</a:t>
            </a:fld>
            <a:endParaRPr lang="en-US"/>
          </a:p>
        </p:txBody>
      </p:sp>
      <p:sp>
        <p:nvSpPr>
          <p:cNvPr id="3" name="Footer Placeholder 2">
            <a:extLst>
              <a:ext uri="{FF2B5EF4-FFF2-40B4-BE49-F238E27FC236}">
                <a16:creationId xmlns:a16="http://schemas.microsoft.com/office/drawing/2014/main" id="{6D1670EE-C4DE-430A-AEEE-8DF2F94FAAA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1A30BE9-4AAF-2725-D6A9-D23EEC32BEAF}"/>
              </a:ext>
            </a:extLst>
          </p:cNvPr>
          <p:cNvSpPr>
            <a:spLocks noGrp="1"/>
          </p:cNvSpPr>
          <p:nvPr>
            <p:ph type="sldNum" sz="quarter" idx="12"/>
          </p:nvPr>
        </p:nvSpPr>
        <p:spPr/>
        <p:txBody>
          <a:bodyPr/>
          <a:lstStyle/>
          <a:p>
            <a:fld id="{CCBDFF1C-04F1-4469-BE79-840E532DD3FC}" type="slidenum">
              <a:rPr lang="en-US" smtClean="0"/>
              <a:t>‹#›</a:t>
            </a:fld>
            <a:endParaRPr lang="en-US"/>
          </a:p>
        </p:txBody>
      </p:sp>
    </p:spTree>
    <p:extLst>
      <p:ext uri="{BB962C8B-B14F-4D97-AF65-F5344CB8AC3E}">
        <p14:creationId xmlns:p14="http://schemas.microsoft.com/office/powerpoint/2010/main" val="33811903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820A7-42ED-E096-221D-DF8DF19F8F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5FE47E6-1DD1-C4BC-5455-CC815CF9663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A5EE246-A740-1B18-E56B-E2FE5A506F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4ECC1F-DA7B-4F4F-7B28-FBBE48E026FF}"/>
              </a:ext>
            </a:extLst>
          </p:cNvPr>
          <p:cNvSpPr>
            <a:spLocks noGrp="1"/>
          </p:cNvSpPr>
          <p:nvPr>
            <p:ph type="dt" sz="half" idx="10"/>
          </p:nvPr>
        </p:nvSpPr>
        <p:spPr/>
        <p:txBody>
          <a:bodyPr/>
          <a:lstStyle/>
          <a:p>
            <a:fld id="{1C13ECD4-5F91-46A6-9472-538EDE734801}" type="datetimeFigureOut">
              <a:rPr lang="en-US" smtClean="0"/>
              <a:t>4/5/2023</a:t>
            </a:fld>
            <a:endParaRPr lang="en-US"/>
          </a:p>
        </p:txBody>
      </p:sp>
      <p:sp>
        <p:nvSpPr>
          <p:cNvPr id="6" name="Footer Placeholder 5">
            <a:extLst>
              <a:ext uri="{FF2B5EF4-FFF2-40B4-BE49-F238E27FC236}">
                <a16:creationId xmlns:a16="http://schemas.microsoft.com/office/drawing/2014/main" id="{8AF66620-F2CF-3D54-5D10-189D6A0C7C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02282D5-5A68-C01C-D8B1-C737B2EB6569}"/>
              </a:ext>
            </a:extLst>
          </p:cNvPr>
          <p:cNvSpPr>
            <a:spLocks noGrp="1"/>
          </p:cNvSpPr>
          <p:nvPr>
            <p:ph type="sldNum" sz="quarter" idx="12"/>
          </p:nvPr>
        </p:nvSpPr>
        <p:spPr/>
        <p:txBody>
          <a:bodyPr/>
          <a:lstStyle/>
          <a:p>
            <a:fld id="{CCBDFF1C-04F1-4469-BE79-840E532DD3FC}" type="slidenum">
              <a:rPr lang="en-US" smtClean="0"/>
              <a:t>‹#›</a:t>
            </a:fld>
            <a:endParaRPr lang="en-US"/>
          </a:p>
        </p:txBody>
      </p:sp>
    </p:spTree>
    <p:extLst>
      <p:ext uri="{BB962C8B-B14F-4D97-AF65-F5344CB8AC3E}">
        <p14:creationId xmlns:p14="http://schemas.microsoft.com/office/powerpoint/2010/main" val="37457475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703B2-3EC8-FCBE-2195-D1B674F8CD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3E84B0-F137-53C2-B746-50734654F7E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8F89538-1343-6E4F-3EC5-6336C062A8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777FE8-08E2-7FF5-A904-3AF9FC589EBB}"/>
              </a:ext>
            </a:extLst>
          </p:cNvPr>
          <p:cNvSpPr>
            <a:spLocks noGrp="1"/>
          </p:cNvSpPr>
          <p:nvPr>
            <p:ph type="dt" sz="half" idx="10"/>
          </p:nvPr>
        </p:nvSpPr>
        <p:spPr/>
        <p:txBody>
          <a:bodyPr/>
          <a:lstStyle/>
          <a:p>
            <a:fld id="{1C13ECD4-5F91-46A6-9472-538EDE734801}" type="datetimeFigureOut">
              <a:rPr lang="en-US" smtClean="0"/>
              <a:t>4/5/2023</a:t>
            </a:fld>
            <a:endParaRPr lang="en-US"/>
          </a:p>
        </p:txBody>
      </p:sp>
      <p:sp>
        <p:nvSpPr>
          <p:cNvPr id="6" name="Footer Placeholder 5">
            <a:extLst>
              <a:ext uri="{FF2B5EF4-FFF2-40B4-BE49-F238E27FC236}">
                <a16:creationId xmlns:a16="http://schemas.microsoft.com/office/drawing/2014/main" id="{EBF88390-92F9-0148-71F9-EA03B39FFF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89D0F7-D77F-B859-457C-60B0E934D16B}"/>
              </a:ext>
            </a:extLst>
          </p:cNvPr>
          <p:cNvSpPr>
            <a:spLocks noGrp="1"/>
          </p:cNvSpPr>
          <p:nvPr>
            <p:ph type="sldNum" sz="quarter" idx="12"/>
          </p:nvPr>
        </p:nvSpPr>
        <p:spPr/>
        <p:txBody>
          <a:bodyPr/>
          <a:lstStyle/>
          <a:p>
            <a:fld id="{CCBDFF1C-04F1-4469-BE79-840E532DD3FC}" type="slidenum">
              <a:rPr lang="en-US" smtClean="0"/>
              <a:t>‹#›</a:t>
            </a:fld>
            <a:endParaRPr lang="en-US"/>
          </a:p>
        </p:txBody>
      </p:sp>
    </p:spTree>
    <p:extLst>
      <p:ext uri="{BB962C8B-B14F-4D97-AF65-F5344CB8AC3E}">
        <p14:creationId xmlns:p14="http://schemas.microsoft.com/office/powerpoint/2010/main" val="3457844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75E3D-B342-164B-F345-CFE1B91DC44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70CB81B-1193-E2EA-A505-BD3F2B8C24D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8F8F62-D42D-FE43-6C82-F1E4DD96564F}"/>
              </a:ext>
            </a:extLst>
          </p:cNvPr>
          <p:cNvSpPr>
            <a:spLocks noGrp="1"/>
          </p:cNvSpPr>
          <p:nvPr>
            <p:ph type="dt" sz="half" idx="10"/>
          </p:nvPr>
        </p:nvSpPr>
        <p:spPr/>
        <p:txBody>
          <a:bodyPr/>
          <a:lstStyle/>
          <a:p>
            <a:fld id="{1C13ECD4-5F91-46A6-9472-538EDE734801}" type="datetimeFigureOut">
              <a:rPr lang="en-US" smtClean="0"/>
              <a:t>4/5/2023</a:t>
            </a:fld>
            <a:endParaRPr lang="en-US"/>
          </a:p>
        </p:txBody>
      </p:sp>
      <p:sp>
        <p:nvSpPr>
          <p:cNvPr id="5" name="Footer Placeholder 4">
            <a:extLst>
              <a:ext uri="{FF2B5EF4-FFF2-40B4-BE49-F238E27FC236}">
                <a16:creationId xmlns:a16="http://schemas.microsoft.com/office/drawing/2014/main" id="{E67EC9A1-AFFA-DF01-C95C-443D529E10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534E69-6CF7-55F5-C8CD-F8A17751BBE3}"/>
              </a:ext>
            </a:extLst>
          </p:cNvPr>
          <p:cNvSpPr>
            <a:spLocks noGrp="1"/>
          </p:cNvSpPr>
          <p:nvPr>
            <p:ph type="sldNum" sz="quarter" idx="12"/>
          </p:nvPr>
        </p:nvSpPr>
        <p:spPr/>
        <p:txBody>
          <a:bodyPr/>
          <a:lstStyle/>
          <a:p>
            <a:fld id="{CCBDFF1C-04F1-4469-BE79-840E532DD3FC}" type="slidenum">
              <a:rPr lang="en-US" smtClean="0"/>
              <a:t>‹#›</a:t>
            </a:fld>
            <a:endParaRPr lang="en-US"/>
          </a:p>
        </p:txBody>
      </p:sp>
    </p:spTree>
    <p:extLst>
      <p:ext uri="{BB962C8B-B14F-4D97-AF65-F5344CB8AC3E}">
        <p14:creationId xmlns:p14="http://schemas.microsoft.com/office/powerpoint/2010/main" val="6517700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E1FA05E-0E4D-EEA9-DE95-8715DA4A80E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011FBBD-059C-1CC1-9CC4-1B4FD802522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C2532A-562C-F842-0AE4-0542017FA5CF}"/>
              </a:ext>
            </a:extLst>
          </p:cNvPr>
          <p:cNvSpPr>
            <a:spLocks noGrp="1"/>
          </p:cNvSpPr>
          <p:nvPr>
            <p:ph type="dt" sz="half" idx="10"/>
          </p:nvPr>
        </p:nvSpPr>
        <p:spPr/>
        <p:txBody>
          <a:bodyPr/>
          <a:lstStyle/>
          <a:p>
            <a:fld id="{1C13ECD4-5F91-46A6-9472-538EDE734801}" type="datetimeFigureOut">
              <a:rPr lang="en-US" smtClean="0"/>
              <a:t>4/5/2023</a:t>
            </a:fld>
            <a:endParaRPr lang="en-US"/>
          </a:p>
        </p:txBody>
      </p:sp>
      <p:sp>
        <p:nvSpPr>
          <p:cNvPr id="5" name="Footer Placeholder 4">
            <a:extLst>
              <a:ext uri="{FF2B5EF4-FFF2-40B4-BE49-F238E27FC236}">
                <a16:creationId xmlns:a16="http://schemas.microsoft.com/office/drawing/2014/main" id="{E88AA3C5-5DE6-5569-508B-BF9FC6D52D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3D48E9-F950-C8EB-A554-3A902C638F2E}"/>
              </a:ext>
            </a:extLst>
          </p:cNvPr>
          <p:cNvSpPr>
            <a:spLocks noGrp="1"/>
          </p:cNvSpPr>
          <p:nvPr>
            <p:ph type="sldNum" sz="quarter" idx="12"/>
          </p:nvPr>
        </p:nvSpPr>
        <p:spPr/>
        <p:txBody>
          <a:bodyPr/>
          <a:lstStyle/>
          <a:p>
            <a:fld id="{CCBDFF1C-04F1-4469-BE79-840E532DD3FC}" type="slidenum">
              <a:rPr lang="en-US" smtClean="0"/>
              <a:t>‹#›</a:t>
            </a:fld>
            <a:endParaRPr lang="en-US"/>
          </a:p>
        </p:txBody>
      </p:sp>
    </p:spTree>
    <p:extLst>
      <p:ext uri="{BB962C8B-B14F-4D97-AF65-F5344CB8AC3E}">
        <p14:creationId xmlns:p14="http://schemas.microsoft.com/office/powerpoint/2010/main" val="39197647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ACC3753-6A86-FAEB-1BFC-B38C2C969F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974D1DF-B488-5B4F-7B47-386B9E9F20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702594-9726-D2A5-E7D1-2BD95A133B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13ECD4-5F91-46A6-9472-538EDE734801}" type="datetimeFigureOut">
              <a:rPr lang="en-US" smtClean="0"/>
              <a:t>4/5/2023</a:t>
            </a:fld>
            <a:endParaRPr lang="en-US"/>
          </a:p>
        </p:txBody>
      </p:sp>
      <p:sp>
        <p:nvSpPr>
          <p:cNvPr id="5" name="Footer Placeholder 4">
            <a:extLst>
              <a:ext uri="{FF2B5EF4-FFF2-40B4-BE49-F238E27FC236}">
                <a16:creationId xmlns:a16="http://schemas.microsoft.com/office/drawing/2014/main" id="{0E96BA65-A9DC-A690-6ACE-AE24E389DA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2A10361-9663-EDCA-39AA-C0BD31E8557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BDFF1C-04F1-4469-BE79-840E532DD3FC}" type="slidenum">
              <a:rPr lang="en-US" smtClean="0"/>
              <a:t>‹#›</a:t>
            </a:fld>
            <a:endParaRPr lang="en-US"/>
          </a:p>
        </p:txBody>
      </p:sp>
    </p:spTree>
    <p:extLst>
      <p:ext uri="{BB962C8B-B14F-4D97-AF65-F5344CB8AC3E}">
        <p14:creationId xmlns:p14="http://schemas.microsoft.com/office/powerpoint/2010/main" val="32281256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4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F6B131C-C32D-AFD0-6300-900FC97B4AC2}"/>
              </a:ext>
            </a:extLst>
          </p:cNvPr>
          <p:cNvSpPr>
            <a:spLocks noGrp="1"/>
          </p:cNvSpPr>
          <p:nvPr>
            <p:ph type="ctrTitle"/>
          </p:nvPr>
        </p:nvSpPr>
        <p:spPr>
          <a:xfrm>
            <a:off x="1524000" y="1293338"/>
            <a:ext cx="9144000" cy="3274592"/>
          </a:xfrm>
        </p:spPr>
        <p:txBody>
          <a:bodyPr anchor="ctr">
            <a:normAutofit/>
          </a:bodyPr>
          <a:lstStyle/>
          <a:p>
            <a:r>
              <a:rPr lang="en-US" sz="7200"/>
              <a:t>Packages and Interfaces</a:t>
            </a:r>
          </a:p>
        </p:txBody>
      </p:sp>
      <p:sp>
        <p:nvSpPr>
          <p:cNvPr id="3" name="Subtitle 2">
            <a:extLst>
              <a:ext uri="{FF2B5EF4-FFF2-40B4-BE49-F238E27FC236}">
                <a16:creationId xmlns:a16="http://schemas.microsoft.com/office/drawing/2014/main" id="{5DEFBDB0-33BA-2E68-037C-8D1794D1E821}"/>
              </a:ext>
            </a:extLst>
          </p:cNvPr>
          <p:cNvSpPr>
            <a:spLocks noGrp="1"/>
          </p:cNvSpPr>
          <p:nvPr>
            <p:ph type="subTitle" idx="1"/>
          </p:nvPr>
        </p:nvSpPr>
        <p:spPr>
          <a:xfrm>
            <a:off x="1524000" y="5514052"/>
            <a:ext cx="9144000" cy="651910"/>
          </a:xfrm>
        </p:spPr>
        <p:txBody>
          <a:bodyPr anchor="ctr">
            <a:normAutofit/>
          </a:bodyPr>
          <a:lstStyle/>
          <a:p>
            <a:r>
              <a:rPr lang="en-US" dirty="0"/>
              <a:t>Ghulam Mujtaba Shaikh</a:t>
            </a:r>
          </a:p>
        </p:txBody>
      </p:sp>
      <p:cxnSp>
        <p:nvCxnSpPr>
          <p:cNvPr id="14" name="Straight Connector 13">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35113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2F3944-49AC-30FD-55C7-8F9B158C24EE}"/>
              </a:ext>
            </a:extLst>
          </p:cNvPr>
          <p:cNvSpPr>
            <a:spLocks noGrp="1"/>
          </p:cNvSpPr>
          <p:nvPr>
            <p:ph type="title"/>
          </p:nvPr>
        </p:nvSpPr>
        <p:spPr>
          <a:xfrm>
            <a:off x="808638" y="386930"/>
            <a:ext cx="9236700" cy="1188950"/>
          </a:xfrm>
        </p:spPr>
        <p:txBody>
          <a:bodyPr anchor="b">
            <a:normAutofit/>
          </a:bodyPr>
          <a:lstStyle/>
          <a:p>
            <a:r>
              <a:rPr lang="en-US" sz="5400" dirty="0"/>
              <a:t>Agenda</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73E0098-3B2D-9AF2-F71F-F31BA2C1116C}"/>
              </a:ext>
            </a:extLst>
          </p:cNvPr>
          <p:cNvSpPr>
            <a:spLocks noGrp="1"/>
          </p:cNvSpPr>
          <p:nvPr>
            <p:ph idx="1"/>
          </p:nvPr>
        </p:nvSpPr>
        <p:spPr>
          <a:xfrm>
            <a:off x="793660" y="2599509"/>
            <a:ext cx="10143668" cy="3435531"/>
          </a:xfrm>
        </p:spPr>
        <p:txBody>
          <a:bodyPr anchor="ctr">
            <a:normAutofit/>
          </a:bodyPr>
          <a:lstStyle/>
          <a:p>
            <a:r>
              <a:rPr lang="en-US" sz="4000" dirty="0"/>
              <a:t>Recap of the last lecture</a:t>
            </a:r>
          </a:p>
          <a:p>
            <a:r>
              <a:rPr lang="en-US" sz="4000" dirty="0"/>
              <a:t>Packages</a:t>
            </a:r>
          </a:p>
          <a:p>
            <a:r>
              <a:rPr lang="en-US" sz="4000" dirty="0"/>
              <a:t>Interfaces</a:t>
            </a:r>
          </a:p>
          <a:p>
            <a:r>
              <a:rPr lang="en-US" sz="4000" dirty="0"/>
              <a:t>Recap</a:t>
            </a:r>
          </a:p>
        </p:txBody>
      </p:sp>
    </p:spTree>
    <p:extLst>
      <p:ext uri="{BB962C8B-B14F-4D97-AF65-F5344CB8AC3E}">
        <p14:creationId xmlns:p14="http://schemas.microsoft.com/office/powerpoint/2010/main" val="27584220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2F3944-49AC-30FD-55C7-8F9B158C24EE}"/>
              </a:ext>
            </a:extLst>
          </p:cNvPr>
          <p:cNvSpPr>
            <a:spLocks noGrp="1"/>
          </p:cNvSpPr>
          <p:nvPr>
            <p:ph type="title"/>
          </p:nvPr>
        </p:nvSpPr>
        <p:spPr>
          <a:xfrm>
            <a:off x="808638" y="386930"/>
            <a:ext cx="9236700" cy="1188950"/>
          </a:xfrm>
        </p:spPr>
        <p:txBody>
          <a:bodyPr anchor="b">
            <a:normAutofit/>
          </a:bodyPr>
          <a:lstStyle/>
          <a:p>
            <a:r>
              <a:rPr lang="en-US" sz="5400"/>
              <a:t>Introduction to Packages</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73E0098-3B2D-9AF2-F71F-F31BA2C1116C}"/>
              </a:ext>
            </a:extLst>
          </p:cNvPr>
          <p:cNvSpPr>
            <a:spLocks noGrp="1"/>
          </p:cNvSpPr>
          <p:nvPr>
            <p:ph idx="1"/>
          </p:nvPr>
        </p:nvSpPr>
        <p:spPr>
          <a:xfrm>
            <a:off x="793660" y="2599509"/>
            <a:ext cx="10143668" cy="3435531"/>
          </a:xfrm>
        </p:spPr>
        <p:txBody>
          <a:bodyPr anchor="ctr">
            <a:normAutofit/>
          </a:bodyPr>
          <a:lstStyle/>
          <a:p>
            <a:r>
              <a:rPr lang="en-US" sz="2400"/>
              <a:t>A package is a collection of different classes. </a:t>
            </a:r>
          </a:p>
          <a:p>
            <a:r>
              <a:rPr lang="en-US" sz="2400"/>
              <a:t>It is a way to group to group variety of class and interfaces.</a:t>
            </a:r>
          </a:p>
          <a:p>
            <a:r>
              <a:rPr lang="en-US" sz="2400"/>
              <a:t>The grouping is done usually based on functionality.</a:t>
            </a:r>
          </a:p>
          <a:p>
            <a:r>
              <a:rPr lang="en-US" sz="2400"/>
              <a:t>The classes used in a package can be used in any program that imports that packages and class. </a:t>
            </a:r>
          </a:p>
          <a:p>
            <a:r>
              <a:rPr lang="en-US" sz="2400"/>
              <a:t>It provides the compartmentalization.</a:t>
            </a:r>
          </a:p>
          <a:p>
            <a:r>
              <a:rPr lang="en-US" sz="2400"/>
              <a:t>It helps separate the design and coding.</a:t>
            </a:r>
          </a:p>
        </p:txBody>
      </p:sp>
    </p:spTree>
    <p:extLst>
      <p:ext uri="{BB962C8B-B14F-4D97-AF65-F5344CB8AC3E}">
        <p14:creationId xmlns:p14="http://schemas.microsoft.com/office/powerpoint/2010/main" val="17554450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2F3944-49AC-30FD-55C7-8F9B158C24EE}"/>
              </a:ext>
            </a:extLst>
          </p:cNvPr>
          <p:cNvSpPr>
            <a:spLocks noGrp="1"/>
          </p:cNvSpPr>
          <p:nvPr>
            <p:ph type="title"/>
          </p:nvPr>
        </p:nvSpPr>
        <p:spPr>
          <a:xfrm>
            <a:off x="793662" y="386930"/>
            <a:ext cx="10066122" cy="1298448"/>
          </a:xfrm>
        </p:spPr>
        <p:txBody>
          <a:bodyPr anchor="b">
            <a:normAutofit/>
          </a:bodyPr>
          <a:lstStyle/>
          <a:p>
            <a:r>
              <a:rPr lang="en-US" sz="4800"/>
              <a:t>Introduction to Packages</a:t>
            </a:r>
          </a:p>
        </p:txBody>
      </p:sp>
      <p:sp>
        <p:nvSpPr>
          <p:cNvPr id="24" name="Rectangle 1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73E0098-3B2D-9AF2-F71F-F31BA2C1116C}"/>
              </a:ext>
            </a:extLst>
          </p:cNvPr>
          <p:cNvSpPr>
            <a:spLocks noGrp="1"/>
          </p:cNvSpPr>
          <p:nvPr>
            <p:ph idx="1"/>
          </p:nvPr>
        </p:nvSpPr>
        <p:spPr>
          <a:xfrm>
            <a:off x="793661" y="2599509"/>
            <a:ext cx="4530898" cy="3639450"/>
          </a:xfrm>
        </p:spPr>
        <p:txBody>
          <a:bodyPr anchor="ctr">
            <a:normAutofit/>
          </a:bodyPr>
          <a:lstStyle/>
          <a:p>
            <a:r>
              <a:rPr lang="en-US" sz="2000"/>
              <a:t>There are two types of packages in java</a:t>
            </a:r>
          </a:p>
          <a:p>
            <a:pPr lvl="1"/>
            <a:r>
              <a:rPr lang="en-US" sz="2000"/>
              <a:t>API Packages (a.k.a. System or Predefine or builtin Packages)</a:t>
            </a:r>
          </a:p>
          <a:p>
            <a:pPr lvl="1"/>
            <a:r>
              <a:rPr lang="en-US" sz="2000"/>
              <a:t>User-defined packages</a:t>
            </a:r>
          </a:p>
          <a:p>
            <a:r>
              <a:rPr lang="en-US" sz="2000"/>
              <a:t>Java API (Application Programming Interface) packages </a:t>
            </a:r>
          </a:p>
        </p:txBody>
      </p:sp>
      <p:pic>
        <p:nvPicPr>
          <p:cNvPr id="5" name="Picture 4">
            <a:extLst>
              <a:ext uri="{FF2B5EF4-FFF2-40B4-BE49-F238E27FC236}">
                <a16:creationId xmlns:a16="http://schemas.microsoft.com/office/drawing/2014/main" id="{9302EEFC-9008-9F24-1C29-F61A6D65B208}"/>
              </a:ext>
            </a:extLst>
          </p:cNvPr>
          <p:cNvPicPr>
            <a:picLocks noChangeAspect="1"/>
          </p:cNvPicPr>
          <p:nvPr/>
        </p:nvPicPr>
        <p:blipFill>
          <a:blip r:embed="rId2"/>
          <a:stretch>
            <a:fillRect/>
          </a:stretch>
        </p:blipFill>
        <p:spPr>
          <a:xfrm>
            <a:off x="5393947" y="3178263"/>
            <a:ext cx="5150277" cy="1158811"/>
          </a:xfrm>
          <a:prstGeom prst="rect">
            <a:avLst/>
          </a:prstGeom>
        </p:spPr>
      </p:pic>
      <p:sp>
        <p:nvSpPr>
          <p:cNvPr id="26" name="Rectangle 1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855306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19D32F93-50AC-4C46-A5DB-291C60DDB7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BB673612-7E61-C2EA-AC8E-A27BFF619D9A}"/>
              </a:ext>
            </a:extLst>
          </p:cNvPr>
          <p:cNvPicPr>
            <a:picLocks noChangeAspect="1"/>
          </p:cNvPicPr>
          <p:nvPr/>
        </p:nvPicPr>
        <p:blipFill rotWithShape="1">
          <a:blip r:embed="rId2"/>
          <a:srcRect l="2822" t="16615" r="2924"/>
          <a:stretch/>
        </p:blipFill>
        <p:spPr>
          <a:xfrm>
            <a:off x="883861" y="834444"/>
            <a:ext cx="9069573" cy="2667881"/>
          </a:xfrm>
          <a:prstGeom prst="rect">
            <a:avLst/>
          </a:prstGeom>
        </p:spPr>
      </p:pic>
      <p:sp>
        <p:nvSpPr>
          <p:cNvPr id="15" name="Right Triangle 14">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2F3944-49AC-30FD-55C7-8F9B158C24EE}"/>
              </a:ext>
            </a:extLst>
          </p:cNvPr>
          <p:cNvSpPr>
            <a:spLocks noGrp="1"/>
          </p:cNvSpPr>
          <p:nvPr>
            <p:ph type="title"/>
          </p:nvPr>
        </p:nvSpPr>
        <p:spPr>
          <a:xfrm>
            <a:off x="1289304" y="3429000"/>
            <a:ext cx="8921672" cy="1713305"/>
          </a:xfrm>
        </p:spPr>
        <p:txBody>
          <a:bodyPr vert="horz" lIns="91440" tIns="45720" rIns="91440" bIns="45720" rtlCol="0" anchor="b">
            <a:normAutofit/>
          </a:bodyPr>
          <a:lstStyle/>
          <a:p>
            <a:r>
              <a:rPr lang="en-US" sz="6800" kern="1200">
                <a:solidFill>
                  <a:schemeClr val="tx1"/>
                </a:solidFill>
                <a:latin typeface="+mj-lt"/>
                <a:ea typeface="+mj-ea"/>
                <a:cs typeface="+mj-cs"/>
              </a:rPr>
              <a:t>Introduction to Packages</a:t>
            </a:r>
          </a:p>
        </p:txBody>
      </p:sp>
    </p:spTree>
    <p:extLst>
      <p:ext uri="{BB962C8B-B14F-4D97-AF65-F5344CB8AC3E}">
        <p14:creationId xmlns:p14="http://schemas.microsoft.com/office/powerpoint/2010/main" val="3513516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2F3944-49AC-30FD-55C7-8F9B158C24EE}"/>
              </a:ext>
            </a:extLst>
          </p:cNvPr>
          <p:cNvSpPr>
            <a:spLocks noGrp="1"/>
          </p:cNvSpPr>
          <p:nvPr>
            <p:ph type="title"/>
          </p:nvPr>
        </p:nvSpPr>
        <p:spPr>
          <a:xfrm>
            <a:off x="808638" y="386930"/>
            <a:ext cx="9236700" cy="1188950"/>
          </a:xfrm>
        </p:spPr>
        <p:txBody>
          <a:bodyPr anchor="b">
            <a:normAutofit/>
          </a:bodyPr>
          <a:lstStyle/>
          <a:p>
            <a:r>
              <a:rPr lang="en-US" sz="5400"/>
              <a:t>Introduction to Packages</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E73E0098-3B2D-9AF2-F71F-F31BA2C1116C}"/>
              </a:ext>
            </a:extLst>
          </p:cNvPr>
          <p:cNvSpPr>
            <a:spLocks noGrp="1"/>
          </p:cNvSpPr>
          <p:nvPr>
            <p:ph idx="1"/>
          </p:nvPr>
        </p:nvSpPr>
        <p:spPr>
          <a:xfrm>
            <a:off x="793660" y="2599509"/>
            <a:ext cx="10143668" cy="3435531"/>
          </a:xfrm>
        </p:spPr>
        <p:txBody>
          <a:bodyPr anchor="ctr">
            <a:normAutofit lnSpcReduction="10000"/>
          </a:bodyPr>
          <a:lstStyle/>
          <a:p>
            <a:r>
              <a:rPr lang="en-US" sz="2400" dirty="0"/>
              <a:t>There are two ways to access the classes stored in a package.</a:t>
            </a:r>
          </a:p>
          <a:p>
            <a:r>
              <a:rPr lang="en-US" sz="2400" dirty="0"/>
              <a:t>First, to use the Fully Qualified Name (FQN)</a:t>
            </a:r>
          </a:p>
          <a:p>
            <a:r>
              <a:rPr lang="en-US" sz="2400" dirty="0"/>
              <a:t>Example: import </a:t>
            </a:r>
            <a:r>
              <a:rPr lang="en-US" sz="2400" dirty="0" err="1"/>
              <a:t>java.util.Scanner</a:t>
            </a:r>
            <a:endParaRPr lang="en-US" sz="2400" dirty="0"/>
          </a:p>
          <a:p>
            <a:r>
              <a:rPr lang="en-US" sz="2400" dirty="0"/>
              <a:t>Example: import </a:t>
            </a:r>
            <a:r>
              <a:rPr lang="en-US" sz="2400" dirty="0" err="1"/>
              <a:t>java.awt.Color</a:t>
            </a:r>
            <a:endParaRPr lang="en-US" sz="2400" dirty="0"/>
          </a:p>
          <a:p>
            <a:r>
              <a:rPr lang="en-US" sz="2400" dirty="0"/>
              <a:t>Second, to use the package name with the method name while coding.</a:t>
            </a:r>
          </a:p>
          <a:p>
            <a:r>
              <a:rPr lang="en-US" sz="2400" dirty="0"/>
              <a:t>Example: double y = </a:t>
            </a:r>
            <a:r>
              <a:rPr lang="en-US" sz="2400" dirty="0" err="1"/>
              <a:t>java.lang.Math.sqrt</a:t>
            </a:r>
            <a:r>
              <a:rPr lang="en-US" sz="2400" dirty="0"/>
              <a:t> (9) ;</a:t>
            </a:r>
          </a:p>
          <a:p>
            <a:r>
              <a:rPr lang="en-US" sz="2400" dirty="0"/>
              <a:t>Here </a:t>
            </a:r>
            <a:r>
              <a:rPr lang="en-US" sz="2400" dirty="0" err="1"/>
              <a:t>java.lang</a:t>
            </a:r>
            <a:r>
              <a:rPr lang="en-US" sz="2400" dirty="0"/>
              <a:t> is a package, Math is a class and sqrt is the method of Math class.</a:t>
            </a:r>
          </a:p>
        </p:txBody>
      </p:sp>
    </p:spTree>
    <p:extLst>
      <p:ext uri="{BB962C8B-B14F-4D97-AF65-F5344CB8AC3E}">
        <p14:creationId xmlns:p14="http://schemas.microsoft.com/office/powerpoint/2010/main" val="22351380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2F3944-49AC-30FD-55C7-8F9B158C24EE}"/>
              </a:ext>
            </a:extLst>
          </p:cNvPr>
          <p:cNvSpPr>
            <a:spLocks noGrp="1"/>
          </p:cNvSpPr>
          <p:nvPr>
            <p:ph type="title"/>
          </p:nvPr>
        </p:nvSpPr>
        <p:spPr>
          <a:xfrm>
            <a:off x="808638" y="386930"/>
            <a:ext cx="9236700" cy="1188950"/>
          </a:xfrm>
        </p:spPr>
        <p:txBody>
          <a:bodyPr anchor="b">
            <a:normAutofit fontScale="90000"/>
          </a:bodyPr>
          <a:lstStyle/>
          <a:p>
            <a:r>
              <a:rPr lang="en-US" sz="5400" dirty="0"/>
              <a:t>Creating the User-defined Packages</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E73E0098-3B2D-9AF2-F71F-F31BA2C1116C}"/>
              </a:ext>
            </a:extLst>
          </p:cNvPr>
          <p:cNvSpPr>
            <a:spLocks noGrp="1"/>
          </p:cNvSpPr>
          <p:nvPr>
            <p:ph idx="1"/>
          </p:nvPr>
        </p:nvSpPr>
        <p:spPr>
          <a:xfrm>
            <a:off x="793660" y="2599509"/>
            <a:ext cx="10143668" cy="3435531"/>
          </a:xfrm>
        </p:spPr>
        <p:txBody>
          <a:bodyPr anchor="ctr">
            <a:normAutofit/>
          </a:bodyPr>
          <a:lstStyle/>
          <a:p>
            <a:r>
              <a:rPr lang="en-US" dirty="0"/>
              <a:t>For creating the user-defined packages, we need to first the structure of the package.</a:t>
            </a:r>
          </a:p>
          <a:p>
            <a:r>
              <a:rPr lang="en-US" dirty="0"/>
              <a:t>First decide the name of the package and then create a sub directory with the same name inside the bin directory of java.</a:t>
            </a:r>
          </a:p>
          <a:p>
            <a:r>
              <a:rPr lang="en-US" dirty="0"/>
              <a:t>Now, here you must create a program in which you have to type the code.</a:t>
            </a:r>
          </a:p>
          <a:p>
            <a:r>
              <a:rPr lang="en-US" dirty="0"/>
              <a:t>See the example on next slides.</a:t>
            </a:r>
          </a:p>
        </p:txBody>
      </p:sp>
    </p:spTree>
    <p:extLst>
      <p:ext uri="{BB962C8B-B14F-4D97-AF65-F5344CB8AC3E}">
        <p14:creationId xmlns:p14="http://schemas.microsoft.com/office/powerpoint/2010/main" val="41574264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34F1179-B481-4F9E-BCA3-AFB972070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435C56F7-4448-9986-3DD3-EC3EE935D78C}"/>
              </a:ext>
            </a:extLst>
          </p:cNvPr>
          <p:cNvSpPr>
            <a:spLocks noGrp="1"/>
          </p:cNvSpPr>
          <p:nvPr>
            <p:ph type="ctrTitle"/>
          </p:nvPr>
        </p:nvSpPr>
        <p:spPr>
          <a:xfrm>
            <a:off x="1285241" y="1008993"/>
            <a:ext cx="9231410" cy="3542045"/>
          </a:xfrm>
        </p:spPr>
        <p:txBody>
          <a:bodyPr anchor="b">
            <a:normAutofit/>
          </a:bodyPr>
          <a:lstStyle/>
          <a:p>
            <a:pPr algn="l"/>
            <a:r>
              <a:rPr lang="en-US" sz="11500" dirty="0"/>
              <a:t>Way No. 1</a:t>
            </a:r>
          </a:p>
        </p:txBody>
      </p:sp>
      <p:sp>
        <p:nvSpPr>
          <p:cNvPr id="5" name="Subtitle 4">
            <a:extLst>
              <a:ext uri="{FF2B5EF4-FFF2-40B4-BE49-F238E27FC236}">
                <a16:creationId xmlns:a16="http://schemas.microsoft.com/office/drawing/2014/main" id="{8F5596C0-53FA-88E8-FF11-24EB0D75A1B7}"/>
              </a:ext>
            </a:extLst>
          </p:cNvPr>
          <p:cNvSpPr>
            <a:spLocks noGrp="1"/>
          </p:cNvSpPr>
          <p:nvPr>
            <p:ph type="subTitle" idx="1"/>
          </p:nvPr>
        </p:nvSpPr>
        <p:spPr>
          <a:xfrm>
            <a:off x="1285241" y="4582814"/>
            <a:ext cx="7132335" cy="1312657"/>
          </a:xfrm>
        </p:spPr>
        <p:txBody>
          <a:bodyPr anchor="t">
            <a:normAutofit/>
          </a:bodyPr>
          <a:lstStyle/>
          <a:p>
            <a:pPr algn="l"/>
            <a:endParaRPr lang="en-US"/>
          </a:p>
        </p:txBody>
      </p:sp>
    </p:spTree>
    <p:extLst>
      <p:ext uri="{BB962C8B-B14F-4D97-AF65-F5344CB8AC3E}">
        <p14:creationId xmlns:p14="http://schemas.microsoft.com/office/powerpoint/2010/main" val="27203295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2F3944-49AC-30FD-55C7-8F9B158C24EE}"/>
              </a:ext>
            </a:extLst>
          </p:cNvPr>
          <p:cNvSpPr>
            <a:spLocks noGrp="1"/>
          </p:cNvSpPr>
          <p:nvPr>
            <p:ph type="title"/>
          </p:nvPr>
        </p:nvSpPr>
        <p:spPr>
          <a:xfrm>
            <a:off x="808638" y="386930"/>
            <a:ext cx="9236700" cy="1188950"/>
          </a:xfrm>
        </p:spPr>
        <p:txBody>
          <a:bodyPr anchor="b">
            <a:normAutofit/>
          </a:bodyPr>
          <a:lstStyle/>
          <a:p>
            <a:r>
              <a:rPr lang="en-US" sz="5400" dirty="0"/>
              <a:t>Coding Steps</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E73E0098-3B2D-9AF2-F71F-F31BA2C1116C}"/>
              </a:ext>
            </a:extLst>
          </p:cNvPr>
          <p:cNvSpPr>
            <a:spLocks noGrp="1"/>
          </p:cNvSpPr>
          <p:nvPr>
            <p:ph idx="1"/>
          </p:nvPr>
        </p:nvSpPr>
        <p:spPr>
          <a:xfrm>
            <a:off x="793660" y="2599509"/>
            <a:ext cx="10143668" cy="3435531"/>
          </a:xfrm>
        </p:spPr>
        <p:txBody>
          <a:bodyPr anchor="ctr">
            <a:normAutofit/>
          </a:bodyPr>
          <a:lstStyle/>
          <a:p>
            <a:r>
              <a:rPr lang="en-US" sz="3600" dirty="0"/>
              <a:t>Create a new notepad file and write the following code.</a:t>
            </a:r>
          </a:p>
          <a:p>
            <a:r>
              <a:rPr lang="en-US" sz="3600" dirty="0"/>
              <a:t>Save the file in .\JDK\BIN\Books\Book.java</a:t>
            </a:r>
          </a:p>
          <a:p>
            <a:r>
              <a:rPr lang="en-US" sz="3600" dirty="0"/>
              <a:t>Compile: c:/JDK/BIN&gt; </a:t>
            </a:r>
            <a:r>
              <a:rPr lang="en-US" sz="3600" dirty="0" err="1"/>
              <a:t>Javac</a:t>
            </a:r>
            <a:r>
              <a:rPr lang="en-US" sz="3600" dirty="0"/>
              <a:t> </a:t>
            </a:r>
            <a:r>
              <a:rPr lang="en-US" sz="3600" dirty="0" err="1"/>
              <a:t>PackageName</a:t>
            </a:r>
            <a:r>
              <a:rPr lang="en-US" sz="3600" dirty="0"/>
              <a:t>\FileName.java</a:t>
            </a:r>
          </a:p>
          <a:p>
            <a:r>
              <a:rPr lang="en-US" sz="3600" dirty="0"/>
              <a:t>c:/JDK/BIN&gt; </a:t>
            </a:r>
            <a:r>
              <a:rPr lang="en-US" sz="3600" dirty="0" err="1"/>
              <a:t>Javac</a:t>
            </a:r>
            <a:r>
              <a:rPr lang="en-US" sz="3600" dirty="0"/>
              <a:t> Books\Book.java</a:t>
            </a:r>
          </a:p>
        </p:txBody>
      </p:sp>
    </p:spTree>
    <p:extLst>
      <p:ext uri="{BB962C8B-B14F-4D97-AF65-F5344CB8AC3E}">
        <p14:creationId xmlns:p14="http://schemas.microsoft.com/office/powerpoint/2010/main" val="7145233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2F3944-49AC-30FD-55C7-8F9B158C24EE}"/>
              </a:ext>
            </a:extLst>
          </p:cNvPr>
          <p:cNvSpPr>
            <a:spLocks noGrp="1"/>
          </p:cNvSpPr>
          <p:nvPr>
            <p:ph type="title"/>
          </p:nvPr>
        </p:nvSpPr>
        <p:spPr>
          <a:xfrm>
            <a:off x="808638" y="386930"/>
            <a:ext cx="9236700" cy="1188950"/>
          </a:xfrm>
        </p:spPr>
        <p:txBody>
          <a:bodyPr anchor="b">
            <a:normAutofit/>
          </a:bodyPr>
          <a:lstStyle/>
          <a:p>
            <a:r>
              <a:rPr lang="en-US" sz="5400" dirty="0"/>
              <a:t>Coding Steps</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8875D11C-E274-DC90-97F6-B43DD897810A}"/>
              </a:ext>
            </a:extLst>
          </p:cNvPr>
          <p:cNvPicPr>
            <a:picLocks noChangeAspect="1"/>
          </p:cNvPicPr>
          <p:nvPr/>
        </p:nvPicPr>
        <p:blipFill>
          <a:blip r:embed="rId2"/>
          <a:stretch>
            <a:fillRect/>
          </a:stretch>
        </p:blipFill>
        <p:spPr>
          <a:xfrm>
            <a:off x="574246" y="1575880"/>
            <a:ext cx="7798281" cy="4795941"/>
          </a:xfrm>
          <a:prstGeom prst="rect">
            <a:avLst/>
          </a:prstGeom>
        </p:spPr>
      </p:pic>
    </p:spTree>
    <p:extLst>
      <p:ext uri="{BB962C8B-B14F-4D97-AF65-F5344CB8AC3E}">
        <p14:creationId xmlns:p14="http://schemas.microsoft.com/office/powerpoint/2010/main" val="18234782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2F3944-49AC-30FD-55C7-8F9B158C24EE}"/>
              </a:ext>
            </a:extLst>
          </p:cNvPr>
          <p:cNvSpPr>
            <a:spLocks noGrp="1"/>
          </p:cNvSpPr>
          <p:nvPr>
            <p:ph type="title"/>
          </p:nvPr>
        </p:nvSpPr>
        <p:spPr>
          <a:xfrm>
            <a:off x="808638" y="386930"/>
            <a:ext cx="9236700" cy="1188950"/>
          </a:xfrm>
        </p:spPr>
        <p:txBody>
          <a:bodyPr anchor="b">
            <a:normAutofit/>
          </a:bodyPr>
          <a:lstStyle/>
          <a:p>
            <a:r>
              <a:rPr lang="en-US" sz="5400" dirty="0"/>
              <a:t>Coding Steps</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E73E0098-3B2D-9AF2-F71F-F31BA2C1116C}"/>
              </a:ext>
            </a:extLst>
          </p:cNvPr>
          <p:cNvSpPr>
            <a:spLocks noGrp="1"/>
          </p:cNvSpPr>
          <p:nvPr>
            <p:ph idx="1"/>
          </p:nvPr>
        </p:nvSpPr>
        <p:spPr>
          <a:xfrm>
            <a:off x="793660" y="2599509"/>
            <a:ext cx="10143668" cy="3435531"/>
          </a:xfrm>
        </p:spPr>
        <p:txBody>
          <a:bodyPr anchor="ctr">
            <a:normAutofit fontScale="92500"/>
          </a:bodyPr>
          <a:lstStyle/>
          <a:p>
            <a:r>
              <a:rPr lang="en-US" sz="3600" dirty="0"/>
              <a:t>Create a new notepad file and write the following code.</a:t>
            </a:r>
          </a:p>
          <a:p>
            <a:r>
              <a:rPr lang="en-US" sz="3600" dirty="0"/>
              <a:t>Save the file in .\JDK\BIN\TestBook.java</a:t>
            </a:r>
          </a:p>
          <a:p>
            <a:r>
              <a:rPr lang="en-US" sz="3600" dirty="0"/>
              <a:t>Compile: c:/JDK/BIN&gt; </a:t>
            </a:r>
            <a:r>
              <a:rPr lang="en-US" sz="3600" dirty="0" err="1"/>
              <a:t>Javac</a:t>
            </a:r>
            <a:r>
              <a:rPr lang="en-US" sz="3600" dirty="0"/>
              <a:t> FileName.java</a:t>
            </a:r>
          </a:p>
          <a:p>
            <a:r>
              <a:rPr lang="en-US" sz="3600" dirty="0"/>
              <a:t>c:/JDK/BIN&gt; </a:t>
            </a:r>
            <a:r>
              <a:rPr lang="en-US" sz="3600" dirty="0" err="1"/>
              <a:t>Javac</a:t>
            </a:r>
            <a:r>
              <a:rPr lang="en-US" sz="3600" dirty="0"/>
              <a:t> TestBook.java</a:t>
            </a:r>
          </a:p>
          <a:p>
            <a:r>
              <a:rPr lang="en-US" sz="3600" dirty="0"/>
              <a:t>Run the file using command : c:/JDK/BIN&gt; Java </a:t>
            </a:r>
            <a:r>
              <a:rPr lang="en-US" sz="3600" dirty="0" err="1"/>
              <a:t>TestBook</a:t>
            </a:r>
            <a:endParaRPr lang="en-US" sz="3600" dirty="0"/>
          </a:p>
        </p:txBody>
      </p:sp>
    </p:spTree>
    <p:extLst>
      <p:ext uri="{BB962C8B-B14F-4D97-AF65-F5344CB8AC3E}">
        <p14:creationId xmlns:p14="http://schemas.microsoft.com/office/powerpoint/2010/main" val="34003576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2F3944-49AC-30FD-55C7-8F9B158C24EE}"/>
              </a:ext>
            </a:extLst>
          </p:cNvPr>
          <p:cNvSpPr>
            <a:spLocks noGrp="1"/>
          </p:cNvSpPr>
          <p:nvPr>
            <p:ph type="title"/>
          </p:nvPr>
        </p:nvSpPr>
        <p:spPr>
          <a:xfrm>
            <a:off x="808638" y="386930"/>
            <a:ext cx="9236700" cy="1188950"/>
          </a:xfrm>
        </p:spPr>
        <p:txBody>
          <a:bodyPr anchor="b">
            <a:normAutofit/>
          </a:bodyPr>
          <a:lstStyle/>
          <a:p>
            <a:r>
              <a:rPr lang="en-US" sz="5400" dirty="0"/>
              <a:t>Coding Steps</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A3112846-D552-97B0-0848-67CF1FB2BDDC}"/>
              </a:ext>
            </a:extLst>
          </p:cNvPr>
          <p:cNvPicPr>
            <a:picLocks noChangeAspect="1"/>
          </p:cNvPicPr>
          <p:nvPr/>
        </p:nvPicPr>
        <p:blipFill>
          <a:blip r:embed="rId2"/>
          <a:stretch>
            <a:fillRect/>
          </a:stretch>
        </p:blipFill>
        <p:spPr>
          <a:xfrm>
            <a:off x="1214080" y="2346086"/>
            <a:ext cx="7602117" cy="3839068"/>
          </a:xfrm>
          <a:prstGeom prst="rect">
            <a:avLst/>
          </a:prstGeom>
        </p:spPr>
      </p:pic>
    </p:spTree>
    <p:extLst>
      <p:ext uri="{BB962C8B-B14F-4D97-AF65-F5344CB8AC3E}">
        <p14:creationId xmlns:p14="http://schemas.microsoft.com/office/powerpoint/2010/main" val="14138556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34F1179-B481-4F9E-BCA3-AFB972070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ight Triangle 11">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3">
            <a:extLst>
              <a:ext uri="{FF2B5EF4-FFF2-40B4-BE49-F238E27FC236}">
                <a16:creationId xmlns:a16="http://schemas.microsoft.com/office/drawing/2014/main" id="{435C56F7-4448-9986-3DD3-EC3EE935D78C}"/>
              </a:ext>
            </a:extLst>
          </p:cNvPr>
          <p:cNvSpPr>
            <a:spLocks noGrp="1"/>
          </p:cNvSpPr>
          <p:nvPr>
            <p:ph type="ctrTitle"/>
          </p:nvPr>
        </p:nvSpPr>
        <p:spPr>
          <a:xfrm>
            <a:off x="1285241" y="1008993"/>
            <a:ext cx="9231410" cy="3542045"/>
          </a:xfrm>
        </p:spPr>
        <p:txBody>
          <a:bodyPr anchor="b">
            <a:normAutofit/>
          </a:bodyPr>
          <a:lstStyle/>
          <a:p>
            <a:pPr algn="l"/>
            <a:r>
              <a:rPr lang="en-US" sz="11500" dirty="0"/>
              <a:t>Way No. 2</a:t>
            </a:r>
          </a:p>
        </p:txBody>
      </p:sp>
      <p:sp>
        <p:nvSpPr>
          <p:cNvPr id="5" name="Subtitle 4">
            <a:extLst>
              <a:ext uri="{FF2B5EF4-FFF2-40B4-BE49-F238E27FC236}">
                <a16:creationId xmlns:a16="http://schemas.microsoft.com/office/drawing/2014/main" id="{8F5596C0-53FA-88E8-FF11-24EB0D75A1B7}"/>
              </a:ext>
            </a:extLst>
          </p:cNvPr>
          <p:cNvSpPr>
            <a:spLocks noGrp="1"/>
          </p:cNvSpPr>
          <p:nvPr>
            <p:ph type="subTitle" idx="1"/>
          </p:nvPr>
        </p:nvSpPr>
        <p:spPr>
          <a:xfrm>
            <a:off x="1285241" y="4582814"/>
            <a:ext cx="7132335" cy="1312657"/>
          </a:xfrm>
        </p:spPr>
        <p:txBody>
          <a:bodyPr anchor="t">
            <a:normAutofit/>
          </a:bodyPr>
          <a:lstStyle/>
          <a:p>
            <a:pPr algn="l"/>
            <a:endParaRPr lang="en-US"/>
          </a:p>
        </p:txBody>
      </p:sp>
    </p:spTree>
    <p:extLst>
      <p:ext uri="{BB962C8B-B14F-4D97-AF65-F5344CB8AC3E}">
        <p14:creationId xmlns:p14="http://schemas.microsoft.com/office/powerpoint/2010/main" val="23029984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2F3944-49AC-30FD-55C7-8F9B158C24EE}"/>
              </a:ext>
            </a:extLst>
          </p:cNvPr>
          <p:cNvSpPr>
            <a:spLocks noGrp="1"/>
          </p:cNvSpPr>
          <p:nvPr>
            <p:ph type="title"/>
          </p:nvPr>
        </p:nvSpPr>
        <p:spPr>
          <a:xfrm>
            <a:off x="808638" y="386930"/>
            <a:ext cx="9236700" cy="1188950"/>
          </a:xfrm>
        </p:spPr>
        <p:txBody>
          <a:bodyPr anchor="b">
            <a:normAutofit/>
          </a:bodyPr>
          <a:lstStyle/>
          <a:p>
            <a:r>
              <a:rPr lang="en-US" sz="5400" dirty="0"/>
              <a:t>Coding Steps</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E73E0098-3B2D-9AF2-F71F-F31BA2C1116C}"/>
              </a:ext>
            </a:extLst>
          </p:cNvPr>
          <p:cNvSpPr>
            <a:spLocks noGrp="1"/>
          </p:cNvSpPr>
          <p:nvPr>
            <p:ph idx="1"/>
          </p:nvPr>
        </p:nvSpPr>
        <p:spPr>
          <a:xfrm>
            <a:off x="793660" y="2599509"/>
            <a:ext cx="10143668" cy="3435531"/>
          </a:xfrm>
        </p:spPr>
        <p:txBody>
          <a:bodyPr anchor="ctr">
            <a:normAutofit fontScale="92500" lnSpcReduction="20000"/>
          </a:bodyPr>
          <a:lstStyle/>
          <a:p>
            <a:r>
              <a:rPr lang="en-US" sz="3600" dirty="0"/>
              <a:t>Create a new notepad file and write the following code.</a:t>
            </a:r>
          </a:p>
          <a:p>
            <a:r>
              <a:rPr lang="en-US" sz="3600" dirty="0"/>
              <a:t>Save the file in .\JDK\BIN\Book.java</a:t>
            </a:r>
          </a:p>
          <a:p>
            <a:r>
              <a:rPr lang="en-US" sz="3600" dirty="0"/>
              <a:t>Compile: c:/JDK/BIN&gt; </a:t>
            </a:r>
            <a:r>
              <a:rPr lang="en-US" sz="3600" dirty="0" err="1"/>
              <a:t>Javac</a:t>
            </a:r>
            <a:r>
              <a:rPr lang="en-US" sz="3600" dirty="0"/>
              <a:t>  -d . FileName.java</a:t>
            </a:r>
          </a:p>
          <a:p>
            <a:r>
              <a:rPr lang="en-US" sz="3600" dirty="0"/>
              <a:t>c:/JDK/BIN&gt; </a:t>
            </a:r>
            <a:r>
              <a:rPr lang="en-US" sz="3600" dirty="0" err="1"/>
              <a:t>Javac</a:t>
            </a:r>
            <a:r>
              <a:rPr lang="en-US" sz="3600" dirty="0"/>
              <a:t> –d . Book.java</a:t>
            </a:r>
          </a:p>
          <a:p>
            <a:r>
              <a:rPr lang="en-US" sz="3600" dirty="0"/>
              <a:t>This will automatically create the folder.</a:t>
            </a:r>
          </a:p>
          <a:p>
            <a:r>
              <a:rPr lang="en-US" sz="3600" dirty="0"/>
              <a:t>Put class files in that folder</a:t>
            </a:r>
          </a:p>
          <a:p>
            <a:r>
              <a:rPr lang="en-US" sz="3600" dirty="0"/>
              <a:t>That class files can be run on any platform</a:t>
            </a:r>
          </a:p>
        </p:txBody>
      </p:sp>
    </p:spTree>
    <p:extLst>
      <p:ext uri="{BB962C8B-B14F-4D97-AF65-F5344CB8AC3E}">
        <p14:creationId xmlns:p14="http://schemas.microsoft.com/office/powerpoint/2010/main" val="39230306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2F3944-49AC-30FD-55C7-8F9B158C24EE}"/>
              </a:ext>
            </a:extLst>
          </p:cNvPr>
          <p:cNvSpPr>
            <a:spLocks noGrp="1"/>
          </p:cNvSpPr>
          <p:nvPr>
            <p:ph type="title"/>
          </p:nvPr>
        </p:nvSpPr>
        <p:spPr>
          <a:xfrm>
            <a:off x="808638" y="386930"/>
            <a:ext cx="9236700" cy="1188950"/>
          </a:xfrm>
        </p:spPr>
        <p:txBody>
          <a:bodyPr anchor="b">
            <a:normAutofit/>
          </a:bodyPr>
          <a:lstStyle/>
          <a:p>
            <a:r>
              <a:rPr lang="en-US" sz="5400" dirty="0"/>
              <a:t>Coding Steps</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9135E4A8-4C30-643C-F25B-DA1C1111FBB3}"/>
              </a:ext>
            </a:extLst>
          </p:cNvPr>
          <p:cNvPicPr>
            <a:picLocks noChangeAspect="1"/>
          </p:cNvPicPr>
          <p:nvPr/>
        </p:nvPicPr>
        <p:blipFill rotWithShape="1">
          <a:blip r:embed="rId2"/>
          <a:srcRect b="9530"/>
          <a:stretch/>
        </p:blipFill>
        <p:spPr>
          <a:xfrm>
            <a:off x="-71231" y="1575880"/>
            <a:ext cx="8639812" cy="4692299"/>
          </a:xfrm>
          <a:prstGeom prst="rect">
            <a:avLst/>
          </a:prstGeom>
        </p:spPr>
      </p:pic>
    </p:spTree>
    <p:extLst>
      <p:ext uri="{BB962C8B-B14F-4D97-AF65-F5344CB8AC3E}">
        <p14:creationId xmlns:p14="http://schemas.microsoft.com/office/powerpoint/2010/main" val="4258770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2F3944-49AC-30FD-55C7-8F9B158C24EE}"/>
              </a:ext>
            </a:extLst>
          </p:cNvPr>
          <p:cNvSpPr>
            <a:spLocks noGrp="1"/>
          </p:cNvSpPr>
          <p:nvPr>
            <p:ph type="title"/>
          </p:nvPr>
        </p:nvSpPr>
        <p:spPr>
          <a:xfrm>
            <a:off x="808638" y="386930"/>
            <a:ext cx="9236700" cy="1188950"/>
          </a:xfrm>
        </p:spPr>
        <p:txBody>
          <a:bodyPr anchor="b">
            <a:normAutofit/>
          </a:bodyPr>
          <a:lstStyle/>
          <a:p>
            <a:r>
              <a:rPr lang="en-US" sz="5400" dirty="0"/>
              <a:t>Coding Steps</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E73E0098-3B2D-9AF2-F71F-F31BA2C1116C}"/>
              </a:ext>
            </a:extLst>
          </p:cNvPr>
          <p:cNvSpPr>
            <a:spLocks noGrp="1"/>
          </p:cNvSpPr>
          <p:nvPr>
            <p:ph idx="1"/>
          </p:nvPr>
        </p:nvSpPr>
        <p:spPr>
          <a:xfrm>
            <a:off x="793660" y="2599509"/>
            <a:ext cx="10143668" cy="3435531"/>
          </a:xfrm>
        </p:spPr>
        <p:txBody>
          <a:bodyPr anchor="ctr">
            <a:normAutofit fontScale="92500"/>
          </a:bodyPr>
          <a:lstStyle/>
          <a:p>
            <a:r>
              <a:rPr lang="en-US" sz="3600" dirty="0"/>
              <a:t>Create a new notepad file and write the following code.</a:t>
            </a:r>
          </a:p>
          <a:p>
            <a:r>
              <a:rPr lang="en-US" sz="3600" dirty="0"/>
              <a:t>Save the file in .\JDK\BIN\TestBook.java</a:t>
            </a:r>
          </a:p>
          <a:p>
            <a:r>
              <a:rPr lang="en-US" sz="3600" dirty="0"/>
              <a:t>Compile: c:/JDK/BIN&gt; </a:t>
            </a:r>
            <a:r>
              <a:rPr lang="en-US" sz="3600" dirty="0" err="1"/>
              <a:t>Javac</a:t>
            </a:r>
            <a:r>
              <a:rPr lang="en-US" sz="3600" dirty="0"/>
              <a:t> FileName.java</a:t>
            </a:r>
          </a:p>
          <a:p>
            <a:r>
              <a:rPr lang="en-US" sz="3600" dirty="0"/>
              <a:t>c:/JDK/BIN&gt; </a:t>
            </a:r>
            <a:r>
              <a:rPr lang="en-US" sz="3600" dirty="0" err="1"/>
              <a:t>Javac</a:t>
            </a:r>
            <a:r>
              <a:rPr lang="en-US" sz="3600" dirty="0"/>
              <a:t> TestBook.java</a:t>
            </a:r>
          </a:p>
          <a:p>
            <a:r>
              <a:rPr lang="en-US" sz="3600" dirty="0"/>
              <a:t>Run the file using command : c:/JDK/BIN&gt; Java </a:t>
            </a:r>
            <a:r>
              <a:rPr lang="en-US" sz="3600" dirty="0" err="1"/>
              <a:t>TestBook</a:t>
            </a:r>
            <a:endParaRPr lang="en-US" sz="3600" dirty="0"/>
          </a:p>
        </p:txBody>
      </p:sp>
    </p:spTree>
    <p:extLst>
      <p:ext uri="{BB962C8B-B14F-4D97-AF65-F5344CB8AC3E}">
        <p14:creationId xmlns:p14="http://schemas.microsoft.com/office/powerpoint/2010/main" val="5389357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2F3944-49AC-30FD-55C7-8F9B158C24EE}"/>
              </a:ext>
            </a:extLst>
          </p:cNvPr>
          <p:cNvSpPr>
            <a:spLocks noGrp="1"/>
          </p:cNvSpPr>
          <p:nvPr>
            <p:ph type="title"/>
          </p:nvPr>
        </p:nvSpPr>
        <p:spPr>
          <a:xfrm>
            <a:off x="808638" y="386930"/>
            <a:ext cx="9236700" cy="1188950"/>
          </a:xfrm>
        </p:spPr>
        <p:txBody>
          <a:bodyPr anchor="b">
            <a:normAutofit/>
          </a:bodyPr>
          <a:lstStyle/>
          <a:p>
            <a:r>
              <a:rPr lang="en-US" sz="5400" dirty="0"/>
              <a:t>Coding Steps</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2D7BE097-029F-3FAD-6699-3502BBD7612A}"/>
              </a:ext>
            </a:extLst>
          </p:cNvPr>
          <p:cNvPicPr>
            <a:picLocks noChangeAspect="1"/>
          </p:cNvPicPr>
          <p:nvPr/>
        </p:nvPicPr>
        <p:blipFill>
          <a:blip r:embed="rId2"/>
          <a:stretch>
            <a:fillRect/>
          </a:stretch>
        </p:blipFill>
        <p:spPr>
          <a:xfrm>
            <a:off x="631331" y="2389218"/>
            <a:ext cx="7582290" cy="3492679"/>
          </a:xfrm>
          <a:prstGeom prst="rect">
            <a:avLst/>
          </a:prstGeom>
        </p:spPr>
      </p:pic>
      <p:sp>
        <p:nvSpPr>
          <p:cNvPr id="6" name="Oval 5">
            <a:extLst>
              <a:ext uri="{FF2B5EF4-FFF2-40B4-BE49-F238E27FC236}">
                <a16:creationId xmlns:a16="http://schemas.microsoft.com/office/drawing/2014/main" id="{D7B7F681-045C-E7AA-8D54-9DE16EC790E5}"/>
              </a:ext>
            </a:extLst>
          </p:cNvPr>
          <p:cNvSpPr/>
          <p:nvPr/>
        </p:nvSpPr>
        <p:spPr>
          <a:xfrm>
            <a:off x="534838" y="2311879"/>
            <a:ext cx="3019245" cy="468189"/>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104895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2F3944-49AC-30FD-55C7-8F9B158C24EE}"/>
              </a:ext>
            </a:extLst>
          </p:cNvPr>
          <p:cNvSpPr>
            <a:spLocks noGrp="1"/>
          </p:cNvSpPr>
          <p:nvPr>
            <p:ph type="title"/>
          </p:nvPr>
        </p:nvSpPr>
        <p:spPr>
          <a:xfrm>
            <a:off x="808638" y="386930"/>
            <a:ext cx="9236700" cy="1188950"/>
          </a:xfrm>
        </p:spPr>
        <p:txBody>
          <a:bodyPr anchor="b">
            <a:normAutofit/>
          </a:bodyPr>
          <a:lstStyle/>
          <a:p>
            <a:r>
              <a:rPr lang="en-US" sz="5400" dirty="0"/>
              <a:t>More About Packages</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221C68AF-6D52-650F-EF18-94951F0060C9}"/>
              </a:ext>
            </a:extLst>
          </p:cNvPr>
          <p:cNvPicPr>
            <a:picLocks noChangeAspect="1"/>
          </p:cNvPicPr>
          <p:nvPr/>
        </p:nvPicPr>
        <p:blipFill>
          <a:blip r:embed="rId2"/>
          <a:stretch>
            <a:fillRect/>
          </a:stretch>
        </p:blipFill>
        <p:spPr>
          <a:xfrm>
            <a:off x="560717" y="2510862"/>
            <a:ext cx="8429774" cy="1276134"/>
          </a:xfrm>
          <a:prstGeom prst="rect">
            <a:avLst/>
          </a:prstGeom>
        </p:spPr>
      </p:pic>
      <p:pic>
        <p:nvPicPr>
          <p:cNvPr id="13" name="Picture 12">
            <a:extLst>
              <a:ext uri="{FF2B5EF4-FFF2-40B4-BE49-F238E27FC236}">
                <a16:creationId xmlns:a16="http://schemas.microsoft.com/office/drawing/2014/main" id="{58FAF86D-3817-1434-AEE7-EFF0FAF95AC9}"/>
              </a:ext>
            </a:extLst>
          </p:cNvPr>
          <p:cNvPicPr>
            <a:picLocks noChangeAspect="1"/>
          </p:cNvPicPr>
          <p:nvPr/>
        </p:nvPicPr>
        <p:blipFill>
          <a:blip r:embed="rId3"/>
          <a:stretch>
            <a:fillRect/>
          </a:stretch>
        </p:blipFill>
        <p:spPr>
          <a:xfrm>
            <a:off x="382097" y="3858210"/>
            <a:ext cx="7942393" cy="2383407"/>
          </a:xfrm>
          <a:prstGeom prst="rect">
            <a:avLst/>
          </a:prstGeom>
        </p:spPr>
      </p:pic>
    </p:spTree>
    <p:extLst>
      <p:ext uri="{BB962C8B-B14F-4D97-AF65-F5344CB8AC3E}">
        <p14:creationId xmlns:p14="http://schemas.microsoft.com/office/powerpoint/2010/main" val="11578176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2F3944-49AC-30FD-55C7-8F9B158C24EE}"/>
              </a:ext>
            </a:extLst>
          </p:cNvPr>
          <p:cNvSpPr>
            <a:spLocks noGrp="1"/>
          </p:cNvSpPr>
          <p:nvPr>
            <p:ph type="title"/>
          </p:nvPr>
        </p:nvSpPr>
        <p:spPr>
          <a:xfrm>
            <a:off x="808638" y="386930"/>
            <a:ext cx="9236700" cy="1188950"/>
          </a:xfrm>
        </p:spPr>
        <p:txBody>
          <a:bodyPr anchor="b">
            <a:normAutofit/>
          </a:bodyPr>
          <a:lstStyle/>
          <a:p>
            <a:r>
              <a:rPr lang="en-US" sz="5400" dirty="0"/>
              <a:t>Access Protection</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1624ABE4-C00C-0552-83E2-00AD8AF6AA62}"/>
              </a:ext>
            </a:extLst>
          </p:cNvPr>
          <p:cNvPicPr>
            <a:picLocks noChangeAspect="1"/>
          </p:cNvPicPr>
          <p:nvPr/>
        </p:nvPicPr>
        <p:blipFill>
          <a:blip r:embed="rId2"/>
          <a:stretch>
            <a:fillRect/>
          </a:stretch>
        </p:blipFill>
        <p:spPr>
          <a:xfrm>
            <a:off x="234175" y="2665263"/>
            <a:ext cx="10072208" cy="2303552"/>
          </a:xfrm>
          <a:prstGeom prst="rect">
            <a:avLst/>
          </a:prstGeom>
        </p:spPr>
      </p:pic>
    </p:spTree>
    <p:extLst>
      <p:ext uri="{BB962C8B-B14F-4D97-AF65-F5344CB8AC3E}">
        <p14:creationId xmlns:p14="http://schemas.microsoft.com/office/powerpoint/2010/main" val="20970658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2F3944-49AC-30FD-55C7-8F9B158C24EE}"/>
              </a:ext>
            </a:extLst>
          </p:cNvPr>
          <p:cNvSpPr>
            <a:spLocks noGrp="1"/>
          </p:cNvSpPr>
          <p:nvPr>
            <p:ph type="title"/>
          </p:nvPr>
        </p:nvSpPr>
        <p:spPr>
          <a:xfrm>
            <a:off x="808638" y="386930"/>
            <a:ext cx="9236700" cy="1188950"/>
          </a:xfrm>
        </p:spPr>
        <p:txBody>
          <a:bodyPr anchor="b">
            <a:normAutofit/>
          </a:bodyPr>
          <a:lstStyle/>
          <a:p>
            <a:r>
              <a:rPr lang="en-US" sz="5400" dirty="0"/>
              <a:t>An Access Example</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E73E0098-3B2D-9AF2-F71F-F31BA2C1116C}"/>
              </a:ext>
            </a:extLst>
          </p:cNvPr>
          <p:cNvSpPr>
            <a:spLocks noGrp="1"/>
          </p:cNvSpPr>
          <p:nvPr>
            <p:ph idx="1"/>
          </p:nvPr>
        </p:nvSpPr>
        <p:spPr>
          <a:xfrm>
            <a:off x="793660" y="2599509"/>
            <a:ext cx="10143668" cy="3435531"/>
          </a:xfrm>
        </p:spPr>
        <p:txBody>
          <a:bodyPr anchor="ctr">
            <a:normAutofit fontScale="92500"/>
          </a:bodyPr>
          <a:lstStyle/>
          <a:p>
            <a:r>
              <a:rPr lang="en-US" sz="3600" dirty="0"/>
              <a:t>Let's assume we have two packages - "com.example.package1" and "com.example.package2". Inside "com.example.package1", we have a class called "Class1", and inside "com.example.package2", we have a class called "Class2". We will use access modifiers to control the access of these classes and their members.</a:t>
            </a:r>
          </a:p>
        </p:txBody>
      </p:sp>
    </p:spTree>
    <p:extLst>
      <p:ext uri="{BB962C8B-B14F-4D97-AF65-F5344CB8AC3E}">
        <p14:creationId xmlns:p14="http://schemas.microsoft.com/office/powerpoint/2010/main" val="40857846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2F3944-49AC-30FD-55C7-8F9B158C24EE}"/>
              </a:ext>
            </a:extLst>
          </p:cNvPr>
          <p:cNvSpPr>
            <a:spLocks noGrp="1"/>
          </p:cNvSpPr>
          <p:nvPr>
            <p:ph type="title"/>
          </p:nvPr>
        </p:nvSpPr>
        <p:spPr>
          <a:xfrm>
            <a:off x="808638" y="386930"/>
            <a:ext cx="9236700" cy="1188950"/>
          </a:xfrm>
        </p:spPr>
        <p:txBody>
          <a:bodyPr anchor="b">
            <a:normAutofit fontScale="90000"/>
          </a:bodyPr>
          <a:lstStyle/>
          <a:p>
            <a:r>
              <a:rPr lang="en-US" sz="5400" dirty="0"/>
              <a:t>An Access Example: public specifier</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E73E0098-3B2D-9AF2-F71F-F31BA2C1116C}"/>
              </a:ext>
            </a:extLst>
          </p:cNvPr>
          <p:cNvSpPr>
            <a:spLocks noGrp="1"/>
          </p:cNvSpPr>
          <p:nvPr>
            <p:ph idx="1"/>
          </p:nvPr>
        </p:nvSpPr>
        <p:spPr>
          <a:xfrm>
            <a:off x="793660" y="2599509"/>
            <a:ext cx="10143668" cy="3435531"/>
          </a:xfrm>
        </p:spPr>
        <p:txBody>
          <a:bodyPr anchor="ctr">
            <a:normAutofit/>
          </a:bodyPr>
          <a:lstStyle/>
          <a:p>
            <a:pPr algn="just"/>
            <a:r>
              <a:rPr lang="en-US" sz="3600" dirty="0"/>
              <a:t>Public access modifier: Public members can be accessed from anywhere, both inside and outside their package. Here's an example:</a:t>
            </a:r>
          </a:p>
        </p:txBody>
      </p:sp>
    </p:spTree>
    <p:extLst>
      <p:ext uri="{BB962C8B-B14F-4D97-AF65-F5344CB8AC3E}">
        <p14:creationId xmlns:p14="http://schemas.microsoft.com/office/powerpoint/2010/main" val="21509412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2F3944-49AC-30FD-55C7-8F9B158C24EE}"/>
              </a:ext>
            </a:extLst>
          </p:cNvPr>
          <p:cNvSpPr>
            <a:spLocks noGrp="1"/>
          </p:cNvSpPr>
          <p:nvPr>
            <p:ph type="title"/>
          </p:nvPr>
        </p:nvSpPr>
        <p:spPr>
          <a:xfrm>
            <a:off x="808638" y="386930"/>
            <a:ext cx="9236700" cy="1188950"/>
          </a:xfrm>
        </p:spPr>
        <p:txBody>
          <a:bodyPr anchor="b">
            <a:normAutofit fontScale="90000"/>
          </a:bodyPr>
          <a:lstStyle/>
          <a:p>
            <a:r>
              <a:rPr lang="en-US" sz="5400" dirty="0"/>
              <a:t>An Access Example: public specifier</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4B1E44EA-9335-771A-EF76-50BE94D39069}"/>
              </a:ext>
            </a:extLst>
          </p:cNvPr>
          <p:cNvPicPr>
            <a:picLocks noChangeAspect="1"/>
          </p:cNvPicPr>
          <p:nvPr/>
        </p:nvPicPr>
        <p:blipFill>
          <a:blip r:embed="rId2"/>
          <a:stretch>
            <a:fillRect/>
          </a:stretch>
        </p:blipFill>
        <p:spPr>
          <a:xfrm>
            <a:off x="126961" y="2305049"/>
            <a:ext cx="5059368" cy="3931849"/>
          </a:xfrm>
          <a:prstGeom prst="rect">
            <a:avLst/>
          </a:prstGeom>
        </p:spPr>
      </p:pic>
      <p:pic>
        <p:nvPicPr>
          <p:cNvPr id="9" name="Picture 8">
            <a:extLst>
              <a:ext uri="{FF2B5EF4-FFF2-40B4-BE49-F238E27FC236}">
                <a16:creationId xmlns:a16="http://schemas.microsoft.com/office/drawing/2014/main" id="{997BBA13-9330-610D-66B9-B11E875554B6}"/>
              </a:ext>
            </a:extLst>
          </p:cNvPr>
          <p:cNvPicPr>
            <a:picLocks noChangeAspect="1"/>
          </p:cNvPicPr>
          <p:nvPr/>
        </p:nvPicPr>
        <p:blipFill>
          <a:blip r:embed="rId3"/>
          <a:stretch>
            <a:fillRect/>
          </a:stretch>
        </p:blipFill>
        <p:spPr>
          <a:xfrm>
            <a:off x="5946588" y="2305049"/>
            <a:ext cx="5099193" cy="3931848"/>
          </a:xfrm>
          <a:prstGeom prst="rect">
            <a:avLst/>
          </a:prstGeom>
        </p:spPr>
      </p:pic>
    </p:spTree>
    <p:extLst>
      <p:ext uri="{BB962C8B-B14F-4D97-AF65-F5344CB8AC3E}">
        <p14:creationId xmlns:p14="http://schemas.microsoft.com/office/powerpoint/2010/main" val="8311970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2F3944-49AC-30FD-55C7-8F9B158C24EE}"/>
              </a:ext>
            </a:extLst>
          </p:cNvPr>
          <p:cNvSpPr>
            <a:spLocks noGrp="1"/>
          </p:cNvSpPr>
          <p:nvPr>
            <p:ph type="title"/>
          </p:nvPr>
        </p:nvSpPr>
        <p:spPr>
          <a:xfrm>
            <a:off x="808638" y="386930"/>
            <a:ext cx="9236700" cy="1188950"/>
          </a:xfrm>
        </p:spPr>
        <p:txBody>
          <a:bodyPr anchor="b">
            <a:normAutofit fontScale="90000"/>
          </a:bodyPr>
          <a:lstStyle/>
          <a:p>
            <a:r>
              <a:rPr lang="en-US" sz="5400" dirty="0"/>
              <a:t>An Access Example: public specifier</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E73E0098-3B2D-9AF2-F71F-F31BA2C1116C}"/>
              </a:ext>
            </a:extLst>
          </p:cNvPr>
          <p:cNvSpPr>
            <a:spLocks noGrp="1"/>
          </p:cNvSpPr>
          <p:nvPr>
            <p:ph idx="1"/>
          </p:nvPr>
        </p:nvSpPr>
        <p:spPr>
          <a:xfrm>
            <a:off x="793660" y="2599509"/>
            <a:ext cx="10143668" cy="3435531"/>
          </a:xfrm>
        </p:spPr>
        <p:txBody>
          <a:bodyPr anchor="ctr">
            <a:normAutofit/>
          </a:bodyPr>
          <a:lstStyle/>
          <a:p>
            <a:pPr algn="just"/>
            <a:r>
              <a:rPr lang="en-US" sz="3600" dirty="0"/>
              <a:t>In the above example, we have a public variable and a public method inside "Class1". We can access them from "Class2" without any issues, even though they belong to a different package.</a:t>
            </a:r>
          </a:p>
        </p:txBody>
      </p:sp>
    </p:spTree>
    <p:extLst>
      <p:ext uri="{BB962C8B-B14F-4D97-AF65-F5344CB8AC3E}">
        <p14:creationId xmlns:p14="http://schemas.microsoft.com/office/powerpoint/2010/main" val="2083043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2F3944-49AC-30FD-55C7-8F9B158C24EE}"/>
              </a:ext>
            </a:extLst>
          </p:cNvPr>
          <p:cNvSpPr>
            <a:spLocks noGrp="1"/>
          </p:cNvSpPr>
          <p:nvPr>
            <p:ph type="title"/>
          </p:nvPr>
        </p:nvSpPr>
        <p:spPr>
          <a:xfrm>
            <a:off x="808637" y="386930"/>
            <a:ext cx="9732841" cy="1188950"/>
          </a:xfrm>
        </p:spPr>
        <p:txBody>
          <a:bodyPr anchor="b">
            <a:normAutofit fontScale="90000"/>
          </a:bodyPr>
          <a:lstStyle/>
          <a:p>
            <a:r>
              <a:rPr lang="en-US" sz="5400" dirty="0"/>
              <a:t>An Access Example: default specifier</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E73E0098-3B2D-9AF2-F71F-F31BA2C1116C}"/>
              </a:ext>
            </a:extLst>
          </p:cNvPr>
          <p:cNvSpPr>
            <a:spLocks noGrp="1"/>
          </p:cNvSpPr>
          <p:nvPr>
            <p:ph idx="1"/>
          </p:nvPr>
        </p:nvSpPr>
        <p:spPr>
          <a:xfrm>
            <a:off x="793660" y="2599509"/>
            <a:ext cx="10143668" cy="3435531"/>
          </a:xfrm>
        </p:spPr>
        <p:txBody>
          <a:bodyPr anchor="ctr">
            <a:normAutofit/>
          </a:bodyPr>
          <a:lstStyle/>
          <a:p>
            <a:pPr algn="just"/>
            <a:r>
              <a:rPr lang="en-US" sz="3600" dirty="0"/>
              <a:t>Default access modifier: Members with default access can only be accessed from within their own package. Here's an example:</a:t>
            </a:r>
          </a:p>
        </p:txBody>
      </p:sp>
    </p:spTree>
    <p:extLst>
      <p:ext uri="{BB962C8B-B14F-4D97-AF65-F5344CB8AC3E}">
        <p14:creationId xmlns:p14="http://schemas.microsoft.com/office/powerpoint/2010/main" val="28310022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2F3944-49AC-30FD-55C7-8F9B158C24EE}"/>
              </a:ext>
            </a:extLst>
          </p:cNvPr>
          <p:cNvSpPr>
            <a:spLocks noGrp="1"/>
          </p:cNvSpPr>
          <p:nvPr>
            <p:ph type="title"/>
          </p:nvPr>
        </p:nvSpPr>
        <p:spPr>
          <a:xfrm>
            <a:off x="808638" y="386930"/>
            <a:ext cx="10422954" cy="1188950"/>
          </a:xfrm>
        </p:spPr>
        <p:txBody>
          <a:bodyPr anchor="b">
            <a:normAutofit/>
          </a:bodyPr>
          <a:lstStyle/>
          <a:p>
            <a:r>
              <a:rPr lang="en-US" sz="5400" dirty="0"/>
              <a:t>An Access Example: default specifier</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9C6540FC-B117-B8C5-9E8A-58897FE54AD3}"/>
              </a:ext>
            </a:extLst>
          </p:cNvPr>
          <p:cNvPicPr>
            <a:picLocks noChangeAspect="1"/>
          </p:cNvPicPr>
          <p:nvPr/>
        </p:nvPicPr>
        <p:blipFill>
          <a:blip r:embed="rId2"/>
          <a:stretch>
            <a:fillRect/>
          </a:stretch>
        </p:blipFill>
        <p:spPr>
          <a:xfrm>
            <a:off x="124684" y="2346502"/>
            <a:ext cx="7604583" cy="3846577"/>
          </a:xfrm>
          <a:prstGeom prst="rect">
            <a:avLst/>
          </a:prstGeom>
        </p:spPr>
      </p:pic>
    </p:spTree>
    <p:extLst>
      <p:ext uri="{BB962C8B-B14F-4D97-AF65-F5344CB8AC3E}">
        <p14:creationId xmlns:p14="http://schemas.microsoft.com/office/powerpoint/2010/main" val="10293726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2F3944-49AC-30FD-55C7-8F9B158C24EE}"/>
              </a:ext>
            </a:extLst>
          </p:cNvPr>
          <p:cNvSpPr>
            <a:spLocks noGrp="1"/>
          </p:cNvSpPr>
          <p:nvPr>
            <p:ph type="title"/>
          </p:nvPr>
        </p:nvSpPr>
        <p:spPr>
          <a:xfrm>
            <a:off x="808637" y="386930"/>
            <a:ext cx="10353943" cy="1188950"/>
          </a:xfrm>
        </p:spPr>
        <p:txBody>
          <a:bodyPr anchor="b">
            <a:normAutofit/>
          </a:bodyPr>
          <a:lstStyle/>
          <a:p>
            <a:r>
              <a:rPr lang="en-US" sz="5400" dirty="0"/>
              <a:t>An Access Example: default specifier</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2F68A1E8-4D1A-7E99-B9AB-04B96AE17C10}"/>
              </a:ext>
            </a:extLst>
          </p:cNvPr>
          <p:cNvPicPr>
            <a:picLocks noChangeAspect="1"/>
          </p:cNvPicPr>
          <p:nvPr/>
        </p:nvPicPr>
        <p:blipFill>
          <a:blip r:embed="rId2"/>
          <a:stretch>
            <a:fillRect/>
          </a:stretch>
        </p:blipFill>
        <p:spPr>
          <a:xfrm>
            <a:off x="191050" y="2313265"/>
            <a:ext cx="8461243" cy="3888873"/>
          </a:xfrm>
          <a:prstGeom prst="rect">
            <a:avLst/>
          </a:prstGeom>
        </p:spPr>
      </p:pic>
    </p:spTree>
    <p:extLst>
      <p:ext uri="{BB962C8B-B14F-4D97-AF65-F5344CB8AC3E}">
        <p14:creationId xmlns:p14="http://schemas.microsoft.com/office/powerpoint/2010/main" val="16511228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2F3944-49AC-30FD-55C7-8F9B158C24EE}"/>
              </a:ext>
            </a:extLst>
          </p:cNvPr>
          <p:cNvSpPr>
            <a:spLocks noGrp="1"/>
          </p:cNvSpPr>
          <p:nvPr>
            <p:ph type="title"/>
          </p:nvPr>
        </p:nvSpPr>
        <p:spPr>
          <a:xfrm>
            <a:off x="808638" y="386930"/>
            <a:ext cx="11069936" cy="1188950"/>
          </a:xfrm>
        </p:spPr>
        <p:txBody>
          <a:bodyPr anchor="b">
            <a:normAutofit/>
          </a:bodyPr>
          <a:lstStyle/>
          <a:p>
            <a:r>
              <a:rPr lang="en-US" sz="5400" dirty="0"/>
              <a:t>An Access Example: default specifier</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E73E0098-3B2D-9AF2-F71F-F31BA2C1116C}"/>
              </a:ext>
            </a:extLst>
          </p:cNvPr>
          <p:cNvSpPr>
            <a:spLocks noGrp="1"/>
          </p:cNvSpPr>
          <p:nvPr>
            <p:ph idx="1"/>
          </p:nvPr>
        </p:nvSpPr>
        <p:spPr>
          <a:xfrm>
            <a:off x="793660" y="2599509"/>
            <a:ext cx="10143668" cy="3435531"/>
          </a:xfrm>
        </p:spPr>
        <p:txBody>
          <a:bodyPr anchor="ctr">
            <a:normAutofit/>
          </a:bodyPr>
          <a:lstStyle/>
          <a:p>
            <a:pPr algn="just"/>
            <a:r>
              <a:rPr lang="en-US" sz="3600" dirty="0"/>
              <a:t>In the above example, we have a default variable and a default method inside "Class1". We cannot access them from "Class2" as it belongs to a different package.</a:t>
            </a:r>
          </a:p>
        </p:txBody>
      </p:sp>
    </p:spTree>
    <p:extLst>
      <p:ext uri="{BB962C8B-B14F-4D97-AF65-F5344CB8AC3E}">
        <p14:creationId xmlns:p14="http://schemas.microsoft.com/office/powerpoint/2010/main" val="28082291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2F3944-49AC-30FD-55C7-8F9B158C24EE}"/>
              </a:ext>
            </a:extLst>
          </p:cNvPr>
          <p:cNvSpPr>
            <a:spLocks noGrp="1"/>
          </p:cNvSpPr>
          <p:nvPr>
            <p:ph type="title"/>
          </p:nvPr>
        </p:nvSpPr>
        <p:spPr>
          <a:xfrm>
            <a:off x="808637" y="386930"/>
            <a:ext cx="9732841" cy="1188950"/>
          </a:xfrm>
        </p:spPr>
        <p:txBody>
          <a:bodyPr anchor="b">
            <a:normAutofit fontScale="90000"/>
          </a:bodyPr>
          <a:lstStyle/>
          <a:p>
            <a:r>
              <a:rPr lang="en-US" sz="5400" dirty="0"/>
              <a:t>An Access Example: private specifier</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E73E0098-3B2D-9AF2-F71F-F31BA2C1116C}"/>
              </a:ext>
            </a:extLst>
          </p:cNvPr>
          <p:cNvSpPr>
            <a:spLocks noGrp="1"/>
          </p:cNvSpPr>
          <p:nvPr>
            <p:ph idx="1"/>
          </p:nvPr>
        </p:nvSpPr>
        <p:spPr>
          <a:xfrm>
            <a:off x="793660" y="2599509"/>
            <a:ext cx="10143668" cy="3435531"/>
          </a:xfrm>
        </p:spPr>
        <p:txBody>
          <a:bodyPr anchor="ctr">
            <a:normAutofit/>
          </a:bodyPr>
          <a:lstStyle/>
          <a:p>
            <a:pPr algn="just"/>
            <a:r>
              <a:rPr lang="en-US" sz="3600" dirty="0"/>
              <a:t>Private access modifier: Private members can only be accessed from within their own class. Here's an example:</a:t>
            </a:r>
          </a:p>
        </p:txBody>
      </p:sp>
    </p:spTree>
    <p:extLst>
      <p:ext uri="{BB962C8B-B14F-4D97-AF65-F5344CB8AC3E}">
        <p14:creationId xmlns:p14="http://schemas.microsoft.com/office/powerpoint/2010/main" val="11418534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2F3944-49AC-30FD-55C7-8F9B158C24EE}"/>
              </a:ext>
            </a:extLst>
          </p:cNvPr>
          <p:cNvSpPr>
            <a:spLocks noGrp="1"/>
          </p:cNvSpPr>
          <p:nvPr>
            <p:ph type="title"/>
          </p:nvPr>
        </p:nvSpPr>
        <p:spPr>
          <a:xfrm>
            <a:off x="808638" y="386930"/>
            <a:ext cx="9236700" cy="1188950"/>
          </a:xfrm>
        </p:spPr>
        <p:txBody>
          <a:bodyPr anchor="b">
            <a:normAutofit fontScale="90000"/>
          </a:bodyPr>
          <a:lstStyle/>
          <a:p>
            <a:r>
              <a:rPr lang="en-US" sz="5400" dirty="0"/>
              <a:t>An Access Example: private specifier</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B71D7A81-ABA6-3049-F3C8-3C7C87A6B923}"/>
              </a:ext>
            </a:extLst>
          </p:cNvPr>
          <p:cNvPicPr>
            <a:picLocks noChangeAspect="1"/>
          </p:cNvPicPr>
          <p:nvPr/>
        </p:nvPicPr>
        <p:blipFill>
          <a:blip r:embed="rId2"/>
          <a:stretch>
            <a:fillRect/>
          </a:stretch>
        </p:blipFill>
        <p:spPr>
          <a:xfrm>
            <a:off x="71232" y="1575880"/>
            <a:ext cx="6700504" cy="5108305"/>
          </a:xfrm>
          <a:prstGeom prst="rect">
            <a:avLst/>
          </a:prstGeom>
        </p:spPr>
      </p:pic>
    </p:spTree>
    <p:extLst>
      <p:ext uri="{BB962C8B-B14F-4D97-AF65-F5344CB8AC3E}">
        <p14:creationId xmlns:p14="http://schemas.microsoft.com/office/powerpoint/2010/main" val="42212563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2F3944-49AC-30FD-55C7-8F9B158C24EE}"/>
              </a:ext>
            </a:extLst>
          </p:cNvPr>
          <p:cNvSpPr>
            <a:spLocks noGrp="1"/>
          </p:cNvSpPr>
          <p:nvPr>
            <p:ph type="title"/>
          </p:nvPr>
        </p:nvSpPr>
        <p:spPr>
          <a:xfrm>
            <a:off x="808638" y="386930"/>
            <a:ext cx="9236700" cy="1188950"/>
          </a:xfrm>
        </p:spPr>
        <p:txBody>
          <a:bodyPr anchor="b">
            <a:normAutofit fontScale="90000"/>
          </a:bodyPr>
          <a:lstStyle/>
          <a:p>
            <a:r>
              <a:rPr lang="en-US" sz="5400" dirty="0"/>
              <a:t>An Access Example: private specifier</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155B47F7-8B58-0301-60DB-A5CA24F0ECA5}"/>
              </a:ext>
            </a:extLst>
          </p:cNvPr>
          <p:cNvPicPr>
            <a:picLocks noChangeAspect="1"/>
          </p:cNvPicPr>
          <p:nvPr/>
        </p:nvPicPr>
        <p:blipFill>
          <a:blip r:embed="rId2"/>
          <a:stretch>
            <a:fillRect/>
          </a:stretch>
        </p:blipFill>
        <p:spPr>
          <a:xfrm>
            <a:off x="128963" y="2266572"/>
            <a:ext cx="9187565" cy="4115848"/>
          </a:xfrm>
          <a:prstGeom prst="rect">
            <a:avLst/>
          </a:prstGeom>
        </p:spPr>
      </p:pic>
    </p:spTree>
    <p:extLst>
      <p:ext uri="{BB962C8B-B14F-4D97-AF65-F5344CB8AC3E}">
        <p14:creationId xmlns:p14="http://schemas.microsoft.com/office/powerpoint/2010/main" val="18591989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2F3944-49AC-30FD-55C7-8F9B158C24EE}"/>
              </a:ext>
            </a:extLst>
          </p:cNvPr>
          <p:cNvSpPr>
            <a:spLocks noGrp="1"/>
          </p:cNvSpPr>
          <p:nvPr>
            <p:ph type="title"/>
          </p:nvPr>
        </p:nvSpPr>
        <p:spPr>
          <a:xfrm>
            <a:off x="808638" y="386930"/>
            <a:ext cx="9236700" cy="1188950"/>
          </a:xfrm>
        </p:spPr>
        <p:txBody>
          <a:bodyPr anchor="b">
            <a:normAutofit fontScale="90000"/>
          </a:bodyPr>
          <a:lstStyle/>
          <a:p>
            <a:r>
              <a:rPr lang="en-US" sz="5400" dirty="0"/>
              <a:t>An Access Example: private specifier</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E73E0098-3B2D-9AF2-F71F-F31BA2C1116C}"/>
              </a:ext>
            </a:extLst>
          </p:cNvPr>
          <p:cNvSpPr>
            <a:spLocks noGrp="1"/>
          </p:cNvSpPr>
          <p:nvPr>
            <p:ph idx="1"/>
          </p:nvPr>
        </p:nvSpPr>
        <p:spPr>
          <a:xfrm>
            <a:off x="793660" y="2599509"/>
            <a:ext cx="10143668" cy="3435531"/>
          </a:xfrm>
        </p:spPr>
        <p:txBody>
          <a:bodyPr anchor="ctr">
            <a:normAutofit lnSpcReduction="10000"/>
          </a:bodyPr>
          <a:lstStyle/>
          <a:p>
            <a:pPr algn="just"/>
            <a:r>
              <a:rPr lang="en-US" sz="3600" dirty="0"/>
              <a:t>In the above example, we have a private variable and a private method inside "Class1". We cannot access them directly from "Class2". However, we have a public method "</a:t>
            </a:r>
            <a:r>
              <a:rPr lang="en-US" sz="3600" dirty="0" err="1"/>
              <a:t>accessPrivate</a:t>
            </a:r>
            <a:r>
              <a:rPr lang="en-US" sz="3600" dirty="0"/>
              <a:t>()" that uses these private members. We can call this method from "Class2" to indirectly access the private members.</a:t>
            </a:r>
          </a:p>
        </p:txBody>
      </p:sp>
    </p:spTree>
    <p:extLst>
      <p:ext uri="{BB962C8B-B14F-4D97-AF65-F5344CB8AC3E}">
        <p14:creationId xmlns:p14="http://schemas.microsoft.com/office/powerpoint/2010/main" val="41842124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2F3944-49AC-30FD-55C7-8F9B158C24EE}"/>
              </a:ext>
            </a:extLst>
          </p:cNvPr>
          <p:cNvSpPr>
            <a:spLocks noGrp="1"/>
          </p:cNvSpPr>
          <p:nvPr>
            <p:ph type="title"/>
          </p:nvPr>
        </p:nvSpPr>
        <p:spPr>
          <a:xfrm>
            <a:off x="808637" y="386930"/>
            <a:ext cx="10886444" cy="1188950"/>
          </a:xfrm>
        </p:spPr>
        <p:txBody>
          <a:bodyPr anchor="b">
            <a:normAutofit fontScale="90000"/>
          </a:bodyPr>
          <a:lstStyle/>
          <a:p>
            <a:r>
              <a:rPr lang="en-US" sz="5400" dirty="0"/>
              <a:t>An Access Example: protected specifier</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E73E0098-3B2D-9AF2-F71F-F31BA2C1116C}"/>
              </a:ext>
            </a:extLst>
          </p:cNvPr>
          <p:cNvSpPr>
            <a:spLocks noGrp="1"/>
          </p:cNvSpPr>
          <p:nvPr>
            <p:ph idx="1"/>
          </p:nvPr>
        </p:nvSpPr>
        <p:spPr>
          <a:xfrm>
            <a:off x="793660" y="2599509"/>
            <a:ext cx="10143668" cy="3435531"/>
          </a:xfrm>
        </p:spPr>
        <p:txBody>
          <a:bodyPr anchor="ctr">
            <a:normAutofit/>
          </a:bodyPr>
          <a:lstStyle/>
          <a:p>
            <a:pPr algn="just"/>
            <a:r>
              <a:rPr lang="en-US" sz="3600" dirty="0"/>
              <a:t>Protected access modifier: Protected members can be accessed from within their own class, their subclasses, and classes in the same package. Here's an example:</a:t>
            </a:r>
          </a:p>
        </p:txBody>
      </p:sp>
    </p:spTree>
    <p:extLst>
      <p:ext uri="{BB962C8B-B14F-4D97-AF65-F5344CB8AC3E}">
        <p14:creationId xmlns:p14="http://schemas.microsoft.com/office/powerpoint/2010/main" val="27825066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2F3944-49AC-30FD-55C7-8F9B158C24EE}"/>
              </a:ext>
            </a:extLst>
          </p:cNvPr>
          <p:cNvSpPr>
            <a:spLocks noGrp="1"/>
          </p:cNvSpPr>
          <p:nvPr>
            <p:ph type="title"/>
          </p:nvPr>
        </p:nvSpPr>
        <p:spPr>
          <a:xfrm>
            <a:off x="808638" y="386930"/>
            <a:ext cx="10328064" cy="1188950"/>
          </a:xfrm>
        </p:spPr>
        <p:txBody>
          <a:bodyPr anchor="b">
            <a:normAutofit fontScale="90000"/>
          </a:bodyPr>
          <a:lstStyle/>
          <a:p>
            <a:r>
              <a:rPr lang="en-US" sz="5400" dirty="0"/>
              <a:t>An Access Example: Protected specifier</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0D4BAEA2-2AAC-26AC-15A3-6F4812FCA17A}"/>
              </a:ext>
            </a:extLst>
          </p:cNvPr>
          <p:cNvPicPr>
            <a:picLocks noChangeAspect="1"/>
          </p:cNvPicPr>
          <p:nvPr/>
        </p:nvPicPr>
        <p:blipFill>
          <a:blip r:embed="rId2"/>
          <a:stretch>
            <a:fillRect/>
          </a:stretch>
        </p:blipFill>
        <p:spPr>
          <a:xfrm>
            <a:off x="317334" y="2333800"/>
            <a:ext cx="8283202" cy="3905485"/>
          </a:xfrm>
          <a:prstGeom prst="rect">
            <a:avLst/>
          </a:prstGeom>
        </p:spPr>
      </p:pic>
    </p:spTree>
    <p:extLst>
      <p:ext uri="{BB962C8B-B14F-4D97-AF65-F5344CB8AC3E}">
        <p14:creationId xmlns:p14="http://schemas.microsoft.com/office/powerpoint/2010/main" val="19376740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2F3944-49AC-30FD-55C7-8F9B158C24EE}"/>
              </a:ext>
            </a:extLst>
          </p:cNvPr>
          <p:cNvSpPr>
            <a:spLocks noGrp="1"/>
          </p:cNvSpPr>
          <p:nvPr>
            <p:ph type="title"/>
          </p:nvPr>
        </p:nvSpPr>
        <p:spPr>
          <a:xfrm>
            <a:off x="181155" y="386930"/>
            <a:ext cx="10161917" cy="1188950"/>
          </a:xfrm>
        </p:spPr>
        <p:txBody>
          <a:bodyPr anchor="b">
            <a:normAutofit fontScale="90000"/>
          </a:bodyPr>
          <a:lstStyle/>
          <a:p>
            <a:r>
              <a:rPr lang="en-US" sz="5400" dirty="0"/>
              <a:t>An Access Example: protected specifier</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8717E01A-F154-1073-5C8C-3B434B44072E}"/>
              </a:ext>
            </a:extLst>
          </p:cNvPr>
          <p:cNvPicPr>
            <a:picLocks noChangeAspect="1"/>
          </p:cNvPicPr>
          <p:nvPr/>
        </p:nvPicPr>
        <p:blipFill>
          <a:blip r:embed="rId2"/>
          <a:stretch>
            <a:fillRect/>
          </a:stretch>
        </p:blipFill>
        <p:spPr>
          <a:xfrm>
            <a:off x="107741" y="2398310"/>
            <a:ext cx="6776138" cy="3768613"/>
          </a:xfrm>
          <a:prstGeom prst="rect">
            <a:avLst/>
          </a:prstGeom>
        </p:spPr>
      </p:pic>
    </p:spTree>
    <p:extLst>
      <p:ext uri="{BB962C8B-B14F-4D97-AF65-F5344CB8AC3E}">
        <p14:creationId xmlns:p14="http://schemas.microsoft.com/office/powerpoint/2010/main" val="35298803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2F3944-49AC-30FD-55C7-8F9B158C24EE}"/>
              </a:ext>
            </a:extLst>
          </p:cNvPr>
          <p:cNvSpPr>
            <a:spLocks noGrp="1"/>
          </p:cNvSpPr>
          <p:nvPr>
            <p:ph type="title"/>
          </p:nvPr>
        </p:nvSpPr>
        <p:spPr>
          <a:xfrm>
            <a:off x="181155" y="386930"/>
            <a:ext cx="10161917" cy="1188950"/>
          </a:xfrm>
        </p:spPr>
        <p:txBody>
          <a:bodyPr anchor="b">
            <a:normAutofit fontScale="90000"/>
          </a:bodyPr>
          <a:lstStyle/>
          <a:p>
            <a:r>
              <a:rPr lang="en-US" sz="5400" dirty="0"/>
              <a:t>An Access Example: protected specifier</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675950DD-D1B2-98E0-9C68-734CA6551331}"/>
              </a:ext>
            </a:extLst>
          </p:cNvPr>
          <p:cNvPicPr>
            <a:picLocks noChangeAspect="1"/>
          </p:cNvPicPr>
          <p:nvPr/>
        </p:nvPicPr>
        <p:blipFill rotWithShape="1">
          <a:blip r:embed="rId2"/>
          <a:srcRect t="16910"/>
          <a:stretch/>
        </p:blipFill>
        <p:spPr>
          <a:xfrm>
            <a:off x="83863" y="2381301"/>
            <a:ext cx="8740960" cy="3764168"/>
          </a:xfrm>
          <a:prstGeom prst="rect">
            <a:avLst/>
          </a:prstGeom>
        </p:spPr>
      </p:pic>
    </p:spTree>
    <p:extLst>
      <p:ext uri="{BB962C8B-B14F-4D97-AF65-F5344CB8AC3E}">
        <p14:creationId xmlns:p14="http://schemas.microsoft.com/office/powerpoint/2010/main" val="17541213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2F3944-49AC-30FD-55C7-8F9B158C24EE}"/>
              </a:ext>
            </a:extLst>
          </p:cNvPr>
          <p:cNvSpPr>
            <a:spLocks noGrp="1"/>
          </p:cNvSpPr>
          <p:nvPr>
            <p:ph type="title"/>
          </p:nvPr>
        </p:nvSpPr>
        <p:spPr>
          <a:xfrm>
            <a:off x="808637" y="386930"/>
            <a:ext cx="10345317" cy="1188950"/>
          </a:xfrm>
        </p:spPr>
        <p:txBody>
          <a:bodyPr anchor="b">
            <a:normAutofit fontScale="90000"/>
          </a:bodyPr>
          <a:lstStyle/>
          <a:p>
            <a:r>
              <a:rPr lang="en-US" sz="5400" dirty="0"/>
              <a:t>An Access Example: protected specifier</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E73E0098-3B2D-9AF2-F71F-F31BA2C1116C}"/>
              </a:ext>
            </a:extLst>
          </p:cNvPr>
          <p:cNvSpPr>
            <a:spLocks noGrp="1"/>
          </p:cNvSpPr>
          <p:nvPr>
            <p:ph idx="1"/>
          </p:nvPr>
        </p:nvSpPr>
        <p:spPr>
          <a:xfrm>
            <a:off x="793660" y="2599509"/>
            <a:ext cx="10143668" cy="3435531"/>
          </a:xfrm>
        </p:spPr>
        <p:txBody>
          <a:bodyPr anchor="ctr">
            <a:normAutofit lnSpcReduction="10000"/>
          </a:bodyPr>
          <a:lstStyle/>
          <a:p>
            <a:pPr algn="just"/>
            <a:r>
              <a:rPr lang="en-US" sz="3600" dirty="0"/>
              <a:t>In the above example, we have a protected variable and a protected method inside "Class1". We can access them from a subclass of "Class1", which is "Class3". In "Class3", we have created an object of the class and accessed the protected members. However, we cannot access them from "Class2" as it belongs to a different package.</a:t>
            </a:r>
          </a:p>
        </p:txBody>
      </p:sp>
    </p:spTree>
    <p:extLst>
      <p:ext uri="{BB962C8B-B14F-4D97-AF65-F5344CB8AC3E}">
        <p14:creationId xmlns:p14="http://schemas.microsoft.com/office/powerpoint/2010/main" val="17492528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2F3944-49AC-30FD-55C7-8F9B158C24EE}"/>
              </a:ext>
            </a:extLst>
          </p:cNvPr>
          <p:cNvSpPr>
            <a:spLocks noGrp="1"/>
          </p:cNvSpPr>
          <p:nvPr>
            <p:ph type="title"/>
          </p:nvPr>
        </p:nvSpPr>
        <p:spPr>
          <a:xfrm>
            <a:off x="808637" y="386930"/>
            <a:ext cx="10345317" cy="1188950"/>
          </a:xfrm>
        </p:spPr>
        <p:txBody>
          <a:bodyPr anchor="b">
            <a:normAutofit fontScale="90000"/>
          </a:bodyPr>
          <a:lstStyle/>
          <a:p>
            <a:r>
              <a:rPr lang="en-US" sz="5400" dirty="0"/>
              <a:t>An Access Example: protected specifier</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E73E0098-3B2D-9AF2-F71F-F31BA2C1116C}"/>
              </a:ext>
            </a:extLst>
          </p:cNvPr>
          <p:cNvSpPr>
            <a:spLocks noGrp="1"/>
          </p:cNvSpPr>
          <p:nvPr>
            <p:ph idx="1"/>
          </p:nvPr>
        </p:nvSpPr>
        <p:spPr>
          <a:xfrm>
            <a:off x="793660" y="2599509"/>
            <a:ext cx="10143668" cy="3435531"/>
          </a:xfrm>
        </p:spPr>
        <p:txBody>
          <a:bodyPr anchor="ctr">
            <a:normAutofit lnSpcReduction="10000"/>
          </a:bodyPr>
          <a:lstStyle/>
          <a:p>
            <a:pPr algn="just"/>
            <a:r>
              <a:rPr lang="en-US" sz="3600" dirty="0"/>
              <a:t>In the above example, we have a protected variable and a protected method inside "Class1". We can access them from a subclass of "Class1", which is "Class3". In "Class3", we have created an object of the class and accessed the protected members. However, we cannot access them from "Class2" as it belongs to a different package.</a:t>
            </a:r>
          </a:p>
        </p:txBody>
      </p:sp>
    </p:spTree>
    <p:extLst>
      <p:ext uri="{BB962C8B-B14F-4D97-AF65-F5344CB8AC3E}">
        <p14:creationId xmlns:p14="http://schemas.microsoft.com/office/powerpoint/2010/main" val="8198782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2F3944-49AC-30FD-55C7-8F9B158C24EE}"/>
              </a:ext>
            </a:extLst>
          </p:cNvPr>
          <p:cNvSpPr>
            <a:spLocks noGrp="1"/>
          </p:cNvSpPr>
          <p:nvPr>
            <p:ph type="title"/>
          </p:nvPr>
        </p:nvSpPr>
        <p:spPr>
          <a:xfrm>
            <a:off x="808637" y="386930"/>
            <a:ext cx="10345317" cy="1188950"/>
          </a:xfrm>
        </p:spPr>
        <p:txBody>
          <a:bodyPr anchor="b">
            <a:normAutofit/>
          </a:bodyPr>
          <a:lstStyle/>
          <a:p>
            <a:r>
              <a:rPr lang="en-US" sz="5400" dirty="0"/>
              <a:t>Interfaces</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E73E0098-3B2D-9AF2-F71F-F31BA2C1116C}"/>
              </a:ext>
            </a:extLst>
          </p:cNvPr>
          <p:cNvSpPr>
            <a:spLocks noGrp="1"/>
          </p:cNvSpPr>
          <p:nvPr>
            <p:ph idx="1"/>
          </p:nvPr>
        </p:nvSpPr>
        <p:spPr>
          <a:xfrm>
            <a:off x="793660" y="2320505"/>
            <a:ext cx="10143668" cy="3942271"/>
          </a:xfrm>
        </p:spPr>
        <p:txBody>
          <a:bodyPr anchor="ctr">
            <a:normAutofit fontScale="62500" lnSpcReduction="20000"/>
          </a:bodyPr>
          <a:lstStyle/>
          <a:p>
            <a:pPr algn="just"/>
            <a:r>
              <a:rPr lang="en-US" sz="3600" dirty="0"/>
              <a:t>Using the keyword </a:t>
            </a:r>
            <a:r>
              <a:rPr lang="en-US" sz="3600" i="1" dirty="0">
                <a:solidFill>
                  <a:srgbClr val="FF0000"/>
                </a:solidFill>
              </a:rPr>
              <a:t>interface</a:t>
            </a:r>
            <a:r>
              <a:rPr lang="en-US" sz="3600" dirty="0"/>
              <a:t>, you can fully abstract a class interface from its implementation. </a:t>
            </a:r>
          </a:p>
          <a:p>
            <a:pPr algn="just"/>
            <a:r>
              <a:rPr lang="en-US" sz="3600" dirty="0"/>
              <a:t>Using interface, you can specify what a class must do, but not how it does it. </a:t>
            </a:r>
          </a:p>
          <a:p>
            <a:pPr algn="just"/>
            <a:r>
              <a:rPr lang="en-US" sz="3600" dirty="0"/>
              <a:t>Interfaces are syntactically like the classes, but they lack instance variables, and, as a rule, their methods are declared without any body.</a:t>
            </a:r>
          </a:p>
          <a:p>
            <a:pPr algn="just"/>
            <a:r>
              <a:rPr lang="en-US" sz="3600" dirty="0"/>
              <a:t>Once interface is defined, any number of classes can implement an interface. </a:t>
            </a:r>
          </a:p>
          <a:p>
            <a:pPr algn="just"/>
            <a:r>
              <a:rPr lang="en-US" sz="3600" dirty="0"/>
              <a:t>Also, one class can implement any number of interfaces.</a:t>
            </a:r>
          </a:p>
          <a:p>
            <a:pPr algn="just"/>
            <a:r>
              <a:rPr lang="en-US" sz="3600" dirty="0"/>
              <a:t>To implement an interface, a class must provide the complete set of methods required by the interface. However, each class is free to determine the details of its own implementation.</a:t>
            </a:r>
          </a:p>
          <a:p>
            <a:pPr algn="just"/>
            <a:r>
              <a:rPr lang="en-US" sz="3600" dirty="0"/>
              <a:t>Interfaces are designed to support dynamic method resolution at run time.</a:t>
            </a:r>
          </a:p>
        </p:txBody>
      </p:sp>
    </p:spTree>
    <p:extLst>
      <p:ext uri="{BB962C8B-B14F-4D97-AF65-F5344CB8AC3E}">
        <p14:creationId xmlns:p14="http://schemas.microsoft.com/office/powerpoint/2010/main" val="34132353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2F3944-49AC-30FD-55C7-8F9B158C24EE}"/>
              </a:ext>
            </a:extLst>
          </p:cNvPr>
          <p:cNvSpPr>
            <a:spLocks noGrp="1"/>
          </p:cNvSpPr>
          <p:nvPr>
            <p:ph type="title"/>
          </p:nvPr>
        </p:nvSpPr>
        <p:spPr>
          <a:xfrm>
            <a:off x="808637" y="386930"/>
            <a:ext cx="10345317" cy="1188950"/>
          </a:xfrm>
        </p:spPr>
        <p:txBody>
          <a:bodyPr anchor="b">
            <a:normAutofit/>
          </a:bodyPr>
          <a:lstStyle/>
          <a:p>
            <a:r>
              <a:rPr lang="en-US" sz="5400" dirty="0"/>
              <a:t>Interfaces</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B26BB9E6-2938-5221-08CA-FF18916D5601}"/>
              </a:ext>
            </a:extLst>
          </p:cNvPr>
          <p:cNvPicPr>
            <a:picLocks noChangeAspect="1"/>
          </p:cNvPicPr>
          <p:nvPr/>
        </p:nvPicPr>
        <p:blipFill>
          <a:blip r:embed="rId2"/>
          <a:stretch>
            <a:fillRect/>
          </a:stretch>
        </p:blipFill>
        <p:spPr>
          <a:xfrm>
            <a:off x="2003152" y="2182206"/>
            <a:ext cx="4996896" cy="2864168"/>
          </a:xfrm>
          <a:prstGeom prst="rect">
            <a:avLst/>
          </a:prstGeom>
        </p:spPr>
      </p:pic>
      <p:pic>
        <p:nvPicPr>
          <p:cNvPr id="13" name="Picture 12">
            <a:extLst>
              <a:ext uri="{FF2B5EF4-FFF2-40B4-BE49-F238E27FC236}">
                <a16:creationId xmlns:a16="http://schemas.microsoft.com/office/drawing/2014/main" id="{71CEE48A-4023-9773-3B13-3D842FD7635F}"/>
              </a:ext>
            </a:extLst>
          </p:cNvPr>
          <p:cNvPicPr>
            <a:picLocks noChangeAspect="1"/>
          </p:cNvPicPr>
          <p:nvPr/>
        </p:nvPicPr>
        <p:blipFill>
          <a:blip r:embed="rId3"/>
          <a:stretch>
            <a:fillRect/>
          </a:stretch>
        </p:blipFill>
        <p:spPr>
          <a:xfrm>
            <a:off x="1383841" y="5067247"/>
            <a:ext cx="6881133" cy="1025451"/>
          </a:xfrm>
          <a:prstGeom prst="rect">
            <a:avLst/>
          </a:prstGeom>
        </p:spPr>
      </p:pic>
    </p:spTree>
    <p:extLst>
      <p:ext uri="{BB962C8B-B14F-4D97-AF65-F5344CB8AC3E}">
        <p14:creationId xmlns:p14="http://schemas.microsoft.com/office/powerpoint/2010/main" val="4961806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2F3944-49AC-30FD-55C7-8F9B158C24EE}"/>
              </a:ext>
            </a:extLst>
          </p:cNvPr>
          <p:cNvSpPr>
            <a:spLocks noGrp="1"/>
          </p:cNvSpPr>
          <p:nvPr>
            <p:ph type="title"/>
          </p:nvPr>
        </p:nvSpPr>
        <p:spPr>
          <a:xfrm>
            <a:off x="808637" y="386930"/>
            <a:ext cx="10345317" cy="1188950"/>
          </a:xfrm>
        </p:spPr>
        <p:txBody>
          <a:bodyPr anchor="b">
            <a:normAutofit/>
          </a:bodyPr>
          <a:lstStyle/>
          <a:p>
            <a:r>
              <a:rPr lang="en-US" sz="5400" dirty="0"/>
              <a:t>Interfaces</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E9E3CA84-7164-E837-AC93-00F53D582AA7}"/>
              </a:ext>
            </a:extLst>
          </p:cNvPr>
          <p:cNvPicPr>
            <a:picLocks noChangeAspect="1"/>
          </p:cNvPicPr>
          <p:nvPr/>
        </p:nvPicPr>
        <p:blipFill>
          <a:blip r:embed="rId2"/>
          <a:stretch>
            <a:fillRect/>
          </a:stretch>
        </p:blipFill>
        <p:spPr>
          <a:xfrm>
            <a:off x="1177209" y="2516476"/>
            <a:ext cx="6412607" cy="1740564"/>
          </a:xfrm>
          <a:prstGeom prst="rect">
            <a:avLst/>
          </a:prstGeom>
        </p:spPr>
      </p:pic>
    </p:spTree>
    <p:extLst>
      <p:ext uri="{BB962C8B-B14F-4D97-AF65-F5344CB8AC3E}">
        <p14:creationId xmlns:p14="http://schemas.microsoft.com/office/powerpoint/2010/main" val="5447094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2F3944-49AC-30FD-55C7-8F9B158C24EE}"/>
              </a:ext>
            </a:extLst>
          </p:cNvPr>
          <p:cNvSpPr>
            <a:spLocks noGrp="1"/>
          </p:cNvSpPr>
          <p:nvPr>
            <p:ph type="title"/>
          </p:nvPr>
        </p:nvSpPr>
        <p:spPr>
          <a:xfrm>
            <a:off x="808637" y="386930"/>
            <a:ext cx="10345317" cy="1188950"/>
          </a:xfrm>
        </p:spPr>
        <p:txBody>
          <a:bodyPr anchor="b">
            <a:normAutofit/>
          </a:bodyPr>
          <a:lstStyle/>
          <a:p>
            <a:r>
              <a:rPr lang="en-US" sz="5400" dirty="0"/>
              <a:t>Interfaces</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875B8B35-DE68-C962-6829-E176618CAF5D}"/>
              </a:ext>
            </a:extLst>
          </p:cNvPr>
          <p:cNvPicPr>
            <a:picLocks noChangeAspect="1"/>
          </p:cNvPicPr>
          <p:nvPr/>
        </p:nvPicPr>
        <p:blipFill>
          <a:blip r:embed="rId2"/>
          <a:stretch>
            <a:fillRect/>
          </a:stretch>
        </p:blipFill>
        <p:spPr>
          <a:xfrm>
            <a:off x="1094583" y="2653421"/>
            <a:ext cx="7551578" cy="924364"/>
          </a:xfrm>
          <a:prstGeom prst="rect">
            <a:avLst/>
          </a:prstGeom>
        </p:spPr>
      </p:pic>
      <p:pic>
        <p:nvPicPr>
          <p:cNvPr id="7" name="Picture 6">
            <a:extLst>
              <a:ext uri="{FF2B5EF4-FFF2-40B4-BE49-F238E27FC236}">
                <a16:creationId xmlns:a16="http://schemas.microsoft.com/office/drawing/2014/main" id="{CE31238C-6181-23EF-47AD-A0CE9C282145}"/>
              </a:ext>
            </a:extLst>
          </p:cNvPr>
          <p:cNvPicPr>
            <a:picLocks noChangeAspect="1"/>
          </p:cNvPicPr>
          <p:nvPr/>
        </p:nvPicPr>
        <p:blipFill>
          <a:blip r:embed="rId3"/>
          <a:stretch>
            <a:fillRect/>
          </a:stretch>
        </p:blipFill>
        <p:spPr>
          <a:xfrm>
            <a:off x="992871" y="3429000"/>
            <a:ext cx="9309066" cy="3226541"/>
          </a:xfrm>
          <a:prstGeom prst="rect">
            <a:avLst/>
          </a:prstGeom>
        </p:spPr>
      </p:pic>
    </p:spTree>
    <p:extLst>
      <p:ext uri="{BB962C8B-B14F-4D97-AF65-F5344CB8AC3E}">
        <p14:creationId xmlns:p14="http://schemas.microsoft.com/office/powerpoint/2010/main" val="604623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2F3944-49AC-30FD-55C7-8F9B158C24EE}"/>
              </a:ext>
            </a:extLst>
          </p:cNvPr>
          <p:cNvSpPr>
            <a:spLocks noGrp="1"/>
          </p:cNvSpPr>
          <p:nvPr>
            <p:ph type="title"/>
          </p:nvPr>
        </p:nvSpPr>
        <p:spPr>
          <a:xfrm>
            <a:off x="808637" y="386930"/>
            <a:ext cx="10345317" cy="1188950"/>
          </a:xfrm>
        </p:spPr>
        <p:txBody>
          <a:bodyPr anchor="b">
            <a:normAutofit/>
          </a:bodyPr>
          <a:lstStyle/>
          <a:p>
            <a:r>
              <a:rPr lang="en-US" sz="5400" dirty="0"/>
              <a:t>Interfaces</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80BED1AB-6272-0E03-81A0-48F516682C76}"/>
              </a:ext>
            </a:extLst>
          </p:cNvPr>
          <p:cNvPicPr>
            <a:picLocks noChangeAspect="1"/>
          </p:cNvPicPr>
          <p:nvPr/>
        </p:nvPicPr>
        <p:blipFill>
          <a:blip r:embed="rId2"/>
          <a:stretch>
            <a:fillRect/>
          </a:stretch>
        </p:blipFill>
        <p:spPr>
          <a:xfrm>
            <a:off x="408779" y="2433130"/>
            <a:ext cx="10322932" cy="1295590"/>
          </a:xfrm>
          <a:prstGeom prst="rect">
            <a:avLst/>
          </a:prstGeom>
        </p:spPr>
      </p:pic>
      <p:pic>
        <p:nvPicPr>
          <p:cNvPr id="9" name="Picture 8">
            <a:extLst>
              <a:ext uri="{FF2B5EF4-FFF2-40B4-BE49-F238E27FC236}">
                <a16:creationId xmlns:a16="http://schemas.microsoft.com/office/drawing/2014/main" id="{D66B117F-FF62-DF8D-7B00-67C3C42BB9D6}"/>
              </a:ext>
            </a:extLst>
          </p:cNvPr>
          <p:cNvPicPr>
            <a:picLocks noChangeAspect="1"/>
          </p:cNvPicPr>
          <p:nvPr/>
        </p:nvPicPr>
        <p:blipFill>
          <a:blip r:embed="rId3"/>
          <a:stretch>
            <a:fillRect/>
          </a:stretch>
        </p:blipFill>
        <p:spPr>
          <a:xfrm>
            <a:off x="549118" y="3786524"/>
            <a:ext cx="6115364" cy="2140060"/>
          </a:xfrm>
          <a:prstGeom prst="rect">
            <a:avLst/>
          </a:prstGeom>
        </p:spPr>
      </p:pic>
    </p:spTree>
    <p:extLst>
      <p:ext uri="{BB962C8B-B14F-4D97-AF65-F5344CB8AC3E}">
        <p14:creationId xmlns:p14="http://schemas.microsoft.com/office/powerpoint/2010/main" val="8271247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2F3944-49AC-30FD-55C7-8F9B158C24EE}"/>
              </a:ext>
            </a:extLst>
          </p:cNvPr>
          <p:cNvSpPr>
            <a:spLocks noGrp="1"/>
          </p:cNvSpPr>
          <p:nvPr>
            <p:ph type="title"/>
          </p:nvPr>
        </p:nvSpPr>
        <p:spPr>
          <a:xfrm>
            <a:off x="808637" y="386930"/>
            <a:ext cx="10345317" cy="507150"/>
          </a:xfrm>
        </p:spPr>
        <p:txBody>
          <a:bodyPr anchor="b">
            <a:normAutofit fontScale="90000"/>
          </a:bodyPr>
          <a:lstStyle/>
          <a:p>
            <a:r>
              <a:rPr lang="en-US" sz="5400" dirty="0"/>
              <a:t>Interfaces: Example</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9" name="Picture 18">
            <a:extLst>
              <a:ext uri="{FF2B5EF4-FFF2-40B4-BE49-F238E27FC236}">
                <a16:creationId xmlns:a16="http://schemas.microsoft.com/office/drawing/2014/main" id="{8A7AD95D-4E42-7A68-3CF6-4CCC9A45BBE1}"/>
              </a:ext>
            </a:extLst>
          </p:cNvPr>
          <p:cNvPicPr>
            <a:picLocks noChangeAspect="1"/>
          </p:cNvPicPr>
          <p:nvPr/>
        </p:nvPicPr>
        <p:blipFill>
          <a:blip r:embed="rId2"/>
          <a:stretch>
            <a:fillRect/>
          </a:stretch>
        </p:blipFill>
        <p:spPr>
          <a:xfrm>
            <a:off x="-3" y="790643"/>
            <a:ext cx="11998963" cy="6042031"/>
          </a:xfrm>
          <a:prstGeom prst="rect">
            <a:avLst/>
          </a:prstGeom>
        </p:spPr>
      </p:pic>
    </p:spTree>
    <p:extLst>
      <p:ext uri="{BB962C8B-B14F-4D97-AF65-F5344CB8AC3E}">
        <p14:creationId xmlns:p14="http://schemas.microsoft.com/office/powerpoint/2010/main" val="6126381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2F3944-49AC-30FD-55C7-8F9B158C24EE}"/>
              </a:ext>
            </a:extLst>
          </p:cNvPr>
          <p:cNvSpPr>
            <a:spLocks noGrp="1"/>
          </p:cNvSpPr>
          <p:nvPr>
            <p:ph type="title"/>
          </p:nvPr>
        </p:nvSpPr>
        <p:spPr>
          <a:xfrm>
            <a:off x="808637" y="386930"/>
            <a:ext cx="10345317" cy="1188950"/>
          </a:xfrm>
        </p:spPr>
        <p:txBody>
          <a:bodyPr anchor="b">
            <a:noAutofit/>
          </a:bodyPr>
          <a:lstStyle/>
          <a:p>
            <a:r>
              <a:rPr lang="en-US" sz="4000" dirty="0"/>
              <a:t>Accessing Implementations Through Interface</a:t>
            </a:r>
            <a:br>
              <a:rPr lang="en-US" sz="4000" dirty="0"/>
            </a:br>
            <a:r>
              <a:rPr lang="en-US" sz="4000" dirty="0"/>
              <a:t>References</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6B8494FA-CA4B-618E-54F2-A7F7057386AB}"/>
              </a:ext>
            </a:extLst>
          </p:cNvPr>
          <p:cNvPicPr>
            <a:picLocks noChangeAspect="1"/>
          </p:cNvPicPr>
          <p:nvPr/>
        </p:nvPicPr>
        <p:blipFill>
          <a:blip r:embed="rId2"/>
          <a:stretch>
            <a:fillRect/>
          </a:stretch>
        </p:blipFill>
        <p:spPr>
          <a:xfrm>
            <a:off x="808637" y="2574826"/>
            <a:ext cx="7715968" cy="2204563"/>
          </a:xfrm>
          <a:prstGeom prst="rect">
            <a:avLst/>
          </a:prstGeom>
        </p:spPr>
      </p:pic>
      <p:pic>
        <p:nvPicPr>
          <p:cNvPr id="7" name="Picture 6">
            <a:extLst>
              <a:ext uri="{FF2B5EF4-FFF2-40B4-BE49-F238E27FC236}">
                <a16:creationId xmlns:a16="http://schemas.microsoft.com/office/drawing/2014/main" id="{B730D6FA-9A9D-D16E-9368-CA78E564FA2F}"/>
              </a:ext>
            </a:extLst>
          </p:cNvPr>
          <p:cNvPicPr>
            <a:picLocks noChangeAspect="1"/>
          </p:cNvPicPr>
          <p:nvPr/>
        </p:nvPicPr>
        <p:blipFill>
          <a:blip r:embed="rId3"/>
          <a:stretch>
            <a:fillRect/>
          </a:stretch>
        </p:blipFill>
        <p:spPr>
          <a:xfrm>
            <a:off x="237406" y="4842099"/>
            <a:ext cx="4446354" cy="519030"/>
          </a:xfrm>
          <a:prstGeom prst="rect">
            <a:avLst/>
          </a:prstGeom>
        </p:spPr>
      </p:pic>
      <p:pic>
        <p:nvPicPr>
          <p:cNvPr id="15" name="Picture 14">
            <a:extLst>
              <a:ext uri="{FF2B5EF4-FFF2-40B4-BE49-F238E27FC236}">
                <a16:creationId xmlns:a16="http://schemas.microsoft.com/office/drawing/2014/main" id="{68EF83CE-56A6-EDAC-3358-4F55A20D5193}"/>
              </a:ext>
            </a:extLst>
          </p:cNvPr>
          <p:cNvPicPr>
            <a:picLocks noChangeAspect="1"/>
          </p:cNvPicPr>
          <p:nvPr/>
        </p:nvPicPr>
        <p:blipFill>
          <a:blip r:embed="rId4"/>
          <a:stretch>
            <a:fillRect/>
          </a:stretch>
        </p:blipFill>
        <p:spPr>
          <a:xfrm>
            <a:off x="237406" y="5292298"/>
            <a:ext cx="4417781" cy="519029"/>
          </a:xfrm>
          <a:prstGeom prst="rect">
            <a:avLst/>
          </a:prstGeom>
        </p:spPr>
      </p:pic>
    </p:spTree>
    <p:extLst>
      <p:ext uri="{BB962C8B-B14F-4D97-AF65-F5344CB8AC3E}">
        <p14:creationId xmlns:p14="http://schemas.microsoft.com/office/powerpoint/2010/main" val="33995051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2F3944-49AC-30FD-55C7-8F9B158C24EE}"/>
              </a:ext>
            </a:extLst>
          </p:cNvPr>
          <p:cNvSpPr>
            <a:spLocks noGrp="1"/>
          </p:cNvSpPr>
          <p:nvPr>
            <p:ph type="title"/>
          </p:nvPr>
        </p:nvSpPr>
        <p:spPr>
          <a:xfrm>
            <a:off x="808637" y="386930"/>
            <a:ext cx="10345317" cy="1188950"/>
          </a:xfrm>
        </p:spPr>
        <p:txBody>
          <a:bodyPr anchor="b">
            <a:noAutofit/>
          </a:bodyPr>
          <a:lstStyle/>
          <a:p>
            <a:r>
              <a:rPr lang="en-US" sz="4000" dirty="0"/>
              <a:t>Accessing Implementations Through Interface</a:t>
            </a:r>
            <a:br>
              <a:rPr lang="en-US" sz="4000" dirty="0"/>
            </a:br>
            <a:r>
              <a:rPr lang="en-US" sz="4000" dirty="0"/>
              <a:t>References</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CB8E8245-F36E-E98C-265F-D79650C7A979}"/>
              </a:ext>
            </a:extLst>
          </p:cNvPr>
          <p:cNvPicPr>
            <a:picLocks noChangeAspect="1"/>
          </p:cNvPicPr>
          <p:nvPr/>
        </p:nvPicPr>
        <p:blipFill>
          <a:blip r:embed="rId2"/>
          <a:stretch>
            <a:fillRect/>
          </a:stretch>
        </p:blipFill>
        <p:spPr>
          <a:xfrm>
            <a:off x="237406" y="2600481"/>
            <a:ext cx="9655970" cy="2897898"/>
          </a:xfrm>
          <a:prstGeom prst="rect">
            <a:avLst/>
          </a:prstGeom>
        </p:spPr>
      </p:pic>
    </p:spTree>
    <p:extLst>
      <p:ext uri="{BB962C8B-B14F-4D97-AF65-F5344CB8AC3E}">
        <p14:creationId xmlns:p14="http://schemas.microsoft.com/office/powerpoint/2010/main" val="5713370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2F3944-49AC-30FD-55C7-8F9B158C24EE}"/>
              </a:ext>
            </a:extLst>
          </p:cNvPr>
          <p:cNvSpPr>
            <a:spLocks noGrp="1"/>
          </p:cNvSpPr>
          <p:nvPr>
            <p:ph type="title"/>
          </p:nvPr>
        </p:nvSpPr>
        <p:spPr>
          <a:xfrm>
            <a:off x="808637" y="386930"/>
            <a:ext cx="10345317" cy="1188950"/>
          </a:xfrm>
        </p:spPr>
        <p:txBody>
          <a:bodyPr anchor="b">
            <a:noAutofit/>
          </a:bodyPr>
          <a:lstStyle/>
          <a:p>
            <a:r>
              <a:rPr lang="en-US" sz="4000" dirty="0"/>
              <a:t>Accessing Implementations Through Interface</a:t>
            </a:r>
            <a:br>
              <a:rPr lang="en-US" sz="4000" dirty="0"/>
            </a:br>
            <a:r>
              <a:rPr lang="en-US" sz="4000" dirty="0"/>
              <a:t>References</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D47E1B5F-79FA-6007-B46E-48220144D28E}"/>
              </a:ext>
            </a:extLst>
          </p:cNvPr>
          <p:cNvPicPr>
            <a:picLocks noChangeAspect="1"/>
          </p:cNvPicPr>
          <p:nvPr/>
        </p:nvPicPr>
        <p:blipFill>
          <a:blip r:embed="rId2"/>
          <a:stretch>
            <a:fillRect/>
          </a:stretch>
        </p:blipFill>
        <p:spPr>
          <a:xfrm>
            <a:off x="737407" y="2317656"/>
            <a:ext cx="6577793" cy="4473523"/>
          </a:xfrm>
          <a:prstGeom prst="rect">
            <a:avLst/>
          </a:prstGeom>
        </p:spPr>
      </p:pic>
    </p:spTree>
    <p:extLst>
      <p:ext uri="{BB962C8B-B14F-4D97-AF65-F5344CB8AC3E}">
        <p14:creationId xmlns:p14="http://schemas.microsoft.com/office/powerpoint/2010/main" val="59539057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2F3944-49AC-30FD-55C7-8F9B158C24EE}"/>
              </a:ext>
            </a:extLst>
          </p:cNvPr>
          <p:cNvSpPr>
            <a:spLocks noGrp="1"/>
          </p:cNvSpPr>
          <p:nvPr>
            <p:ph type="title"/>
          </p:nvPr>
        </p:nvSpPr>
        <p:spPr>
          <a:xfrm>
            <a:off x="808637" y="386930"/>
            <a:ext cx="10345317" cy="1188950"/>
          </a:xfrm>
        </p:spPr>
        <p:txBody>
          <a:bodyPr anchor="b">
            <a:noAutofit/>
          </a:bodyPr>
          <a:lstStyle/>
          <a:p>
            <a:r>
              <a:rPr lang="en-US" sz="4000" dirty="0"/>
              <a:t>Partial Implementation</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A50ADBB5-AE88-1F49-C709-BDF0BBB372D2}"/>
              </a:ext>
            </a:extLst>
          </p:cNvPr>
          <p:cNvPicPr>
            <a:picLocks noChangeAspect="1"/>
          </p:cNvPicPr>
          <p:nvPr/>
        </p:nvPicPr>
        <p:blipFill rotWithShape="1">
          <a:blip r:embed="rId2"/>
          <a:srcRect t="13632"/>
          <a:stretch/>
        </p:blipFill>
        <p:spPr>
          <a:xfrm>
            <a:off x="961036" y="2203079"/>
            <a:ext cx="8162643" cy="3930258"/>
          </a:xfrm>
          <a:prstGeom prst="rect">
            <a:avLst/>
          </a:prstGeom>
        </p:spPr>
      </p:pic>
    </p:spTree>
    <p:extLst>
      <p:ext uri="{BB962C8B-B14F-4D97-AF65-F5344CB8AC3E}">
        <p14:creationId xmlns:p14="http://schemas.microsoft.com/office/powerpoint/2010/main" val="21083873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2F3944-49AC-30FD-55C7-8F9B158C24EE}"/>
              </a:ext>
            </a:extLst>
          </p:cNvPr>
          <p:cNvSpPr>
            <a:spLocks noGrp="1"/>
          </p:cNvSpPr>
          <p:nvPr>
            <p:ph type="title"/>
          </p:nvPr>
        </p:nvSpPr>
        <p:spPr>
          <a:xfrm>
            <a:off x="808637" y="386930"/>
            <a:ext cx="10345317" cy="1188950"/>
          </a:xfrm>
        </p:spPr>
        <p:txBody>
          <a:bodyPr anchor="b">
            <a:noAutofit/>
          </a:bodyPr>
          <a:lstStyle/>
          <a:p>
            <a:r>
              <a:rPr lang="en-US" sz="4000" dirty="0"/>
              <a:t>Nested Interface</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F6B017F4-09D9-D038-F6C5-28ADC177A4B3}"/>
              </a:ext>
            </a:extLst>
          </p:cNvPr>
          <p:cNvPicPr>
            <a:picLocks noChangeAspect="1"/>
          </p:cNvPicPr>
          <p:nvPr/>
        </p:nvPicPr>
        <p:blipFill>
          <a:blip r:embed="rId2"/>
          <a:stretch>
            <a:fillRect/>
          </a:stretch>
        </p:blipFill>
        <p:spPr>
          <a:xfrm>
            <a:off x="341040" y="2826557"/>
            <a:ext cx="10812914" cy="1575466"/>
          </a:xfrm>
          <a:prstGeom prst="rect">
            <a:avLst/>
          </a:prstGeom>
        </p:spPr>
      </p:pic>
    </p:spTree>
    <p:extLst>
      <p:ext uri="{BB962C8B-B14F-4D97-AF65-F5344CB8AC3E}">
        <p14:creationId xmlns:p14="http://schemas.microsoft.com/office/powerpoint/2010/main" val="144466822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2F3944-49AC-30FD-55C7-8F9B158C24EE}"/>
              </a:ext>
            </a:extLst>
          </p:cNvPr>
          <p:cNvSpPr>
            <a:spLocks noGrp="1"/>
          </p:cNvSpPr>
          <p:nvPr>
            <p:ph type="title"/>
          </p:nvPr>
        </p:nvSpPr>
        <p:spPr>
          <a:xfrm>
            <a:off x="808637" y="386930"/>
            <a:ext cx="10345317" cy="1188950"/>
          </a:xfrm>
        </p:spPr>
        <p:txBody>
          <a:bodyPr anchor="b">
            <a:noAutofit/>
          </a:bodyPr>
          <a:lstStyle/>
          <a:p>
            <a:r>
              <a:rPr lang="en-US" sz="4000" dirty="0"/>
              <a:t>Applying Interfaces</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7F1F54CB-5644-B543-67D8-CDD9E280F62C}"/>
              </a:ext>
            </a:extLst>
          </p:cNvPr>
          <p:cNvPicPr>
            <a:picLocks noChangeAspect="1"/>
          </p:cNvPicPr>
          <p:nvPr/>
        </p:nvPicPr>
        <p:blipFill>
          <a:blip r:embed="rId2"/>
          <a:stretch>
            <a:fillRect/>
          </a:stretch>
        </p:blipFill>
        <p:spPr>
          <a:xfrm>
            <a:off x="496919" y="2412630"/>
            <a:ext cx="10392187" cy="2474330"/>
          </a:xfrm>
          <a:prstGeom prst="rect">
            <a:avLst/>
          </a:prstGeom>
        </p:spPr>
      </p:pic>
    </p:spTree>
    <p:extLst>
      <p:ext uri="{BB962C8B-B14F-4D97-AF65-F5344CB8AC3E}">
        <p14:creationId xmlns:p14="http://schemas.microsoft.com/office/powerpoint/2010/main" val="316477402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2F3944-49AC-30FD-55C7-8F9B158C24EE}"/>
              </a:ext>
            </a:extLst>
          </p:cNvPr>
          <p:cNvSpPr>
            <a:spLocks noGrp="1"/>
          </p:cNvSpPr>
          <p:nvPr>
            <p:ph type="title"/>
          </p:nvPr>
        </p:nvSpPr>
        <p:spPr>
          <a:xfrm>
            <a:off x="808637" y="386930"/>
            <a:ext cx="10345317" cy="1188950"/>
          </a:xfrm>
        </p:spPr>
        <p:txBody>
          <a:bodyPr anchor="b">
            <a:noAutofit/>
          </a:bodyPr>
          <a:lstStyle/>
          <a:p>
            <a:r>
              <a:rPr lang="en-US" sz="4000" dirty="0"/>
              <a:t>Applying Interfaces</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A581D12B-4CD3-4E79-E658-68F2E0DE1A49}"/>
              </a:ext>
            </a:extLst>
          </p:cNvPr>
          <p:cNvPicPr>
            <a:picLocks noChangeAspect="1"/>
          </p:cNvPicPr>
          <p:nvPr/>
        </p:nvPicPr>
        <p:blipFill>
          <a:blip r:embed="rId2"/>
          <a:stretch>
            <a:fillRect/>
          </a:stretch>
        </p:blipFill>
        <p:spPr>
          <a:xfrm>
            <a:off x="-7050" y="1575879"/>
            <a:ext cx="8368730" cy="5125035"/>
          </a:xfrm>
          <a:prstGeom prst="rect">
            <a:avLst/>
          </a:prstGeom>
        </p:spPr>
      </p:pic>
    </p:spTree>
    <p:extLst>
      <p:ext uri="{BB962C8B-B14F-4D97-AF65-F5344CB8AC3E}">
        <p14:creationId xmlns:p14="http://schemas.microsoft.com/office/powerpoint/2010/main" val="22405860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2F3944-49AC-30FD-55C7-8F9B158C24EE}"/>
              </a:ext>
            </a:extLst>
          </p:cNvPr>
          <p:cNvSpPr>
            <a:spLocks noGrp="1"/>
          </p:cNvSpPr>
          <p:nvPr>
            <p:ph type="title"/>
          </p:nvPr>
        </p:nvSpPr>
        <p:spPr>
          <a:xfrm>
            <a:off x="808637" y="386930"/>
            <a:ext cx="10345317" cy="1188950"/>
          </a:xfrm>
        </p:spPr>
        <p:txBody>
          <a:bodyPr anchor="b">
            <a:noAutofit/>
          </a:bodyPr>
          <a:lstStyle/>
          <a:p>
            <a:r>
              <a:rPr lang="en-US" sz="4000" dirty="0"/>
              <a:t>Applying Interfaces</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3245C9D2-9A5C-79BE-DC95-605328B84324}"/>
              </a:ext>
            </a:extLst>
          </p:cNvPr>
          <p:cNvPicPr>
            <a:picLocks noChangeAspect="1"/>
          </p:cNvPicPr>
          <p:nvPr/>
        </p:nvPicPr>
        <p:blipFill>
          <a:blip r:embed="rId2"/>
          <a:stretch>
            <a:fillRect/>
          </a:stretch>
        </p:blipFill>
        <p:spPr>
          <a:xfrm>
            <a:off x="367543" y="2389217"/>
            <a:ext cx="8146537" cy="3346095"/>
          </a:xfrm>
          <a:prstGeom prst="rect">
            <a:avLst/>
          </a:prstGeom>
        </p:spPr>
      </p:pic>
    </p:spTree>
    <p:extLst>
      <p:ext uri="{BB962C8B-B14F-4D97-AF65-F5344CB8AC3E}">
        <p14:creationId xmlns:p14="http://schemas.microsoft.com/office/powerpoint/2010/main" val="357376090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2F3944-49AC-30FD-55C7-8F9B158C24EE}"/>
              </a:ext>
            </a:extLst>
          </p:cNvPr>
          <p:cNvSpPr>
            <a:spLocks noGrp="1"/>
          </p:cNvSpPr>
          <p:nvPr>
            <p:ph type="title"/>
          </p:nvPr>
        </p:nvSpPr>
        <p:spPr>
          <a:xfrm>
            <a:off x="808637" y="386930"/>
            <a:ext cx="10345317" cy="1188950"/>
          </a:xfrm>
        </p:spPr>
        <p:txBody>
          <a:bodyPr anchor="b">
            <a:noAutofit/>
          </a:bodyPr>
          <a:lstStyle/>
          <a:p>
            <a:r>
              <a:rPr lang="en-US" sz="4000" dirty="0"/>
              <a:t>Applying Interfaces</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B491BC3A-8E9F-0C01-0476-475AA7D4BC6D}"/>
              </a:ext>
            </a:extLst>
          </p:cNvPr>
          <p:cNvPicPr>
            <a:picLocks noChangeAspect="1"/>
          </p:cNvPicPr>
          <p:nvPr/>
        </p:nvPicPr>
        <p:blipFill>
          <a:blip r:embed="rId2"/>
          <a:stretch>
            <a:fillRect/>
          </a:stretch>
        </p:blipFill>
        <p:spPr>
          <a:xfrm>
            <a:off x="-2" y="1794498"/>
            <a:ext cx="6756402" cy="5062867"/>
          </a:xfrm>
          <a:prstGeom prst="rect">
            <a:avLst/>
          </a:prstGeom>
        </p:spPr>
      </p:pic>
    </p:spTree>
    <p:extLst>
      <p:ext uri="{BB962C8B-B14F-4D97-AF65-F5344CB8AC3E}">
        <p14:creationId xmlns:p14="http://schemas.microsoft.com/office/powerpoint/2010/main" val="131152628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2F3944-49AC-30FD-55C7-8F9B158C24EE}"/>
              </a:ext>
            </a:extLst>
          </p:cNvPr>
          <p:cNvSpPr>
            <a:spLocks noGrp="1"/>
          </p:cNvSpPr>
          <p:nvPr>
            <p:ph type="title"/>
          </p:nvPr>
        </p:nvSpPr>
        <p:spPr>
          <a:xfrm>
            <a:off x="808637" y="386930"/>
            <a:ext cx="10345317" cy="1188950"/>
          </a:xfrm>
        </p:spPr>
        <p:txBody>
          <a:bodyPr anchor="b">
            <a:noAutofit/>
          </a:bodyPr>
          <a:lstStyle/>
          <a:p>
            <a:r>
              <a:rPr lang="en-US" sz="4000" dirty="0"/>
              <a:t>Variables in Interface</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2248E1BA-98AE-505B-5729-2FB52F0A7602}"/>
              </a:ext>
            </a:extLst>
          </p:cNvPr>
          <p:cNvSpPr txBox="1"/>
          <p:nvPr/>
        </p:nvSpPr>
        <p:spPr>
          <a:xfrm>
            <a:off x="496919" y="2479766"/>
            <a:ext cx="10548862" cy="1200329"/>
          </a:xfrm>
          <a:prstGeom prst="rect">
            <a:avLst/>
          </a:prstGeom>
          <a:noFill/>
        </p:spPr>
        <p:txBody>
          <a:bodyPr wrap="square" rtlCol="0">
            <a:spAutoFit/>
          </a:bodyPr>
          <a:lstStyle/>
          <a:p>
            <a:r>
              <a:rPr lang="en-US" sz="3600" dirty="0"/>
              <a:t>In Interface, the variables are </a:t>
            </a:r>
            <a:r>
              <a:rPr lang="en-US" sz="3600" i="1" dirty="0">
                <a:solidFill>
                  <a:srgbClr val="FF0000"/>
                </a:solidFill>
              </a:rPr>
              <a:t>final </a:t>
            </a:r>
            <a:r>
              <a:rPr lang="en-US" sz="3600" dirty="0"/>
              <a:t>and </a:t>
            </a:r>
            <a:r>
              <a:rPr lang="en-US" sz="3600" i="1" dirty="0">
                <a:solidFill>
                  <a:srgbClr val="FF0000"/>
                </a:solidFill>
              </a:rPr>
              <a:t>static</a:t>
            </a:r>
            <a:r>
              <a:rPr lang="en-US" sz="3600" dirty="0"/>
              <a:t> by default. These are called </a:t>
            </a:r>
            <a:r>
              <a:rPr lang="en-US" sz="3600" i="1" dirty="0">
                <a:solidFill>
                  <a:srgbClr val="FF0000"/>
                </a:solidFill>
              </a:rPr>
              <a:t>shared constant </a:t>
            </a:r>
            <a:r>
              <a:rPr lang="en-US" sz="3600" dirty="0"/>
              <a:t>variables.</a:t>
            </a:r>
          </a:p>
        </p:txBody>
      </p:sp>
      <p:pic>
        <p:nvPicPr>
          <p:cNvPr id="7" name="Picture 6">
            <a:extLst>
              <a:ext uri="{FF2B5EF4-FFF2-40B4-BE49-F238E27FC236}">
                <a16:creationId xmlns:a16="http://schemas.microsoft.com/office/drawing/2014/main" id="{11173168-91EC-67F1-3435-527418FE25CF}"/>
              </a:ext>
            </a:extLst>
          </p:cNvPr>
          <p:cNvPicPr>
            <a:picLocks noChangeAspect="1"/>
          </p:cNvPicPr>
          <p:nvPr/>
        </p:nvPicPr>
        <p:blipFill>
          <a:blip r:embed="rId2"/>
          <a:stretch>
            <a:fillRect/>
          </a:stretch>
        </p:blipFill>
        <p:spPr>
          <a:xfrm>
            <a:off x="1118161" y="3745004"/>
            <a:ext cx="4408879" cy="2385292"/>
          </a:xfrm>
          <a:prstGeom prst="rect">
            <a:avLst/>
          </a:prstGeom>
        </p:spPr>
      </p:pic>
    </p:spTree>
    <p:extLst>
      <p:ext uri="{BB962C8B-B14F-4D97-AF65-F5344CB8AC3E}">
        <p14:creationId xmlns:p14="http://schemas.microsoft.com/office/powerpoint/2010/main" val="351158969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Freeform: Shape 2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482F3944-49AC-30FD-55C7-8F9B158C24EE}"/>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Interfaces can be extended</a:t>
            </a:r>
          </a:p>
        </p:txBody>
      </p:sp>
      <p:pic>
        <p:nvPicPr>
          <p:cNvPr id="5" name="Picture 4">
            <a:extLst>
              <a:ext uri="{FF2B5EF4-FFF2-40B4-BE49-F238E27FC236}">
                <a16:creationId xmlns:a16="http://schemas.microsoft.com/office/drawing/2014/main" id="{9A35FDA2-17B6-B932-EA0B-E961B8CD344B}"/>
              </a:ext>
            </a:extLst>
          </p:cNvPr>
          <p:cNvPicPr>
            <a:picLocks noChangeAspect="1"/>
          </p:cNvPicPr>
          <p:nvPr/>
        </p:nvPicPr>
        <p:blipFill>
          <a:blip r:embed="rId2"/>
          <a:stretch>
            <a:fillRect/>
          </a:stretch>
        </p:blipFill>
        <p:spPr>
          <a:xfrm>
            <a:off x="4525251" y="467208"/>
            <a:ext cx="7180102" cy="5923584"/>
          </a:xfrm>
          <a:prstGeom prst="rect">
            <a:avLst/>
          </a:prstGeom>
        </p:spPr>
      </p:pic>
    </p:spTree>
    <p:extLst>
      <p:ext uri="{BB962C8B-B14F-4D97-AF65-F5344CB8AC3E}">
        <p14:creationId xmlns:p14="http://schemas.microsoft.com/office/powerpoint/2010/main" val="160185554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2F3944-49AC-30FD-55C7-8F9B158C24EE}"/>
              </a:ext>
            </a:extLst>
          </p:cNvPr>
          <p:cNvSpPr>
            <a:spLocks noGrp="1"/>
          </p:cNvSpPr>
          <p:nvPr>
            <p:ph type="title"/>
          </p:nvPr>
        </p:nvSpPr>
        <p:spPr>
          <a:xfrm>
            <a:off x="808637" y="386930"/>
            <a:ext cx="10345317" cy="1188950"/>
          </a:xfrm>
        </p:spPr>
        <p:txBody>
          <a:bodyPr anchor="b">
            <a:noAutofit/>
          </a:bodyPr>
          <a:lstStyle/>
          <a:p>
            <a:r>
              <a:rPr lang="en-US" sz="4000" dirty="0"/>
              <a:t>Default Method Fundamentals</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DBCC7A09-F8A4-D3C5-7481-05066D809DDC}"/>
              </a:ext>
            </a:extLst>
          </p:cNvPr>
          <p:cNvPicPr>
            <a:picLocks noChangeAspect="1"/>
          </p:cNvPicPr>
          <p:nvPr/>
        </p:nvPicPr>
        <p:blipFill>
          <a:blip r:embed="rId2"/>
          <a:stretch>
            <a:fillRect/>
          </a:stretch>
        </p:blipFill>
        <p:spPr>
          <a:xfrm>
            <a:off x="276064" y="2389218"/>
            <a:ext cx="9203216" cy="4372696"/>
          </a:xfrm>
          <a:prstGeom prst="rect">
            <a:avLst/>
          </a:prstGeom>
        </p:spPr>
      </p:pic>
    </p:spTree>
    <p:extLst>
      <p:ext uri="{BB962C8B-B14F-4D97-AF65-F5344CB8AC3E}">
        <p14:creationId xmlns:p14="http://schemas.microsoft.com/office/powerpoint/2010/main" val="61481035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2F3944-49AC-30FD-55C7-8F9B158C24EE}"/>
              </a:ext>
            </a:extLst>
          </p:cNvPr>
          <p:cNvSpPr>
            <a:spLocks noGrp="1"/>
          </p:cNvSpPr>
          <p:nvPr>
            <p:ph type="title"/>
          </p:nvPr>
        </p:nvSpPr>
        <p:spPr>
          <a:xfrm>
            <a:off x="808637" y="386930"/>
            <a:ext cx="10345317" cy="1188950"/>
          </a:xfrm>
        </p:spPr>
        <p:txBody>
          <a:bodyPr anchor="b">
            <a:noAutofit/>
          </a:bodyPr>
          <a:lstStyle/>
          <a:p>
            <a:r>
              <a:rPr lang="en-US" sz="4000" dirty="0"/>
              <a:t>Default Method Fundamentals</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389288BF-A158-ACBD-5A31-0AD762CAB01E}"/>
              </a:ext>
            </a:extLst>
          </p:cNvPr>
          <p:cNvPicPr>
            <a:picLocks noChangeAspect="1"/>
          </p:cNvPicPr>
          <p:nvPr/>
        </p:nvPicPr>
        <p:blipFill>
          <a:blip r:embed="rId2"/>
          <a:stretch>
            <a:fillRect/>
          </a:stretch>
        </p:blipFill>
        <p:spPr>
          <a:xfrm>
            <a:off x="213358" y="2345937"/>
            <a:ext cx="10261602" cy="3792970"/>
          </a:xfrm>
          <a:prstGeom prst="rect">
            <a:avLst/>
          </a:prstGeom>
        </p:spPr>
      </p:pic>
    </p:spTree>
    <p:extLst>
      <p:ext uri="{BB962C8B-B14F-4D97-AF65-F5344CB8AC3E}">
        <p14:creationId xmlns:p14="http://schemas.microsoft.com/office/powerpoint/2010/main" val="352743401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2F3944-49AC-30FD-55C7-8F9B158C24EE}"/>
              </a:ext>
            </a:extLst>
          </p:cNvPr>
          <p:cNvSpPr>
            <a:spLocks noGrp="1"/>
          </p:cNvSpPr>
          <p:nvPr>
            <p:ph type="title"/>
          </p:nvPr>
        </p:nvSpPr>
        <p:spPr>
          <a:xfrm>
            <a:off x="808637" y="386930"/>
            <a:ext cx="10345317" cy="1188950"/>
          </a:xfrm>
        </p:spPr>
        <p:txBody>
          <a:bodyPr anchor="b">
            <a:noAutofit/>
          </a:bodyPr>
          <a:lstStyle/>
          <a:p>
            <a:r>
              <a:rPr lang="en-US" sz="4000" dirty="0"/>
              <a:t>Default Method Fundamentals</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389288BF-A158-ACBD-5A31-0AD762CAB01E}"/>
              </a:ext>
            </a:extLst>
          </p:cNvPr>
          <p:cNvPicPr>
            <a:picLocks noChangeAspect="1"/>
          </p:cNvPicPr>
          <p:nvPr/>
        </p:nvPicPr>
        <p:blipFill>
          <a:blip r:embed="rId2"/>
          <a:stretch>
            <a:fillRect/>
          </a:stretch>
        </p:blipFill>
        <p:spPr>
          <a:xfrm>
            <a:off x="213358" y="2345937"/>
            <a:ext cx="10261602" cy="3792970"/>
          </a:xfrm>
          <a:prstGeom prst="rect">
            <a:avLst/>
          </a:prstGeom>
        </p:spPr>
      </p:pic>
    </p:spTree>
    <p:extLst>
      <p:ext uri="{BB962C8B-B14F-4D97-AF65-F5344CB8AC3E}">
        <p14:creationId xmlns:p14="http://schemas.microsoft.com/office/powerpoint/2010/main" val="37543234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7" name="Freeform: Shape 2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2F3944-49AC-30FD-55C7-8F9B158C24EE}"/>
              </a:ext>
            </a:extLst>
          </p:cNvPr>
          <p:cNvSpPr>
            <a:spLocks noGrp="1"/>
          </p:cNvSpPr>
          <p:nvPr>
            <p:ph type="title"/>
          </p:nvPr>
        </p:nvSpPr>
        <p:spPr>
          <a:xfrm>
            <a:off x="254366" y="2767106"/>
            <a:ext cx="3286504" cy="3071906"/>
          </a:xfrm>
        </p:spPr>
        <p:txBody>
          <a:bodyPr vert="horz" lIns="91440" tIns="45720" rIns="91440" bIns="45720" rtlCol="0" anchor="t">
            <a:normAutofit/>
          </a:bodyPr>
          <a:lstStyle/>
          <a:p>
            <a:r>
              <a:rPr lang="en-US" sz="4000" kern="1200" dirty="0">
                <a:solidFill>
                  <a:srgbClr val="FFFFFF"/>
                </a:solidFill>
                <a:latin typeface="+mj-lt"/>
                <a:ea typeface="+mj-ea"/>
                <a:cs typeface="+mj-cs"/>
              </a:rPr>
              <a:t>Default Method Fundamentals</a:t>
            </a:r>
          </a:p>
        </p:txBody>
      </p:sp>
      <p:pic>
        <p:nvPicPr>
          <p:cNvPr id="4" name="Picture 3">
            <a:extLst>
              <a:ext uri="{FF2B5EF4-FFF2-40B4-BE49-F238E27FC236}">
                <a16:creationId xmlns:a16="http://schemas.microsoft.com/office/drawing/2014/main" id="{7D4E738E-8E8D-4F45-50C9-C5B9041BADA4}"/>
              </a:ext>
            </a:extLst>
          </p:cNvPr>
          <p:cNvPicPr>
            <a:picLocks noChangeAspect="1"/>
          </p:cNvPicPr>
          <p:nvPr/>
        </p:nvPicPr>
        <p:blipFill>
          <a:blip r:embed="rId2"/>
          <a:stretch>
            <a:fillRect/>
          </a:stretch>
        </p:blipFill>
        <p:spPr>
          <a:xfrm>
            <a:off x="4241443" y="316045"/>
            <a:ext cx="7460018" cy="2020755"/>
          </a:xfrm>
          <a:prstGeom prst="rect">
            <a:avLst/>
          </a:prstGeom>
        </p:spPr>
      </p:pic>
      <p:pic>
        <p:nvPicPr>
          <p:cNvPr id="6" name="Picture 5">
            <a:extLst>
              <a:ext uri="{FF2B5EF4-FFF2-40B4-BE49-F238E27FC236}">
                <a16:creationId xmlns:a16="http://schemas.microsoft.com/office/drawing/2014/main" id="{4755CFF5-61A2-7B05-796B-DA28ED147EB3}"/>
              </a:ext>
            </a:extLst>
          </p:cNvPr>
          <p:cNvPicPr>
            <a:picLocks noChangeAspect="1"/>
          </p:cNvPicPr>
          <p:nvPr/>
        </p:nvPicPr>
        <p:blipFill>
          <a:blip r:embed="rId3"/>
          <a:stretch>
            <a:fillRect/>
          </a:stretch>
        </p:blipFill>
        <p:spPr>
          <a:xfrm>
            <a:off x="4211370" y="2719444"/>
            <a:ext cx="7320232" cy="3969422"/>
          </a:xfrm>
          <a:prstGeom prst="rect">
            <a:avLst/>
          </a:prstGeom>
        </p:spPr>
      </p:pic>
    </p:spTree>
    <p:extLst>
      <p:ext uri="{BB962C8B-B14F-4D97-AF65-F5344CB8AC3E}">
        <p14:creationId xmlns:p14="http://schemas.microsoft.com/office/powerpoint/2010/main" val="281956135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7" name="Freeform: Shape 2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2F3944-49AC-30FD-55C7-8F9B158C24EE}"/>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dirty="0">
                <a:solidFill>
                  <a:srgbClr val="FFFFFF"/>
                </a:solidFill>
                <a:latin typeface="+mj-lt"/>
                <a:ea typeface="+mj-ea"/>
                <a:cs typeface="+mj-cs"/>
              </a:rPr>
              <a:t>Use static Methods in an Interface</a:t>
            </a:r>
          </a:p>
        </p:txBody>
      </p:sp>
      <p:pic>
        <p:nvPicPr>
          <p:cNvPr id="3" name="Picture 2">
            <a:extLst>
              <a:ext uri="{FF2B5EF4-FFF2-40B4-BE49-F238E27FC236}">
                <a16:creationId xmlns:a16="http://schemas.microsoft.com/office/drawing/2014/main" id="{EFFA2982-EB73-6E50-E30C-644F1E65E594}"/>
              </a:ext>
            </a:extLst>
          </p:cNvPr>
          <p:cNvPicPr>
            <a:picLocks noChangeAspect="1"/>
          </p:cNvPicPr>
          <p:nvPr/>
        </p:nvPicPr>
        <p:blipFill>
          <a:blip r:embed="rId2"/>
          <a:stretch>
            <a:fillRect/>
          </a:stretch>
        </p:blipFill>
        <p:spPr>
          <a:xfrm>
            <a:off x="4346678" y="667924"/>
            <a:ext cx="7347488" cy="4737196"/>
          </a:xfrm>
          <a:prstGeom prst="rect">
            <a:avLst/>
          </a:prstGeom>
        </p:spPr>
      </p:pic>
    </p:spTree>
    <p:extLst>
      <p:ext uri="{BB962C8B-B14F-4D97-AF65-F5344CB8AC3E}">
        <p14:creationId xmlns:p14="http://schemas.microsoft.com/office/powerpoint/2010/main" val="364427535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2F3944-49AC-30FD-55C7-8F9B158C24EE}"/>
              </a:ext>
            </a:extLst>
          </p:cNvPr>
          <p:cNvSpPr>
            <a:spLocks noGrp="1"/>
          </p:cNvSpPr>
          <p:nvPr>
            <p:ph type="title"/>
          </p:nvPr>
        </p:nvSpPr>
        <p:spPr>
          <a:xfrm>
            <a:off x="808638" y="386930"/>
            <a:ext cx="9236700" cy="1188950"/>
          </a:xfrm>
        </p:spPr>
        <p:txBody>
          <a:bodyPr anchor="b">
            <a:normAutofit/>
          </a:bodyPr>
          <a:lstStyle/>
          <a:p>
            <a:r>
              <a:rPr lang="en-US" sz="5400" dirty="0"/>
              <a:t>Recap</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E73E0098-3B2D-9AF2-F71F-F31BA2C1116C}"/>
              </a:ext>
            </a:extLst>
          </p:cNvPr>
          <p:cNvSpPr>
            <a:spLocks noGrp="1"/>
          </p:cNvSpPr>
          <p:nvPr>
            <p:ph idx="1"/>
          </p:nvPr>
        </p:nvSpPr>
        <p:spPr>
          <a:xfrm>
            <a:off x="793660" y="2599509"/>
            <a:ext cx="10143668" cy="1200331"/>
          </a:xfrm>
        </p:spPr>
        <p:txBody>
          <a:bodyPr anchor="ctr">
            <a:normAutofit fontScale="92500" lnSpcReduction="10000"/>
          </a:bodyPr>
          <a:lstStyle/>
          <a:p>
            <a:r>
              <a:rPr lang="en-US" sz="4000" dirty="0"/>
              <a:t>Packages</a:t>
            </a:r>
          </a:p>
          <a:p>
            <a:r>
              <a:rPr lang="en-US" sz="4000" dirty="0"/>
              <a:t>Interfaces</a:t>
            </a:r>
          </a:p>
        </p:txBody>
      </p:sp>
    </p:spTree>
    <p:extLst>
      <p:ext uri="{BB962C8B-B14F-4D97-AF65-F5344CB8AC3E}">
        <p14:creationId xmlns:p14="http://schemas.microsoft.com/office/powerpoint/2010/main" val="35612078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109F11239A3D846A05CD2F9F4716816" ma:contentTypeVersion="7" ma:contentTypeDescription="Create a new document." ma:contentTypeScope="" ma:versionID="c97965ffa5279ca707b6f95ad13aed4c">
  <xsd:schema xmlns:xsd="http://www.w3.org/2001/XMLSchema" xmlns:xs="http://www.w3.org/2001/XMLSchema" xmlns:p="http://schemas.microsoft.com/office/2006/metadata/properties" xmlns:ns3="a962fe81-f775-4e95-b355-1a7994b65e3f" xmlns:ns4="1a20c3dd-5074-42f5-b6c8-19f91b6efaa4" targetNamespace="http://schemas.microsoft.com/office/2006/metadata/properties" ma:root="true" ma:fieldsID="96b398462181b911e630f8735d58c971" ns3:_="" ns4:_="">
    <xsd:import namespace="a962fe81-f775-4e95-b355-1a7994b65e3f"/>
    <xsd:import namespace="1a20c3dd-5074-42f5-b6c8-19f91b6efaa4"/>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KeyPoints" minOccurs="0"/>
                <xsd:element ref="ns4: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962fe81-f775-4e95-b355-1a7994b65e3f"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a20c3dd-5074-42f5-b6c8-19f91b6efaa4"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4F8F9D6-13A5-4079-9DBF-DBD17DBAA575}">
  <ds:schemaRefs>
    <ds:schemaRef ds:uri="http://schemas.microsoft.com/sharepoint/v3/contenttype/forms"/>
  </ds:schemaRefs>
</ds:datastoreItem>
</file>

<file path=customXml/itemProps2.xml><?xml version="1.0" encoding="utf-8"?>
<ds:datastoreItem xmlns:ds="http://schemas.openxmlformats.org/officeDocument/2006/customXml" ds:itemID="{4933BD6E-AF8D-4B88-8933-04FB72E721E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962fe81-f775-4e95-b355-1a7994b65e3f"/>
    <ds:schemaRef ds:uri="1a20c3dd-5074-42f5-b6c8-19f91b6efaa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E191664-AEDC-4E35-9AC1-D0A0B28D1FFD}">
  <ds:schemaRefs>
    <ds:schemaRef ds:uri="http://purl.org/dc/elements/1.1/"/>
    <ds:schemaRef ds:uri="http://schemas.microsoft.com/office/infopath/2007/PartnerControls"/>
    <ds:schemaRef ds:uri="http://schemas.microsoft.com/office/2006/documentManagement/types"/>
    <ds:schemaRef ds:uri="http://www.w3.org/XML/1998/namespace"/>
    <ds:schemaRef ds:uri="http://schemas.microsoft.com/office/2006/metadata/properties"/>
    <ds:schemaRef ds:uri="http://schemas.openxmlformats.org/package/2006/metadata/core-properties"/>
    <ds:schemaRef ds:uri="http://purl.org/dc/dcmitype/"/>
    <ds:schemaRef ds:uri="1a20c3dd-5074-42f5-b6c8-19f91b6efaa4"/>
    <ds:schemaRef ds:uri="a962fe81-f775-4e95-b355-1a7994b65e3f"/>
    <ds:schemaRef ds:uri="http://purl.org/dc/terms/"/>
  </ds:schemaRefs>
</ds:datastoreItem>
</file>

<file path=docProps/app.xml><?xml version="1.0" encoding="utf-8"?>
<Properties xmlns="http://schemas.openxmlformats.org/officeDocument/2006/extended-properties" xmlns:vt="http://schemas.openxmlformats.org/officeDocument/2006/docPropsVTypes">
  <TotalTime>235</TotalTime>
  <Words>1315</Words>
  <Application>Microsoft Office PowerPoint</Application>
  <PresentationFormat>Widescreen</PresentationFormat>
  <Paragraphs>127</Paragraphs>
  <Slides>60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60</vt:i4>
      </vt:variant>
    </vt:vector>
  </HeadingPairs>
  <TitlesOfParts>
    <vt:vector size="64" baseType="lpstr">
      <vt:lpstr>Arial</vt:lpstr>
      <vt:lpstr>Calibri</vt:lpstr>
      <vt:lpstr>Calibri Light</vt:lpstr>
      <vt:lpstr>Office Theme</vt:lpstr>
      <vt:lpstr>Packages and Interfaces</vt:lpstr>
      <vt:lpstr>Agenda</vt:lpstr>
      <vt:lpstr>Introduction to Packages</vt:lpstr>
      <vt:lpstr>Introduction to Packages</vt:lpstr>
      <vt:lpstr>Introduction to Packages</vt:lpstr>
      <vt:lpstr>Introduction to Packages</vt:lpstr>
      <vt:lpstr>Creating the User-defined Packages</vt:lpstr>
      <vt:lpstr>Way No. 1</vt:lpstr>
      <vt:lpstr>Coding Steps</vt:lpstr>
      <vt:lpstr>Coding Steps</vt:lpstr>
      <vt:lpstr>Coding Steps</vt:lpstr>
      <vt:lpstr>Coding Steps</vt:lpstr>
      <vt:lpstr>Way No. 2</vt:lpstr>
      <vt:lpstr>Coding Steps</vt:lpstr>
      <vt:lpstr>Coding Steps</vt:lpstr>
      <vt:lpstr>Coding Steps</vt:lpstr>
      <vt:lpstr>Coding Steps</vt:lpstr>
      <vt:lpstr>More About Packages</vt:lpstr>
      <vt:lpstr>Access Protection</vt:lpstr>
      <vt:lpstr>An Access Example</vt:lpstr>
      <vt:lpstr>An Access Example: public specifier</vt:lpstr>
      <vt:lpstr>An Access Example: public specifier</vt:lpstr>
      <vt:lpstr>An Access Example: public specifier</vt:lpstr>
      <vt:lpstr>An Access Example: default specifier</vt:lpstr>
      <vt:lpstr>An Access Example: default specifier</vt:lpstr>
      <vt:lpstr>An Access Example: default specifier</vt:lpstr>
      <vt:lpstr>An Access Example: default specifier</vt:lpstr>
      <vt:lpstr>An Access Example: private specifier</vt:lpstr>
      <vt:lpstr>An Access Example: private specifier</vt:lpstr>
      <vt:lpstr>An Access Example: private specifier</vt:lpstr>
      <vt:lpstr>An Access Example: private specifier</vt:lpstr>
      <vt:lpstr>An Access Example: protected specifier</vt:lpstr>
      <vt:lpstr>An Access Example: Protected specifier</vt:lpstr>
      <vt:lpstr>An Access Example: protected specifier</vt:lpstr>
      <vt:lpstr>An Access Example: protected specifier</vt:lpstr>
      <vt:lpstr>An Access Example: protected specifier</vt:lpstr>
      <vt:lpstr>An Access Example: protected specifier</vt:lpstr>
      <vt:lpstr>Interfaces</vt:lpstr>
      <vt:lpstr>Interfaces</vt:lpstr>
      <vt:lpstr>Interfaces</vt:lpstr>
      <vt:lpstr>Interfaces</vt:lpstr>
      <vt:lpstr>Interfaces</vt:lpstr>
      <vt:lpstr>Interfaces: Example</vt:lpstr>
      <vt:lpstr>Accessing Implementations Through Interface References</vt:lpstr>
      <vt:lpstr>Accessing Implementations Through Interface References</vt:lpstr>
      <vt:lpstr>Accessing Implementations Through Interface References</vt:lpstr>
      <vt:lpstr>Partial Implementation</vt:lpstr>
      <vt:lpstr>Nested Interface</vt:lpstr>
      <vt:lpstr>Applying Interfaces</vt:lpstr>
      <vt:lpstr>Applying Interfaces</vt:lpstr>
      <vt:lpstr>Applying Interfaces</vt:lpstr>
      <vt:lpstr>Applying Interfaces</vt:lpstr>
      <vt:lpstr>Variables in Interface</vt:lpstr>
      <vt:lpstr>Interfaces can be extended</vt:lpstr>
      <vt:lpstr>Default Method Fundamentals</vt:lpstr>
      <vt:lpstr>Default Method Fundamentals</vt:lpstr>
      <vt:lpstr>Default Method Fundamentals</vt:lpstr>
      <vt:lpstr>Default Method Fundamentals</vt:lpstr>
      <vt:lpstr>Use static Methods in an Interface</vt:lpstr>
      <vt:lpstr>Recap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Packages and Interfaces</dc:title>
  <dc:creator>Mr. Ghulam Mujtaba Shaikh</dc:creator>
  <cp:lastModifiedBy>Mr. Ghulam Mujtaba Shaikh</cp:lastModifiedBy>
  <cp:revision>18</cp:revision>
  <dcterms:created xsi:type="dcterms:W3CDTF">2023-04-04T14:34:34Z</dcterms:created>
  <dcterms:modified xsi:type="dcterms:W3CDTF">2023-04-05T01:21:05Z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0x0101004109F11239A3D846A05CD2F9F4716816</vt:lpwstr>
  </property>
</Properties>
</file>
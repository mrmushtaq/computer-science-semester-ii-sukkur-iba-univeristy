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7" r:id="rId6"/>
    <p:sldId id="259" r:id="rId7"/>
    <p:sldId id="260" r:id="rId8"/>
    <p:sldId id="262" r:id="rId9"/>
    <p:sldId id="261" r:id="rId10"/>
    <p:sldId id="265" r:id="rId11"/>
    <p:sldId id="263" r:id="rId12"/>
    <p:sldId id="264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8" r:id="rId25"/>
    <p:sldId id="279" r:id="rId26"/>
    <p:sldId id="280" r:id="rId27"/>
    <p:sldId id="281" r:id="rId28"/>
    <p:sldId id="282" r:id="rId29"/>
    <p:sldId id="286" r:id="rId30"/>
    <p:sldId id="283" r:id="rId31"/>
    <p:sldId id="28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08BB0C-D5F6-46B1-B5E7-EA344B285788}" v="18" dt="2023-02-21T16:51:45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6F7CC-6EFA-9FB9-CA94-24ECE93C0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9AA60-108D-6434-8C44-4A9ED75B6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FD687-EB34-1582-5D47-8872DA72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B6636-43A4-CFF2-1E54-1DAC16E3A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0A4CF-B386-840C-C1DB-449C31EF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27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FBBC3-DF90-ADEF-3C8E-4D086C3D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A3E51-FF9D-9472-743B-AE3C17B0C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F748D-9D92-3725-92C9-97703123C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C1FA5-084E-79F6-EFC1-D4633EDC1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D4F55-5914-12AE-CA0F-8C1DA3488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911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493C9-4013-A81B-4EB0-73805AA52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59A81-A8AC-47FB-1A59-CC7EA517F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BB9B4-0D03-E57E-FF28-574C62D0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08ED1-0FAE-391F-811B-0BC1BF3E7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C5912-52F2-A3F9-37BD-89C1AFA60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57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30CC-B4A1-7C0D-0E09-3FF863FBE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74C9A-838D-437C-75BC-19F9D215C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8C8A7-4711-2971-4260-3CF101794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3CEC9-49E8-BF00-B4B4-F41B9E358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FC96B-3A6D-687E-CDA6-D2AC3B075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FBAD5-C5D6-4D7C-73E3-AF410450C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08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8776-3FCD-8F32-3BA9-55B23667E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DC201-ADD6-E882-137B-8D4CC735A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3CD0D-5783-25BB-8AC2-1F7DA9D28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EF6466-EF6C-73D0-305F-8C0E66B148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37B7BD-DB4A-CBA6-5C85-FFFE351B8E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A2E1D3-A0DF-3EFA-B58E-9BF839720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9C9B52-8337-F1DA-7B96-4F3F54007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C7647B-504E-6F54-F57D-4B063297D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1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8FD55-2852-6A3F-85E1-7D7F2C328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1333D8-8EBA-B06F-A7B0-A393D38CB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8C1D2-C4FE-B180-7EBE-5F07E5A45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CA0EF-063A-E3C9-DE40-12EA41EBC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54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16CDCF-CE12-ABF4-5B9C-21CCFAA64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14623-FF6C-F1A5-831E-B337B82BE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E3094-F135-7D58-258E-19655098C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5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03F78-FB3F-98BD-3AA9-4C6279DF4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CBA96-1B91-BED8-124D-9D9F2BA9A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4ECB5-1163-1D41-CEBD-49E3D084A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784A2-DEE5-24F3-3534-10F8E0750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9911-A084-B276-6566-4F4AAD7FA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19534-4241-0B76-BB3C-BF1892ECC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02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2992-5D2F-942C-F602-3F7010662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C331D1-AA86-E822-0096-2B9BB0B45C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3D9DC-8F68-DC8D-15A5-79C0ACBC3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30185-8E68-45CC-E402-B89D435A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9DC90-D9A9-47A1-396A-447F35C2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A156C6-892B-6626-3757-88293DF3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47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DC759-FEFC-3614-E90E-3B5C50A18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7C3468-90D4-9AC4-FF8D-EFA3A2A59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714E3-1233-869F-EEF3-2B3585D8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B8F75-35E4-8299-6DF4-C921D7453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712A7-C327-DDB2-658C-68291A5FA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37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044024-97EF-EC9F-3416-51D8918CC9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4A4AB-6D4A-699F-29B3-2F9C8718A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B1E44-DBEC-518A-7481-C007265AB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B82BE-1063-F2D4-B8D7-BBCF53C1D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BF492-DB8F-C70B-FB95-C8419471F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1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23D5E9-DA9B-F088-B3B8-6E11908AF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E1C85-554B-C1E7-9459-A3954BBAE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1C41D-21AD-F0D6-CEE0-AE2FB1066D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F8850-2321-4D5C-84B7-4FC5000286A8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8E7E4-989F-F4DD-6765-3924E3D3D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CAC8D-5FDC-44EE-F542-B64DD0949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764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2C4BFA1-2075-4901-9E24-E41D1FDD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BC4C3819-6FEA-40B8-9471-674A1B43DA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762000"/>
          </a:xfrm>
        </p:spPr>
        <p:txBody>
          <a:bodyPr>
            <a:normAutofit/>
          </a:bodyPr>
          <a:lstStyle/>
          <a:p>
            <a:r>
              <a:rPr lang="en-US" sz="3200"/>
              <a:t>Week 5</a:t>
            </a:r>
            <a:endParaRPr lang="en-US" sz="3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3FB2EE-284F-4C87-AB3D-BBF87A9F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6729-B29E-4279-8B73-DAECA6AF8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463" y="2776538"/>
            <a:ext cx="11904617" cy="1381188"/>
          </a:xfrm>
        </p:spPr>
        <p:txBody>
          <a:bodyPr anchor="ctr">
            <a:no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Introducing Classes</a:t>
            </a:r>
          </a:p>
        </p:txBody>
      </p:sp>
    </p:spTree>
    <p:extLst>
      <p:ext uri="{BB962C8B-B14F-4D97-AF65-F5344CB8AC3E}">
        <p14:creationId xmlns:p14="http://schemas.microsoft.com/office/powerpoint/2010/main" val="1070980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941C2A-D0AF-DDBD-305D-C8FC73F7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7E190-A6EC-CA79-7B0D-3AD94DCEC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/>
          </a:bodyPr>
          <a:lstStyle/>
          <a:p>
            <a:r>
              <a:rPr lang="en-US" sz="2200" dirty="0">
                <a:solidFill>
                  <a:srgbClr val="FEFFFF"/>
                </a:solidFill>
              </a:rPr>
              <a:t>Creating Classes in Java</a:t>
            </a:r>
          </a:p>
          <a:p>
            <a:r>
              <a:rPr lang="en-US" sz="2200" dirty="0">
                <a:solidFill>
                  <a:srgbClr val="FEFFFF"/>
                </a:solidFill>
              </a:rPr>
              <a:t>Java Class instance variables</a:t>
            </a:r>
          </a:p>
          <a:p>
            <a:r>
              <a:rPr lang="en-US" sz="2200" dirty="0">
                <a:solidFill>
                  <a:srgbClr val="FEFFFF"/>
                </a:solidFill>
              </a:rPr>
              <a:t>Java Class Methods</a:t>
            </a:r>
          </a:p>
          <a:p>
            <a:r>
              <a:rPr lang="en-US" sz="2200" dirty="0">
                <a:solidFill>
                  <a:srgbClr val="FEFFFF"/>
                </a:solidFill>
              </a:rPr>
              <a:t>Java Objects</a:t>
            </a:r>
          </a:p>
          <a:p>
            <a:r>
              <a:rPr lang="en-US" sz="2200" dirty="0">
                <a:solidFill>
                  <a:srgbClr val="FEFFFF"/>
                </a:solidFill>
              </a:rPr>
              <a:t>Accessing instance variables and Methods with objects</a:t>
            </a:r>
          </a:p>
          <a:p>
            <a:r>
              <a:rPr lang="en-US" sz="2200" dirty="0">
                <a:solidFill>
                  <a:srgbClr val="FEFFFF"/>
                </a:solidFill>
              </a:rPr>
              <a:t>Using Access Specifiers</a:t>
            </a:r>
          </a:p>
          <a:p>
            <a:r>
              <a:rPr lang="en-US" sz="2200" dirty="0">
                <a:solidFill>
                  <a:srgbClr val="FEFFFF"/>
                </a:solidFill>
              </a:rPr>
              <a:t>Using Setter and Getter Methods</a:t>
            </a:r>
          </a:p>
          <a:p>
            <a:r>
              <a:rPr lang="en-US" sz="2200" dirty="0">
                <a:solidFill>
                  <a:srgbClr val="FEFFFF"/>
                </a:solidFill>
              </a:rPr>
              <a:t>Using Constructors</a:t>
            </a:r>
          </a:p>
          <a:p>
            <a:r>
              <a:rPr lang="en-US" sz="2200" dirty="0">
                <a:solidFill>
                  <a:srgbClr val="FEFFFF"/>
                </a:solidFill>
              </a:rPr>
              <a:t>Using this keyword</a:t>
            </a:r>
          </a:p>
          <a:p>
            <a:endParaRPr lang="en-US" sz="2200" dirty="0">
              <a:solidFill>
                <a:srgbClr val="FE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114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Class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B05E-C75B-911C-88DF-AE2FFC181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 fontScale="92500" lnSpcReduction="20000"/>
          </a:bodyPr>
          <a:lstStyle/>
          <a:p>
            <a:pPr algn="just"/>
            <a:r>
              <a:rPr lang="en-US" sz="3200" dirty="0"/>
              <a:t>It defines a new data type.</a:t>
            </a:r>
          </a:p>
          <a:p>
            <a:pPr algn="just"/>
            <a:r>
              <a:rPr lang="en-US" sz="3200" dirty="0"/>
              <a:t>Once defined, this new type can be used to create objects of that type.</a:t>
            </a:r>
          </a:p>
          <a:p>
            <a:pPr algn="just"/>
            <a:r>
              <a:rPr lang="en-US" sz="3200" dirty="0"/>
              <a:t>Thus, a class is a template for an object, and an object is an instance of a class.</a:t>
            </a:r>
          </a:p>
          <a:p>
            <a:pPr algn="just"/>
            <a:r>
              <a:rPr lang="en-US" sz="3200" dirty="0"/>
              <a:t>The two words object and instance used interchangeably.</a:t>
            </a:r>
          </a:p>
          <a:p>
            <a:pPr algn="just"/>
            <a:r>
              <a:rPr lang="en-US" sz="3200" dirty="0"/>
              <a:t>A class is declared by use of the </a:t>
            </a:r>
            <a:r>
              <a:rPr lang="en-US" sz="3200" b="1" dirty="0"/>
              <a:t>class </a:t>
            </a:r>
            <a:r>
              <a:rPr lang="en-US" sz="3200" dirty="0"/>
              <a:t>keyword.</a:t>
            </a:r>
          </a:p>
          <a:p>
            <a:pPr algn="just"/>
            <a:r>
              <a:rPr lang="en-US" sz="3200" dirty="0"/>
              <a:t>General form of a class is shown here.</a:t>
            </a:r>
          </a:p>
        </p:txBody>
      </p:sp>
    </p:spTree>
    <p:extLst>
      <p:ext uri="{BB962C8B-B14F-4D97-AF65-F5344CB8AC3E}">
        <p14:creationId xmlns:p14="http://schemas.microsoft.com/office/powerpoint/2010/main" val="3532141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E9C5405-4A49-4E12-98FD-8966C1118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5B9823A-85C3-4837-8700-3D94F9B36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7235" y="0"/>
            <a:ext cx="789032" cy="6865831"/>
          </a:xfrm>
          <a:custGeom>
            <a:avLst/>
            <a:gdLst>
              <a:gd name="connsiteX0" fmla="*/ 2648 w 789032"/>
              <a:gd name="connsiteY0" fmla="*/ 0 h 6865831"/>
              <a:gd name="connsiteX1" fmla="*/ 789032 w 789032"/>
              <a:gd name="connsiteY1" fmla="*/ 0 h 6865831"/>
              <a:gd name="connsiteX2" fmla="*/ 789032 w 789032"/>
              <a:gd name="connsiteY2" fmla="*/ 1621639 h 6865831"/>
              <a:gd name="connsiteX3" fmla="*/ 789032 w 789032"/>
              <a:gd name="connsiteY3" fmla="*/ 1900580 h 6865831"/>
              <a:gd name="connsiteX4" fmla="*/ 789032 w 789032"/>
              <a:gd name="connsiteY4" fmla="*/ 6865831 h 6865831"/>
              <a:gd name="connsiteX5" fmla="*/ 0 w 789032"/>
              <a:gd name="connsiteY5" fmla="*/ 6399058 h 6865831"/>
              <a:gd name="connsiteX6" fmla="*/ 0 w 789032"/>
              <a:gd name="connsiteY6" fmla="*/ 1154866 h 6865831"/>
              <a:gd name="connsiteX7" fmla="*/ 2648 w 789032"/>
              <a:gd name="connsiteY7" fmla="*/ 1156433 h 686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9032" h="6865831">
                <a:moveTo>
                  <a:pt x="2648" y="0"/>
                </a:moveTo>
                <a:lnTo>
                  <a:pt x="789032" y="0"/>
                </a:lnTo>
                <a:lnTo>
                  <a:pt x="789032" y="1621639"/>
                </a:lnTo>
                <a:lnTo>
                  <a:pt x="789032" y="1900580"/>
                </a:lnTo>
                <a:lnTo>
                  <a:pt x="789032" y="6865831"/>
                </a:lnTo>
                <a:lnTo>
                  <a:pt x="0" y="6399058"/>
                </a:lnTo>
                <a:lnTo>
                  <a:pt x="0" y="1154866"/>
                </a:lnTo>
                <a:lnTo>
                  <a:pt x="2648" y="115643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Freeform 7">
            <a:extLst>
              <a:ext uri="{FF2B5EF4-FFF2-40B4-BE49-F238E27FC236}">
                <a16:creationId xmlns:a16="http://schemas.microsoft.com/office/drawing/2014/main" id="{5BAFBDD6-35EA-4318-81BD-034C73032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17236" y="887217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668AFA7-0343-4462-B952-29775C02D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498749" cy="6150193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679D9B-0B98-4A03-D042-56EFF2735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40" y="161459"/>
            <a:ext cx="5685520" cy="6535081"/>
          </a:xfrm>
          <a:prstGeom prst="rect">
            <a:avLst/>
          </a:prstGeom>
        </p:spPr>
      </p:pic>
      <p:sp>
        <p:nvSpPr>
          <p:cNvPr id="47" name="Rectangle 8">
            <a:extLst>
              <a:ext uri="{FF2B5EF4-FFF2-40B4-BE49-F238E27FC236}">
                <a16:creationId xmlns:a16="http://schemas.microsoft.com/office/drawing/2014/main" id="{FABAF75E-3794-4E38-AFE5-55C262447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804744" y="0"/>
            <a:ext cx="43842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872" y="1062401"/>
            <a:ext cx="3262028" cy="2733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 Fundamentals</a:t>
            </a:r>
          </a:p>
        </p:txBody>
      </p:sp>
    </p:spTree>
    <p:extLst>
      <p:ext uri="{BB962C8B-B14F-4D97-AF65-F5344CB8AC3E}">
        <p14:creationId xmlns:p14="http://schemas.microsoft.com/office/powerpoint/2010/main" val="2438155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Class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B05E-C75B-911C-88DF-AE2FFC181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pPr algn="just"/>
            <a:r>
              <a:rPr lang="en-US" sz="3200" dirty="0"/>
              <a:t>Instance variables</a:t>
            </a:r>
          </a:p>
          <a:p>
            <a:pPr algn="just"/>
            <a:r>
              <a:rPr lang="en-US" sz="3200" dirty="0"/>
              <a:t>Methods</a:t>
            </a:r>
          </a:p>
          <a:p>
            <a:pPr algn="just"/>
            <a:r>
              <a:rPr lang="en-US" sz="3200" dirty="0"/>
              <a:t>Members of the class</a:t>
            </a:r>
          </a:p>
        </p:txBody>
      </p:sp>
    </p:spTree>
    <p:extLst>
      <p:ext uri="{BB962C8B-B14F-4D97-AF65-F5344CB8AC3E}">
        <p14:creationId xmlns:p14="http://schemas.microsoft.com/office/powerpoint/2010/main" val="4064931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E9C5405-4A49-4E12-98FD-8966C1118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5B9823A-85C3-4837-8700-3D94F9B36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7235" y="0"/>
            <a:ext cx="789032" cy="6865831"/>
          </a:xfrm>
          <a:custGeom>
            <a:avLst/>
            <a:gdLst>
              <a:gd name="connsiteX0" fmla="*/ 2648 w 789032"/>
              <a:gd name="connsiteY0" fmla="*/ 0 h 6865831"/>
              <a:gd name="connsiteX1" fmla="*/ 789032 w 789032"/>
              <a:gd name="connsiteY1" fmla="*/ 0 h 6865831"/>
              <a:gd name="connsiteX2" fmla="*/ 789032 w 789032"/>
              <a:gd name="connsiteY2" fmla="*/ 1621639 h 6865831"/>
              <a:gd name="connsiteX3" fmla="*/ 789032 w 789032"/>
              <a:gd name="connsiteY3" fmla="*/ 1900580 h 6865831"/>
              <a:gd name="connsiteX4" fmla="*/ 789032 w 789032"/>
              <a:gd name="connsiteY4" fmla="*/ 6865831 h 6865831"/>
              <a:gd name="connsiteX5" fmla="*/ 0 w 789032"/>
              <a:gd name="connsiteY5" fmla="*/ 6399058 h 6865831"/>
              <a:gd name="connsiteX6" fmla="*/ 0 w 789032"/>
              <a:gd name="connsiteY6" fmla="*/ 1154866 h 6865831"/>
              <a:gd name="connsiteX7" fmla="*/ 2648 w 789032"/>
              <a:gd name="connsiteY7" fmla="*/ 1156433 h 686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9032" h="6865831">
                <a:moveTo>
                  <a:pt x="2648" y="0"/>
                </a:moveTo>
                <a:lnTo>
                  <a:pt x="789032" y="0"/>
                </a:lnTo>
                <a:lnTo>
                  <a:pt x="789032" y="1621639"/>
                </a:lnTo>
                <a:lnTo>
                  <a:pt x="789032" y="1900580"/>
                </a:lnTo>
                <a:lnTo>
                  <a:pt x="789032" y="6865831"/>
                </a:lnTo>
                <a:lnTo>
                  <a:pt x="0" y="6399058"/>
                </a:lnTo>
                <a:lnTo>
                  <a:pt x="0" y="1154866"/>
                </a:lnTo>
                <a:lnTo>
                  <a:pt x="2648" y="115643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Freeform 7">
            <a:extLst>
              <a:ext uri="{FF2B5EF4-FFF2-40B4-BE49-F238E27FC236}">
                <a16:creationId xmlns:a16="http://schemas.microsoft.com/office/drawing/2014/main" id="{5BAFBDD6-35EA-4318-81BD-034C73032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17236" y="887217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668AFA7-0343-4462-B952-29775C02D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498749" cy="6150193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8">
            <a:extLst>
              <a:ext uri="{FF2B5EF4-FFF2-40B4-BE49-F238E27FC236}">
                <a16:creationId xmlns:a16="http://schemas.microsoft.com/office/drawing/2014/main" id="{FABAF75E-3794-4E38-AFE5-55C262447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804744" y="0"/>
            <a:ext cx="43842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872" y="1062401"/>
            <a:ext cx="3262028" cy="2733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 Fundamentals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B517B7-017F-64CB-E696-BF9344D51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18" y="544849"/>
            <a:ext cx="4548045" cy="23913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BCCD09-1FF5-59A3-280F-B9E6359F4C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61508" b="6409"/>
          <a:stretch/>
        </p:blipFill>
        <p:spPr>
          <a:xfrm>
            <a:off x="302073" y="3796282"/>
            <a:ext cx="6698569" cy="6721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500536-D83A-CDE2-EAFB-CDE6EF11D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918" y="3258567"/>
            <a:ext cx="6427265" cy="4450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B7E1BA-5C08-933F-DA35-A65A620B0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81" y="4561074"/>
            <a:ext cx="4618177" cy="7673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3CE0C4-0514-5FC7-22C1-78829394FF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711" y="5421115"/>
            <a:ext cx="3185755" cy="72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834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E9C5405-4A49-4E12-98FD-8966C1118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5B9823A-85C3-4837-8700-3D94F9B36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7235" y="0"/>
            <a:ext cx="789032" cy="6865831"/>
          </a:xfrm>
          <a:custGeom>
            <a:avLst/>
            <a:gdLst>
              <a:gd name="connsiteX0" fmla="*/ 2648 w 789032"/>
              <a:gd name="connsiteY0" fmla="*/ 0 h 6865831"/>
              <a:gd name="connsiteX1" fmla="*/ 789032 w 789032"/>
              <a:gd name="connsiteY1" fmla="*/ 0 h 6865831"/>
              <a:gd name="connsiteX2" fmla="*/ 789032 w 789032"/>
              <a:gd name="connsiteY2" fmla="*/ 1621639 h 6865831"/>
              <a:gd name="connsiteX3" fmla="*/ 789032 w 789032"/>
              <a:gd name="connsiteY3" fmla="*/ 1900580 h 6865831"/>
              <a:gd name="connsiteX4" fmla="*/ 789032 w 789032"/>
              <a:gd name="connsiteY4" fmla="*/ 6865831 h 6865831"/>
              <a:gd name="connsiteX5" fmla="*/ 0 w 789032"/>
              <a:gd name="connsiteY5" fmla="*/ 6399058 h 6865831"/>
              <a:gd name="connsiteX6" fmla="*/ 0 w 789032"/>
              <a:gd name="connsiteY6" fmla="*/ 1154866 h 6865831"/>
              <a:gd name="connsiteX7" fmla="*/ 2648 w 789032"/>
              <a:gd name="connsiteY7" fmla="*/ 1156433 h 686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9032" h="6865831">
                <a:moveTo>
                  <a:pt x="2648" y="0"/>
                </a:moveTo>
                <a:lnTo>
                  <a:pt x="789032" y="0"/>
                </a:lnTo>
                <a:lnTo>
                  <a:pt x="789032" y="1621639"/>
                </a:lnTo>
                <a:lnTo>
                  <a:pt x="789032" y="1900580"/>
                </a:lnTo>
                <a:lnTo>
                  <a:pt x="789032" y="6865831"/>
                </a:lnTo>
                <a:lnTo>
                  <a:pt x="0" y="6399058"/>
                </a:lnTo>
                <a:lnTo>
                  <a:pt x="0" y="1154866"/>
                </a:lnTo>
                <a:lnTo>
                  <a:pt x="2648" y="115643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Freeform 7">
            <a:extLst>
              <a:ext uri="{FF2B5EF4-FFF2-40B4-BE49-F238E27FC236}">
                <a16:creationId xmlns:a16="http://schemas.microsoft.com/office/drawing/2014/main" id="{5BAFBDD6-35EA-4318-81BD-034C73032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17236" y="887217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668AFA7-0343-4462-B952-29775C02D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498749" cy="6150193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8">
            <a:extLst>
              <a:ext uri="{FF2B5EF4-FFF2-40B4-BE49-F238E27FC236}">
                <a16:creationId xmlns:a16="http://schemas.microsoft.com/office/drawing/2014/main" id="{FABAF75E-3794-4E38-AFE5-55C262447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804744" y="0"/>
            <a:ext cx="43842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872" y="1062401"/>
            <a:ext cx="3262028" cy="2733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 Fundamentals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E996C4-D5CE-062B-236B-C0C76A31F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78" y="1062401"/>
            <a:ext cx="6926790" cy="344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975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92719A-2B8F-AF2E-678A-FD4A9DC41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448" y="102303"/>
            <a:ext cx="6618072" cy="647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07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2F1125-A376-9815-F18A-F1508EC5E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246" y="122088"/>
            <a:ext cx="6080874" cy="661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53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Assigning Object Referencing Variables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A690BC-F709-F7CF-AD07-62124055A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272" y="2341848"/>
            <a:ext cx="4074793" cy="885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785F9B-15F0-3BCA-0CAE-59C1DA073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236" y="3630328"/>
            <a:ext cx="7578766" cy="254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67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Assigning Object Referencing Variables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A690BC-F709-F7CF-AD07-62124055A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273" y="2341847"/>
            <a:ext cx="3303992" cy="718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785F9B-15F0-3BCA-0CAE-59C1DA073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267" y="3117851"/>
            <a:ext cx="4894995" cy="16440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2ACFFB-0074-C62B-AE5C-88A28464273E}"/>
              </a:ext>
            </a:extLst>
          </p:cNvPr>
          <p:cNvSpPr txBox="1"/>
          <p:nvPr/>
        </p:nvSpPr>
        <p:spPr>
          <a:xfrm>
            <a:off x="7218653" y="2524308"/>
            <a:ext cx="4333162" cy="37856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2000" i="0" u="none" strike="noStrike" baseline="0" dirty="0">
                <a:latin typeface="Amasis MT Pro Light" panose="020B0604020202020204" pitchFamily="18" charset="0"/>
              </a:rPr>
              <a:t>Here,</a:t>
            </a:r>
            <a:r>
              <a:rPr lang="en-US" sz="2000" b="1" i="0" u="none" strike="noStrike" baseline="0" dirty="0">
                <a:latin typeface="Amasis MT Pro Light" panose="020B0604020202020204" pitchFamily="18" charset="0"/>
              </a:rPr>
              <a:t> b1 </a:t>
            </a:r>
            <a:r>
              <a:rPr lang="en-US" sz="2000" b="0" i="0" u="none" strike="noStrike" baseline="0" dirty="0">
                <a:latin typeface="Amasis MT Pro Light" panose="020B0604020202020204" pitchFamily="18" charset="0"/>
              </a:rPr>
              <a:t>and </a:t>
            </a:r>
            <a:r>
              <a:rPr lang="en-US" sz="2000" b="1" i="0" u="none" strike="noStrike" baseline="0" dirty="0">
                <a:latin typeface="Amasis MT Pro Light" panose="020B0604020202020204" pitchFamily="18" charset="0"/>
              </a:rPr>
              <a:t>b2 </a:t>
            </a:r>
            <a:r>
              <a:rPr lang="en-US" sz="2000" b="0" i="0" u="none" strike="noStrike" baseline="0" dirty="0">
                <a:latin typeface="Amasis MT Pro Light" panose="020B0604020202020204" pitchFamily="18" charset="0"/>
              </a:rPr>
              <a:t>will both refer to the </a:t>
            </a:r>
            <a:r>
              <a:rPr lang="en-US" sz="2000" b="0" i="1" u="none" strike="noStrike" baseline="0" dirty="0">
                <a:latin typeface="Amasis MT Pro Light" panose="020B0604020202020204" pitchFamily="18" charset="0"/>
              </a:rPr>
              <a:t>same </a:t>
            </a:r>
            <a:r>
              <a:rPr lang="en-US" sz="2000" b="0" i="0" u="none" strike="noStrike" baseline="0" dirty="0">
                <a:latin typeface="Amasis MT Pro Light" panose="020B0604020202020204" pitchFamily="18" charset="0"/>
              </a:rPr>
              <a:t>object. The assignment of </a:t>
            </a:r>
            <a:r>
              <a:rPr lang="en-US" sz="2000" b="1" i="0" u="none" strike="noStrike" baseline="0" dirty="0">
                <a:latin typeface="Amasis MT Pro Light" panose="020B0604020202020204" pitchFamily="18" charset="0"/>
              </a:rPr>
              <a:t>b1 </a:t>
            </a:r>
            <a:r>
              <a:rPr lang="en-US" sz="2000" b="0" i="0" u="none" strike="noStrike" baseline="0" dirty="0">
                <a:latin typeface="Amasis MT Pro Light" panose="020B0604020202020204" pitchFamily="18" charset="0"/>
              </a:rPr>
              <a:t>to </a:t>
            </a:r>
            <a:r>
              <a:rPr lang="en-US" sz="2000" b="1" i="0" u="none" strike="noStrike" baseline="0" dirty="0">
                <a:latin typeface="Amasis MT Pro Light" panose="020B0604020202020204" pitchFamily="18" charset="0"/>
              </a:rPr>
              <a:t>b2 </a:t>
            </a:r>
            <a:r>
              <a:rPr lang="en-US" sz="2000" b="0" i="0" u="none" strike="noStrike" baseline="0" dirty="0">
                <a:latin typeface="Amasis MT Pro Light" panose="020B0604020202020204" pitchFamily="18" charset="0"/>
              </a:rPr>
              <a:t>did not allocate any memory or copy any part of the original object. It simply makes </a:t>
            </a:r>
            <a:r>
              <a:rPr lang="en-US" sz="2000" b="1" i="0" u="none" strike="noStrike" baseline="0" dirty="0">
                <a:latin typeface="Amasis MT Pro Light" panose="020B0604020202020204" pitchFamily="18" charset="0"/>
              </a:rPr>
              <a:t>b2 </a:t>
            </a:r>
            <a:r>
              <a:rPr lang="en-US" sz="2000" b="0" i="0" u="none" strike="noStrike" baseline="0" dirty="0">
                <a:latin typeface="Amasis MT Pro Light" panose="020B0604020202020204" pitchFamily="18" charset="0"/>
              </a:rPr>
              <a:t>refer to the same object as does </a:t>
            </a:r>
            <a:r>
              <a:rPr lang="en-US" sz="2000" b="1" i="0" u="none" strike="noStrike" baseline="0" dirty="0">
                <a:latin typeface="Amasis MT Pro Light" panose="020B0604020202020204" pitchFamily="18" charset="0"/>
              </a:rPr>
              <a:t>b1</a:t>
            </a:r>
            <a:r>
              <a:rPr lang="en-US" sz="2000" b="0" i="0" u="none" strike="noStrike" baseline="0" dirty="0">
                <a:latin typeface="Amasis MT Pro Light" panose="020B0604020202020204" pitchFamily="18" charset="0"/>
              </a:rPr>
              <a:t>. Thus, any changes made to the object through </a:t>
            </a:r>
            <a:r>
              <a:rPr lang="en-US" sz="2000" b="1" i="0" u="none" strike="noStrike" baseline="0" dirty="0">
                <a:latin typeface="Amasis MT Pro Light" panose="020B0604020202020204" pitchFamily="18" charset="0"/>
              </a:rPr>
              <a:t>b2 </a:t>
            </a:r>
            <a:r>
              <a:rPr lang="en-US" sz="2000" b="0" i="0" u="none" strike="noStrike" baseline="0" dirty="0">
                <a:latin typeface="Amasis MT Pro Light" panose="020B0604020202020204" pitchFamily="18" charset="0"/>
              </a:rPr>
              <a:t>will affect the object to which </a:t>
            </a:r>
            <a:r>
              <a:rPr lang="en-US" sz="2000" b="1" i="0" u="none" strike="noStrike" baseline="0" dirty="0">
                <a:latin typeface="Amasis MT Pro Light" panose="020B0604020202020204" pitchFamily="18" charset="0"/>
              </a:rPr>
              <a:t>b1 </a:t>
            </a:r>
            <a:r>
              <a:rPr lang="en-US" sz="2000" b="0" i="0" u="none" strike="noStrike" baseline="0" dirty="0">
                <a:latin typeface="Amasis MT Pro Light" panose="020B0604020202020204" pitchFamily="18" charset="0"/>
              </a:rPr>
              <a:t>is referring, since they are the same object. </a:t>
            </a:r>
          </a:p>
          <a:p>
            <a:pPr algn="just"/>
            <a:r>
              <a:rPr lang="en-US" sz="2000" dirty="0">
                <a:latin typeface="Amasis MT Pro Light" panose="020B0604020202020204" pitchFamily="18" charset="0"/>
              </a:rPr>
              <a:t>Although b1 and b2 both refer to the same object, they are not linked in any other way.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21DAED-0817-EA15-4C5D-2853FD6D5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267" y="4870738"/>
            <a:ext cx="3175782" cy="13088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50A9F95-7E00-10D8-FBBA-92A0EFF6D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97" y="6309960"/>
            <a:ext cx="6885043" cy="36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160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E9C5405-4A49-4E12-98FD-8966C1118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5B9823A-85C3-4837-8700-3D94F9B36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7235" y="0"/>
            <a:ext cx="789032" cy="6865831"/>
          </a:xfrm>
          <a:custGeom>
            <a:avLst/>
            <a:gdLst>
              <a:gd name="connsiteX0" fmla="*/ 2648 w 789032"/>
              <a:gd name="connsiteY0" fmla="*/ 0 h 6865831"/>
              <a:gd name="connsiteX1" fmla="*/ 789032 w 789032"/>
              <a:gd name="connsiteY1" fmla="*/ 0 h 6865831"/>
              <a:gd name="connsiteX2" fmla="*/ 789032 w 789032"/>
              <a:gd name="connsiteY2" fmla="*/ 1621639 h 6865831"/>
              <a:gd name="connsiteX3" fmla="*/ 789032 w 789032"/>
              <a:gd name="connsiteY3" fmla="*/ 1900580 h 6865831"/>
              <a:gd name="connsiteX4" fmla="*/ 789032 w 789032"/>
              <a:gd name="connsiteY4" fmla="*/ 6865831 h 6865831"/>
              <a:gd name="connsiteX5" fmla="*/ 0 w 789032"/>
              <a:gd name="connsiteY5" fmla="*/ 6399058 h 6865831"/>
              <a:gd name="connsiteX6" fmla="*/ 0 w 789032"/>
              <a:gd name="connsiteY6" fmla="*/ 1154866 h 6865831"/>
              <a:gd name="connsiteX7" fmla="*/ 2648 w 789032"/>
              <a:gd name="connsiteY7" fmla="*/ 1156433 h 686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9032" h="6865831">
                <a:moveTo>
                  <a:pt x="2648" y="0"/>
                </a:moveTo>
                <a:lnTo>
                  <a:pt x="789032" y="0"/>
                </a:lnTo>
                <a:lnTo>
                  <a:pt x="789032" y="1621639"/>
                </a:lnTo>
                <a:lnTo>
                  <a:pt x="789032" y="1900580"/>
                </a:lnTo>
                <a:lnTo>
                  <a:pt x="789032" y="6865831"/>
                </a:lnTo>
                <a:lnTo>
                  <a:pt x="0" y="6399058"/>
                </a:lnTo>
                <a:lnTo>
                  <a:pt x="0" y="1154866"/>
                </a:lnTo>
                <a:lnTo>
                  <a:pt x="2648" y="115643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Freeform 7">
            <a:extLst>
              <a:ext uri="{FF2B5EF4-FFF2-40B4-BE49-F238E27FC236}">
                <a16:creationId xmlns:a16="http://schemas.microsoft.com/office/drawing/2014/main" id="{5BAFBDD6-35EA-4318-81BD-034C73032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17236" y="887217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668AFA7-0343-4462-B952-29775C02D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498749" cy="6150193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8">
            <a:extLst>
              <a:ext uri="{FF2B5EF4-FFF2-40B4-BE49-F238E27FC236}">
                <a16:creationId xmlns:a16="http://schemas.microsoft.com/office/drawing/2014/main" id="{FABAF75E-3794-4E38-AFE5-55C262447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804744" y="0"/>
            <a:ext cx="43842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872" y="1062401"/>
            <a:ext cx="3262028" cy="2733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Adding Methods to Box Class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9D8924-3D48-C404-14F8-09202C5C2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89" y="178328"/>
            <a:ext cx="5750894" cy="650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960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E9C5405-4A49-4E12-98FD-8966C1118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5B9823A-85C3-4837-8700-3D94F9B36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7235" y="0"/>
            <a:ext cx="789032" cy="6865831"/>
          </a:xfrm>
          <a:custGeom>
            <a:avLst/>
            <a:gdLst>
              <a:gd name="connsiteX0" fmla="*/ 2648 w 789032"/>
              <a:gd name="connsiteY0" fmla="*/ 0 h 6865831"/>
              <a:gd name="connsiteX1" fmla="*/ 789032 w 789032"/>
              <a:gd name="connsiteY1" fmla="*/ 0 h 6865831"/>
              <a:gd name="connsiteX2" fmla="*/ 789032 w 789032"/>
              <a:gd name="connsiteY2" fmla="*/ 1621639 h 6865831"/>
              <a:gd name="connsiteX3" fmla="*/ 789032 w 789032"/>
              <a:gd name="connsiteY3" fmla="*/ 1900580 h 6865831"/>
              <a:gd name="connsiteX4" fmla="*/ 789032 w 789032"/>
              <a:gd name="connsiteY4" fmla="*/ 6865831 h 6865831"/>
              <a:gd name="connsiteX5" fmla="*/ 0 w 789032"/>
              <a:gd name="connsiteY5" fmla="*/ 6399058 h 6865831"/>
              <a:gd name="connsiteX6" fmla="*/ 0 w 789032"/>
              <a:gd name="connsiteY6" fmla="*/ 1154866 h 6865831"/>
              <a:gd name="connsiteX7" fmla="*/ 2648 w 789032"/>
              <a:gd name="connsiteY7" fmla="*/ 1156433 h 686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9032" h="6865831">
                <a:moveTo>
                  <a:pt x="2648" y="0"/>
                </a:moveTo>
                <a:lnTo>
                  <a:pt x="789032" y="0"/>
                </a:lnTo>
                <a:lnTo>
                  <a:pt x="789032" y="1621639"/>
                </a:lnTo>
                <a:lnTo>
                  <a:pt x="789032" y="1900580"/>
                </a:lnTo>
                <a:lnTo>
                  <a:pt x="789032" y="6865831"/>
                </a:lnTo>
                <a:lnTo>
                  <a:pt x="0" y="6399058"/>
                </a:lnTo>
                <a:lnTo>
                  <a:pt x="0" y="1154866"/>
                </a:lnTo>
                <a:lnTo>
                  <a:pt x="2648" y="115643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Freeform 7">
            <a:extLst>
              <a:ext uri="{FF2B5EF4-FFF2-40B4-BE49-F238E27FC236}">
                <a16:creationId xmlns:a16="http://schemas.microsoft.com/office/drawing/2014/main" id="{5BAFBDD6-35EA-4318-81BD-034C73032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17236" y="887217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668AFA7-0343-4462-B952-29775C02D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498749" cy="6150193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8">
            <a:extLst>
              <a:ext uri="{FF2B5EF4-FFF2-40B4-BE49-F238E27FC236}">
                <a16:creationId xmlns:a16="http://schemas.microsoft.com/office/drawing/2014/main" id="{FABAF75E-3794-4E38-AFE5-55C262447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804744" y="0"/>
            <a:ext cx="43842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872" y="1062401"/>
            <a:ext cx="3262028" cy="2733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Adding Methods to Box Class that returns value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8B217D-0B5E-AF2C-27DD-508A2AC07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89" y="276344"/>
            <a:ext cx="4524477" cy="630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86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E9C5405-4A49-4E12-98FD-8966C1118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5B9823A-85C3-4837-8700-3D94F9B36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7235" y="0"/>
            <a:ext cx="789032" cy="6865831"/>
          </a:xfrm>
          <a:custGeom>
            <a:avLst/>
            <a:gdLst>
              <a:gd name="connsiteX0" fmla="*/ 2648 w 789032"/>
              <a:gd name="connsiteY0" fmla="*/ 0 h 6865831"/>
              <a:gd name="connsiteX1" fmla="*/ 789032 w 789032"/>
              <a:gd name="connsiteY1" fmla="*/ 0 h 6865831"/>
              <a:gd name="connsiteX2" fmla="*/ 789032 w 789032"/>
              <a:gd name="connsiteY2" fmla="*/ 1621639 h 6865831"/>
              <a:gd name="connsiteX3" fmla="*/ 789032 w 789032"/>
              <a:gd name="connsiteY3" fmla="*/ 1900580 h 6865831"/>
              <a:gd name="connsiteX4" fmla="*/ 789032 w 789032"/>
              <a:gd name="connsiteY4" fmla="*/ 6865831 h 6865831"/>
              <a:gd name="connsiteX5" fmla="*/ 0 w 789032"/>
              <a:gd name="connsiteY5" fmla="*/ 6399058 h 6865831"/>
              <a:gd name="connsiteX6" fmla="*/ 0 w 789032"/>
              <a:gd name="connsiteY6" fmla="*/ 1154866 h 6865831"/>
              <a:gd name="connsiteX7" fmla="*/ 2648 w 789032"/>
              <a:gd name="connsiteY7" fmla="*/ 1156433 h 686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9032" h="6865831">
                <a:moveTo>
                  <a:pt x="2648" y="0"/>
                </a:moveTo>
                <a:lnTo>
                  <a:pt x="789032" y="0"/>
                </a:lnTo>
                <a:lnTo>
                  <a:pt x="789032" y="1621639"/>
                </a:lnTo>
                <a:lnTo>
                  <a:pt x="789032" y="1900580"/>
                </a:lnTo>
                <a:lnTo>
                  <a:pt x="789032" y="6865831"/>
                </a:lnTo>
                <a:lnTo>
                  <a:pt x="0" y="6399058"/>
                </a:lnTo>
                <a:lnTo>
                  <a:pt x="0" y="1154866"/>
                </a:lnTo>
                <a:lnTo>
                  <a:pt x="2648" y="115643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Freeform 7">
            <a:extLst>
              <a:ext uri="{FF2B5EF4-FFF2-40B4-BE49-F238E27FC236}">
                <a16:creationId xmlns:a16="http://schemas.microsoft.com/office/drawing/2014/main" id="{5BAFBDD6-35EA-4318-81BD-034C73032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17236" y="887217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668AFA7-0343-4462-B952-29775C02D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498749" cy="6150193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8">
            <a:extLst>
              <a:ext uri="{FF2B5EF4-FFF2-40B4-BE49-F238E27FC236}">
                <a16:creationId xmlns:a16="http://schemas.microsoft.com/office/drawing/2014/main" id="{FABAF75E-3794-4E38-AFE5-55C262447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804744" y="0"/>
            <a:ext cx="43842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872" y="1062401"/>
            <a:ext cx="3262028" cy="2733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Adding a Method That Takes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38D799-D73C-D21B-594C-12E3AA575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51" y="382405"/>
            <a:ext cx="5092962" cy="36260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9E97C0-09FB-4AA8-2D7E-CC92B0FDE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004" y="3370144"/>
            <a:ext cx="4043786" cy="341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434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82501D-4E9F-7B6F-898A-CF998B7D0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FFFF"/>
                </a:solidFill>
              </a:rPr>
              <a:t>Constructors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C9D9D-69B1-E06C-038B-2B94E9706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 lnSpcReduction="10000"/>
          </a:bodyPr>
          <a:lstStyle/>
          <a:p>
            <a:pPr algn="just"/>
            <a:r>
              <a:rPr lang="en-US" sz="3200" dirty="0">
                <a:solidFill>
                  <a:srgbClr val="FEFFFF"/>
                </a:solidFill>
              </a:rPr>
              <a:t>Specialized method that have the same name as the class.</a:t>
            </a:r>
          </a:p>
          <a:p>
            <a:pPr algn="just"/>
            <a:r>
              <a:rPr lang="en-US" sz="3200" dirty="0">
                <a:solidFill>
                  <a:srgbClr val="FEFFFF"/>
                </a:solidFill>
              </a:rPr>
              <a:t>They are used to initialize the class variables.</a:t>
            </a:r>
          </a:p>
          <a:p>
            <a:pPr algn="just"/>
            <a:r>
              <a:rPr lang="en-US" sz="3200" dirty="0">
                <a:solidFill>
                  <a:srgbClr val="FEFFFF"/>
                </a:solidFill>
              </a:rPr>
              <a:t>They don’t have any return type. Not even void.</a:t>
            </a:r>
          </a:p>
          <a:p>
            <a:pPr algn="just"/>
            <a:r>
              <a:rPr lang="en-US" sz="3200" dirty="0">
                <a:solidFill>
                  <a:srgbClr val="FEFFFF"/>
                </a:solidFill>
              </a:rPr>
              <a:t>They call automatically when you create the object of any class using new keyword.</a:t>
            </a:r>
          </a:p>
        </p:txBody>
      </p:sp>
    </p:spTree>
    <p:extLst>
      <p:ext uri="{BB962C8B-B14F-4D97-AF65-F5344CB8AC3E}">
        <p14:creationId xmlns:p14="http://schemas.microsoft.com/office/powerpoint/2010/main" val="3375170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2CE874-EE4E-B6BF-8AB0-8BB8CB208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871" y="448056"/>
            <a:ext cx="7534849" cy="617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20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034EA8-96A1-7B2D-203D-F1F9FDAA0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283" y="581565"/>
            <a:ext cx="8900546" cy="554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72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82501D-4E9F-7B6F-898A-CF998B7D0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Parameterized Constructors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C9D9D-69B1-E06C-038B-2B94E9706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 fontScale="92500" lnSpcReduction="20000"/>
          </a:bodyPr>
          <a:lstStyle/>
          <a:p>
            <a:pPr algn="just"/>
            <a:r>
              <a:rPr lang="en-US" sz="3200" dirty="0">
                <a:solidFill>
                  <a:srgbClr val="FEFFFF"/>
                </a:solidFill>
              </a:rPr>
              <a:t>While the Box() constructor in the preceding example does initialize a Box object, it is not very useful—all boxes have the same dimensions. </a:t>
            </a:r>
          </a:p>
          <a:p>
            <a:pPr algn="just"/>
            <a:r>
              <a:rPr lang="en-US" sz="3200" dirty="0">
                <a:solidFill>
                  <a:srgbClr val="FEFFFF"/>
                </a:solidFill>
              </a:rPr>
              <a:t>What is needed is a way to construct Box objects of various dimensions. </a:t>
            </a:r>
          </a:p>
          <a:p>
            <a:pPr algn="just"/>
            <a:r>
              <a:rPr lang="en-US" sz="3200" dirty="0">
                <a:solidFill>
                  <a:srgbClr val="FEFFFF"/>
                </a:solidFill>
              </a:rPr>
              <a:t>The easy solution is to add parameters to the constructor. </a:t>
            </a:r>
          </a:p>
          <a:p>
            <a:pPr algn="just"/>
            <a:r>
              <a:rPr lang="en-US" sz="3200" dirty="0">
                <a:solidFill>
                  <a:srgbClr val="FEFFFF"/>
                </a:solidFill>
              </a:rPr>
              <a:t>Pay special attention to how Box objects are created.</a:t>
            </a:r>
          </a:p>
        </p:txBody>
      </p:sp>
    </p:spTree>
    <p:extLst>
      <p:ext uri="{BB962C8B-B14F-4D97-AF65-F5344CB8AC3E}">
        <p14:creationId xmlns:p14="http://schemas.microsoft.com/office/powerpoint/2010/main" val="3129106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E15D91-D692-5C33-CFB9-D7A8C10E2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105" y="411057"/>
            <a:ext cx="7833415" cy="620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95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EE02FC-732A-53A8-7D69-22E36ADA0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726" y="448056"/>
            <a:ext cx="7849633" cy="617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665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4D28E87-62D2-4602-B72F-5F74AA23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1915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</a:t>
            </a:r>
            <a:r>
              <a:rPr lang="en-US" sz="54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this</a:t>
            </a:r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keyword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DF2839-B58F-7F1B-CDFC-64A5BED7F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39" y="2206154"/>
            <a:ext cx="9154281" cy="416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26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4D28E87-62D2-4602-B72F-5F74AA23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1915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</a:t>
            </a:r>
            <a:r>
              <a:rPr lang="en-US" sz="54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this</a:t>
            </a:r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keyword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B3824C-0AE0-DA78-045E-7BB14198C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79" y="2348394"/>
            <a:ext cx="10593386" cy="259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750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4D28E87-62D2-4602-B72F-5F74AA23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1915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Garbage Collection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007724-E464-EA31-539D-9920F7331EF8}"/>
              </a:ext>
            </a:extLst>
          </p:cNvPr>
          <p:cNvSpPr txBox="1"/>
          <p:nvPr/>
        </p:nvSpPr>
        <p:spPr>
          <a:xfrm>
            <a:off x="517585" y="2136338"/>
            <a:ext cx="1123159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latin typeface="LiberationSerif"/>
              </a:rPr>
              <a:t>Since objects are dynamically allocated by using the </a:t>
            </a:r>
            <a:r>
              <a:rPr lang="en-US" sz="2800" b="1" i="0" u="none" strike="noStrike" baseline="0" dirty="0">
                <a:latin typeface="LiberationSerif-Bold"/>
              </a:rPr>
              <a:t>new </a:t>
            </a:r>
            <a:r>
              <a:rPr lang="en-US" sz="2800" b="0" i="0" u="none" strike="noStrike" baseline="0" dirty="0">
                <a:latin typeface="LiberationSerif"/>
              </a:rPr>
              <a:t>operator, you might be wondering how such objects are destroyed and their memory released for later reallocation.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0" i="0" u="none" strike="noStrike" baseline="0" dirty="0">
              <a:latin typeface="LiberationSerif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latin typeface="LiberationSerif"/>
              </a:rPr>
              <a:t>In some languages, such as C++, dynamically allocated objects must be manually released by use of a </a:t>
            </a:r>
            <a:r>
              <a:rPr lang="en-US" sz="2800" b="1" i="0" u="none" strike="noStrike" baseline="0" dirty="0">
                <a:latin typeface="LiberationSerif-Bold"/>
              </a:rPr>
              <a:t>delete </a:t>
            </a:r>
            <a:r>
              <a:rPr lang="en-US" sz="2800" b="0" i="0" u="none" strike="noStrike" baseline="0" dirty="0">
                <a:latin typeface="LiberationSerif"/>
              </a:rPr>
              <a:t>operator.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LiberationSerif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latin typeface="LiberationSerif"/>
              </a:rPr>
              <a:t>Java takes a different approach; it handles deallocation for you automatically. The technique that accomplishes this is called </a:t>
            </a:r>
            <a:r>
              <a:rPr lang="en-US" sz="2800" b="1" i="1" u="none" strike="noStrike" baseline="0" dirty="0">
                <a:latin typeface="LiberationSerif-Italic"/>
              </a:rPr>
              <a:t>garbage collection</a:t>
            </a:r>
            <a:r>
              <a:rPr lang="en-US" sz="2800" b="0" i="0" u="none" strike="noStrike" baseline="0" dirty="0">
                <a:latin typeface="LiberationSerif"/>
              </a:rPr>
              <a:t>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65805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4D28E87-62D2-4602-B72F-5F74AA23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1915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finalize ()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007724-E464-EA31-539D-9920F7331EF8}"/>
              </a:ext>
            </a:extLst>
          </p:cNvPr>
          <p:cNvSpPr txBox="1"/>
          <p:nvPr/>
        </p:nvSpPr>
        <p:spPr>
          <a:xfrm>
            <a:off x="517585" y="2136338"/>
            <a:ext cx="1123159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latin typeface="LiberationSerif"/>
              </a:rPr>
              <a:t>Sometimes an object will need to perform some action when it is destroyed.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0" i="0" u="none" strike="noStrike" baseline="0" dirty="0">
              <a:latin typeface="LiberationSerif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latin typeface="LiberationSerif"/>
              </a:rPr>
              <a:t>For example, if an object is holding some non-Java resource such as a file handle or character font, then you might want to make sure these resources are freed before an object is destroyed. To handle such situations, Java provides a mechanism called </a:t>
            </a:r>
            <a:r>
              <a:rPr lang="en-US" sz="2800" b="1" i="1" u="none" strike="noStrike" baseline="0" dirty="0">
                <a:latin typeface="LiberationSerif"/>
              </a:rPr>
              <a:t>finalization</a:t>
            </a:r>
            <a:r>
              <a:rPr lang="en-US" sz="2800" b="0" i="0" u="none" strike="noStrike" baseline="0" dirty="0">
                <a:latin typeface="LiberationSerif"/>
              </a:rPr>
              <a:t>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0" i="0" u="none" strike="noStrike" baseline="0" dirty="0">
              <a:latin typeface="LiberationSerif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latin typeface="LiberationSerif"/>
              </a:rPr>
              <a:t>By using finalization, you can define specific actions that will occur when an object is just about to be reclaimed by the garbage collector.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23270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4D28E87-62D2-4602-B72F-5F74AA23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1915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finalize ()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007724-E464-EA31-539D-9920F7331EF8}"/>
              </a:ext>
            </a:extLst>
          </p:cNvPr>
          <p:cNvSpPr txBox="1"/>
          <p:nvPr/>
        </p:nvSpPr>
        <p:spPr>
          <a:xfrm>
            <a:off x="517585" y="2136338"/>
            <a:ext cx="1123159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latin typeface="LiberationSerif"/>
              </a:rPr>
              <a:t>To add a finalizer to a class, you simply define the finalize( ) method. The Java run time calls that method whenever it is about to recycle an object of that class. Inside the finalize( ) method, you will specify those actions that must be performed before an object is destroyed.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LiberationSerif"/>
              </a:rPr>
              <a:t>This method </a:t>
            </a:r>
            <a:r>
              <a:rPr lang="en-US" sz="2800" i="1" dirty="0">
                <a:solidFill>
                  <a:srgbClr val="FF0000"/>
                </a:solidFill>
                <a:latin typeface="LiberationSerif"/>
              </a:rPr>
              <a:t>deprecated</a:t>
            </a:r>
            <a:r>
              <a:rPr lang="en-US" sz="2800" dirty="0">
                <a:latin typeface="LiberationSerif"/>
              </a:rPr>
              <a:t> now.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85C9A9-44D9-BA2D-1397-3D2D7B83D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312" y="4763285"/>
            <a:ext cx="4042943" cy="155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5679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8C86EF-408C-FBE2-BDD0-52C949096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016" y="299816"/>
            <a:ext cx="9120641" cy="632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54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EF06D6-B240-92DF-4D0D-5B33DBD5E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74" y="1127228"/>
            <a:ext cx="6347124" cy="547973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32C13E5-DF28-3C07-A0B0-91F9A75FAEF8}"/>
              </a:ext>
            </a:extLst>
          </p:cNvPr>
          <p:cNvSpPr txBox="1">
            <a:spLocks/>
          </p:cNvSpPr>
          <p:nvPr/>
        </p:nvSpPr>
        <p:spPr>
          <a:xfrm>
            <a:off x="2527540" y="371779"/>
            <a:ext cx="9317963" cy="5629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002060"/>
                </a:solidFill>
              </a:rPr>
              <a:t>Stack Class: More Practical Example</a:t>
            </a:r>
          </a:p>
        </p:txBody>
      </p:sp>
    </p:spTree>
    <p:extLst>
      <p:ext uri="{BB962C8B-B14F-4D97-AF65-F5344CB8AC3E}">
        <p14:creationId xmlns:p14="http://schemas.microsoft.com/office/powerpoint/2010/main" val="4209958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858BBD-A4E1-4A32-8512-9161156FF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29" y="940241"/>
            <a:ext cx="6916914" cy="53482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B37514-553D-FCCA-FA65-7D78FA9CCF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111" r="38169"/>
          <a:stretch/>
        </p:blipFill>
        <p:spPr>
          <a:xfrm>
            <a:off x="9694281" y="1626753"/>
            <a:ext cx="2230213" cy="414412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82F3026-65AD-BFBB-C448-99E644E673F4}"/>
              </a:ext>
            </a:extLst>
          </p:cNvPr>
          <p:cNvSpPr txBox="1">
            <a:spLocks/>
          </p:cNvSpPr>
          <p:nvPr/>
        </p:nvSpPr>
        <p:spPr>
          <a:xfrm>
            <a:off x="1940943" y="274415"/>
            <a:ext cx="9317963" cy="5629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002060"/>
                </a:solidFill>
              </a:rPr>
              <a:t>Stack Class: More Practical Example</a:t>
            </a:r>
          </a:p>
        </p:txBody>
      </p:sp>
    </p:spTree>
    <p:extLst>
      <p:ext uri="{BB962C8B-B14F-4D97-AF65-F5344CB8AC3E}">
        <p14:creationId xmlns:p14="http://schemas.microsoft.com/office/powerpoint/2010/main" val="1950115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09F11239A3D846A05CD2F9F4716816" ma:contentTypeVersion="7" ma:contentTypeDescription="Create a new document." ma:contentTypeScope="" ma:versionID="c97965ffa5279ca707b6f95ad13aed4c">
  <xsd:schema xmlns:xsd="http://www.w3.org/2001/XMLSchema" xmlns:xs="http://www.w3.org/2001/XMLSchema" xmlns:p="http://schemas.microsoft.com/office/2006/metadata/properties" xmlns:ns3="a962fe81-f775-4e95-b355-1a7994b65e3f" xmlns:ns4="1a20c3dd-5074-42f5-b6c8-19f91b6efaa4" targetNamespace="http://schemas.microsoft.com/office/2006/metadata/properties" ma:root="true" ma:fieldsID="96b398462181b911e630f8735d58c971" ns3:_="" ns4:_="">
    <xsd:import namespace="a962fe81-f775-4e95-b355-1a7994b65e3f"/>
    <xsd:import namespace="1a20c3dd-5074-42f5-b6c8-19f91b6efaa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62fe81-f775-4e95-b355-1a7994b65e3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20c3dd-5074-42f5-b6c8-19f91b6efa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5A36E52-2C1A-44F1-BC23-EEDEA2A98B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62fe81-f775-4e95-b355-1a7994b65e3f"/>
    <ds:schemaRef ds:uri="1a20c3dd-5074-42f5-b6c8-19f91b6efa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AC5569-DD68-4289-B6A5-744B4C8B970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A5FE75-F127-41C8-8A59-B642F4F9122A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a962fe81-f775-4e95-b355-1a7994b65e3f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1a20c3dd-5074-42f5-b6c8-19f91b6efaa4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613</Words>
  <Application>Microsoft Office PowerPoint</Application>
  <PresentationFormat>Widescreen</PresentationFormat>
  <Paragraphs>62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Amasis MT Pro Light</vt:lpstr>
      <vt:lpstr>Arial</vt:lpstr>
      <vt:lpstr>Calibri</vt:lpstr>
      <vt:lpstr>Calibri Light</vt:lpstr>
      <vt:lpstr>LiberationSerif</vt:lpstr>
      <vt:lpstr>LiberationSerif-Bold</vt:lpstr>
      <vt:lpstr>LiberationSerif-Italic</vt:lpstr>
      <vt:lpstr>Office Theme</vt:lpstr>
      <vt:lpstr>Introducing Classes</vt:lpstr>
      <vt:lpstr>Agenda</vt:lpstr>
      <vt:lpstr>Class Fundamentals</vt:lpstr>
      <vt:lpstr>Class Fundamentals</vt:lpstr>
      <vt:lpstr>Class Fundamentals</vt:lpstr>
      <vt:lpstr>Class Fundamentals</vt:lpstr>
      <vt:lpstr>Class Fundamentals</vt:lpstr>
      <vt:lpstr>PowerPoint Presentation</vt:lpstr>
      <vt:lpstr>PowerPoint Presentation</vt:lpstr>
      <vt:lpstr>Assigning Object Referencing Variables</vt:lpstr>
      <vt:lpstr>Assigning Object Referencing Variables</vt:lpstr>
      <vt:lpstr>Adding Methods to Box Class</vt:lpstr>
      <vt:lpstr>Adding Methods to Box Class that returns value</vt:lpstr>
      <vt:lpstr>Adding a Method That Takes Parameters</vt:lpstr>
      <vt:lpstr>Constructors</vt:lpstr>
      <vt:lpstr>PowerPoint Presentation</vt:lpstr>
      <vt:lpstr>PowerPoint Presentation</vt:lpstr>
      <vt:lpstr>Parameterized Constructors</vt:lpstr>
      <vt:lpstr>PowerPoint Presentation</vt:lpstr>
      <vt:lpstr>PowerPoint Presentation</vt:lpstr>
      <vt:lpstr>The this keyword</vt:lpstr>
      <vt:lpstr>The this keyword</vt:lpstr>
      <vt:lpstr>Garbage Collection</vt:lpstr>
      <vt:lpstr>The finalize () Method</vt:lpstr>
      <vt:lpstr>The finalize () Method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Classes</dc:title>
  <dc:creator>Mr. Ghulam Mujtaba Shaikh</dc:creator>
  <cp:lastModifiedBy>Mr. Ghulam Mujtaba Shaikh</cp:lastModifiedBy>
  <cp:revision>2</cp:revision>
  <dcterms:created xsi:type="dcterms:W3CDTF">2023-02-21T14:21:48Z</dcterms:created>
  <dcterms:modified xsi:type="dcterms:W3CDTF">2023-02-21T16:54:02Z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0x0101004109F11239A3D846A05CD2F9F4716816</vt:lpwstr>
  </property>
</Properties>
</file>
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5" r:id="rId8"/>
    <p:sldId id="268" r:id="rId9"/>
    <p:sldId id="267" r:id="rId10"/>
    <p:sldId id="269" r:id="rId11"/>
    <p:sldId id="262" r:id="rId12"/>
    <p:sldId id="263" r:id="rId13"/>
    <p:sldId id="264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7C0A-2EA7-4975-8CC7-9B0B2DBF9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26B5E-109D-4603-A7BB-E015306FE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337D-F465-46E9-AF1E-5C7BCA0E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C9DFE-7ADB-4504-8417-45E9DC5D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71730-FF26-4A20-9FCF-D7AB3A7A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0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0A47-E6C5-47E5-A570-D89FD544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EE293-D08F-490B-808C-B2FA7B802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62A4-21F9-4F76-8B58-BC8F0E78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8EC0E-E173-409A-BF5D-71E17F12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933DD-FB94-4366-A4FC-69C83123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5A97-F32E-46DB-8C7B-713A7003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01684-3289-44BB-A513-6DFFDBDB7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AD3FC-91DE-4544-BDA5-4D190986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FA91-7EB3-438F-B61E-CA7CDF16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03F2D-53EA-4802-9B81-3C8A52AA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9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112D-C419-498C-A3BD-8267B208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67A0F-77CE-47D1-9EE2-4EA7F1D81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2E73E-4EB1-4F0B-819E-64897C366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66D80-9397-4E87-9063-53523671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91793-BAB3-4A2E-A03A-21F2D46B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2F6F8-E4B9-4946-AE75-F43FD7F3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1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EE73-F470-474E-A6EF-9CDC6D45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A9B46-60C8-42C5-B4EC-07CC2C4FD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6B373-5F40-48B2-B51B-D1562182C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6E387-DDAE-45CB-9CFB-7E7460297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27BDD-247F-49A4-ADED-EA2108E5C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4D7E1-06FC-4AC1-8767-BB164DA6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027A2-6575-47DF-AD13-134A22C7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7F9732-AA49-4DF3-A654-0E1AC0AC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6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6EF8-2C4D-414D-9358-296B6DB8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7D482-4D94-448D-A6D9-65A15078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9C395-323E-4313-9444-F946A3D7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FC26-8965-44CC-96E9-232D7C21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5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715DA-5A3A-449C-BC96-E4ADC43A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2016A-4287-4DA8-B27D-5632DE9A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38E5B-43EF-4164-A953-D581E9B2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3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5666-FAA1-40B3-8A49-9779221F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C04A-4BFD-49BF-88F4-60D0AFD9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39092-7D92-4450-9FDC-54C693DC2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C9DE4-7038-4B21-BD10-183775CD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209B6-AB31-4560-97CF-38B07E24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0664F-8900-4B7D-8B1D-1C390C46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5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AF02-8EE7-4BEC-B0C5-500BF7B6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0DDD4-1AAB-4CA7-B8AC-0391F9C4D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B2C5D-11D2-4B0E-A310-D6A337FD1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D9B78-41AF-4856-88E1-6E8CF97B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EF46-81C9-4AC6-ACCE-F89656B4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13565-1676-49D3-B795-D2CC788D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9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EDE3-4BF0-493B-8F16-4C61DDF4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796ED-C22A-402D-9260-477CB2061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139B-05DF-4358-80F9-1D616A22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1CFF-F836-4E30-9B93-4708EF3B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BFF65-02C4-4605-9616-5BABD4E6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2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77332E-BD52-4145-A5C6-8A27DA846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E9561-6746-411B-83D5-40DF9FA24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B3F01-4CB8-4055-873A-8B32BB5D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0D103-E038-4D21-A100-4635DF05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4603A-0271-48A4-83AF-ED1E35A9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7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092DF-0EC6-47A5-8BE1-0888E0BF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B7954-A402-4975-A07D-4C573366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287E4-584E-416A-900E-EE12C64C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30FD-FF92-4B7F-85E5-A4D647B1C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DF777-3FC9-401A-9B24-52320D6CF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1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C4C3819-6FEA-40B8-9471-674A1B43D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3200" dirty="0"/>
              <a:t>Week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6729-B29E-4279-8B73-DAECA6AF8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7200" b="1" dirty="0">
                <a:solidFill>
                  <a:schemeClr val="bg2"/>
                </a:solidFill>
              </a:rPr>
              <a:t>Operators in Java</a:t>
            </a:r>
          </a:p>
        </p:txBody>
      </p:sp>
    </p:spTree>
    <p:extLst>
      <p:ext uri="{BB962C8B-B14F-4D97-AF65-F5344CB8AC3E}">
        <p14:creationId xmlns:p14="http://schemas.microsoft.com/office/powerpoint/2010/main" val="1070980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Agenda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92E0-D6BC-A94F-A929-1C111E00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Recap of Last Lecture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Operators, Operand, and Operation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Arithmetic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Incremental and Decremental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Relational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Bitwise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Bitwise Shift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Logical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Assignment Operator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Ternary Operator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Recap of Operators</a:t>
            </a:r>
          </a:p>
        </p:txBody>
      </p:sp>
    </p:spTree>
    <p:extLst>
      <p:ext uri="{BB962C8B-B14F-4D97-AF65-F5344CB8AC3E}">
        <p14:creationId xmlns:p14="http://schemas.microsoft.com/office/powerpoint/2010/main" val="241773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Operator, Operands, and Operation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Operators mean which perform any operator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Operands mean on which operation is performed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process is called operation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For example: </a:t>
            </a:r>
            <a:r>
              <a:rPr lang="en-US" sz="2400" b="1" dirty="0">
                <a:solidFill>
                  <a:schemeClr val="bg1"/>
                </a:solidFill>
              </a:rPr>
              <a:t>c = a + b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 above expression, + and = are operators they perform addition and assignment operation. a, b, and c are the operands on which operation is performed. Finally, addition and assignment are the operations.</a:t>
            </a:r>
            <a:endParaRPr lang="en-PK" sz="2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08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Arithmetic Operators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Incremental and Decremental Operators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Relational Operators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Bitwise Operators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Bitwise Shift Operators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Logical Operators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Assignment Operator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Ternary Operator</a:t>
            </a:r>
          </a:p>
        </p:txBody>
      </p:sp>
    </p:spTree>
    <p:extLst>
      <p:ext uri="{BB962C8B-B14F-4D97-AF65-F5344CB8AC3E}">
        <p14:creationId xmlns:p14="http://schemas.microsoft.com/office/powerpoint/2010/main" val="108733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Arithmetic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90E54-B04A-4B66-A47C-AC45052E1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473" y="1880739"/>
            <a:ext cx="6133498" cy="394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1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Arithmetic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Which perform mathematical operations.</a:t>
            </a:r>
          </a:p>
          <a:p>
            <a:pPr algn="just"/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Three types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Basic Arithmetic Operators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Arithmetic Compound Assignment Operators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Incremental and Decremental Operators</a:t>
            </a:r>
          </a:p>
        </p:txBody>
      </p:sp>
    </p:spTree>
    <p:extLst>
      <p:ext uri="{BB962C8B-B14F-4D97-AF65-F5344CB8AC3E}">
        <p14:creationId xmlns:p14="http://schemas.microsoft.com/office/powerpoint/2010/main" val="340799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Basic Arithmetic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3E9B6A-E63E-4948-B55F-796EAC6DE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7022"/>
              </p:ext>
            </p:extLst>
          </p:nvPr>
        </p:nvGraphicFramePr>
        <p:xfrm>
          <a:off x="5176473" y="2165479"/>
          <a:ext cx="6174220" cy="398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7110">
                  <a:extLst>
                    <a:ext uri="{9D8B030D-6E8A-4147-A177-3AD203B41FA5}">
                      <a16:colId xmlns:a16="http://schemas.microsoft.com/office/drawing/2014/main" val="785932832"/>
                    </a:ext>
                  </a:extLst>
                </a:gridCol>
                <a:gridCol w="3087110">
                  <a:extLst>
                    <a:ext uri="{9D8B030D-6E8A-4147-A177-3AD203B41FA5}">
                      <a16:colId xmlns:a16="http://schemas.microsoft.com/office/drawing/2014/main" val="2451654911"/>
                    </a:ext>
                  </a:extLst>
                </a:gridCol>
              </a:tblGrid>
              <a:tr h="66485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1699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872845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684923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089986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926690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Modulus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04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669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Basic Arithmetic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70E627-D7A7-4AE0-B645-36215DF13F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85"/>
          <a:stretch/>
        </p:blipFill>
        <p:spPr>
          <a:xfrm>
            <a:off x="5082909" y="1499598"/>
            <a:ext cx="5301443" cy="37682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74B8C4-BAD0-44D0-BE91-CC0831AF6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225" y="5311224"/>
            <a:ext cx="1358226" cy="12260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506064-F579-42A0-B8B4-94C4C8701A90}"/>
              </a:ext>
            </a:extLst>
          </p:cNvPr>
          <p:cNvSpPr txBox="1"/>
          <p:nvPr/>
        </p:nvSpPr>
        <p:spPr>
          <a:xfrm>
            <a:off x="8190038" y="5785247"/>
            <a:ext cx="1103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Output</a:t>
            </a:r>
            <a:endParaRPr lang="en-PK" sz="2400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22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Arithmetic Compound Assignment Operators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3E9B6A-E63E-4948-B55F-796EAC6DE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357916"/>
              </p:ext>
            </p:extLst>
          </p:nvPr>
        </p:nvGraphicFramePr>
        <p:xfrm>
          <a:off x="5661400" y="2760617"/>
          <a:ext cx="5376613" cy="3663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184">
                  <a:extLst>
                    <a:ext uri="{9D8B030D-6E8A-4147-A177-3AD203B41FA5}">
                      <a16:colId xmlns:a16="http://schemas.microsoft.com/office/drawing/2014/main" val="785932832"/>
                    </a:ext>
                  </a:extLst>
                </a:gridCol>
                <a:gridCol w="3673429">
                  <a:extLst>
                    <a:ext uri="{9D8B030D-6E8A-4147-A177-3AD203B41FA5}">
                      <a16:colId xmlns:a16="http://schemas.microsoft.com/office/drawing/2014/main" val="2451654911"/>
                    </a:ext>
                  </a:extLst>
                </a:gridCol>
              </a:tblGrid>
              <a:tr h="610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1699"/>
                  </a:ext>
                </a:extLst>
              </a:tr>
              <a:tr h="610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Addition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872845"/>
                  </a:ext>
                </a:extLst>
              </a:tr>
              <a:tr h="610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Subtraction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684923"/>
                  </a:ext>
                </a:extLst>
              </a:tr>
              <a:tr h="610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Multiplication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089986"/>
                  </a:ext>
                </a:extLst>
              </a:tr>
              <a:tr h="610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Division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926690"/>
                  </a:ext>
                </a:extLst>
              </a:tr>
              <a:tr h="610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%=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Modulus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0462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7A1E1D7-3962-4488-AF74-E5D7BBAD89DB}"/>
              </a:ext>
            </a:extLst>
          </p:cNvPr>
          <p:cNvSpPr/>
          <p:nvPr/>
        </p:nvSpPr>
        <p:spPr>
          <a:xfrm>
            <a:off x="5069469" y="150345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LiberationSerif"/>
              </a:rPr>
              <a:t>combine an arithmetic operation with an assignment.</a:t>
            </a:r>
            <a:endParaRPr lang="en-US" sz="2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995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Arithmetic Compound Assignment Operators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D24EA2-2DDE-4A7C-A563-E274FDBA3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59" y="1553682"/>
            <a:ext cx="5471880" cy="482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38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Incremental / Decremental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These are the unary operators.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Unary operators are those operators in Java that only need a single operand to perform any function.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Incremental operator (++): Increase the value of a variable by 1</a:t>
            </a:r>
          </a:p>
          <a:p>
            <a:pPr lvl="1" algn="just"/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Pre-incremental (++a): First increase then assign.</a:t>
            </a:r>
          </a:p>
          <a:p>
            <a:pPr lvl="1" algn="just"/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Post incremental (a++): First assign then increase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Decremental operator (--): Decrease the value of a variable by 1</a:t>
            </a:r>
          </a:p>
          <a:p>
            <a:pPr lvl="1" algn="just"/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Pre-decremental (--a): First decrease then assign</a:t>
            </a:r>
          </a:p>
          <a:p>
            <a:pPr lvl="1" algn="just"/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Post decremental (a--): First assign then decrease</a:t>
            </a:r>
          </a:p>
          <a:p>
            <a:pPr lvl="1" algn="just"/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just"/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819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79E08F-E7FC-95F4-0F6B-223A01CB5922}"/>
              </a:ext>
            </a:extLst>
          </p:cNvPr>
          <p:cNvSpPr txBox="1"/>
          <p:nvPr/>
        </p:nvSpPr>
        <p:spPr>
          <a:xfrm>
            <a:off x="9234659" y="4041386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Amasis MT Pro Black" panose="02040A04050005020304" pitchFamily="18" charset="0"/>
              </a:rPr>
              <a:t>Output</a:t>
            </a:r>
            <a:endParaRPr lang="en-PK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CA927-FE91-9468-D931-B0BF5032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19" y="456412"/>
            <a:ext cx="8440957" cy="5593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9C7EB6-4234-7E22-1413-C12CD84F2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690" y="4485985"/>
            <a:ext cx="1008609" cy="210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78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Relational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515292"/>
            <a:ext cx="5968652" cy="1550126"/>
          </a:xfrm>
        </p:spPr>
        <p:txBody>
          <a:bodyPr anchor="ctr">
            <a:normAutofit fontScale="92500" lnSpcReduction="10000"/>
          </a:bodyPr>
          <a:lstStyle/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relational operators determine the relationship that one operand has to the other. Specifically, they determine equality and ordering. The outcome of these operations is a Boolean value.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DB0E17C-3476-4B8D-9EF5-8D499D4A2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754511"/>
              </p:ext>
            </p:extLst>
          </p:nvPr>
        </p:nvGraphicFramePr>
        <p:xfrm>
          <a:off x="6096000" y="3187336"/>
          <a:ext cx="4942013" cy="3290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513">
                  <a:extLst>
                    <a:ext uri="{9D8B030D-6E8A-4147-A177-3AD203B41FA5}">
                      <a16:colId xmlns:a16="http://schemas.microsoft.com/office/drawing/2014/main" val="785932832"/>
                    </a:ext>
                  </a:extLst>
                </a:gridCol>
                <a:gridCol w="3376500">
                  <a:extLst>
                    <a:ext uri="{9D8B030D-6E8A-4147-A177-3AD203B41FA5}">
                      <a16:colId xmlns:a16="http://schemas.microsoft.com/office/drawing/2014/main" val="2451654911"/>
                    </a:ext>
                  </a:extLst>
                </a:gridCol>
              </a:tblGrid>
              <a:tr h="4700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1699"/>
                  </a:ext>
                </a:extLst>
              </a:tr>
              <a:tr h="4700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872845"/>
                  </a:ext>
                </a:extLst>
              </a:tr>
              <a:tr h="4700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Not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684923"/>
                  </a:ext>
                </a:extLst>
              </a:tr>
              <a:tr h="4700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Less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089986"/>
                  </a:ext>
                </a:extLst>
              </a:tr>
              <a:tr h="4700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Less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926690"/>
                  </a:ext>
                </a:extLst>
              </a:tr>
              <a:tr h="4700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Greater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04624"/>
                  </a:ext>
                </a:extLst>
              </a:tr>
              <a:tr h="4700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Greater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86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264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Relational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FC27F2-E17F-4B91-8261-A439012E2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473" y="2434095"/>
            <a:ext cx="6226685" cy="262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6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Logical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7025" y="1480456"/>
            <a:ext cx="6335517" cy="1614397"/>
          </a:xfrm>
        </p:spPr>
        <p:txBody>
          <a:bodyPr anchor="ctr">
            <a:normAutofit fontScale="85000" lnSpcReduction="20000"/>
          </a:bodyPr>
          <a:lstStyle/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Operate only on boolean operands and the result is also boolean.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If you use the || and &amp;&amp; forms, rather than the | and &amp; forms of these operators, Java will not bother to evaluate the right-hand operand when the outcome of the expression can be determined by the left operand alone.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A7DEE-2489-4185-9ACA-49D538116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673"/>
          <a:stretch/>
        </p:blipFill>
        <p:spPr>
          <a:xfrm>
            <a:off x="5082909" y="3186681"/>
            <a:ext cx="3860794" cy="21908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EFF74-6F5F-468B-A54A-C869CC7B23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47"/>
          <a:stretch/>
        </p:blipFill>
        <p:spPr>
          <a:xfrm>
            <a:off x="5082909" y="5367145"/>
            <a:ext cx="6286823" cy="118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43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Logical Operators in Java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941B21-DD7E-4BDE-A6DB-9C1708258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880" y="1517135"/>
            <a:ext cx="6045565" cy="4779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8613C6-3F06-4ACC-8EB3-1304CE443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672" y="4318756"/>
            <a:ext cx="2305168" cy="13716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B751EC-56EE-430F-99AF-55E41A84A26D}"/>
              </a:ext>
            </a:extLst>
          </p:cNvPr>
          <p:cNvSpPr txBox="1"/>
          <p:nvPr/>
        </p:nvSpPr>
        <p:spPr>
          <a:xfrm>
            <a:off x="934872" y="4773758"/>
            <a:ext cx="1103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Output</a:t>
            </a:r>
            <a:endParaRPr lang="en-PK" sz="2400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173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Assignment Operator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assignment operator is the single equal sign, =. </a:t>
            </a:r>
          </a:p>
          <a:p>
            <a:pPr algn="just"/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assignment operator assigns the value to the variable.</a:t>
            </a:r>
          </a:p>
          <a:p>
            <a:pPr algn="just"/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Example: int a = 10 ;</a:t>
            </a:r>
          </a:p>
        </p:txBody>
      </p:sp>
    </p:spTree>
    <p:extLst>
      <p:ext uri="{BB962C8B-B14F-4D97-AF65-F5344CB8AC3E}">
        <p14:creationId xmlns:p14="http://schemas.microsoft.com/office/powerpoint/2010/main" val="1343322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Ternary Operator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Java includes a special ternary (three-way) operator that can replace certain types of if-then-else statements.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This operator is the </a:t>
            </a:r>
            <a:r>
              <a:rPr lang="en-US" sz="2400" b="1" dirty="0">
                <a:solidFill>
                  <a:srgbClr val="FFFF00"/>
                </a:solidFill>
              </a:rPr>
              <a:t>?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? has this general form: </a:t>
            </a:r>
          </a:p>
          <a:p>
            <a:pPr lvl="1" algn="just"/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expression1 ? expression2 : expression3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If expression1 is true, then expression2 is evaluated; otherwise, expression3 is evaluated. </a:t>
            </a:r>
          </a:p>
          <a:p>
            <a:pPr algn="just"/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result of the ? operation is that of the expression evaluated.</a:t>
            </a:r>
          </a:p>
        </p:txBody>
      </p:sp>
    </p:spTree>
    <p:extLst>
      <p:ext uri="{BB962C8B-B14F-4D97-AF65-F5344CB8AC3E}">
        <p14:creationId xmlns:p14="http://schemas.microsoft.com/office/powerpoint/2010/main" val="156392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Ternary Operator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637882-746A-4D94-81BC-02D95BAC8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254" y="1514630"/>
            <a:ext cx="6237873" cy="49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44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Bitwise Operators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9"/>
            <a:ext cx="5948831" cy="2059902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bitwise logical operators are &amp;, |, ^, and ~. </a:t>
            </a:r>
          </a:p>
          <a:p>
            <a:pPr algn="just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Need integer operands. Result is also integer.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909386-6ABB-4F4E-94B6-8C00CDBF18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826" r="7458"/>
          <a:stretch/>
        </p:blipFill>
        <p:spPr>
          <a:xfrm>
            <a:off x="5057821" y="3857722"/>
            <a:ext cx="6440893" cy="133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97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Bitwise Operators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18E6C7-9B17-4A14-BCA0-71181A596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909" y="1790486"/>
            <a:ext cx="6335636" cy="3463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F65E4-E888-4EC2-8626-803B7C19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670" y="5721839"/>
            <a:ext cx="3736875" cy="681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70B35C-8593-4966-90E6-9B60779C8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09" y="5305105"/>
            <a:ext cx="2495678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55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Bitwise Operators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37A23A-5900-4DC4-ACB2-A09503AC7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909" y="2036684"/>
            <a:ext cx="6405125" cy="321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42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Shift Operators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E4C80-955B-4981-992F-D8032A841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005" y="1692309"/>
            <a:ext cx="7188903" cy="1277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DA1B2F-EA60-4D5E-81A7-1AE5C4EB7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83" y="3288272"/>
            <a:ext cx="7548992" cy="127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33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Operator Precedence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19328-577A-4425-8700-175881EC5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343" y="505478"/>
            <a:ext cx="8560240" cy="469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27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Recap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92E0-D6BC-A94F-A929-1C111E00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Operators, Operand, and Operation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Arithmetic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Incremental and Decremental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Relational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Bitwise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Bitwise Shift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Logical Operators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Assignment Operator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Ternary Operator</a:t>
            </a:r>
          </a:p>
        </p:txBody>
      </p:sp>
    </p:spTree>
    <p:extLst>
      <p:ext uri="{BB962C8B-B14F-4D97-AF65-F5344CB8AC3E}">
        <p14:creationId xmlns:p14="http://schemas.microsoft.com/office/powerpoint/2010/main" val="370253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586</Words>
  <Application>Microsoft Office PowerPoint</Application>
  <PresentationFormat>Widescreen</PresentationFormat>
  <Paragraphs>127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Amasis MT Pro Black</vt:lpstr>
      <vt:lpstr>Arial</vt:lpstr>
      <vt:lpstr>Calibri</vt:lpstr>
      <vt:lpstr>Calibri Light</vt:lpstr>
      <vt:lpstr>LiberationSerif</vt:lpstr>
      <vt:lpstr>Office Theme</vt:lpstr>
      <vt:lpstr>Operators in Java</vt:lpstr>
      <vt:lpstr>Agenda</vt:lpstr>
      <vt:lpstr>Operator, Operands, and Operation</vt:lpstr>
      <vt:lpstr>Operators in Java</vt:lpstr>
      <vt:lpstr>Arithmetic Operators in Java</vt:lpstr>
      <vt:lpstr>Arithmetic Operators in Java</vt:lpstr>
      <vt:lpstr>Basic Arithmetic Operators in Java</vt:lpstr>
      <vt:lpstr>Basic Arithmetic Operators in Java</vt:lpstr>
      <vt:lpstr>Arithmetic Compound Assignment Operators</vt:lpstr>
      <vt:lpstr>Arithmetic Compound Assignment Operators</vt:lpstr>
      <vt:lpstr>Incremental / Decremental Operators in Java</vt:lpstr>
      <vt:lpstr>PowerPoint Presentation</vt:lpstr>
      <vt:lpstr>Relational Operators in Java</vt:lpstr>
      <vt:lpstr>Relational Operators in Java</vt:lpstr>
      <vt:lpstr>Logical Operators in Java</vt:lpstr>
      <vt:lpstr>Logical Operators in Java</vt:lpstr>
      <vt:lpstr>Assignment Operator</vt:lpstr>
      <vt:lpstr>Ternary Operator</vt:lpstr>
      <vt:lpstr>Ternary Operator</vt:lpstr>
      <vt:lpstr>Bitwise Operators</vt:lpstr>
      <vt:lpstr>Bitwise Operators</vt:lpstr>
      <vt:lpstr>Bitwise Operators</vt:lpstr>
      <vt:lpstr>Shift Operators</vt:lpstr>
      <vt:lpstr>Operator Precedence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 and Control Structures</dc:title>
  <dc:creator>khairunisa</dc:creator>
  <cp:lastModifiedBy>Dr. Ghulam Mujtaba</cp:lastModifiedBy>
  <cp:revision>43</cp:revision>
  <dcterms:created xsi:type="dcterms:W3CDTF">2019-09-02T07:45:43Z</dcterms:created>
  <dcterms:modified xsi:type="dcterms:W3CDTF">2023-02-06T16:56:20Z</dcterms:modified>
</cp:coreProperties>
</file>
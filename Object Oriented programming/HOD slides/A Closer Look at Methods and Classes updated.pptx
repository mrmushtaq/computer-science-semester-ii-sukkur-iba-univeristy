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74" r:id="rId2"/>
  </p:sldMasterIdLst>
  <p:sldIdLst>
    <p:sldId id="256" r:id="rId3"/>
    <p:sldId id="257" r:id="rId4"/>
    <p:sldId id="259" r:id="rId5"/>
    <p:sldId id="263" r:id="rId6"/>
    <p:sldId id="266" r:id="rId7"/>
    <p:sldId id="264" r:id="rId8"/>
    <p:sldId id="265" r:id="rId9"/>
    <p:sldId id="279" r:id="rId10"/>
    <p:sldId id="280" r:id="rId11"/>
    <p:sldId id="281" r:id="rId12"/>
    <p:sldId id="282" r:id="rId13"/>
    <p:sldId id="283" r:id="rId14"/>
    <p:sldId id="284" r:id="rId15"/>
    <p:sldId id="285" r:id="rId16"/>
    <p:sldId id="290" r:id="rId17"/>
    <p:sldId id="291" r:id="rId18"/>
    <p:sldId id="292" r:id="rId19"/>
    <p:sldId id="293" r:id="rId20"/>
    <p:sldId id="28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89" r:id="rId3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50B65F-CC85-46EC-93AE-4DFAD51201C5}" v="13" dt="2023-02-27T17:27:08.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4" d="100"/>
          <a:sy n="74" d="100"/>
        </p:scale>
        <p:origin x="3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cap="all"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Tuesday, February 28, 2023</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70886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Tuesday, February 28, 2023</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41009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Tuesday, February 28, 2023</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29366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Tuesday, February 28, 2023</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475558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Tuesday, February 28, 2023</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581984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Tuesday, February 28, 2023</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822683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Tuesday, February 28, 2023</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222322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Tuesday, February 28, 2023</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13749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Tuesday, February 28, 2023</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515645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Tuesday, February 28, 2023</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136050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Tuesday, February 28, 2023</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38198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6F7CC-6EFA-9FB9-CA94-24ECE93C09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E9AA60-108D-6434-8C44-4A9ED75B68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9FD687-EB34-1582-5D47-8872DA7260F1}"/>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5" name="Footer Placeholder 4">
            <a:extLst>
              <a:ext uri="{FF2B5EF4-FFF2-40B4-BE49-F238E27FC236}">
                <a16:creationId xmlns:a16="http://schemas.microsoft.com/office/drawing/2014/main" id="{F43B6636-43A4-CFF2-1E54-1DAC16E3A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50A4CF-B386-840C-C1DB-449C31EF5128}"/>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4016221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BBC3-DF90-ADEF-3C8E-4D086C3D8F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5A3E51-FF9D-9472-743B-AE3C17B0C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F748D-9D92-3725-92C9-97703123CEF7}"/>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5" name="Footer Placeholder 4">
            <a:extLst>
              <a:ext uri="{FF2B5EF4-FFF2-40B4-BE49-F238E27FC236}">
                <a16:creationId xmlns:a16="http://schemas.microsoft.com/office/drawing/2014/main" id="{0D4C1FA5-084E-79F6-EFC1-D4633EDC1B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D4F55-5914-12AE-CA0F-8C1DA3488D6B}"/>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3209069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93C9-4013-A81B-4EB0-73805AA521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E59A81-A8AC-47FB-1A59-CC7EA517FC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EBB9B4-0D03-E57E-FF28-574C62D098F8}"/>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5" name="Footer Placeholder 4">
            <a:extLst>
              <a:ext uri="{FF2B5EF4-FFF2-40B4-BE49-F238E27FC236}">
                <a16:creationId xmlns:a16="http://schemas.microsoft.com/office/drawing/2014/main" id="{CE708ED1-0FAE-391F-811B-0BC1BF3E7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5912-52F2-A3F9-37BD-89C1AFA6076D}"/>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2285270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30CC-B4A1-7C0D-0E09-3FF863FBEA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E74C9A-838D-437C-75BC-19F9D215CD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98C8A7-4711-2971-4260-3CF1017940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73CEC9-49E8-BF00-B4B4-F41B9E358A7A}"/>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6" name="Footer Placeholder 5">
            <a:extLst>
              <a:ext uri="{FF2B5EF4-FFF2-40B4-BE49-F238E27FC236}">
                <a16:creationId xmlns:a16="http://schemas.microsoft.com/office/drawing/2014/main" id="{59CFC96B-3A6D-687E-CDA6-D2AC3B0754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FBAD5-C5D6-4D7C-73E3-AF410450C193}"/>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2275375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E8776-3FCD-8F32-3BA9-55B23667E5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7DC201-ADD6-E882-137B-8D4CC735AC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23CD0D-5783-25BB-8AC2-1F7DA9D286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EF6466-EF6C-73D0-305F-8C0E66B148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37B7BD-DB4A-CBA6-5C85-FFFE351B8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A2E1D3-A0DF-3EFA-B58E-9BF8397204AB}"/>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8" name="Footer Placeholder 7">
            <a:extLst>
              <a:ext uri="{FF2B5EF4-FFF2-40B4-BE49-F238E27FC236}">
                <a16:creationId xmlns:a16="http://schemas.microsoft.com/office/drawing/2014/main" id="{F99C9B52-8337-F1DA-7B96-4F3F540077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C7647B-504E-6F54-F57D-4B063297D217}"/>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1339411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8FD55-2852-6A3F-85E1-7D7F2C328D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1333D8-8EBA-B06F-A7B0-A393D38CBDB2}"/>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4" name="Footer Placeholder 3">
            <a:extLst>
              <a:ext uri="{FF2B5EF4-FFF2-40B4-BE49-F238E27FC236}">
                <a16:creationId xmlns:a16="http://schemas.microsoft.com/office/drawing/2014/main" id="{3E08C1D2-C4FE-B180-7EBE-5F07E5A451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9CA0EF-063A-E3C9-DE40-12EA41EBC7E7}"/>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3158522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16CDCF-CE12-ABF4-5B9C-21CCFAA644EA}"/>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3" name="Footer Placeholder 2">
            <a:extLst>
              <a:ext uri="{FF2B5EF4-FFF2-40B4-BE49-F238E27FC236}">
                <a16:creationId xmlns:a16="http://schemas.microsoft.com/office/drawing/2014/main" id="{39614623-FF6C-F1A5-831E-B337B82BED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BE3094-F135-7D58-258E-19655098C0F9}"/>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3463516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3F78-FB3F-98BD-3AA9-4C6279DF49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8CBA96-1B91-BED8-124D-9D9F2BA9A8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54ECB5-1163-1D41-CEBD-49E3D084A5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8784A2-DEE5-24F3-3534-10F8E075006F}"/>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6" name="Footer Placeholder 5">
            <a:extLst>
              <a:ext uri="{FF2B5EF4-FFF2-40B4-BE49-F238E27FC236}">
                <a16:creationId xmlns:a16="http://schemas.microsoft.com/office/drawing/2014/main" id="{48959911-A084-B276-6566-4F4AAD7FA9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19534-4241-0B76-BB3C-BF1892ECCD6D}"/>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27002286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B2992-5D2F-942C-F602-3F7010662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C331D1-AA86-E822-0096-2B9BB0B45C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C3D9DC-8F68-DC8D-15A5-79C0ACBC3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230185-8E68-45CC-E402-B89D435ABA25}"/>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6" name="Footer Placeholder 5">
            <a:extLst>
              <a:ext uri="{FF2B5EF4-FFF2-40B4-BE49-F238E27FC236}">
                <a16:creationId xmlns:a16="http://schemas.microsoft.com/office/drawing/2014/main" id="{8D09DC90-D9A9-47A1-396A-447F35C2B7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A156C6-892B-6626-3757-88293DF35DE6}"/>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725403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C759-FEFC-3614-E90E-3B5C50A181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7C3468-90D4-9AC4-FF8D-EFA3A2A594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714E3-1233-869F-EEF3-2B3585D87AE7}"/>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5" name="Footer Placeholder 4">
            <a:extLst>
              <a:ext uri="{FF2B5EF4-FFF2-40B4-BE49-F238E27FC236}">
                <a16:creationId xmlns:a16="http://schemas.microsoft.com/office/drawing/2014/main" id="{A10B8F75-35E4-8299-6DF4-C921D7453A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712A7-C327-DDB2-658C-68291A5FAB83}"/>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210258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044024-97EF-EC9F-3416-51D8918CC9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84A4AB-6D4A-699F-29B3-2F9C8718AF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B1E44-DBEC-518A-7481-C007265ABCA3}"/>
              </a:ext>
            </a:extLst>
          </p:cNvPr>
          <p:cNvSpPr>
            <a:spLocks noGrp="1"/>
          </p:cNvSpPr>
          <p:nvPr>
            <p:ph type="dt" sz="half" idx="10"/>
          </p:nvPr>
        </p:nvSpPr>
        <p:spPr/>
        <p:txBody>
          <a:bodyPr/>
          <a:lstStyle/>
          <a:p>
            <a:fld id="{124F8850-2321-4D5C-84B7-4FC5000286A8}" type="datetimeFigureOut">
              <a:rPr lang="en-US" smtClean="0"/>
              <a:t>2/28/2023</a:t>
            </a:fld>
            <a:endParaRPr lang="en-US"/>
          </a:p>
        </p:txBody>
      </p:sp>
      <p:sp>
        <p:nvSpPr>
          <p:cNvPr id="5" name="Footer Placeholder 4">
            <a:extLst>
              <a:ext uri="{FF2B5EF4-FFF2-40B4-BE49-F238E27FC236}">
                <a16:creationId xmlns:a16="http://schemas.microsoft.com/office/drawing/2014/main" id="{E8BB82BE-1063-F2D4-B8D7-BBCF53C1D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BF492-DB8F-C70B-FB95-C8419471FAC5}"/>
              </a:ext>
            </a:extLst>
          </p:cNvPr>
          <p:cNvSpPr>
            <a:spLocks noGrp="1"/>
          </p:cNvSpPr>
          <p:nvPr>
            <p:ph type="sldNum" sz="quarter" idx="12"/>
          </p:nvPr>
        </p:nvSpPr>
        <p:spPr/>
        <p:txBody>
          <a:bodyPr/>
          <a:lstStyle/>
          <a:p>
            <a:fld id="{51E50E41-7909-4E51-B836-31D550D66238}" type="slidenum">
              <a:rPr lang="en-US" smtClean="0"/>
              <a:t>‹#›</a:t>
            </a:fld>
            <a:endParaRPr lang="en-US"/>
          </a:p>
        </p:txBody>
      </p:sp>
    </p:spTree>
    <p:extLst>
      <p:ext uri="{BB962C8B-B14F-4D97-AF65-F5344CB8AC3E}">
        <p14:creationId xmlns:p14="http://schemas.microsoft.com/office/powerpoint/2010/main" val="254170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Tuesday, February 28, 2023</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54875527"/>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88000"/>
        </a:lnSpc>
        <a:spcBef>
          <a:spcPct val="0"/>
        </a:spcBef>
        <a:buNone/>
        <a:defRPr sz="4400" kern="1200" cap="none" spc="4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23D5E9-DA9B-F088-B3B8-6E11908AF5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3E1C85-554B-C1E7-9459-A3954BBAEB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21C41D-21AD-F0D6-CEE0-AE2FB1066D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4F8850-2321-4D5C-84B7-4FC5000286A8}" type="datetimeFigureOut">
              <a:rPr lang="en-US" smtClean="0"/>
              <a:t>2/28/2023</a:t>
            </a:fld>
            <a:endParaRPr lang="en-US"/>
          </a:p>
        </p:txBody>
      </p:sp>
      <p:sp>
        <p:nvSpPr>
          <p:cNvPr id="5" name="Footer Placeholder 4">
            <a:extLst>
              <a:ext uri="{FF2B5EF4-FFF2-40B4-BE49-F238E27FC236}">
                <a16:creationId xmlns:a16="http://schemas.microsoft.com/office/drawing/2014/main" id="{B938E7E4-989F-F4DD-6765-3924E3D3DE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8CAC8D-5FDC-44EE-F542-B64DD0949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E50E41-7909-4E51-B836-31D550D66238}" type="slidenum">
              <a:rPr lang="en-US" smtClean="0"/>
              <a:t>‹#›</a:t>
            </a:fld>
            <a:endParaRPr lang="en-US"/>
          </a:p>
        </p:txBody>
      </p:sp>
    </p:spTree>
    <p:extLst>
      <p:ext uri="{BB962C8B-B14F-4D97-AF65-F5344CB8AC3E}">
        <p14:creationId xmlns:p14="http://schemas.microsoft.com/office/powerpoint/2010/main" val="12870408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F3A7E8-6DA9-4C2B-ACC8-475F34DAE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B21CDF0-4D24-4190-9285-9016C19C1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7BBE96-5ED5-455E-3BB7-F2B8EC7F9F34}"/>
              </a:ext>
            </a:extLst>
          </p:cNvPr>
          <p:cNvSpPr>
            <a:spLocks noGrp="1"/>
          </p:cNvSpPr>
          <p:nvPr>
            <p:ph type="ctrTitle"/>
          </p:nvPr>
        </p:nvSpPr>
        <p:spPr>
          <a:xfrm>
            <a:off x="6480000" y="1449388"/>
            <a:ext cx="5015638" cy="1979612"/>
          </a:xfrm>
        </p:spPr>
        <p:txBody>
          <a:bodyPr>
            <a:noAutofit/>
          </a:bodyPr>
          <a:lstStyle/>
          <a:p>
            <a:r>
              <a:rPr lang="en-US" sz="4000" dirty="0">
                <a:latin typeface="Arial Black" panose="020B0A04020102020204" pitchFamily="34" charset="0"/>
              </a:rPr>
              <a:t>A Closer Look at Methods and Classes</a:t>
            </a:r>
            <a:endParaRPr lang="en-PK" sz="4000" dirty="0">
              <a:latin typeface="Arial Black" panose="020B0A04020102020204" pitchFamily="34" charset="0"/>
            </a:endParaRPr>
          </a:p>
        </p:txBody>
      </p:sp>
      <p:sp>
        <p:nvSpPr>
          <p:cNvPr id="3" name="Subtitle 2">
            <a:extLst>
              <a:ext uri="{FF2B5EF4-FFF2-40B4-BE49-F238E27FC236}">
                <a16:creationId xmlns:a16="http://schemas.microsoft.com/office/drawing/2014/main" id="{ED5B369A-6432-3CAB-FDE7-535B31C1F0BC}"/>
              </a:ext>
            </a:extLst>
          </p:cNvPr>
          <p:cNvSpPr>
            <a:spLocks noGrp="1"/>
          </p:cNvSpPr>
          <p:nvPr>
            <p:ph type="subTitle" idx="1"/>
          </p:nvPr>
        </p:nvSpPr>
        <p:spPr>
          <a:xfrm>
            <a:off x="6480000" y="3830398"/>
            <a:ext cx="5015638" cy="917771"/>
          </a:xfrm>
        </p:spPr>
        <p:txBody>
          <a:bodyPr>
            <a:normAutofit/>
          </a:bodyPr>
          <a:lstStyle/>
          <a:p>
            <a:r>
              <a:rPr lang="en-US" dirty="0"/>
              <a:t>Week 6</a:t>
            </a:r>
            <a:endParaRPr lang="en-PK" dirty="0"/>
          </a:p>
        </p:txBody>
      </p:sp>
      <p:pic>
        <p:nvPicPr>
          <p:cNvPr id="4" name="Picture 3">
            <a:extLst>
              <a:ext uri="{FF2B5EF4-FFF2-40B4-BE49-F238E27FC236}">
                <a16:creationId xmlns:a16="http://schemas.microsoft.com/office/drawing/2014/main" id="{7F8879C9-D989-AD26-0453-4B260AC8F973}"/>
              </a:ext>
            </a:extLst>
          </p:cNvPr>
          <p:cNvPicPr>
            <a:picLocks noChangeAspect="1"/>
          </p:cNvPicPr>
          <p:nvPr/>
        </p:nvPicPr>
        <p:blipFill rotWithShape="1">
          <a:blip r:embed="rId2"/>
          <a:srcRect l="15044" r="22759"/>
          <a:stretch/>
        </p:blipFill>
        <p:spPr>
          <a:xfrm>
            <a:off x="20" y="10"/>
            <a:ext cx="5903704" cy="6857990"/>
          </a:xfrm>
          <a:custGeom>
            <a:avLst/>
            <a:gdLst/>
            <a:ahLst/>
            <a:cxnLst/>
            <a:rect l="l" t="t" r="r" b="b"/>
            <a:pathLst>
              <a:path w="5903724" h="6858000">
                <a:moveTo>
                  <a:pt x="0" y="0"/>
                </a:moveTo>
                <a:lnTo>
                  <a:pt x="5886178" y="0"/>
                </a:lnTo>
                <a:lnTo>
                  <a:pt x="5890522" y="42009"/>
                </a:lnTo>
                <a:cubicBezTo>
                  <a:pt x="5948302" y="788432"/>
                  <a:pt x="5795211" y="5194623"/>
                  <a:pt x="5836720" y="6279216"/>
                </a:cubicBezTo>
                <a:cubicBezTo>
                  <a:pt x="5842686" y="6384211"/>
                  <a:pt x="5845802" y="6526851"/>
                  <a:pt x="5846540" y="6699667"/>
                </a:cubicBezTo>
                <a:lnTo>
                  <a:pt x="5846508" y="6858000"/>
                </a:lnTo>
                <a:lnTo>
                  <a:pt x="0" y="6858000"/>
                </a:lnTo>
                <a:close/>
              </a:path>
            </a:pathLst>
          </a:custGeom>
        </p:spPr>
      </p:pic>
      <p:grpSp>
        <p:nvGrpSpPr>
          <p:cNvPr id="13" name="Group 12">
            <a:extLst>
              <a:ext uri="{FF2B5EF4-FFF2-40B4-BE49-F238E27FC236}">
                <a16:creationId xmlns:a16="http://schemas.microsoft.com/office/drawing/2014/main" id="{3C9AA14C-80A4-427C-A911-28CD20C56E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7909203" y="317452"/>
            <a:ext cx="2117174" cy="588806"/>
            <a:chOff x="4549904" y="5078157"/>
            <a:chExt cx="3023338" cy="840818"/>
          </a:xfrm>
        </p:grpSpPr>
        <p:sp>
          <p:nvSpPr>
            <p:cNvPr id="14" name="Freeform 80">
              <a:extLst>
                <a:ext uri="{FF2B5EF4-FFF2-40B4-BE49-F238E27FC236}">
                  <a16:creationId xmlns:a16="http://schemas.microsoft.com/office/drawing/2014/main" id="{EF32CDAF-4619-4949-9516-1E042181EB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690691" y="5352589"/>
              <a:ext cx="749228" cy="383544"/>
            </a:xfrm>
            <a:custGeom>
              <a:avLst/>
              <a:gdLst>
                <a:gd name="T0" fmla="*/ 53 w 66"/>
                <a:gd name="T1" fmla="*/ 33 h 34"/>
                <a:gd name="T2" fmla="*/ 39 w 66"/>
                <a:gd name="T3" fmla="*/ 33 h 34"/>
                <a:gd name="T4" fmla="*/ 21 w 66"/>
                <a:gd name="T5" fmla="*/ 33 h 34"/>
                <a:gd name="T6" fmla="*/ 12 w 66"/>
                <a:gd name="T7" fmla="*/ 32 h 34"/>
                <a:gd name="T8" fmla="*/ 3 w 66"/>
                <a:gd name="T9" fmla="*/ 28 h 34"/>
                <a:gd name="T10" fmla="*/ 0 w 66"/>
                <a:gd name="T11" fmla="*/ 21 h 34"/>
                <a:gd name="T12" fmla="*/ 0 w 66"/>
                <a:gd name="T13" fmla="*/ 16 h 34"/>
                <a:gd name="T14" fmla="*/ 3 w 66"/>
                <a:gd name="T15" fmla="*/ 7 h 34"/>
                <a:gd name="T16" fmla="*/ 11 w 66"/>
                <a:gd name="T17" fmla="*/ 3 h 34"/>
                <a:gd name="T18" fmla="*/ 23 w 66"/>
                <a:gd name="T19" fmla="*/ 2 h 34"/>
                <a:gd name="T20" fmla="*/ 43 w 66"/>
                <a:gd name="T21" fmla="*/ 0 h 34"/>
                <a:gd name="T22" fmla="*/ 48 w 66"/>
                <a:gd name="T23" fmla="*/ 0 h 34"/>
                <a:gd name="T24" fmla="*/ 62 w 66"/>
                <a:gd name="T25" fmla="*/ 4 h 34"/>
                <a:gd name="T26" fmla="*/ 66 w 66"/>
                <a:gd name="T27" fmla="*/ 13 h 34"/>
                <a:gd name="T28" fmla="*/ 66 w 66"/>
                <a:gd name="T29" fmla="*/ 20 h 34"/>
                <a:gd name="T30" fmla="*/ 62 w 66"/>
                <a:gd name="T31" fmla="*/ 29 h 34"/>
                <a:gd name="T32" fmla="*/ 53 w 66"/>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34">
                  <a:moveTo>
                    <a:pt x="53" y="33"/>
                  </a:moveTo>
                  <a:cubicBezTo>
                    <a:pt x="47" y="33"/>
                    <a:pt x="53" y="34"/>
                    <a:pt x="39" y="33"/>
                  </a:cubicBezTo>
                  <a:cubicBezTo>
                    <a:pt x="24" y="33"/>
                    <a:pt x="21" y="33"/>
                    <a:pt x="21" y="33"/>
                  </a:cubicBezTo>
                  <a:cubicBezTo>
                    <a:pt x="12" y="32"/>
                    <a:pt x="12" y="32"/>
                    <a:pt x="12" y="32"/>
                  </a:cubicBezTo>
                  <a:cubicBezTo>
                    <a:pt x="7" y="31"/>
                    <a:pt x="4" y="30"/>
                    <a:pt x="3" y="28"/>
                  </a:cubicBezTo>
                  <a:cubicBezTo>
                    <a:pt x="1" y="26"/>
                    <a:pt x="0" y="24"/>
                    <a:pt x="0" y="21"/>
                  </a:cubicBezTo>
                  <a:cubicBezTo>
                    <a:pt x="0" y="21"/>
                    <a:pt x="0" y="19"/>
                    <a:pt x="0" y="16"/>
                  </a:cubicBezTo>
                  <a:cubicBezTo>
                    <a:pt x="0" y="13"/>
                    <a:pt x="1" y="10"/>
                    <a:pt x="3" y="7"/>
                  </a:cubicBezTo>
                  <a:cubicBezTo>
                    <a:pt x="4" y="5"/>
                    <a:pt x="7" y="3"/>
                    <a:pt x="11" y="3"/>
                  </a:cubicBezTo>
                  <a:cubicBezTo>
                    <a:pt x="16" y="2"/>
                    <a:pt x="20" y="2"/>
                    <a:pt x="23" y="2"/>
                  </a:cubicBezTo>
                  <a:cubicBezTo>
                    <a:pt x="32" y="1"/>
                    <a:pt x="37" y="0"/>
                    <a:pt x="43" y="0"/>
                  </a:cubicBezTo>
                  <a:cubicBezTo>
                    <a:pt x="48" y="0"/>
                    <a:pt x="48" y="0"/>
                    <a:pt x="48" y="0"/>
                  </a:cubicBezTo>
                  <a:cubicBezTo>
                    <a:pt x="54" y="1"/>
                    <a:pt x="59" y="3"/>
                    <a:pt x="62" y="4"/>
                  </a:cubicBezTo>
                  <a:cubicBezTo>
                    <a:pt x="65" y="6"/>
                    <a:pt x="66" y="9"/>
                    <a:pt x="66" y="13"/>
                  </a:cubicBezTo>
                  <a:cubicBezTo>
                    <a:pt x="66" y="15"/>
                    <a:pt x="66" y="17"/>
                    <a:pt x="66" y="20"/>
                  </a:cubicBezTo>
                  <a:cubicBezTo>
                    <a:pt x="65" y="23"/>
                    <a:pt x="64" y="26"/>
                    <a:pt x="62" y="29"/>
                  </a:cubicBezTo>
                  <a:cubicBezTo>
                    <a:pt x="60" y="31"/>
                    <a:pt x="57" y="32"/>
                    <a:pt x="53" y="3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15" name="Freeform 84">
              <a:extLst>
                <a:ext uri="{FF2B5EF4-FFF2-40B4-BE49-F238E27FC236}">
                  <a16:creationId xmlns:a16="http://schemas.microsoft.com/office/drawing/2014/main" id="{270C485D-6BA8-4BF7-B72C-2B14A43A66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274527">
              <a:off x="6910134" y="5062687"/>
              <a:ext cx="647637" cy="678578"/>
            </a:xfrm>
            <a:custGeom>
              <a:avLst/>
              <a:gdLst>
                <a:gd name="T0" fmla="*/ 4 w 57"/>
                <a:gd name="T1" fmla="*/ 34 h 60"/>
                <a:gd name="T2" fmla="*/ 17 w 57"/>
                <a:gd name="T3" fmla="*/ 18 h 60"/>
                <a:gd name="T4" fmla="*/ 26 w 57"/>
                <a:gd name="T5" fmla="*/ 8 h 60"/>
                <a:gd name="T6" fmla="*/ 29 w 57"/>
                <a:gd name="T7" fmla="*/ 5 h 60"/>
                <a:gd name="T8" fmla="*/ 41 w 57"/>
                <a:gd name="T9" fmla="*/ 0 h 60"/>
                <a:gd name="T10" fmla="*/ 51 w 57"/>
                <a:gd name="T11" fmla="*/ 6 h 60"/>
                <a:gd name="T12" fmla="*/ 56 w 57"/>
                <a:gd name="T13" fmla="*/ 16 h 60"/>
                <a:gd name="T14" fmla="*/ 51 w 57"/>
                <a:gd name="T15" fmla="*/ 28 h 60"/>
                <a:gd name="T16" fmla="*/ 29 w 57"/>
                <a:gd name="T17" fmla="*/ 53 h 60"/>
                <a:gd name="T18" fmla="*/ 17 w 57"/>
                <a:gd name="T19" fmla="*/ 59 h 60"/>
                <a:gd name="T20" fmla="*/ 5 w 57"/>
                <a:gd name="T21" fmla="*/ 54 h 60"/>
                <a:gd name="T22" fmla="*/ 0 w 57"/>
                <a:gd name="T23" fmla="*/ 45 h 60"/>
                <a:gd name="T24" fmla="*/ 4 w 57"/>
                <a:gd name="T2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0">
                  <a:moveTo>
                    <a:pt x="4" y="34"/>
                  </a:moveTo>
                  <a:cubicBezTo>
                    <a:pt x="5" y="33"/>
                    <a:pt x="17" y="18"/>
                    <a:pt x="17" y="18"/>
                  </a:cubicBezTo>
                  <a:cubicBezTo>
                    <a:pt x="21" y="14"/>
                    <a:pt x="24" y="10"/>
                    <a:pt x="26" y="8"/>
                  </a:cubicBezTo>
                  <a:cubicBezTo>
                    <a:pt x="29" y="5"/>
                    <a:pt x="29" y="5"/>
                    <a:pt x="29" y="5"/>
                  </a:cubicBezTo>
                  <a:cubicBezTo>
                    <a:pt x="34" y="2"/>
                    <a:pt x="38" y="0"/>
                    <a:pt x="41" y="0"/>
                  </a:cubicBezTo>
                  <a:cubicBezTo>
                    <a:pt x="44" y="1"/>
                    <a:pt x="47" y="2"/>
                    <a:pt x="51" y="6"/>
                  </a:cubicBezTo>
                  <a:cubicBezTo>
                    <a:pt x="55" y="10"/>
                    <a:pt x="57" y="13"/>
                    <a:pt x="56" y="16"/>
                  </a:cubicBezTo>
                  <a:cubicBezTo>
                    <a:pt x="56" y="19"/>
                    <a:pt x="54" y="23"/>
                    <a:pt x="51" y="28"/>
                  </a:cubicBezTo>
                  <a:cubicBezTo>
                    <a:pt x="51" y="28"/>
                    <a:pt x="33" y="48"/>
                    <a:pt x="29" y="53"/>
                  </a:cubicBezTo>
                  <a:cubicBezTo>
                    <a:pt x="25" y="57"/>
                    <a:pt x="21" y="59"/>
                    <a:pt x="17" y="59"/>
                  </a:cubicBezTo>
                  <a:cubicBezTo>
                    <a:pt x="13" y="60"/>
                    <a:pt x="9" y="58"/>
                    <a:pt x="5" y="54"/>
                  </a:cubicBezTo>
                  <a:cubicBezTo>
                    <a:pt x="2" y="51"/>
                    <a:pt x="0" y="48"/>
                    <a:pt x="0" y="45"/>
                  </a:cubicBezTo>
                  <a:cubicBezTo>
                    <a:pt x="0" y="42"/>
                    <a:pt x="2" y="38"/>
                    <a:pt x="4"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16" name="Freeform 87">
              <a:extLst>
                <a:ext uri="{FF2B5EF4-FFF2-40B4-BE49-F238E27FC236}">
                  <a16:creationId xmlns:a16="http://schemas.microsoft.com/office/drawing/2014/main" id="{79239B91-4327-43B3-AED5-CB9EC1653B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4430858">
              <a:off x="4571743" y="5071596"/>
              <a:ext cx="626472" cy="670149"/>
            </a:xfrm>
            <a:custGeom>
              <a:avLst/>
              <a:gdLst>
                <a:gd name="T0" fmla="*/ 0 w 55"/>
                <a:gd name="T1" fmla="*/ 17 h 59"/>
                <a:gd name="T2" fmla="*/ 1 w 55"/>
                <a:gd name="T3" fmla="*/ 11 h 59"/>
                <a:gd name="T4" fmla="*/ 4 w 55"/>
                <a:gd name="T5" fmla="*/ 6 h 59"/>
                <a:gd name="T6" fmla="*/ 7 w 55"/>
                <a:gd name="T7" fmla="*/ 4 h 59"/>
                <a:gd name="T8" fmla="*/ 14 w 55"/>
                <a:gd name="T9" fmla="*/ 0 h 59"/>
                <a:gd name="T10" fmla="*/ 23 w 55"/>
                <a:gd name="T11" fmla="*/ 3 h 59"/>
                <a:gd name="T12" fmla="*/ 31 w 55"/>
                <a:gd name="T13" fmla="*/ 11 h 59"/>
                <a:gd name="T14" fmla="*/ 38 w 55"/>
                <a:gd name="T15" fmla="*/ 20 h 59"/>
                <a:gd name="T16" fmla="*/ 48 w 55"/>
                <a:gd name="T17" fmla="*/ 31 h 59"/>
                <a:gd name="T18" fmla="*/ 55 w 55"/>
                <a:gd name="T19" fmla="*/ 43 h 59"/>
                <a:gd name="T20" fmla="*/ 49 w 55"/>
                <a:gd name="T21" fmla="*/ 55 h 59"/>
                <a:gd name="T22" fmla="*/ 38 w 55"/>
                <a:gd name="T23" fmla="*/ 59 h 59"/>
                <a:gd name="T24" fmla="*/ 33 w 55"/>
                <a:gd name="T25" fmla="*/ 58 h 59"/>
                <a:gd name="T26" fmla="*/ 26 w 55"/>
                <a:gd name="T27" fmla="*/ 53 h 59"/>
                <a:gd name="T28" fmla="*/ 5 w 55"/>
                <a:gd name="T29" fmla="*/ 27 h 59"/>
                <a:gd name="T30" fmla="*/ 0 w 55"/>
                <a:gd name="T31" fmla="*/ 1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 h="59">
                  <a:moveTo>
                    <a:pt x="0" y="17"/>
                  </a:moveTo>
                  <a:cubicBezTo>
                    <a:pt x="0" y="14"/>
                    <a:pt x="0" y="12"/>
                    <a:pt x="1" y="11"/>
                  </a:cubicBezTo>
                  <a:cubicBezTo>
                    <a:pt x="2" y="9"/>
                    <a:pt x="3" y="8"/>
                    <a:pt x="4" y="6"/>
                  </a:cubicBezTo>
                  <a:cubicBezTo>
                    <a:pt x="6" y="5"/>
                    <a:pt x="7" y="4"/>
                    <a:pt x="7" y="4"/>
                  </a:cubicBezTo>
                  <a:cubicBezTo>
                    <a:pt x="9" y="2"/>
                    <a:pt x="12" y="1"/>
                    <a:pt x="14" y="0"/>
                  </a:cubicBezTo>
                  <a:cubicBezTo>
                    <a:pt x="17" y="0"/>
                    <a:pt x="20" y="1"/>
                    <a:pt x="23" y="3"/>
                  </a:cubicBezTo>
                  <a:cubicBezTo>
                    <a:pt x="26" y="4"/>
                    <a:pt x="29" y="7"/>
                    <a:pt x="31" y="11"/>
                  </a:cubicBezTo>
                  <a:cubicBezTo>
                    <a:pt x="38" y="20"/>
                    <a:pt x="38" y="20"/>
                    <a:pt x="38" y="20"/>
                  </a:cubicBezTo>
                  <a:cubicBezTo>
                    <a:pt x="48" y="31"/>
                    <a:pt x="48" y="31"/>
                    <a:pt x="48" y="31"/>
                  </a:cubicBezTo>
                  <a:cubicBezTo>
                    <a:pt x="52" y="36"/>
                    <a:pt x="54" y="40"/>
                    <a:pt x="55" y="43"/>
                  </a:cubicBezTo>
                  <a:cubicBezTo>
                    <a:pt x="55" y="47"/>
                    <a:pt x="54" y="52"/>
                    <a:pt x="49" y="55"/>
                  </a:cubicBezTo>
                  <a:cubicBezTo>
                    <a:pt x="45" y="58"/>
                    <a:pt x="41" y="59"/>
                    <a:pt x="38" y="59"/>
                  </a:cubicBezTo>
                  <a:cubicBezTo>
                    <a:pt x="37" y="59"/>
                    <a:pt x="35" y="59"/>
                    <a:pt x="33" y="58"/>
                  </a:cubicBezTo>
                  <a:cubicBezTo>
                    <a:pt x="31" y="57"/>
                    <a:pt x="29" y="55"/>
                    <a:pt x="26" y="53"/>
                  </a:cubicBezTo>
                  <a:cubicBezTo>
                    <a:pt x="23" y="50"/>
                    <a:pt x="5" y="27"/>
                    <a:pt x="5" y="27"/>
                  </a:cubicBezTo>
                  <a:cubicBezTo>
                    <a:pt x="2" y="23"/>
                    <a:pt x="0" y="19"/>
                    <a:pt x="0" y="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grpSp>
      <p:grpSp>
        <p:nvGrpSpPr>
          <p:cNvPr id="18" name="Group 17">
            <a:extLst>
              <a:ext uri="{FF2B5EF4-FFF2-40B4-BE49-F238E27FC236}">
                <a16:creationId xmlns:a16="http://schemas.microsoft.com/office/drawing/2014/main" id="{F2FD01A0-E6FF-41CD-AEBD-279232B90D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7990093" y="5372723"/>
            <a:ext cx="2088038" cy="719230"/>
            <a:chOff x="4532666" y="505937"/>
            <a:chExt cx="2981730" cy="1027064"/>
          </a:xfrm>
        </p:grpSpPr>
        <p:sp>
          <p:nvSpPr>
            <p:cNvPr id="19" name="Freeform 78">
              <a:extLst>
                <a:ext uri="{FF2B5EF4-FFF2-40B4-BE49-F238E27FC236}">
                  <a16:creationId xmlns:a16="http://schemas.microsoft.com/office/drawing/2014/main" id="{811C6308-5554-4129-8881-A95AF512C52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00114">
              <a:off x="4532666" y="754398"/>
              <a:ext cx="694205" cy="713383"/>
            </a:xfrm>
            <a:custGeom>
              <a:avLst/>
              <a:gdLst>
                <a:gd name="T0" fmla="*/ 32 w 58"/>
                <a:gd name="T1" fmla="*/ 56 h 60"/>
                <a:gd name="T2" fmla="*/ 24 w 58"/>
                <a:gd name="T3" fmla="*/ 48 h 60"/>
                <a:gd name="T4" fmla="*/ 14 w 58"/>
                <a:gd name="T5" fmla="*/ 36 h 60"/>
                <a:gd name="T6" fmla="*/ 7 w 58"/>
                <a:gd name="T7" fmla="*/ 29 h 60"/>
                <a:gd name="T8" fmla="*/ 1 w 58"/>
                <a:gd name="T9" fmla="*/ 17 h 60"/>
                <a:gd name="T10" fmla="*/ 7 w 58"/>
                <a:gd name="T11" fmla="*/ 4 h 60"/>
                <a:gd name="T12" fmla="*/ 17 w 58"/>
                <a:gd name="T13" fmla="*/ 1 h 60"/>
                <a:gd name="T14" fmla="*/ 29 w 58"/>
                <a:gd name="T15" fmla="*/ 6 h 60"/>
                <a:gd name="T16" fmla="*/ 31 w 58"/>
                <a:gd name="T17" fmla="*/ 8 h 60"/>
                <a:gd name="T18" fmla="*/ 38 w 58"/>
                <a:gd name="T19" fmla="*/ 15 h 60"/>
                <a:gd name="T20" fmla="*/ 44 w 58"/>
                <a:gd name="T21" fmla="*/ 22 h 60"/>
                <a:gd name="T22" fmla="*/ 54 w 58"/>
                <a:gd name="T23" fmla="*/ 33 h 60"/>
                <a:gd name="T24" fmla="*/ 58 w 58"/>
                <a:gd name="T25" fmla="*/ 44 h 60"/>
                <a:gd name="T26" fmla="*/ 53 w 58"/>
                <a:gd name="T27" fmla="*/ 54 h 60"/>
                <a:gd name="T28" fmla="*/ 42 w 58"/>
                <a:gd name="T29" fmla="*/ 60 h 60"/>
                <a:gd name="T30" fmla="*/ 32 w 58"/>
                <a:gd name="T31"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60">
                  <a:moveTo>
                    <a:pt x="32" y="56"/>
                  </a:moveTo>
                  <a:cubicBezTo>
                    <a:pt x="30" y="54"/>
                    <a:pt x="31" y="55"/>
                    <a:pt x="24" y="48"/>
                  </a:cubicBezTo>
                  <a:cubicBezTo>
                    <a:pt x="17" y="40"/>
                    <a:pt x="14" y="36"/>
                    <a:pt x="14" y="36"/>
                  </a:cubicBezTo>
                  <a:cubicBezTo>
                    <a:pt x="8" y="30"/>
                    <a:pt x="14" y="37"/>
                    <a:pt x="7" y="29"/>
                  </a:cubicBezTo>
                  <a:cubicBezTo>
                    <a:pt x="3" y="24"/>
                    <a:pt x="1" y="20"/>
                    <a:pt x="1" y="17"/>
                  </a:cubicBezTo>
                  <a:cubicBezTo>
                    <a:pt x="0" y="13"/>
                    <a:pt x="3" y="9"/>
                    <a:pt x="7" y="4"/>
                  </a:cubicBezTo>
                  <a:cubicBezTo>
                    <a:pt x="10" y="2"/>
                    <a:pt x="13" y="0"/>
                    <a:pt x="17" y="1"/>
                  </a:cubicBezTo>
                  <a:cubicBezTo>
                    <a:pt x="21" y="1"/>
                    <a:pt x="25" y="3"/>
                    <a:pt x="29" y="6"/>
                  </a:cubicBezTo>
                  <a:cubicBezTo>
                    <a:pt x="31" y="8"/>
                    <a:pt x="31" y="8"/>
                    <a:pt x="31" y="8"/>
                  </a:cubicBezTo>
                  <a:cubicBezTo>
                    <a:pt x="33" y="11"/>
                    <a:pt x="37" y="15"/>
                    <a:pt x="38" y="15"/>
                  </a:cubicBezTo>
                  <a:cubicBezTo>
                    <a:pt x="42" y="20"/>
                    <a:pt x="40" y="18"/>
                    <a:pt x="44" y="22"/>
                  </a:cubicBezTo>
                  <a:cubicBezTo>
                    <a:pt x="51" y="29"/>
                    <a:pt x="50" y="29"/>
                    <a:pt x="54" y="33"/>
                  </a:cubicBezTo>
                  <a:cubicBezTo>
                    <a:pt x="57" y="37"/>
                    <a:pt x="58" y="40"/>
                    <a:pt x="58" y="44"/>
                  </a:cubicBezTo>
                  <a:cubicBezTo>
                    <a:pt x="58" y="47"/>
                    <a:pt x="56" y="50"/>
                    <a:pt x="53" y="54"/>
                  </a:cubicBezTo>
                  <a:cubicBezTo>
                    <a:pt x="49" y="58"/>
                    <a:pt x="45" y="60"/>
                    <a:pt x="42" y="60"/>
                  </a:cubicBezTo>
                  <a:cubicBezTo>
                    <a:pt x="39" y="60"/>
                    <a:pt x="36" y="59"/>
                    <a:pt x="32" y="5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0" name="Freeform 79">
              <a:extLst>
                <a:ext uri="{FF2B5EF4-FFF2-40B4-BE49-F238E27FC236}">
                  <a16:creationId xmlns:a16="http://schemas.microsoft.com/office/drawing/2014/main" id="{C28F3A03-B53B-433E-8DF7-6B13336D0A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00114">
              <a:off x="5791465" y="505937"/>
              <a:ext cx="587404" cy="943792"/>
            </a:xfrm>
            <a:custGeom>
              <a:avLst/>
              <a:gdLst>
                <a:gd name="T0" fmla="*/ 15 w 49"/>
                <a:gd name="T1" fmla="*/ 65 h 79"/>
                <a:gd name="T2" fmla="*/ 12 w 49"/>
                <a:gd name="T3" fmla="*/ 54 h 79"/>
                <a:gd name="T4" fmla="*/ 8 w 49"/>
                <a:gd name="T5" fmla="*/ 33 h 79"/>
                <a:gd name="T6" fmla="*/ 38 w 49"/>
                <a:gd name="T7" fmla="*/ 24 h 79"/>
                <a:gd name="T8" fmla="*/ 45 w 49"/>
                <a:gd name="T9" fmla="*/ 70 h 79"/>
                <a:gd name="T10" fmla="*/ 15 w 49"/>
                <a:gd name="T11" fmla="*/ 65 h 79"/>
              </a:gdLst>
              <a:ahLst/>
              <a:cxnLst>
                <a:cxn ang="0">
                  <a:pos x="T0" y="T1"/>
                </a:cxn>
                <a:cxn ang="0">
                  <a:pos x="T2" y="T3"/>
                </a:cxn>
                <a:cxn ang="0">
                  <a:pos x="T4" y="T5"/>
                </a:cxn>
                <a:cxn ang="0">
                  <a:pos x="T6" y="T7"/>
                </a:cxn>
                <a:cxn ang="0">
                  <a:pos x="T8" y="T9"/>
                </a:cxn>
                <a:cxn ang="0">
                  <a:pos x="T10" y="T11"/>
                </a:cxn>
              </a:cxnLst>
              <a:rect l="0" t="0" r="r" b="b"/>
              <a:pathLst>
                <a:path w="49" h="79">
                  <a:moveTo>
                    <a:pt x="15" y="65"/>
                  </a:moveTo>
                  <a:cubicBezTo>
                    <a:pt x="14" y="59"/>
                    <a:pt x="13" y="58"/>
                    <a:pt x="12" y="54"/>
                  </a:cubicBezTo>
                  <a:cubicBezTo>
                    <a:pt x="11" y="45"/>
                    <a:pt x="10" y="40"/>
                    <a:pt x="8" y="33"/>
                  </a:cubicBezTo>
                  <a:cubicBezTo>
                    <a:pt x="0" y="9"/>
                    <a:pt x="34" y="0"/>
                    <a:pt x="38" y="24"/>
                  </a:cubicBezTo>
                  <a:cubicBezTo>
                    <a:pt x="43" y="43"/>
                    <a:pt x="49" y="60"/>
                    <a:pt x="45" y="70"/>
                  </a:cubicBezTo>
                  <a:cubicBezTo>
                    <a:pt x="38" y="77"/>
                    <a:pt x="19" y="79"/>
                    <a:pt x="15"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1" name="Freeform 85">
              <a:extLst>
                <a:ext uri="{FF2B5EF4-FFF2-40B4-BE49-F238E27FC236}">
                  <a16:creationId xmlns:a16="http://schemas.microsoft.com/office/drawing/2014/main" id="{E990BBBC-E616-4D0E-9917-A6CA72AAEA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00114">
              <a:off x="7087193" y="757585"/>
              <a:ext cx="427203" cy="775416"/>
            </a:xfrm>
            <a:custGeom>
              <a:avLst/>
              <a:gdLst>
                <a:gd name="T0" fmla="*/ 36 w 36"/>
                <a:gd name="T1" fmla="*/ 15 h 65"/>
                <a:gd name="T2" fmla="*/ 34 w 36"/>
                <a:gd name="T3" fmla="*/ 5 h 65"/>
                <a:gd name="T4" fmla="*/ 28 w 36"/>
                <a:gd name="T5" fmla="*/ 1 h 65"/>
                <a:gd name="T6" fmla="*/ 23 w 36"/>
                <a:gd name="T7" fmla="*/ 0 h 65"/>
                <a:gd name="T8" fmla="*/ 13 w 36"/>
                <a:gd name="T9" fmla="*/ 1 h 65"/>
                <a:gd name="T10" fmla="*/ 7 w 36"/>
                <a:gd name="T11" fmla="*/ 9 h 65"/>
                <a:gd name="T12" fmla="*/ 4 w 36"/>
                <a:gd name="T13" fmla="*/ 19 h 65"/>
                <a:gd name="T14" fmla="*/ 0 w 36"/>
                <a:gd name="T15" fmla="*/ 44 h 65"/>
                <a:gd name="T16" fmla="*/ 1 w 36"/>
                <a:gd name="T17" fmla="*/ 58 h 65"/>
                <a:gd name="T18" fmla="*/ 8 w 36"/>
                <a:gd name="T19" fmla="*/ 64 h 65"/>
                <a:gd name="T20" fmla="*/ 16 w 36"/>
                <a:gd name="T21" fmla="*/ 65 h 65"/>
                <a:gd name="T22" fmla="*/ 25 w 36"/>
                <a:gd name="T23" fmla="*/ 63 h 65"/>
                <a:gd name="T24" fmla="*/ 31 w 36"/>
                <a:gd name="T25" fmla="*/ 55 h 65"/>
                <a:gd name="T26" fmla="*/ 34 w 36"/>
                <a:gd name="T27" fmla="*/ 40 h 65"/>
                <a:gd name="T28" fmla="*/ 36 w 36"/>
                <a:gd name="T29" fmla="*/ 1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65">
                  <a:moveTo>
                    <a:pt x="36" y="15"/>
                  </a:moveTo>
                  <a:cubicBezTo>
                    <a:pt x="36" y="10"/>
                    <a:pt x="35" y="7"/>
                    <a:pt x="34" y="5"/>
                  </a:cubicBezTo>
                  <a:cubicBezTo>
                    <a:pt x="33" y="3"/>
                    <a:pt x="31" y="2"/>
                    <a:pt x="28" y="1"/>
                  </a:cubicBezTo>
                  <a:cubicBezTo>
                    <a:pt x="27" y="1"/>
                    <a:pt x="25" y="1"/>
                    <a:pt x="23" y="0"/>
                  </a:cubicBezTo>
                  <a:cubicBezTo>
                    <a:pt x="19" y="0"/>
                    <a:pt x="16" y="0"/>
                    <a:pt x="13" y="1"/>
                  </a:cubicBezTo>
                  <a:cubicBezTo>
                    <a:pt x="11" y="2"/>
                    <a:pt x="9" y="4"/>
                    <a:pt x="7" y="9"/>
                  </a:cubicBezTo>
                  <a:cubicBezTo>
                    <a:pt x="6" y="13"/>
                    <a:pt x="5" y="17"/>
                    <a:pt x="4" y="19"/>
                  </a:cubicBezTo>
                  <a:cubicBezTo>
                    <a:pt x="2" y="29"/>
                    <a:pt x="0" y="44"/>
                    <a:pt x="0" y="44"/>
                  </a:cubicBezTo>
                  <a:cubicBezTo>
                    <a:pt x="0" y="50"/>
                    <a:pt x="0" y="55"/>
                    <a:pt x="1" y="58"/>
                  </a:cubicBezTo>
                  <a:cubicBezTo>
                    <a:pt x="2" y="61"/>
                    <a:pt x="5" y="63"/>
                    <a:pt x="8" y="64"/>
                  </a:cubicBezTo>
                  <a:cubicBezTo>
                    <a:pt x="11" y="65"/>
                    <a:pt x="13" y="65"/>
                    <a:pt x="16" y="65"/>
                  </a:cubicBezTo>
                  <a:cubicBezTo>
                    <a:pt x="19" y="65"/>
                    <a:pt x="22" y="64"/>
                    <a:pt x="25" y="63"/>
                  </a:cubicBezTo>
                  <a:cubicBezTo>
                    <a:pt x="28" y="61"/>
                    <a:pt x="30" y="59"/>
                    <a:pt x="31" y="55"/>
                  </a:cubicBezTo>
                  <a:cubicBezTo>
                    <a:pt x="32" y="50"/>
                    <a:pt x="31" y="54"/>
                    <a:pt x="34" y="40"/>
                  </a:cubicBezTo>
                  <a:lnTo>
                    <a:pt x="36" y="1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grpSp>
    </p:spTree>
    <p:extLst>
      <p:ext uri="{BB962C8B-B14F-4D97-AF65-F5344CB8AC3E}">
        <p14:creationId xmlns:p14="http://schemas.microsoft.com/office/powerpoint/2010/main" val="2565616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A941C2A-D0AF-DDBD-305D-C8FC73F76DE5}"/>
              </a:ext>
            </a:extLst>
          </p:cNvPr>
          <p:cNvSpPr>
            <a:spLocks noGrp="1"/>
          </p:cNvSpPr>
          <p:nvPr>
            <p:ph type="title"/>
          </p:nvPr>
        </p:nvSpPr>
        <p:spPr>
          <a:xfrm>
            <a:off x="934872" y="982272"/>
            <a:ext cx="3388419" cy="4560970"/>
          </a:xfrm>
        </p:spPr>
        <p:txBody>
          <a:bodyPr>
            <a:normAutofit/>
          </a:bodyPr>
          <a:lstStyle/>
          <a:p>
            <a:r>
              <a:rPr lang="en-US" sz="6600" b="1" dirty="0">
                <a:solidFill>
                  <a:srgbClr val="FFFFFF"/>
                </a:solidFill>
              </a:rPr>
              <a:t>Agenda</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737E190-A6EC-CA79-7B0D-3AD94DCEC9E3}"/>
              </a:ext>
            </a:extLst>
          </p:cNvPr>
          <p:cNvSpPr>
            <a:spLocks noGrp="1"/>
          </p:cNvSpPr>
          <p:nvPr>
            <p:ph idx="1"/>
          </p:nvPr>
        </p:nvSpPr>
        <p:spPr>
          <a:xfrm>
            <a:off x="5221862" y="1449238"/>
            <a:ext cx="6182259" cy="5055079"/>
          </a:xfrm>
        </p:spPr>
        <p:txBody>
          <a:bodyPr anchor="ctr">
            <a:normAutofit fontScale="92500" lnSpcReduction="20000"/>
          </a:bodyPr>
          <a:lstStyle/>
          <a:p>
            <a:r>
              <a:rPr lang="en-US" sz="2400" dirty="0">
                <a:solidFill>
                  <a:srgbClr val="FEFFFF"/>
                </a:solidFill>
              </a:rPr>
              <a:t>Recap of the Last Lecture</a:t>
            </a:r>
          </a:p>
          <a:p>
            <a:r>
              <a:rPr lang="en-US" sz="2400" dirty="0">
                <a:solidFill>
                  <a:srgbClr val="FEFFFF"/>
                </a:solidFill>
              </a:rPr>
              <a:t>Method Overloading</a:t>
            </a:r>
          </a:p>
          <a:p>
            <a:r>
              <a:rPr lang="en-US" sz="2400" dirty="0">
                <a:solidFill>
                  <a:srgbClr val="FEFFFF"/>
                </a:solidFill>
              </a:rPr>
              <a:t>Constructor Overloading</a:t>
            </a:r>
          </a:p>
          <a:p>
            <a:r>
              <a:rPr lang="en-US" sz="2400" dirty="0">
                <a:solidFill>
                  <a:srgbClr val="FEFFFF"/>
                </a:solidFill>
              </a:rPr>
              <a:t>Using Object as Parameters</a:t>
            </a:r>
          </a:p>
          <a:p>
            <a:pPr lvl="1"/>
            <a:r>
              <a:rPr lang="en-US" sz="1800" dirty="0">
                <a:solidFill>
                  <a:srgbClr val="FEFFFF"/>
                </a:solidFill>
              </a:rPr>
              <a:t>Pass by Value</a:t>
            </a:r>
          </a:p>
          <a:p>
            <a:pPr lvl="1"/>
            <a:r>
              <a:rPr lang="en-US" sz="1800" dirty="0">
                <a:solidFill>
                  <a:srgbClr val="FEFFFF"/>
                </a:solidFill>
              </a:rPr>
              <a:t>Pass by Reference</a:t>
            </a:r>
          </a:p>
          <a:p>
            <a:r>
              <a:rPr lang="en-US" sz="2400" dirty="0">
                <a:solidFill>
                  <a:srgbClr val="FEFFFF"/>
                </a:solidFill>
              </a:rPr>
              <a:t>Returning Objects</a:t>
            </a:r>
          </a:p>
          <a:p>
            <a:r>
              <a:rPr lang="en-US" sz="2400" dirty="0">
                <a:solidFill>
                  <a:srgbClr val="FEFFFF"/>
                </a:solidFill>
              </a:rPr>
              <a:t>Recursion</a:t>
            </a:r>
          </a:p>
          <a:p>
            <a:r>
              <a:rPr lang="en-US" sz="2400" dirty="0">
                <a:solidFill>
                  <a:srgbClr val="FEFFFF"/>
                </a:solidFill>
              </a:rPr>
              <a:t>Introducing the Access Control</a:t>
            </a:r>
          </a:p>
          <a:p>
            <a:r>
              <a:rPr lang="en-US" sz="2400" dirty="0">
                <a:solidFill>
                  <a:srgbClr val="FEFFFF"/>
                </a:solidFill>
              </a:rPr>
              <a:t>Understanding the Static Keyword</a:t>
            </a:r>
          </a:p>
          <a:p>
            <a:r>
              <a:rPr lang="en-US" sz="2400" dirty="0">
                <a:solidFill>
                  <a:srgbClr val="FEFFFF"/>
                </a:solidFill>
              </a:rPr>
              <a:t>Introducing the Final keyword</a:t>
            </a:r>
          </a:p>
          <a:p>
            <a:r>
              <a:rPr lang="en-US" sz="2400" dirty="0">
                <a:solidFill>
                  <a:srgbClr val="FEFFFF"/>
                </a:solidFill>
              </a:rPr>
              <a:t>Inner Classes</a:t>
            </a:r>
          </a:p>
          <a:p>
            <a:r>
              <a:rPr lang="en-US" sz="2400" dirty="0">
                <a:solidFill>
                  <a:srgbClr val="FEFFFF"/>
                </a:solidFill>
              </a:rPr>
              <a:t>The String Class</a:t>
            </a:r>
          </a:p>
          <a:p>
            <a:r>
              <a:rPr lang="en-US" sz="2400" dirty="0">
                <a:solidFill>
                  <a:srgbClr val="FEFFFF"/>
                </a:solidFill>
              </a:rPr>
              <a:t>Recap</a:t>
            </a:r>
          </a:p>
          <a:p>
            <a:endParaRPr lang="en-US" sz="2400" dirty="0">
              <a:solidFill>
                <a:srgbClr val="FEFFFF"/>
              </a:solidFill>
            </a:endParaRPr>
          </a:p>
        </p:txBody>
      </p:sp>
    </p:spTree>
    <p:extLst>
      <p:ext uri="{BB962C8B-B14F-4D97-AF65-F5344CB8AC3E}">
        <p14:creationId xmlns:p14="http://schemas.microsoft.com/office/powerpoint/2010/main" val="895114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Method Overloading</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fontScale="77500" lnSpcReduction="20000"/>
          </a:bodyPr>
          <a:lstStyle/>
          <a:p>
            <a:pPr algn="just"/>
            <a:r>
              <a:rPr lang="en-US" sz="3200" dirty="0"/>
              <a:t>Method with the same name but different in parameter list is called method overloading.</a:t>
            </a:r>
          </a:p>
          <a:p>
            <a:pPr algn="just"/>
            <a:r>
              <a:rPr lang="en-US" sz="3200" dirty="0"/>
              <a:t>Method overloading is one of the ways that Java supports polymorphism.</a:t>
            </a:r>
          </a:p>
          <a:p>
            <a:pPr algn="just"/>
            <a:r>
              <a:rPr lang="en-US" sz="3200" dirty="0"/>
              <a:t>Thus, overloaded methods must differ in the </a:t>
            </a:r>
            <a:r>
              <a:rPr lang="en-US" sz="3200" dirty="0">
                <a:solidFill>
                  <a:srgbClr val="FF0000"/>
                </a:solidFill>
              </a:rPr>
              <a:t>data type</a:t>
            </a:r>
            <a:r>
              <a:rPr lang="en-US" sz="3200" dirty="0"/>
              <a:t> and/or </a:t>
            </a:r>
            <a:r>
              <a:rPr lang="en-US" sz="3200" dirty="0">
                <a:solidFill>
                  <a:srgbClr val="FF0000"/>
                </a:solidFill>
              </a:rPr>
              <a:t>number of their parameters</a:t>
            </a:r>
            <a:r>
              <a:rPr lang="en-US" sz="3200" dirty="0"/>
              <a:t>.</a:t>
            </a:r>
          </a:p>
          <a:p>
            <a:pPr algn="just"/>
            <a:r>
              <a:rPr lang="en-US" sz="3200" dirty="0"/>
              <a:t>While overloaded methods may have different return types, the </a:t>
            </a:r>
            <a:r>
              <a:rPr lang="en-US" sz="3200" dirty="0">
                <a:solidFill>
                  <a:srgbClr val="FF0000"/>
                </a:solidFill>
              </a:rPr>
              <a:t>return type alone is insufficient to distinguish two versions of a method</a:t>
            </a:r>
            <a:r>
              <a:rPr lang="en-US" sz="3200" dirty="0"/>
              <a:t>.</a:t>
            </a:r>
          </a:p>
          <a:p>
            <a:pPr algn="just"/>
            <a:r>
              <a:rPr lang="en-US" sz="3200" dirty="0"/>
              <a:t>When Java encounters a call to an overloaded method, it simply executes the version of the method whose parameters match the arguments used in the call.</a:t>
            </a:r>
          </a:p>
        </p:txBody>
      </p:sp>
    </p:spTree>
    <p:extLst>
      <p:ext uri="{BB962C8B-B14F-4D97-AF65-F5344CB8AC3E}">
        <p14:creationId xmlns:p14="http://schemas.microsoft.com/office/powerpoint/2010/main" val="3532141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30EC3D6-ABEE-6C36-2B31-5F70AAC7AD26}"/>
              </a:ext>
            </a:extLst>
          </p:cNvPr>
          <p:cNvPicPr>
            <a:picLocks noChangeAspect="1"/>
          </p:cNvPicPr>
          <p:nvPr/>
        </p:nvPicPr>
        <p:blipFill>
          <a:blip r:embed="rId2"/>
          <a:stretch>
            <a:fillRect/>
          </a:stretch>
        </p:blipFill>
        <p:spPr>
          <a:xfrm>
            <a:off x="2774017" y="125093"/>
            <a:ext cx="7750209" cy="6607813"/>
          </a:xfrm>
          <a:prstGeom prst="rect">
            <a:avLst/>
          </a:prstGeom>
        </p:spPr>
      </p:pic>
    </p:spTree>
    <p:extLst>
      <p:ext uri="{BB962C8B-B14F-4D97-AF65-F5344CB8AC3E}">
        <p14:creationId xmlns:p14="http://schemas.microsoft.com/office/powerpoint/2010/main" val="3773707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Constructor Overloading</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sz="4000" dirty="0"/>
              <a:t>In addition to overloading normal methods, you can also overload constructors. </a:t>
            </a:r>
          </a:p>
          <a:p>
            <a:pPr algn="just"/>
            <a:r>
              <a:rPr lang="en-US" sz="4000" dirty="0"/>
              <a:t>In fact, for most real-world classes that you create, overloaded constructors will be the norm, not the exception.</a:t>
            </a:r>
          </a:p>
        </p:txBody>
      </p:sp>
    </p:spTree>
    <p:extLst>
      <p:ext uri="{BB962C8B-B14F-4D97-AF65-F5344CB8AC3E}">
        <p14:creationId xmlns:p14="http://schemas.microsoft.com/office/powerpoint/2010/main" val="273084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CCAD7A4-7D3F-E239-BA7E-082BF8621BB4}"/>
              </a:ext>
            </a:extLst>
          </p:cNvPr>
          <p:cNvPicPr>
            <a:picLocks noChangeAspect="1"/>
          </p:cNvPicPr>
          <p:nvPr/>
        </p:nvPicPr>
        <p:blipFill>
          <a:blip r:embed="rId2"/>
          <a:stretch>
            <a:fillRect/>
          </a:stretch>
        </p:blipFill>
        <p:spPr>
          <a:xfrm>
            <a:off x="2724220" y="102615"/>
            <a:ext cx="6907460" cy="6563018"/>
          </a:xfrm>
          <a:prstGeom prst="rect">
            <a:avLst/>
          </a:prstGeom>
        </p:spPr>
      </p:pic>
    </p:spTree>
    <p:extLst>
      <p:ext uri="{BB962C8B-B14F-4D97-AF65-F5344CB8AC3E}">
        <p14:creationId xmlns:p14="http://schemas.microsoft.com/office/powerpoint/2010/main" val="372060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BF08F55-D83F-350E-BC56-BC1C1D29AC5E}"/>
              </a:ext>
            </a:extLst>
          </p:cNvPr>
          <p:cNvPicPr>
            <a:picLocks noChangeAspect="1"/>
          </p:cNvPicPr>
          <p:nvPr/>
        </p:nvPicPr>
        <p:blipFill>
          <a:blip r:embed="rId2"/>
          <a:stretch>
            <a:fillRect/>
          </a:stretch>
        </p:blipFill>
        <p:spPr>
          <a:xfrm>
            <a:off x="2653546" y="298362"/>
            <a:ext cx="8552934" cy="6312042"/>
          </a:xfrm>
          <a:prstGeom prst="rect">
            <a:avLst/>
          </a:prstGeom>
        </p:spPr>
      </p:pic>
    </p:spTree>
    <p:extLst>
      <p:ext uri="{BB962C8B-B14F-4D97-AF65-F5344CB8AC3E}">
        <p14:creationId xmlns:p14="http://schemas.microsoft.com/office/powerpoint/2010/main" val="390154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800" b="1" dirty="0">
                <a:solidFill>
                  <a:srgbClr val="FFFFFF"/>
                </a:solidFill>
              </a:rPr>
              <a:t>Introducing the Access Control</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dirty="0"/>
              <a:t>Encapsulation links data with the code that manipulates it.</a:t>
            </a:r>
          </a:p>
          <a:p>
            <a:pPr algn="just"/>
            <a:r>
              <a:rPr lang="en-US" dirty="0"/>
              <a:t>However, encapsulation provides another important attribute: </a:t>
            </a:r>
            <a:r>
              <a:rPr lang="en-US" i="1" dirty="0">
                <a:solidFill>
                  <a:srgbClr val="FF0000"/>
                </a:solidFill>
              </a:rPr>
              <a:t>access control</a:t>
            </a:r>
            <a:r>
              <a:rPr lang="en-US" dirty="0"/>
              <a:t>.</a:t>
            </a:r>
          </a:p>
          <a:p>
            <a:pPr algn="just"/>
            <a:r>
              <a:rPr lang="en-US" dirty="0"/>
              <a:t>Through encapsulation, you can control what parts of a program can access the members of a class. </a:t>
            </a:r>
          </a:p>
          <a:p>
            <a:pPr algn="just"/>
            <a:r>
              <a:rPr lang="en-US" dirty="0"/>
              <a:t>By controlling access, you can prevent misuse.</a:t>
            </a:r>
          </a:p>
        </p:txBody>
      </p:sp>
    </p:spTree>
    <p:extLst>
      <p:ext uri="{BB962C8B-B14F-4D97-AF65-F5344CB8AC3E}">
        <p14:creationId xmlns:p14="http://schemas.microsoft.com/office/powerpoint/2010/main" val="1122190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800" b="1" dirty="0">
                <a:solidFill>
                  <a:srgbClr val="FFFFFF"/>
                </a:solidFill>
              </a:rPr>
              <a:t>Introducing the Access Control</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dirty="0"/>
              <a:t>Java’s access modifiers are </a:t>
            </a:r>
            <a:r>
              <a:rPr lang="en-US" i="1" dirty="0">
                <a:solidFill>
                  <a:srgbClr val="FF0000"/>
                </a:solidFill>
              </a:rPr>
              <a:t>public</a:t>
            </a:r>
            <a:r>
              <a:rPr lang="en-US" dirty="0"/>
              <a:t>, </a:t>
            </a:r>
            <a:r>
              <a:rPr lang="en-US" i="1" dirty="0">
                <a:solidFill>
                  <a:srgbClr val="FF0000"/>
                </a:solidFill>
              </a:rPr>
              <a:t>private</a:t>
            </a:r>
            <a:r>
              <a:rPr lang="en-US" dirty="0"/>
              <a:t>, and </a:t>
            </a:r>
            <a:r>
              <a:rPr lang="en-US" i="1" dirty="0">
                <a:solidFill>
                  <a:srgbClr val="FF0000"/>
                </a:solidFill>
              </a:rPr>
              <a:t>protected</a:t>
            </a:r>
            <a:r>
              <a:rPr lang="en-US" dirty="0"/>
              <a:t>. </a:t>
            </a:r>
          </a:p>
          <a:p>
            <a:pPr algn="just"/>
            <a:r>
              <a:rPr lang="en-US" dirty="0"/>
              <a:t>Java also defines a </a:t>
            </a:r>
            <a:r>
              <a:rPr lang="en-US" i="1" dirty="0">
                <a:solidFill>
                  <a:srgbClr val="FF0000"/>
                </a:solidFill>
              </a:rPr>
              <a:t>default</a:t>
            </a:r>
            <a:r>
              <a:rPr lang="en-US" dirty="0"/>
              <a:t> access level. </a:t>
            </a:r>
          </a:p>
          <a:p>
            <a:pPr algn="just"/>
            <a:r>
              <a:rPr lang="en-US" i="1" dirty="0">
                <a:solidFill>
                  <a:srgbClr val="FF0000"/>
                </a:solidFill>
              </a:rPr>
              <a:t>protected</a:t>
            </a:r>
            <a:r>
              <a:rPr lang="en-US" dirty="0"/>
              <a:t> applies only when </a:t>
            </a:r>
            <a:r>
              <a:rPr lang="en-US" i="1" dirty="0">
                <a:solidFill>
                  <a:srgbClr val="FF0000"/>
                </a:solidFill>
              </a:rPr>
              <a:t>inheritance</a:t>
            </a:r>
            <a:r>
              <a:rPr lang="en-US" dirty="0"/>
              <a:t> is involved. </a:t>
            </a:r>
          </a:p>
          <a:p>
            <a:pPr algn="just"/>
            <a:r>
              <a:rPr lang="en-US" dirty="0"/>
              <a:t>The other access modifiers are described next.</a:t>
            </a:r>
          </a:p>
        </p:txBody>
      </p:sp>
    </p:spTree>
    <p:extLst>
      <p:ext uri="{BB962C8B-B14F-4D97-AF65-F5344CB8AC3E}">
        <p14:creationId xmlns:p14="http://schemas.microsoft.com/office/powerpoint/2010/main" val="122462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800" b="1" dirty="0">
                <a:solidFill>
                  <a:srgbClr val="FFFFFF"/>
                </a:solidFill>
              </a:rPr>
              <a:t>Introducing the Access Control</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dirty="0"/>
              <a:t>Java’s access modifiers are </a:t>
            </a:r>
            <a:r>
              <a:rPr lang="en-US" i="1" dirty="0">
                <a:solidFill>
                  <a:srgbClr val="FF0000"/>
                </a:solidFill>
              </a:rPr>
              <a:t>public</a:t>
            </a:r>
            <a:r>
              <a:rPr lang="en-US" dirty="0"/>
              <a:t>, </a:t>
            </a:r>
            <a:r>
              <a:rPr lang="en-US" i="1" dirty="0">
                <a:solidFill>
                  <a:srgbClr val="FF0000"/>
                </a:solidFill>
              </a:rPr>
              <a:t>private</a:t>
            </a:r>
            <a:r>
              <a:rPr lang="en-US" dirty="0"/>
              <a:t>, and </a:t>
            </a:r>
            <a:r>
              <a:rPr lang="en-US" i="1" dirty="0">
                <a:solidFill>
                  <a:srgbClr val="FF0000"/>
                </a:solidFill>
              </a:rPr>
              <a:t>protected</a:t>
            </a:r>
            <a:r>
              <a:rPr lang="en-US" dirty="0"/>
              <a:t>. </a:t>
            </a:r>
          </a:p>
          <a:p>
            <a:pPr algn="just"/>
            <a:r>
              <a:rPr lang="en-US" dirty="0"/>
              <a:t>Java also defines a </a:t>
            </a:r>
            <a:r>
              <a:rPr lang="en-US" i="1" dirty="0">
                <a:solidFill>
                  <a:srgbClr val="FF0000"/>
                </a:solidFill>
              </a:rPr>
              <a:t>default</a:t>
            </a:r>
            <a:r>
              <a:rPr lang="en-US" dirty="0"/>
              <a:t> access level. </a:t>
            </a:r>
          </a:p>
          <a:p>
            <a:pPr algn="just"/>
            <a:r>
              <a:rPr lang="en-US" i="1" dirty="0">
                <a:solidFill>
                  <a:srgbClr val="FF0000"/>
                </a:solidFill>
              </a:rPr>
              <a:t>protected</a:t>
            </a:r>
            <a:r>
              <a:rPr lang="en-US" dirty="0"/>
              <a:t> applies only when </a:t>
            </a:r>
            <a:r>
              <a:rPr lang="en-US" i="1" dirty="0">
                <a:solidFill>
                  <a:srgbClr val="FF0000"/>
                </a:solidFill>
              </a:rPr>
              <a:t>inheritance</a:t>
            </a:r>
            <a:r>
              <a:rPr lang="en-US" dirty="0"/>
              <a:t> is involved. </a:t>
            </a:r>
          </a:p>
          <a:p>
            <a:pPr algn="just"/>
            <a:r>
              <a:rPr lang="en-US" dirty="0"/>
              <a:t>Protected and default will be covered during the inheritance and packages topics.</a:t>
            </a:r>
          </a:p>
          <a:p>
            <a:pPr algn="just"/>
            <a:endParaRPr lang="en-US" dirty="0"/>
          </a:p>
        </p:txBody>
      </p:sp>
    </p:spTree>
    <p:extLst>
      <p:ext uri="{BB962C8B-B14F-4D97-AF65-F5344CB8AC3E}">
        <p14:creationId xmlns:p14="http://schemas.microsoft.com/office/powerpoint/2010/main" val="370703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D0DFD69-BD83-5C9B-AA16-9666F09EE1CC}"/>
              </a:ext>
            </a:extLst>
          </p:cNvPr>
          <p:cNvPicPr>
            <a:picLocks noChangeAspect="1"/>
          </p:cNvPicPr>
          <p:nvPr/>
        </p:nvPicPr>
        <p:blipFill>
          <a:blip r:embed="rId2"/>
          <a:stretch>
            <a:fillRect/>
          </a:stretch>
        </p:blipFill>
        <p:spPr>
          <a:xfrm>
            <a:off x="2570386" y="1372374"/>
            <a:ext cx="9458784" cy="3939611"/>
          </a:xfrm>
          <a:prstGeom prst="rect">
            <a:avLst/>
          </a:prstGeom>
        </p:spPr>
      </p:pic>
    </p:spTree>
    <p:extLst>
      <p:ext uri="{BB962C8B-B14F-4D97-AF65-F5344CB8AC3E}">
        <p14:creationId xmlns:p14="http://schemas.microsoft.com/office/powerpoint/2010/main" val="544931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1B56BCD-C576-AC0A-A7D9-6305E529F8B3}"/>
              </a:ext>
            </a:extLst>
          </p:cNvPr>
          <p:cNvPicPr>
            <a:picLocks noChangeAspect="1"/>
          </p:cNvPicPr>
          <p:nvPr/>
        </p:nvPicPr>
        <p:blipFill>
          <a:blip r:embed="rId2"/>
          <a:stretch>
            <a:fillRect/>
          </a:stretch>
        </p:blipFill>
        <p:spPr>
          <a:xfrm>
            <a:off x="2719949" y="448056"/>
            <a:ext cx="8270104" cy="5899624"/>
          </a:xfrm>
          <a:prstGeom prst="rect">
            <a:avLst/>
          </a:prstGeom>
        </p:spPr>
      </p:pic>
    </p:spTree>
    <p:extLst>
      <p:ext uri="{BB962C8B-B14F-4D97-AF65-F5344CB8AC3E}">
        <p14:creationId xmlns:p14="http://schemas.microsoft.com/office/powerpoint/2010/main" val="81723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FE23D2C-48F4-3BEA-634F-623028EF441C}"/>
              </a:ext>
            </a:extLst>
          </p:cNvPr>
          <p:cNvPicPr>
            <a:picLocks noChangeAspect="1"/>
          </p:cNvPicPr>
          <p:nvPr/>
        </p:nvPicPr>
        <p:blipFill>
          <a:blip r:embed="rId2"/>
          <a:stretch>
            <a:fillRect/>
          </a:stretch>
        </p:blipFill>
        <p:spPr>
          <a:xfrm>
            <a:off x="2729731" y="168141"/>
            <a:ext cx="6373629" cy="6389231"/>
          </a:xfrm>
          <a:prstGeom prst="rect">
            <a:avLst/>
          </a:prstGeom>
        </p:spPr>
      </p:pic>
    </p:spTree>
    <p:extLst>
      <p:ext uri="{BB962C8B-B14F-4D97-AF65-F5344CB8AC3E}">
        <p14:creationId xmlns:p14="http://schemas.microsoft.com/office/powerpoint/2010/main" val="3648425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800" b="1" dirty="0">
                <a:solidFill>
                  <a:srgbClr val="FFFFFF"/>
                </a:solidFill>
              </a:rPr>
              <a:t>The static keyword</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fontScale="70000" lnSpcReduction="20000"/>
          </a:bodyPr>
          <a:lstStyle/>
          <a:p>
            <a:pPr algn="just"/>
            <a:r>
              <a:rPr lang="en-US" sz="3600" dirty="0"/>
              <a:t>It is used to create a member that can be used by itself, without reference to a specific instance.</a:t>
            </a:r>
          </a:p>
          <a:p>
            <a:pPr algn="just"/>
            <a:r>
              <a:rPr lang="en-US" sz="3600" dirty="0"/>
              <a:t>The most common example of a static member is main( ). main( ) is declared as static because it must be called before any objects exist.</a:t>
            </a:r>
          </a:p>
          <a:p>
            <a:pPr algn="just"/>
            <a:r>
              <a:rPr lang="en-US" sz="3600" dirty="0"/>
              <a:t>When</a:t>
            </a:r>
          </a:p>
          <a:p>
            <a:pPr algn="just"/>
            <a:r>
              <a:rPr lang="en-US" sz="3600" dirty="0"/>
              <a:t>objects of its class are declared; no copy of a static variable is made. Instead, all instances of the class share the same static variable.</a:t>
            </a:r>
          </a:p>
          <a:p>
            <a:pPr algn="just"/>
            <a:r>
              <a:rPr lang="en-US" sz="3600" dirty="0"/>
              <a:t>Static can be variable as well as methods.</a:t>
            </a:r>
          </a:p>
          <a:p>
            <a:pPr algn="just"/>
            <a:r>
              <a:rPr lang="en-US" sz="3600" dirty="0"/>
              <a:t>Static methods can only access the static data.</a:t>
            </a:r>
          </a:p>
        </p:txBody>
      </p:sp>
    </p:spTree>
    <p:extLst>
      <p:ext uri="{BB962C8B-B14F-4D97-AF65-F5344CB8AC3E}">
        <p14:creationId xmlns:p14="http://schemas.microsoft.com/office/powerpoint/2010/main" val="1330596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F95B63E-1687-5F46-5276-C553E2BBD460}"/>
              </a:ext>
            </a:extLst>
          </p:cNvPr>
          <p:cNvPicPr>
            <a:picLocks noChangeAspect="1"/>
          </p:cNvPicPr>
          <p:nvPr/>
        </p:nvPicPr>
        <p:blipFill>
          <a:blip r:embed="rId2"/>
          <a:stretch>
            <a:fillRect/>
          </a:stretch>
        </p:blipFill>
        <p:spPr>
          <a:xfrm>
            <a:off x="2693397" y="257538"/>
            <a:ext cx="7243083" cy="6169284"/>
          </a:xfrm>
          <a:prstGeom prst="rect">
            <a:avLst/>
          </a:prstGeom>
        </p:spPr>
      </p:pic>
    </p:spTree>
    <p:extLst>
      <p:ext uri="{BB962C8B-B14F-4D97-AF65-F5344CB8AC3E}">
        <p14:creationId xmlns:p14="http://schemas.microsoft.com/office/powerpoint/2010/main" val="3583135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2059066-697E-DE3C-CB94-B4123CFFD87A}"/>
              </a:ext>
            </a:extLst>
          </p:cNvPr>
          <p:cNvPicPr>
            <a:picLocks noChangeAspect="1"/>
          </p:cNvPicPr>
          <p:nvPr/>
        </p:nvPicPr>
        <p:blipFill>
          <a:blip r:embed="rId2"/>
          <a:stretch>
            <a:fillRect/>
          </a:stretch>
        </p:blipFill>
        <p:spPr>
          <a:xfrm>
            <a:off x="2942504" y="138344"/>
            <a:ext cx="5409016" cy="6581312"/>
          </a:xfrm>
          <a:prstGeom prst="rect">
            <a:avLst/>
          </a:prstGeom>
        </p:spPr>
      </p:pic>
    </p:spTree>
    <p:extLst>
      <p:ext uri="{BB962C8B-B14F-4D97-AF65-F5344CB8AC3E}">
        <p14:creationId xmlns:p14="http://schemas.microsoft.com/office/powerpoint/2010/main" val="78554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A5728D8-3637-2713-A813-86FEEFA559DE}"/>
              </a:ext>
            </a:extLst>
          </p:cNvPr>
          <p:cNvPicPr>
            <a:picLocks noChangeAspect="1"/>
          </p:cNvPicPr>
          <p:nvPr/>
        </p:nvPicPr>
        <p:blipFill>
          <a:blip r:embed="rId2"/>
          <a:stretch>
            <a:fillRect/>
          </a:stretch>
        </p:blipFill>
        <p:spPr>
          <a:xfrm>
            <a:off x="383818" y="365855"/>
            <a:ext cx="11708822" cy="2153825"/>
          </a:xfrm>
          <a:prstGeom prst="rect">
            <a:avLst/>
          </a:prstGeom>
        </p:spPr>
      </p:pic>
      <p:pic>
        <p:nvPicPr>
          <p:cNvPr id="6" name="Picture 5">
            <a:extLst>
              <a:ext uri="{FF2B5EF4-FFF2-40B4-BE49-F238E27FC236}">
                <a16:creationId xmlns:a16="http://schemas.microsoft.com/office/drawing/2014/main" id="{D339D273-82A8-0760-04E9-0FDF1E5A8F5B}"/>
              </a:ext>
            </a:extLst>
          </p:cNvPr>
          <p:cNvPicPr>
            <a:picLocks noChangeAspect="1"/>
          </p:cNvPicPr>
          <p:nvPr/>
        </p:nvPicPr>
        <p:blipFill>
          <a:blip r:embed="rId3"/>
          <a:stretch>
            <a:fillRect/>
          </a:stretch>
        </p:blipFill>
        <p:spPr>
          <a:xfrm>
            <a:off x="383818" y="3483363"/>
            <a:ext cx="6758662" cy="2467148"/>
          </a:xfrm>
          <a:prstGeom prst="rect">
            <a:avLst/>
          </a:prstGeom>
        </p:spPr>
      </p:pic>
    </p:spTree>
    <p:extLst>
      <p:ext uri="{BB962C8B-B14F-4D97-AF65-F5344CB8AC3E}">
        <p14:creationId xmlns:p14="http://schemas.microsoft.com/office/powerpoint/2010/main" val="803002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7CF3B5E-F51C-D933-0629-9291005B7D02}"/>
              </a:ext>
            </a:extLst>
          </p:cNvPr>
          <p:cNvPicPr>
            <a:picLocks noChangeAspect="1"/>
          </p:cNvPicPr>
          <p:nvPr/>
        </p:nvPicPr>
        <p:blipFill>
          <a:blip r:embed="rId2"/>
          <a:stretch>
            <a:fillRect/>
          </a:stretch>
        </p:blipFill>
        <p:spPr>
          <a:xfrm>
            <a:off x="3274810" y="448056"/>
            <a:ext cx="7281430" cy="5875783"/>
          </a:xfrm>
          <a:prstGeom prst="rect">
            <a:avLst/>
          </a:prstGeom>
        </p:spPr>
      </p:pic>
    </p:spTree>
    <p:extLst>
      <p:ext uri="{BB962C8B-B14F-4D97-AF65-F5344CB8AC3E}">
        <p14:creationId xmlns:p14="http://schemas.microsoft.com/office/powerpoint/2010/main" val="363662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800" b="1" dirty="0">
                <a:solidFill>
                  <a:srgbClr val="FFFFFF"/>
                </a:solidFill>
              </a:rPr>
              <a:t>The final keyword</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2607775"/>
          </a:xfrm>
        </p:spPr>
        <p:txBody>
          <a:bodyPr anchor="ctr">
            <a:normAutofit lnSpcReduction="10000"/>
          </a:bodyPr>
          <a:lstStyle/>
          <a:p>
            <a:pPr algn="just"/>
            <a:r>
              <a:rPr lang="en-US" sz="2400" dirty="0"/>
              <a:t>The keyword final serve three main purposes in Java</a:t>
            </a:r>
          </a:p>
          <a:p>
            <a:pPr marL="971550" lvl="1" indent="-514350" algn="just">
              <a:buFont typeface="+mj-lt"/>
              <a:buAutoNum type="arabicPeriod"/>
            </a:pPr>
            <a:r>
              <a:rPr lang="en-US" sz="2000" dirty="0"/>
              <a:t>It is used to create a constant variable in Java (Applied on </a:t>
            </a:r>
            <a:r>
              <a:rPr lang="en-US" sz="2000" i="1" dirty="0">
                <a:solidFill>
                  <a:srgbClr val="FF0000"/>
                </a:solidFill>
              </a:rPr>
              <a:t>Variable</a:t>
            </a:r>
            <a:r>
              <a:rPr lang="en-US" sz="2000" dirty="0"/>
              <a:t>).</a:t>
            </a:r>
          </a:p>
          <a:p>
            <a:pPr marL="971550" lvl="1" indent="-514350" algn="just">
              <a:buFont typeface="+mj-lt"/>
              <a:buAutoNum type="arabicPeriod"/>
            </a:pPr>
            <a:r>
              <a:rPr lang="en-US" sz="2000" dirty="0"/>
              <a:t>It is used to prevent method overriding (Applied on </a:t>
            </a:r>
            <a:r>
              <a:rPr lang="en-US" sz="2000" i="1" dirty="0">
                <a:solidFill>
                  <a:srgbClr val="FF0000"/>
                </a:solidFill>
              </a:rPr>
              <a:t>Method</a:t>
            </a:r>
            <a:r>
              <a:rPr lang="en-US" sz="2000" dirty="0"/>
              <a:t>)</a:t>
            </a:r>
          </a:p>
          <a:p>
            <a:pPr marL="971550" lvl="1" indent="-514350" algn="just">
              <a:buFont typeface="+mj-lt"/>
              <a:buAutoNum type="arabicPeriod"/>
            </a:pPr>
            <a:r>
              <a:rPr lang="en-US" sz="2000" dirty="0"/>
              <a:t>It is used to prevent inheritance (Applied on </a:t>
            </a:r>
            <a:r>
              <a:rPr lang="en-US" sz="2000" i="1" dirty="0">
                <a:solidFill>
                  <a:srgbClr val="FF0000"/>
                </a:solidFill>
              </a:rPr>
              <a:t>Class</a:t>
            </a:r>
            <a:r>
              <a:rPr lang="en-US" sz="2000" dirty="0"/>
              <a:t>).</a:t>
            </a:r>
          </a:p>
          <a:p>
            <a:pPr algn="just"/>
            <a:r>
              <a:rPr lang="en-US" sz="2400" dirty="0"/>
              <a:t>But here we consider the first point which is using final for creating constant variables. </a:t>
            </a:r>
          </a:p>
          <a:p>
            <a:pPr algn="just"/>
            <a:r>
              <a:rPr lang="en-US" sz="2400" dirty="0"/>
              <a:t>The second and third uses will be discussed in chapter 8 (</a:t>
            </a:r>
            <a:r>
              <a:rPr lang="en-US" sz="2400" i="1" dirty="0">
                <a:solidFill>
                  <a:srgbClr val="FF0000"/>
                </a:solidFill>
              </a:rPr>
              <a:t>Inheritance</a:t>
            </a:r>
            <a:r>
              <a:rPr lang="en-US" sz="2400" dirty="0"/>
              <a:t>).</a:t>
            </a:r>
          </a:p>
        </p:txBody>
      </p:sp>
      <p:pic>
        <p:nvPicPr>
          <p:cNvPr id="5" name="Picture 4">
            <a:extLst>
              <a:ext uri="{FF2B5EF4-FFF2-40B4-BE49-F238E27FC236}">
                <a16:creationId xmlns:a16="http://schemas.microsoft.com/office/drawing/2014/main" id="{534A904B-22A1-F7F2-5885-2E42082D5B4C}"/>
              </a:ext>
            </a:extLst>
          </p:cNvPr>
          <p:cNvPicPr>
            <a:picLocks noChangeAspect="1"/>
          </p:cNvPicPr>
          <p:nvPr/>
        </p:nvPicPr>
        <p:blipFill>
          <a:blip r:embed="rId2"/>
          <a:stretch>
            <a:fillRect/>
          </a:stretch>
        </p:blipFill>
        <p:spPr>
          <a:xfrm>
            <a:off x="3412750" y="5098211"/>
            <a:ext cx="4136130" cy="1486142"/>
          </a:xfrm>
          <a:prstGeom prst="rect">
            <a:avLst/>
          </a:prstGeom>
        </p:spPr>
      </p:pic>
    </p:spTree>
    <p:extLst>
      <p:ext uri="{BB962C8B-B14F-4D97-AF65-F5344CB8AC3E}">
        <p14:creationId xmlns:p14="http://schemas.microsoft.com/office/powerpoint/2010/main" val="159968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Using Objects as Parameters</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sz="4000" dirty="0"/>
              <a:t>So far, we have only been using simple types as parameters to methods.</a:t>
            </a:r>
          </a:p>
          <a:p>
            <a:pPr algn="just"/>
            <a:r>
              <a:rPr lang="en-US" sz="4000" dirty="0"/>
              <a:t>However, it is both correct and common to pass objects to methods.</a:t>
            </a:r>
          </a:p>
        </p:txBody>
      </p:sp>
    </p:spTree>
    <p:extLst>
      <p:ext uri="{BB962C8B-B14F-4D97-AF65-F5344CB8AC3E}">
        <p14:creationId xmlns:p14="http://schemas.microsoft.com/office/powerpoint/2010/main" val="1075668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880E3704-5CA0-9F63-0D13-F61DAC479C82}"/>
              </a:ext>
            </a:extLst>
          </p:cNvPr>
          <p:cNvPicPr>
            <a:picLocks noChangeAspect="1"/>
          </p:cNvPicPr>
          <p:nvPr/>
        </p:nvPicPr>
        <p:blipFill>
          <a:blip r:embed="rId2"/>
          <a:stretch>
            <a:fillRect/>
          </a:stretch>
        </p:blipFill>
        <p:spPr>
          <a:xfrm>
            <a:off x="2684086" y="915369"/>
            <a:ext cx="9041571" cy="5200904"/>
          </a:xfrm>
          <a:prstGeom prst="rect">
            <a:avLst/>
          </a:prstGeom>
        </p:spPr>
      </p:pic>
    </p:spTree>
    <p:extLst>
      <p:ext uri="{BB962C8B-B14F-4D97-AF65-F5344CB8AC3E}">
        <p14:creationId xmlns:p14="http://schemas.microsoft.com/office/powerpoint/2010/main" val="2723112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733FA81-FE3A-C18A-A8D9-A4FC2E61A7F0}"/>
              </a:ext>
            </a:extLst>
          </p:cNvPr>
          <p:cNvPicPr>
            <a:picLocks noChangeAspect="1"/>
          </p:cNvPicPr>
          <p:nvPr/>
        </p:nvPicPr>
        <p:blipFill>
          <a:blip r:embed="rId2"/>
          <a:stretch>
            <a:fillRect/>
          </a:stretch>
        </p:blipFill>
        <p:spPr>
          <a:xfrm>
            <a:off x="2597032" y="448517"/>
            <a:ext cx="8773107" cy="5950562"/>
          </a:xfrm>
          <a:prstGeom prst="rect">
            <a:avLst/>
          </a:prstGeom>
        </p:spPr>
      </p:pic>
    </p:spTree>
    <p:extLst>
      <p:ext uri="{BB962C8B-B14F-4D97-AF65-F5344CB8AC3E}">
        <p14:creationId xmlns:p14="http://schemas.microsoft.com/office/powerpoint/2010/main" val="3472623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BA0F4B4-C4DA-8502-45C8-0E2C9D2381B0}"/>
              </a:ext>
            </a:extLst>
          </p:cNvPr>
          <p:cNvPicPr>
            <a:picLocks noChangeAspect="1"/>
          </p:cNvPicPr>
          <p:nvPr/>
        </p:nvPicPr>
        <p:blipFill>
          <a:blip r:embed="rId2"/>
          <a:stretch>
            <a:fillRect/>
          </a:stretch>
        </p:blipFill>
        <p:spPr>
          <a:xfrm>
            <a:off x="2710691" y="297798"/>
            <a:ext cx="9410136" cy="1277002"/>
          </a:xfrm>
          <a:prstGeom prst="rect">
            <a:avLst/>
          </a:prstGeom>
        </p:spPr>
      </p:pic>
      <p:pic>
        <p:nvPicPr>
          <p:cNvPr id="6" name="Picture 5">
            <a:extLst>
              <a:ext uri="{FF2B5EF4-FFF2-40B4-BE49-F238E27FC236}">
                <a16:creationId xmlns:a16="http://schemas.microsoft.com/office/drawing/2014/main" id="{44B14D74-2D99-9057-C0ED-FEDA4E0B53D9}"/>
              </a:ext>
            </a:extLst>
          </p:cNvPr>
          <p:cNvPicPr>
            <a:picLocks noChangeAspect="1"/>
          </p:cNvPicPr>
          <p:nvPr/>
        </p:nvPicPr>
        <p:blipFill>
          <a:blip r:embed="rId3"/>
          <a:stretch>
            <a:fillRect/>
          </a:stretch>
        </p:blipFill>
        <p:spPr>
          <a:xfrm>
            <a:off x="3023089" y="1503680"/>
            <a:ext cx="5899061" cy="4985402"/>
          </a:xfrm>
          <a:prstGeom prst="rect">
            <a:avLst/>
          </a:prstGeom>
        </p:spPr>
      </p:pic>
    </p:spTree>
    <p:extLst>
      <p:ext uri="{BB962C8B-B14F-4D97-AF65-F5344CB8AC3E}">
        <p14:creationId xmlns:p14="http://schemas.microsoft.com/office/powerpoint/2010/main" val="1174181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Pass by Value and Pass by Reference</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fontScale="92500" lnSpcReduction="10000"/>
          </a:bodyPr>
          <a:lstStyle/>
          <a:p>
            <a:pPr algn="just"/>
            <a:r>
              <a:rPr lang="en-US" dirty="0"/>
              <a:t>The </a:t>
            </a:r>
            <a:r>
              <a:rPr lang="en-US" i="1" dirty="0">
                <a:solidFill>
                  <a:srgbClr val="FF0000"/>
                </a:solidFill>
              </a:rPr>
              <a:t>pass by value </a:t>
            </a:r>
            <a:r>
              <a:rPr lang="en-US" dirty="0"/>
              <a:t>copies the value of an argument into the formal parameter of the subroutine. Therefore, changes made to the parameter of the subroutine have no effect on the argument.</a:t>
            </a:r>
          </a:p>
          <a:p>
            <a:pPr algn="just"/>
            <a:r>
              <a:rPr lang="en-US" dirty="0"/>
              <a:t>In </a:t>
            </a:r>
            <a:r>
              <a:rPr lang="en-US" i="1" dirty="0">
                <a:solidFill>
                  <a:srgbClr val="FF0000"/>
                </a:solidFill>
              </a:rPr>
              <a:t>pass by reference</a:t>
            </a:r>
            <a:r>
              <a:rPr lang="en-US" dirty="0"/>
              <a:t>, a reference to an argument (not the value of the argument) is passed to the parameter. Inside the subroutine, this reference is used to access the actual argument specified in the call. This means that changes made to the parameter will affect the argument used to call the subroutine.</a:t>
            </a:r>
          </a:p>
          <a:p>
            <a:pPr algn="just"/>
            <a:r>
              <a:rPr lang="en-US" dirty="0"/>
              <a:t>The precise effect differs between whether a primitive type or a reference type is passed.</a:t>
            </a:r>
          </a:p>
        </p:txBody>
      </p:sp>
    </p:spTree>
    <p:extLst>
      <p:ext uri="{BB962C8B-B14F-4D97-AF65-F5344CB8AC3E}">
        <p14:creationId xmlns:p14="http://schemas.microsoft.com/office/powerpoint/2010/main" val="479094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BB86872-15DD-BE24-93D7-E54512E4B90F}"/>
              </a:ext>
            </a:extLst>
          </p:cNvPr>
          <p:cNvPicPr>
            <a:picLocks noChangeAspect="1"/>
          </p:cNvPicPr>
          <p:nvPr/>
        </p:nvPicPr>
        <p:blipFill>
          <a:blip r:embed="rId2"/>
          <a:stretch>
            <a:fillRect/>
          </a:stretch>
        </p:blipFill>
        <p:spPr>
          <a:xfrm>
            <a:off x="2904840" y="155120"/>
            <a:ext cx="7326279" cy="6547760"/>
          </a:xfrm>
          <a:prstGeom prst="rect">
            <a:avLst/>
          </a:prstGeom>
        </p:spPr>
      </p:pic>
    </p:spTree>
    <p:extLst>
      <p:ext uri="{BB962C8B-B14F-4D97-AF65-F5344CB8AC3E}">
        <p14:creationId xmlns:p14="http://schemas.microsoft.com/office/powerpoint/2010/main" val="676716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26508AC-8116-8044-D631-D67B885A8E49}"/>
              </a:ext>
            </a:extLst>
          </p:cNvPr>
          <p:cNvPicPr>
            <a:picLocks noChangeAspect="1"/>
          </p:cNvPicPr>
          <p:nvPr/>
        </p:nvPicPr>
        <p:blipFill>
          <a:blip r:embed="rId2"/>
          <a:stretch>
            <a:fillRect/>
          </a:stretch>
        </p:blipFill>
        <p:spPr>
          <a:xfrm>
            <a:off x="2702162" y="52266"/>
            <a:ext cx="6476344" cy="6579828"/>
          </a:xfrm>
          <a:prstGeom prst="rect">
            <a:avLst/>
          </a:prstGeom>
        </p:spPr>
      </p:pic>
    </p:spTree>
    <p:extLst>
      <p:ext uri="{BB962C8B-B14F-4D97-AF65-F5344CB8AC3E}">
        <p14:creationId xmlns:p14="http://schemas.microsoft.com/office/powerpoint/2010/main" val="672788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Returning Objects</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dirty="0"/>
              <a:t>A method can return any type of data, including class types that you create. </a:t>
            </a:r>
          </a:p>
          <a:p>
            <a:pPr algn="just"/>
            <a:r>
              <a:rPr lang="en-US" dirty="0"/>
              <a:t>For example, in the following program, the </a:t>
            </a:r>
            <a:r>
              <a:rPr lang="en-US" dirty="0" err="1"/>
              <a:t>incrByTen</a:t>
            </a:r>
            <a:r>
              <a:rPr lang="en-US" dirty="0"/>
              <a:t>( ) method returns an object in which the value of a is ten greater than it is in the invoking object.</a:t>
            </a:r>
          </a:p>
        </p:txBody>
      </p:sp>
    </p:spTree>
    <p:extLst>
      <p:ext uri="{BB962C8B-B14F-4D97-AF65-F5344CB8AC3E}">
        <p14:creationId xmlns:p14="http://schemas.microsoft.com/office/powerpoint/2010/main" val="2978302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98E63FB-4C79-504F-B3D9-D7487B74DE81}"/>
              </a:ext>
            </a:extLst>
          </p:cNvPr>
          <p:cNvPicPr>
            <a:picLocks noChangeAspect="1"/>
          </p:cNvPicPr>
          <p:nvPr/>
        </p:nvPicPr>
        <p:blipFill>
          <a:blip r:embed="rId2"/>
          <a:stretch>
            <a:fillRect/>
          </a:stretch>
        </p:blipFill>
        <p:spPr>
          <a:xfrm>
            <a:off x="2669394" y="252235"/>
            <a:ext cx="8100205" cy="6353530"/>
          </a:xfrm>
          <a:prstGeom prst="rect">
            <a:avLst/>
          </a:prstGeom>
        </p:spPr>
      </p:pic>
    </p:spTree>
    <p:extLst>
      <p:ext uri="{BB962C8B-B14F-4D97-AF65-F5344CB8AC3E}">
        <p14:creationId xmlns:p14="http://schemas.microsoft.com/office/powerpoint/2010/main" val="2554461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9025F37-B0E6-3A0C-4733-A7C9F8D290F6}"/>
              </a:ext>
            </a:extLst>
          </p:cNvPr>
          <p:cNvPicPr>
            <a:picLocks noChangeAspect="1"/>
          </p:cNvPicPr>
          <p:nvPr/>
        </p:nvPicPr>
        <p:blipFill>
          <a:blip r:embed="rId2"/>
          <a:stretch>
            <a:fillRect/>
          </a:stretch>
        </p:blipFill>
        <p:spPr>
          <a:xfrm>
            <a:off x="2475664" y="246880"/>
            <a:ext cx="9217084" cy="6152199"/>
          </a:xfrm>
          <a:prstGeom prst="rect">
            <a:avLst/>
          </a:prstGeom>
        </p:spPr>
      </p:pic>
    </p:spTree>
    <p:extLst>
      <p:ext uri="{BB962C8B-B14F-4D97-AF65-F5344CB8AC3E}">
        <p14:creationId xmlns:p14="http://schemas.microsoft.com/office/powerpoint/2010/main" val="577312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E79F83-0A35-D8C8-E02C-3BE781D16C3C}"/>
              </a:ext>
            </a:extLst>
          </p:cNvPr>
          <p:cNvSpPr>
            <a:spLocks noGrp="1"/>
          </p:cNvSpPr>
          <p:nvPr>
            <p:ph type="title"/>
          </p:nvPr>
        </p:nvSpPr>
        <p:spPr>
          <a:xfrm>
            <a:off x="958506" y="800392"/>
            <a:ext cx="10264697" cy="1212102"/>
          </a:xfrm>
        </p:spPr>
        <p:txBody>
          <a:bodyPr>
            <a:normAutofit/>
          </a:bodyPr>
          <a:lstStyle/>
          <a:p>
            <a:r>
              <a:rPr lang="en-US" sz="6600" b="1" dirty="0">
                <a:solidFill>
                  <a:srgbClr val="FFFFFF"/>
                </a:solidFill>
              </a:rPr>
              <a:t>Recursion</a:t>
            </a:r>
          </a:p>
        </p:txBody>
      </p:sp>
      <p:sp>
        <p:nvSpPr>
          <p:cNvPr id="3" name="Content Placeholder 2">
            <a:extLst>
              <a:ext uri="{FF2B5EF4-FFF2-40B4-BE49-F238E27FC236}">
                <a16:creationId xmlns:a16="http://schemas.microsoft.com/office/drawing/2014/main" id="{B77AB05E-C75B-911C-88DF-AE2FFC181AF7}"/>
              </a:ext>
            </a:extLst>
          </p:cNvPr>
          <p:cNvSpPr>
            <a:spLocks noGrp="1"/>
          </p:cNvSpPr>
          <p:nvPr>
            <p:ph idx="1"/>
          </p:nvPr>
        </p:nvSpPr>
        <p:spPr>
          <a:xfrm>
            <a:off x="1367624" y="2490436"/>
            <a:ext cx="9708995" cy="3567173"/>
          </a:xfrm>
        </p:spPr>
        <p:txBody>
          <a:bodyPr anchor="ctr">
            <a:normAutofit/>
          </a:bodyPr>
          <a:lstStyle/>
          <a:p>
            <a:pPr algn="just"/>
            <a:r>
              <a:rPr lang="en-US" sz="3600" dirty="0"/>
              <a:t>Recursion is the process of defining something in terms of itself.</a:t>
            </a:r>
          </a:p>
          <a:p>
            <a:pPr algn="just"/>
            <a:r>
              <a:rPr lang="en-US" sz="3600" dirty="0"/>
              <a:t>Recursion is the attribute that allows a method to call itself. </a:t>
            </a:r>
          </a:p>
          <a:p>
            <a:pPr algn="just"/>
            <a:r>
              <a:rPr lang="en-US" sz="3600" dirty="0"/>
              <a:t>A method that calls itself is said to be recursive.</a:t>
            </a:r>
          </a:p>
        </p:txBody>
      </p:sp>
    </p:spTree>
    <p:extLst>
      <p:ext uri="{BB962C8B-B14F-4D97-AF65-F5344CB8AC3E}">
        <p14:creationId xmlns:p14="http://schemas.microsoft.com/office/powerpoint/2010/main" val="3276143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6"/>
            <a:ext cx="1920339" cy="2894124"/>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3515821"/>
            <a:ext cx="1920338" cy="2883258"/>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FDF6B3F-ACA7-4514-1678-D9CC6F6E78A1}"/>
              </a:ext>
            </a:extLst>
          </p:cNvPr>
          <p:cNvPicPr>
            <a:picLocks noChangeAspect="1"/>
          </p:cNvPicPr>
          <p:nvPr/>
        </p:nvPicPr>
        <p:blipFill>
          <a:blip r:embed="rId2"/>
          <a:stretch>
            <a:fillRect/>
          </a:stretch>
        </p:blipFill>
        <p:spPr>
          <a:xfrm>
            <a:off x="2574881" y="220731"/>
            <a:ext cx="7405881" cy="6357392"/>
          </a:xfrm>
          <a:prstGeom prst="rect">
            <a:avLst/>
          </a:prstGeom>
        </p:spPr>
      </p:pic>
      <p:sp>
        <p:nvSpPr>
          <p:cNvPr id="4" name="TextBox 3">
            <a:extLst>
              <a:ext uri="{FF2B5EF4-FFF2-40B4-BE49-F238E27FC236}">
                <a16:creationId xmlns:a16="http://schemas.microsoft.com/office/drawing/2014/main" id="{C0227EC7-A541-8767-5CFD-96814CA84886}"/>
              </a:ext>
            </a:extLst>
          </p:cNvPr>
          <p:cNvSpPr txBox="1"/>
          <p:nvPr/>
        </p:nvSpPr>
        <p:spPr>
          <a:xfrm>
            <a:off x="5885371" y="6214413"/>
            <a:ext cx="6094562" cy="369332"/>
          </a:xfrm>
          <a:prstGeom prst="rect">
            <a:avLst/>
          </a:prstGeom>
          <a:noFill/>
        </p:spPr>
        <p:txBody>
          <a:bodyPr wrap="square">
            <a:spAutoFit/>
          </a:bodyPr>
          <a:lstStyle/>
          <a:p>
            <a:r>
              <a:rPr lang="en-US" dirty="0">
                <a:solidFill>
                  <a:srgbClr val="0070C0"/>
                </a:solidFill>
              </a:rPr>
              <a:t>https://dichchankinh.com/~galles/visualization/RecFact.html</a:t>
            </a:r>
          </a:p>
        </p:txBody>
      </p:sp>
    </p:spTree>
    <p:extLst>
      <p:ext uri="{BB962C8B-B14F-4D97-AF65-F5344CB8AC3E}">
        <p14:creationId xmlns:p14="http://schemas.microsoft.com/office/powerpoint/2010/main" val="3088194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A941C2A-D0AF-DDBD-305D-C8FC73F76DE5}"/>
              </a:ext>
            </a:extLst>
          </p:cNvPr>
          <p:cNvSpPr>
            <a:spLocks noGrp="1"/>
          </p:cNvSpPr>
          <p:nvPr>
            <p:ph type="title"/>
          </p:nvPr>
        </p:nvSpPr>
        <p:spPr>
          <a:xfrm>
            <a:off x="934872" y="982272"/>
            <a:ext cx="3388419" cy="4560970"/>
          </a:xfrm>
        </p:spPr>
        <p:txBody>
          <a:bodyPr>
            <a:normAutofit/>
          </a:bodyPr>
          <a:lstStyle/>
          <a:p>
            <a:r>
              <a:rPr lang="en-US" sz="6600" b="1" dirty="0">
                <a:solidFill>
                  <a:srgbClr val="FFFFFF"/>
                </a:solidFill>
              </a:rPr>
              <a:t>Recap</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737E190-A6EC-CA79-7B0D-3AD94DCEC9E3}"/>
              </a:ext>
            </a:extLst>
          </p:cNvPr>
          <p:cNvSpPr>
            <a:spLocks noGrp="1"/>
          </p:cNvSpPr>
          <p:nvPr>
            <p:ph idx="1"/>
          </p:nvPr>
        </p:nvSpPr>
        <p:spPr>
          <a:xfrm>
            <a:off x="5221862" y="1449238"/>
            <a:ext cx="6182259" cy="5055079"/>
          </a:xfrm>
        </p:spPr>
        <p:txBody>
          <a:bodyPr anchor="ctr">
            <a:normAutofit lnSpcReduction="10000"/>
          </a:bodyPr>
          <a:lstStyle/>
          <a:p>
            <a:r>
              <a:rPr lang="en-US" sz="2400" dirty="0">
                <a:solidFill>
                  <a:srgbClr val="FEFFFF"/>
                </a:solidFill>
              </a:rPr>
              <a:t>Method Overloading</a:t>
            </a:r>
          </a:p>
          <a:p>
            <a:r>
              <a:rPr lang="en-US" sz="2400" dirty="0">
                <a:solidFill>
                  <a:srgbClr val="FEFFFF"/>
                </a:solidFill>
              </a:rPr>
              <a:t>Constructor Overloading</a:t>
            </a:r>
          </a:p>
          <a:p>
            <a:r>
              <a:rPr lang="en-US" sz="2400" dirty="0">
                <a:solidFill>
                  <a:srgbClr val="FEFFFF"/>
                </a:solidFill>
              </a:rPr>
              <a:t>Using Object as Parameters</a:t>
            </a:r>
          </a:p>
          <a:p>
            <a:pPr lvl="1"/>
            <a:r>
              <a:rPr lang="en-US" sz="1800" dirty="0">
                <a:solidFill>
                  <a:srgbClr val="FEFFFF"/>
                </a:solidFill>
              </a:rPr>
              <a:t>Pass by Value</a:t>
            </a:r>
          </a:p>
          <a:p>
            <a:pPr lvl="1"/>
            <a:r>
              <a:rPr lang="en-US" sz="1800" dirty="0">
                <a:solidFill>
                  <a:srgbClr val="FEFFFF"/>
                </a:solidFill>
              </a:rPr>
              <a:t>Pass by Reference</a:t>
            </a:r>
          </a:p>
          <a:p>
            <a:r>
              <a:rPr lang="en-US" sz="2400" dirty="0">
                <a:solidFill>
                  <a:srgbClr val="FEFFFF"/>
                </a:solidFill>
              </a:rPr>
              <a:t>Returning Objects</a:t>
            </a:r>
          </a:p>
          <a:p>
            <a:r>
              <a:rPr lang="en-US" sz="2400" dirty="0">
                <a:solidFill>
                  <a:srgbClr val="FEFFFF"/>
                </a:solidFill>
              </a:rPr>
              <a:t>Recursion</a:t>
            </a:r>
          </a:p>
          <a:p>
            <a:r>
              <a:rPr lang="en-US" sz="2400" dirty="0">
                <a:solidFill>
                  <a:srgbClr val="FEFFFF"/>
                </a:solidFill>
              </a:rPr>
              <a:t>Introducing the Access Control</a:t>
            </a:r>
          </a:p>
          <a:p>
            <a:r>
              <a:rPr lang="en-US" sz="2400" dirty="0">
                <a:solidFill>
                  <a:srgbClr val="FEFFFF"/>
                </a:solidFill>
              </a:rPr>
              <a:t>Understanding the Static Keyword</a:t>
            </a:r>
          </a:p>
          <a:p>
            <a:r>
              <a:rPr lang="en-US" sz="2400" dirty="0">
                <a:solidFill>
                  <a:srgbClr val="FEFFFF"/>
                </a:solidFill>
              </a:rPr>
              <a:t>Introducing the Final keyword</a:t>
            </a:r>
          </a:p>
          <a:p>
            <a:r>
              <a:rPr lang="en-US" sz="2400" dirty="0">
                <a:solidFill>
                  <a:srgbClr val="FEFFFF"/>
                </a:solidFill>
              </a:rPr>
              <a:t>Inner Classes</a:t>
            </a:r>
          </a:p>
          <a:p>
            <a:r>
              <a:rPr lang="en-US" sz="2400" dirty="0">
                <a:solidFill>
                  <a:srgbClr val="FEFFFF"/>
                </a:solidFill>
              </a:rPr>
              <a:t>The String Class</a:t>
            </a:r>
          </a:p>
        </p:txBody>
      </p:sp>
    </p:spTree>
    <p:extLst>
      <p:ext uri="{BB962C8B-B14F-4D97-AF65-F5344CB8AC3E}">
        <p14:creationId xmlns:p14="http://schemas.microsoft.com/office/powerpoint/2010/main" val="812746018"/>
      </p:ext>
    </p:extLst>
  </p:cSld>
  <p:clrMapOvr>
    <a:masterClrMapping/>
  </p:clrMapOvr>
</p:sld>
</file>

<file path=ppt/theme/theme1.xml><?xml version="1.0" encoding="utf-8"?>
<a:theme xmlns:a="http://schemas.openxmlformats.org/drawingml/2006/main" name="BlobVTI">
  <a:themeElements>
    <a:clrScheme name="AnalogousFromDarkSeedLeftStep">
      <a:dk1>
        <a:srgbClr val="000000"/>
      </a:dk1>
      <a:lt1>
        <a:srgbClr val="FFFFFF"/>
      </a:lt1>
      <a:dk2>
        <a:srgbClr val="1C2431"/>
      </a:dk2>
      <a:lt2>
        <a:srgbClr val="F2F3F0"/>
      </a:lt2>
      <a:accent1>
        <a:srgbClr val="814DC3"/>
      </a:accent1>
      <a:accent2>
        <a:srgbClr val="4643B5"/>
      </a:accent2>
      <a:accent3>
        <a:srgbClr val="4D7BC3"/>
      </a:accent3>
      <a:accent4>
        <a:srgbClr val="3B9AB1"/>
      </a:accent4>
      <a:accent5>
        <a:srgbClr val="4BC0A6"/>
      </a:accent5>
      <a:accent6>
        <a:srgbClr val="3BB166"/>
      </a:accent6>
      <a:hlink>
        <a:srgbClr val="339A95"/>
      </a:hlink>
      <a:folHlink>
        <a:srgbClr val="7F7F7F"/>
      </a:folHlink>
    </a:clrScheme>
    <a:fontScheme name="Blob">
      <a:majorFont>
        <a:latin typeface="The Hand Extrablack"/>
        <a:ea typeface=""/>
        <a:cs typeface=""/>
      </a:majorFont>
      <a:minorFont>
        <a:latin typeface="Sagona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bVTI" id="{06D3AACF-B619-4265-899F-5E2FB3A445D5}" vid="{F5918863-BA1A-4735-81A8-3E7BFBDA84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788</Words>
  <Application>Microsoft Office PowerPoint</Application>
  <PresentationFormat>Widescreen</PresentationFormat>
  <Paragraphs>83</Paragraphs>
  <Slides>32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Arial</vt:lpstr>
      <vt:lpstr>Arial Black</vt:lpstr>
      <vt:lpstr>Calibri</vt:lpstr>
      <vt:lpstr>Calibri Light</vt:lpstr>
      <vt:lpstr>Sagona Book</vt:lpstr>
      <vt:lpstr>The Hand Extrablack</vt:lpstr>
      <vt:lpstr>BlobVTI</vt:lpstr>
      <vt:lpstr>Office Theme</vt:lpstr>
      <vt:lpstr>A Closer Look at Methods and Classes</vt:lpstr>
      <vt:lpstr>Agenda</vt:lpstr>
      <vt:lpstr>Method Overloading</vt:lpstr>
      <vt:lpstr>PowerPoint Presentation</vt:lpstr>
      <vt:lpstr>Constructor Overloading</vt:lpstr>
      <vt:lpstr>PowerPoint Presentation</vt:lpstr>
      <vt:lpstr>PowerPoint Presentation</vt:lpstr>
      <vt:lpstr>Introducing the Access Control</vt:lpstr>
      <vt:lpstr>Introducing the Access Control</vt:lpstr>
      <vt:lpstr>Introducing the Access Control</vt:lpstr>
      <vt:lpstr>PowerPoint Presentation</vt:lpstr>
      <vt:lpstr>PowerPoint Presentation</vt:lpstr>
      <vt:lpstr>PowerPoint Presentation</vt:lpstr>
      <vt:lpstr>The static keyword</vt:lpstr>
      <vt:lpstr>PowerPoint Presentation</vt:lpstr>
      <vt:lpstr>PowerPoint Presentation</vt:lpstr>
      <vt:lpstr>PowerPoint Presentation</vt:lpstr>
      <vt:lpstr>PowerPoint Presentation</vt:lpstr>
      <vt:lpstr>The final keyword</vt:lpstr>
      <vt:lpstr>Using Objects as Parameters</vt:lpstr>
      <vt:lpstr>PowerPoint Presentation</vt:lpstr>
      <vt:lpstr>PowerPoint Presentation</vt:lpstr>
      <vt:lpstr>PowerPoint Presentation</vt:lpstr>
      <vt:lpstr>Pass by Value and Pass by Reference</vt:lpstr>
      <vt:lpstr>PowerPoint Presentation</vt:lpstr>
      <vt:lpstr>PowerPoint Presentation</vt:lpstr>
      <vt:lpstr>Returning Objects</vt:lpstr>
      <vt:lpstr>PowerPoint Presentation</vt:lpstr>
      <vt:lpstr>PowerPoint Presentation</vt:lpstr>
      <vt:lpstr>Recursion</vt:lpstr>
      <vt:lpstr>PowerPoint Presentation</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Closer Look at Methods and Classes</dc:title>
  <dc:creator>Mr. Ghulam Mujtaba Shaikh</dc:creator>
  <cp:lastModifiedBy>Mr. Ghulam Mujtaba Shaikh</cp:lastModifiedBy>
  <cp:revision>11</cp:revision>
  <dcterms:created xsi:type="dcterms:W3CDTF">2023-02-22T09:53:49Z</dcterms:created>
  <dcterms:modified xsi:type="dcterms:W3CDTF">2023-02-28T16:30:48Z</dcterms:modified>
</cp:coreProperties>
</file>
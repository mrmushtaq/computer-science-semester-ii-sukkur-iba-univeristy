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6" r:id="rId19"/>
    <p:sldId id="275" r:id="rId20"/>
    <p:sldId id="277" r:id="rId21"/>
    <p:sldId id="278" r:id="rId22"/>
    <p:sldId id="25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73" d="100"/>
          <a:sy n="73" d="100"/>
        </p:scale>
        <p:origin x="40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47C0A-2EA7-4975-8CC7-9B0B2DBF97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26B5E-109D-4603-A7BB-E015306FE5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8337D-F465-46E9-AF1E-5C7BCA0EB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C9DFE-7ADB-4504-8417-45E9DC5D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71730-FF26-4A20-9FCF-D7AB3A7AC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80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F0A47-E6C5-47E5-A570-D89FD544D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EE293-D08F-490B-808C-B2FA7B802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62A4-21F9-4F76-8B58-BC8F0E780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8EC0E-E173-409A-BF5D-71E17F12A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933DD-FB94-4366-A4FC-69C831238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58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A5A97-F32E-46DB-8C7B-713A7003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301684-3289-44BB-A513-6DFFDBDB7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AD3FC-91DE-4544-BDA5-4D190986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4FA91-7EB3-438F-B61E-CA7CDF16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03F2D-53EA-4802-9B81-3C8A52AA7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993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8112D-C419-498C-A3BD-8267B2080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67A0F-77CE-47D1-9EE2-4EA7F1D81B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2E73E-4EB1-4F0B-819E-64897C366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B66D80-9397-4E87-9063-53523671B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91793-BAB3-4A2E-A03A-21F2D46B8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72F6F8-E4B9-4946-AE75-F43FD7F32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81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7EE73-F470-474E-A6EF-9CDC6D456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CA9B46-60C8-42C5-B4EC-07CC2C4FDD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76B373-5F40-48B2-B51B-D1562182CB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56E387-DDAE-45CB-9CFB-7E7460297D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27BDD-247F-49A4-ADED-EA2108E5C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24D7E1-06FC-4AC1-8767-BB164DA65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E027A2-6575-47DF-AD13-134A22C72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7F9732-AA49-4DF3-A654-0E1AC0AC4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63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46EF8-2C4D-414D-9358-296B6DB81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C7D482-4D94-448D-A6D9-65A150788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69C395-323E-4313-9444-F946A3D75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BFFC26-8965-44CC-96E9-232D7C21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256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F715DA-5A3A-449C-BC96-E4ADC43A1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A2016A-4287-4DA8-B27D-5632DE9A9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38E5B-43EF-4164-A953-D581E9B2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35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C5666-FAA1-40B3-8A49-9779221FE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1C04A-4BFD-49BF-88F4-60D0AFD9F2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239092-7D92-4450-9FDC-54C693DC2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C9DE4-7038-4B21-BD10-183775CD4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F209B6-AB31-4560-97CF-38B07E24F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0664F-8900-4B7D-8B1D-1C390C461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753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8AF02-8EE7-4BEC-B0C5-500BF7B61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40DDD4-1AAB-4CA7-B8AC-0391F9C4D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B2C5D-11D2-4B0E-A310-D6A337FD16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D9B78-41AF-4856-88E1-6E8CF97B1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34EF46-81C9-4AC6-ACCE-F89656B46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413565-1676-49D3-B795-D2CC788D0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094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2EDE3-4BF0-493B-8F16-4C61DDF4D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7796ED-C22A-402D-9260-477CB20617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B139B-05DF-4358-80F9-1D616A228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31CFF-F836-4E30-9B93-4708EF3B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BFF65-02C4-4605-9616-5BABD4E6A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2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77332E-BD52-4145-A5C6-8A27DA8462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1E9561-6746-411B-83D5-40DF9FA24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B3F01-4CB8-4055-873A-8B32BB5D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30D103-E038-4D21-A100-4635DF051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4603A-0271-48A4-83AF-ED1E35A97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75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B092DF-0EC6-47A5-8BE1-0888E0BF3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B7954-A402-4975-A07D-4C5733661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287E4-584E-416A-900E-EE12C64C1B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0874AF-3A7F-4506-9C1C-AF58C739A7F0}" type="datetimeFigureOut">
              <a:rPr lang="en-US" smtClean="0"/>
              <a:t>2/6/2023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AA30FD-FF92-4B7F-85E5-A4D647B1C1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DF777-3FC9-401A-9B24-52320D6CFC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96E2D-4E96-4E92-B768-850C5CE9FA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41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2C4BFA1-2075-4901-9E24-E41D1FDD5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5481" y="498348"/>
            <a:ext cx="9902663" cy="5861304"/>
            <a:chOff x="1155481" y="498348"/>
            <a:chExt cx="9902663" cy="5861304"/>
          </a:xfrm>
        </p:grpSpPr>
        <p:sp>
          <p:nvSpPr>
            <p:cNvPr id="9" name="Oval 5">
              <a:extLst>
                <a:ext uri="{FF2B5EF4-FFF2-40B4-BE49-F238E27FC236}">
                  <a16:creationId xmlns:a16="http://schemas.microsoft.com/office/drawing/2014/main" id="{985A7375-E3AF-4F5C-85AE-17E8832952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5481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0307F65-8304-4FA8-A841-D4D7625411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196840" y="498348"/>
              <a:ext cx="5861304" cy="5861304"/>
            </a:xfrm>
            <a:prstGeom prst="ellipse">
              <a:avLst/>
            </a:prstGeom>
            <a:solidFill>
              <a:schemeClr val="accent1">
                <a:alpha val="55000"/>
              </a:schemeClr>
            </a:solidFill>
            <a:ln>
              <a:noFill/>
            </a:ln>
          </p:spPr>
        </p:sp>
        <p:sp>
          <p:nvSpPr>
            <p:cNvPr id="11" name="Oval 5">
              <a:extLst>
                <a:ext uri="{FF2B5EF4-FFF2-40B4-BE49-F238E27FC236}">
                  <a16:creationId xmlns:a16="http://schemas.microsoft.com/office/drawing/2014/main" id="{C8B8394C-136F-4E05-A002-D93A5E79CD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65348" y="498348"/>
              <a:ext cx="5861304" cy="5861304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BC4C3819-6FEA-40B8-9471-674A1B43DA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95800"/>
            <a:ext cx="9144000" cy="762000"/>
          </a:xfrm>
        </p:spPr>
        <p:txBody>
          <a:bodyPr>
            <a:normAutofit/>
          </a:bodyPr>
          <a:lstStyle/>
          <a:p>
            <a:r>
              <a:rPr lang="en-US" sz="3200" dirty="0"/>
              <a:t>Week 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53FB2EE-284F-4C87-AB3D-BBF87A9F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14600"/>
            <a:ext cx="12192000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976729-B29E-4279-8B73-DAECA6AF85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463" y="2776538"/>
            <a:ext cx="11904617" cy="1381188"/>
          </a:xfrm>
        </p:spPr>
        <p:txBody>
          <a:bodyPr anchor="ctr">
            <a:no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Conditional Control Structures in Java</a:t>
            </a:r>
          </a:p>
        </p:txBody>
      </p:sp>
    </p:spTree>
    <p:extLst>
      <p:ext uri="{BB962C8B-B14F-4D97-AF65-F5344CB8AC3E}">
        <p14:creationId xmlns:p14="http://schemas.microsoft.com/office/powerpoint/2010/main" val="10709805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EADC6-C05E-0702-D2C7-394C2C09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Agenda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692E0-D6BC-A94F-A929-1C111E00F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Recap of Last Lecture</a:t>
            </a:r>
          </a:p>
          <a:p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Control Structures</a:t>
            </a:r>
          </a:p>
          <a:p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Types of Control Structure</a:t>
            </a:r>
          </a:p>
          <a:p>
            <a:pPr lvl="1"/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Selection Control Structures</a:t>
            </a:r>
          </a:p>
          <a:p>
            <a:pPr lvl="1"/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Iteration Control Structures</a:t>
            </a:r>
          </a:p>
          <a:p>
            <a:pPr lvl="1"/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Jump Control Structure</a:t>
            </a:r>
          </a:p>
          <a:p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Recap of the Lecture</a:t>
            </a:r>
          </a:p>
        </p:txBody>
      </p:sp>
    </p:spTree>
    <p:extLst>
      <p:ext uri="{BB962C8B-B14F-4D97-AF65-F5344CB8AC3E}">
        <p14:creationId xmlns:p14="http://schemas.microsoft.com/office/powerpoint/2010/main" val="2417735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Control Structures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1D23-1E94-0866-0769-F0BAC781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/>
          </a:bodyPr>
          <a:lstStyle/>
          <a:p>
            <a:pPr algn="just"/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Which change the flow of execution of java program.</a:t>
            </a:r>
          </a:p>
          <a:p>
            <a:pPr algn="just"/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Three types namely, selection, iteration, and jump</a:t>
            </a:r>
          </a:p>
          <a:p>
            <a:pPr algn="just"/>
            <a:endParaRPr lang="en-PK" sz="3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3081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Control Structures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1D23-1E94-0866-0769-F0BAC781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 fontScale="85000" lnSpcReduction="20000"/>
          </a:bodyPr>
          <a:lstStyle/>
          <a:p>
            <a:pPr algn="just"/>
            <a:r>
              <a:rPr lang="en-US" sz="3200" i="1" dirty="0">
                <a:solidFill>
                  <a:srgbClr val="FFFF00"/>
                </a:solidFill>
              </a:rPr>
              <a:t>Selection</a:t>
            </a:r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statements allow your program to choose different paths of execution based upon the outcome of an expression or the state of a variable. </a:t>
            </a:r>
          </a:p>
          <a:p>
            <a:pPr algn="just"/>
            <a:endParaRPr lang="en-US" sz="3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en-US" sz="3200" i="1" dirty="0">
                <a:solidFill>
                  <a:srgbClr val="FFFF00"/>
                </a:solidFill>
              </a:rPr>
              <a:t>Iteration</a:t>
            </a:r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statements enable program execution to repeat one or more statements (that is, iteration statements form loops). </a:t>
            </a:r>
          </a:p>
          <a:p>
            <a:pPr algn="just"/>
            <a:endParaRPr lang="en-US" sz="3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  <a:p>
            <a:pPr algn="just"/>
            <a:r>
              <a:rPr lang="en-US" sz="3200" i="1" dirty="0">
                <a:solidFill>
                  <a:srgbClr val="FFFF00"/>
                </a:solidFill>
              </a:rPr>
              <a:t>Jump</a:t>
            </a:r>
            <a:r>
              <a:rPr lang="en-US" sz="32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statements allow your program to execute in a nonlinear fashion.</a:t>
            </a:r>
            <a:endParaRPr lang="en-PK" sz="32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099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Selection Control Structures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1D23-1E94-0866-0769-F0BAC781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 fontScale="92500" lnSpcReduction="20000"/>
          </a:bodyPr>
          <a:lstStyle/>
          <a:p>
            <a:pPr algn="just"/>
            <a: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Also called Conditional Control Structures. These control the flow of your program’s execution based upon conditions known only during run time.</a:t>
            </a:r>
          </a:p>
          <a:p>
            <a:pPr algn="just"/>
            <a: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Four types:</a:t>
            </a:r>
          </a:p>
          <a:p>
            <a:pPr lvl="1" algn="just"/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if-else</a:t>
            </a:r>
          </a:p>
          <a:p>
            <a:pPr lvl="1" algn="just"/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else if</a:t>
            </a:r>
          </a:p>
          <a:p>
            <a:pPr lvl="1" algn="just"/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Nested if</a:t>
            </a:r>
          </a:p>
          <a:p>
            <a:pPr lvl="1" algn="just"/>
            <a:r>
              <a:rPr lang="en-US" sz="35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Switch Case</a:t>
            </a:r>
            <a:endParaRPr lang="en-PK" sz="35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467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108165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if-else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If else in Java | Nested if-else, Example - Scientech Easy">
            <a:extLst>
              <a:ext uri="{FF2B5EF4-FFF2-40B4-BE49-F238E27FC236}">
                <a16:creationId xmlns:a16="http://schemas.microsoft.com/office/drawing/2014/main" id="{6194A12F-4103-4186-9D5D-799FCFC50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6473" y="1996623"/>
            <a:ext cx="6252164" cy="4157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05067B8-3C19-48D1-9E3A-596BB7269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77" y="2409480"/>
            <a:ext cx="3185449" cy="266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690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05999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Else-If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0" name="Picture 2" descr="Else If Ladder in C++ with Example - Dot Net Tutorials">
            <a:extLst>
              <a:ext uri="{FF2B5EF4-FFF2-40B4-BE49-F238E27FC236}">
                <a16:creationId xmlns:a16="http://schemas.microsoft.com/office/drawing/2014/main" id="{6AF3A05C-A19C-44E4-8164-88BFCCFBB4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4954" y="1471665"/>
            <a:ext cx="2661953" cy="4966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183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05999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Nested If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098" name="Picture 2" descr="Write down about the nested if-else statement « Online Class Notes">
            <a:extLst>
              <a:ext uri="{FF2B5EF4-FFF2-40B4-BE49-F238E27FC236}">
                <a16:creationId xmlns:a16="http://schemas.microsoft.com/office/drawing/2014/main" id="{F4ECB36A-D5A9-4105-A565-12148D9EFA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738" y="1667632"/>
            <a:ext cx="4234192" cy="4753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419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05999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Switch Case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122" name="Picture 2" descr="Switch Statement in C/C++ - GeeksforGeeks">
            <a:extLst>
              <a:ext uri="{FF2B5EF4-FFF2-40B4-BE49-F238E27FC236}">
                <a16:creationId xmlns:a16="http://schemas.microsoft.com/office/drawing/2014/main" id="{D3F26C66-8039-45D1-A695-963D96215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1400" y="117326"/>
            <a:ext cx="3592846" cy="6296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7046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05999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Switch Case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A6DEA3-E24D-48A0-92DA-87A7FF908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473" y="1562145"/>
            <a:ext cx="4594544" cy="4970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762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05999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Iteration Statement: for loop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8E32E1-4B68-4961-B75A-122ACE9C85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909" y="1697689"/>
            <a:ext cx="6333134" cy="152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593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05999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Iteration Statement: while loop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702794-A01A-4882-A76B-EEEB01A6D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881" y="2289741"/>
            <a:ext cx="5819741" cy="386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739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05999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Iteration Statement: do while loop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B18BCB-9A50-43F8-BB19-7E5A247C9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6543" y="1597185"/>
            <a:ext cx="5935925" cy="470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9492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05999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Iteration Statement: Nested Loop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097868-5C18-4B78-9606-701F2629B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909" y="2254589"/>
            <a:ext cx="6306427" cy="2348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2584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05999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Iteration Statement: Prime or not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006007-4BA9-4938-8857-99E03BD2AD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301" y="1507556"/>
            <a:ext cx="5001617" cy="498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42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05999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Iteration Statement: Using the comma for multiple initialization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24335B-BC55-4034-B583-2B61F1DE2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639" y="2103392"/>
            <a:ext cx="6407881" cy="3085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6817976-5C8F-46DF-B272-2F29C4BDF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6907" y="5313467"/>
            <a:ext cx="1054154" cy="116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53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05999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Iteration Statement: Using Nested Loop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65E83E-6BD8-446D-88CA-F802B9A44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6272" y="1555475"/>
            <a:ext cx="4457929" cy="48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6971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jump statement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21D23-1E94-0866-0769-F0BAC7811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/>
          </a:bodyPr>
          <a:lstStyle/>
          <a:p>
            <a:pPr algn="just"/>
            <a: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Java supports three jump statements: break, continue, and return. </a:t>
            </a:r>
          </a:p>
          <a:p>
            <a:pPr algn="just"/>
            <a:r>
              <a:rPr lang="en-US" sz="36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These statements transfer control to another part of your program.</a:t>
            </a:r>
            <a:endParaRPr lang="en-PK" sz="3500" dirty="0">
              <a:solidFill>
                <a:schemeClr val="accent4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3315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05999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Break statement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88B7D6-F506-4F30-A1A0-5511BD9AF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473" y="1603103"/>
            <a:ext cx="5658141" cy="475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893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05999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Continue statement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56A983-8544-4397-BF0D-E6DCE5254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366" y="2039874"/>
            <a:ext cx="6388428" cy="385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845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33B7AA-5810-D30C-E614-A05574967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059991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Return statement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841BC-BA9A-40BB-966E-AEBCA25F6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8881" y="1662164"/>
            <a:ext cx="6096980" cy="4155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0142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6EFD3D9-44F0-4267-BCC1-1613E79D8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A779A851-95D6-41AF-937A-B0E4B7F6F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2164" y="900814"/>
            <a:ext cx="759618" cy="5710965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953FB2E7-B6CB-429C-81EB-D9516D6D5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144437" y="633165"/>
            <a:ext cx="482654" cy="5521414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EC40DB1-B719-4A13-9A4D-0966B4B2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621" y="636723"/>
            <a:ext cx="4000062" cy="5257799"/>
          </a:xfrm>
          <a:custGeom>
            <a:avLst/>
            <a:gdLst>
              <a:gd name="connsiteX0" fmla="*/ 0 w 4634682"/>
              <a:gd name="connsiteY0" fmla="*/ 0 h 5257799"/>
              <a:gd name="connsiteX1" fmla="*/ 4634682 w 4634682"/>
              <a:gd name="connsiteY1" fmla="*/ 0 h 5257799"/>
              <a:gd name="connsiteX2" fmla="*/ 4634682 w 4634682"/>
              <a:gd name="connsiteY2" fmla="*/ 5257799 h 5257799"/>
              <a:gd name="connsiteX3" fmla="*/ 0 w 4634682"/>
              <a:gd name="connsiteY3" fmla="*/ 5257799 h 52577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4682" h="5257799">
                <a:moveTo>
                  <a:pt x="0" y="0"/>
                </a:moveTo>
                <a:lnTo>
                  <a:pt x="4634682" y="0"/>
                </a:lnTo>
                <a:lnTo>
                  <a:pt x="4634682" y="5257799"/>
                </a:lnTo>
                <a:lnTo>
                  <a:pt x="0" y="525779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EADC6-C05E-0702-D2C7-394C2C09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872" y="982272"/>
            <a:ext cx="3388419" cy="45609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00"/>
                </a:solidFill>
              </a:rPr>
              <a:t>Recap</a:t>
            </a:r>
            <a:endParaRPr lang="en-PK" sz="4000" dirty="0">
              <a:solidFill>
                <a:srgbClr val="FFFF00"/>
              </a:solidFill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82211336-CFF3-412D-868A-6679C1004C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01782" y="1352302"/>
            <a:ext cx="6655597" cy="52516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B692E0-D6BC-A94F-A929-1C111E00F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1862" y="1719618"/>
            <a:ext cx="5948831" cy="4334629"/>
          </a:xfrm>
        </p:spPr>
        <p:txBody>
          <a:bodyPr anchor="ctr">
            <a:normAutofit/>
          </a:bodyPr>
          <a:lstStyle/>
          <a:p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Control Structures</a:t>
            </a:r>
          </a:p>
          <a:p>
            <a:r>
              <a:rPr lang="en-US" sz="32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Types of Control Structure</a:t>
            </a:r>
          </a:p>
          <a:p>
            <a:pPr lvl="1"/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Selection Control Structures</a:t>
            </a:r>
          </a:p>
          <a:p>
            <a:pPr lvl="1"/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Iteration Control Structures</a:t>
            </a:r>
          </a:p>
          <a:p>
            <a:pPr lvl="1"/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Jump Control Structure</a:t>
            </a:r>
          </a:p>
        </p:txBody>
      </p:sp>
    </p:spTree>
    <p:extLst>
      <p:ext uri="{BB962C8B-B14F-4D97-AF65-F5344CB8AC3E}">
        <p14:creationId xmlns:p14="http://schemas.microsoft.com/office/powerpoint/2010/main" val="4073783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568</TotalTime>
  <Words>246</Words>
  <Application>Microsoft Office PowerPoint</Application>
  <PresentationFormat>Widescreen</PresentationFormat>
  <Paragraphs>50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Conditional Control Structures in Java</vt:lpstr>
      <vt:lpstr>Agenda</vt:lpstr>
      <vt:lpstr>Control Structures</vt:lpstr>
      <vt:lpstr>Control Structures</vt:lpstr>
      <vt:lpstr>Selection Control Structures</vt:lpstr>
      <vt:lpstr>if-else</vt:lpstr>
      <vt:lpstr>Else-If</vt:lpstr>
      <vt:lpstr>Nested If</vt:lpstr>
      <vt:lpstr>Switch Case</vt:lpstr>
      <vt:lpstr>Switch Case</vt:lpstr>
      <vt:lpstr>Iteration Statement: for loop</vt:lpstr>
      <vt:lpstr>Iteration Statement: while loop</vt:lpstr>
      <vt:lpstr>Iteration Statement: do while loop</vt:lpstr>
      <vt:lpstr>Iteration Statement: Nested Loop</vt:lpstr>
      <vt:lpstr>Iteration Statement: Prime or not</vt:lpstr>
      <vt:lpstr>Iteration Statement: Using the comma for multiple initialization</vt:lpstr>
      <vt:lpstr>Iteration Statement: Using Nested Loop</vt:lpstr>
      <vt:lpstr>jump statement</vt:lpstr>
      <vt:lpstr>Break statement</vt:lpstr>
      <vt:lpstr>Continue statement</vt:lpstr>
      <vt:lpstr>Return statement</vt:lpstr>
      <vt:lpstr>Recap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Operators and Control Structures</dc:title>
  <dc:creator>khairunisa</dc:creator>
  <cp:lastModifiedBy>Dr. Ghulam Mujtaba</cp:lastModifiedBy>
  <cp:revision>62</cp:revision>
  <dcterms:created xsi:type="dcterms:W3CDTF">2019-09-02T07:45:43Z</dcterms:created>
  <dcterms:modified xsi:type="dcterms:W3CDTF">2023-02-06T17:37:02Z</dcterms:modified>
</cp:coreProperties>
</file>
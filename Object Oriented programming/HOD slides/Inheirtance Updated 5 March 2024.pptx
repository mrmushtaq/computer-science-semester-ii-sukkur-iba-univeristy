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74" r:id="rId2"/>
  </p:sldMasterIdLst>
  <p:sldIdLst>
    <p:sldId id="256" r:id="rId3"/>
    <p:sldId id="257" r:id="rId4"/>
    <p:sldId id="259" r:id="rId5"/>
    <p:sldId id="263" r:id="rId6"/>
    <p:sldId id="294" r:id="rId7"/>
    <p:sldId id="266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8" r:id="rId27"/>
    <p:sldId id="317" r:id="rId28"/>
    <p:sldId id="319" r:id="rId29"/>
    <p:sldId id="320" r:id="rId30"/>
    <p:sldId id="321" r:id="rId31"/>
    <p:sldId id="322" r:id="rId32"/>
    <p:sldId id="323" r:id="rId33"/>
    <p:sldId id="313" r:id="rId34"/>
    <p:sldId id="324" r:id="rId35"/>
    <p:sldId id="325" r:id="rId36"/>
    <p:sldId id="314" r:id="rId37"/>
    <p:sldId id="315" r:id="rId38"/>
    <p:sldId id="316" r:id="rId39"/>
    <p:sldId id="289" r:id="rId4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50B65F-CC85-46EC-93AE-4DFAD51201C5}" v="13" dt="2023-02-27T17:27:08.6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cap="all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Tuesday, March 5,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86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Tuesday, March 5,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9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Tuesday, March 5,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6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Tuesday, March 5,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58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Tuesday, March 5,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84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Tuesday, March 5, 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83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Tuesday, March 5,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2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Tuesday, March 5,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9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Tuesday, March 5,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45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Tuesday, March 5,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050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Tuesday, March 5,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98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6F7CC-6EFA-9FB9-CA94-24ECE93C0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9AA60-108D-6434-8C44-4A9ED75B6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FD687-EB34-1582-5D47-8872DA72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B6636-43A4-CFF2-1E54-1DAC16E3A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0A4CF-B386-840C-C1DB-449C31EF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21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FBBC3-DF90-ADEF-3C8E-4D086C3D8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A3E51-FF9D-9472-743B-AE3C17B0C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F748D-9D92-3725-92C9-97703123C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C1FA5-084E-79F6-EFC1-D4633EDC1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D4F55-5914-12AE-CA0F-8C1DA3488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69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493C9-4013-A81B-4EB0-73805AA52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59A81-A8AC-47FB-1A59-CC7EA517F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BB9B4-0D03-E57E-FF28-574C62D0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08ED1-0FAE-391F-811B-0BC1BF3E7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C5912-52F2-A3F9-37BD-89C1AFA60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70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B30CC-B4A1-7C0D-0E09-3FF863FBE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74C9A-838D-437C-75BC-19F9D215C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8C8A7-4711-2971-4260-3CF101794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3CEC9-49E8-BF00-B4B4-F41B9E358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FC96B-3A6D-687E-CDA6-D2AC3B075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FBAD5-C5D6-4D7C-73E3-AF410450C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75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8776-3FCD-8F32-3BA9-55B23667E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DC201-ADD6-E882-137B-8D4CC735A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3CD0D-5783-25BB-8AC2-1F7DA9D28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EF6466-EF6C-73D0-305F-8C0E66B148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37B7BD-DB4A-CBA6-5C85-FFFE351B8E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A2E1D3-A0DF-3EFA-B58E-9BF839720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9C9B52-8337-F1DA-7B96-4F3F54007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C7647B-504E-6F54-F57D-4B063297D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4111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8FD55-2852-6A3F-85E1-7D7F2C328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1333D8-8EBA-B06F-A7B0-A393D38CB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08C1D2-C4FE-B180-7EBE-5F07E5A45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CA0EF-063A-E3C9-DE40-12EA41EBC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220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16CDCF-CE12-ABF4-5B9C-21CCFAA64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14623-FF6C-F1A5-831E-B337B82BE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E3094-F135-7D58-258E-19655098C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166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03F78-FB3F-98BD-3AA9-4C6279DF4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CBA96-1B91-BED8-124D-9D9F2BA9A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4ECB5-1163-1D41-CEBD-49E3D084A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784A2-DEE5-24F3-3534-10F8E0750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9911-A084-B276-6566-4F4AAD7FA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19534-4241-0B76-BB3C-BF1892ECC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286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2992-5D2F-942C-F602-3F7010662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C331D1-AA86-E822-0096-2B9BB0B45C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3D9DC-8F68-DC8D-15A5-79C0ACBC3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30185-8E68-45CC-E402-B89D435AB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9DC90-D9A9-47A1-396A-447F35C2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A156C6-892B-6626-3757-88293DF3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03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DC759-FEFC-3614-E90E-3B5C50A18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7C3468-90D4-9AC4-FF8D-EFA3A2A59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714E3-1233-869F-EEF3-2B3585D8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B8F75-35E4-8299-6DF4-C921D7453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712A7-C327-DDB2-658C-68291A5FA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58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044024-97EF-EC9F-3416-51D8918CC9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84A4AB-6D4A-699F-29B3-2F9C8718A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B1E44-DBEC-518A-7481-C007265AB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8850-2321-4D5C-84B7-4FC5000286A8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B82BE-1063-F2D4-B8D7-BBCF53C1D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BF492-DB8F-C70B-FB95-C8419471F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70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Tuesday, March 5,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8755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88000"/>
        </a:lnSpc>
        <a:spcBef>
          <a:spcPct val="0"/>
        </a:spcBef>
        <a:buNone/>
        <a:defRPr sz="4400" kern="1200" cap="none" spc="4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23D5E9-DA9B-F088-B3B8-6E11908AF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E1C85-554B-C1E7-9459-A3954BBAE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1C41D-21AD-F0D6-CEE0-AE2FB1066D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F8850-2321-4D5C-84B7-4FC5000286A8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8E7E4-989F-F4DD-6765-3924E3D3D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CAC8D-5FDC-44EE-F542-B64DD0949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50E41-7909-4E51-B836-31D550D66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04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F3A7E8-6DA9-4C2B-ACC8-475F34DAE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21CDF0-4D24-4190-9285-9016C19C1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7BBE96-5ED5-455E-3BB7-F2B8EC7F9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000" y="1449388"/>
            <a:ext cx="5015638" cy="1979612"/>
          </a:xfrm>
        </p:spPr>
        <p:txBody>
          <a:bodyPr>
            <a:noAutofit/>
          </a:bodyPr>
          <a:lstStyle/>
          <a:p>
            <a:r>
              <a:rPr lang="en-US" sz="4000" dirty="0">
                <a:latin typeface="Arial Black" panose="020B0A04020102020204" pitchFamily="34" charset="0"/>
              </a:rPr>
              <a:t>Inheritance</a:t>
            </a:r>
            <a:endParaRPr lang="en-PK" sz="4000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B369A-6432-3CAB-FDE7-535B31C1F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0000" y="3830398"/>
            <a:ext cx="5015638" cy="917771"/>
          </a:xfrm>
        </p:spPr>
        <p:txBody>
          <a:bodyPr>
            <a:normAutofit/>
          </a:bodyPr>
          <a:lstStyle/>
          <a:p>
            <a:r>
              <a:rPr lang="en-US" dirty="0"/>
              <a:t>Week 7</a:t>
            </a:r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8879C9-D989-AD26-0453-4B260AC8F9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044" r="22759"/>
          <a:stretch/>
        </p:blipFill>
        <p:spPr>
          <a:xfrm>
            <a:off x="20" y="10"/>
            <a:ext cx="5903704" cy="6857990"/>
          </a:xfrm>
          <a:custGeom>
            <a:avLst/>
            <a:gdLst/>
            <a:ahLst/>
            <a:cxnLst/>
            <a:rect l="l" t="t" r="r" b="b"/>
            <a:pathLst>
              <a:path w="5903724" h="6858000">
                <a:moveTo>
                  <a:pt x="0" y="0"/>
                </a:moveTo>
                <a:lnTo>
                  <a:pt x="5886178" y="0"/>
                </a:lnTo>
                <a:lnTo>
                  <a:pt x="5890522" y="42009"/>
                </a:lnTo>
                <a:cubicBezTo>
                  <a:pt x="5948302" y="788432"/>
                  <a:pt x="5795211" y="5194623"/>
                  <a:pt x="5836720" y="6279216"/>
                </a:cubicBezTo>
                <a:cubicBezTo>
                  <a:pt x="5842686" y="6384211"/>
                  <a:pt x="5845802" y="6526851"/>
                  <a:pt x="5846540" y="6699667"/>
                </a:cubicBezTo>
                <a:lnTo>
                  <a:pt x="58465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C9AA14C-80A4-427C-A911-28CD20C56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909203" y="317452"/>
            <a:ext cx="2117174" cy="588806"/>
            <a:chOff x="4549904" y="5078157"/>
            <a:chExt cx="3023338" cy="840818"/>
          </a:xfrm>
        </p:grpSpPr>
        <p:sp>
          <p:nvSpPr>
            <p:cNvPr id="14" name="Freeform 80">
              <a:extLst>
                <a:ext uri="{FF2B5EF4-FFF2-40B4-BE49-F238E27FC236}">
                  <a16:creationId xmlns:a16="http://schemas.microsoft.com/office/drawing/2014/main" id="{EF32CDAF-4619-4949-9516-1E042181E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5690691" y="5352589"/>
              <a:ext cx="749228" cy="383544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5" name="Freeform 84">
              <a:extLst>
                <a:ext uri="{FF2B5EF4-FFF2-40B4-BE49-F238E27FC236}">
                  <a16:creationId xmlns:a16="http://schemas.microsoft.com/office/drawing/2014/main" id="{270C485D-6BA8-4BF7-B72C-2B14A43A6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274527">
              <a:off x="6910134" y="5062687"/>
              <a:ext cx="647637" cy="678578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6" name="Freeform 87">
              <a:extLst>
                <a:ext uri="{FF2B5EF4-FFF2-40B4-BE49-F238E27FC236}">
                  <a16:creationId xmlns:a16="http://schemas.microsoft.com/office/drawing/2014/main" id="{79239B91-4327-43B3-AED5-CB9EC1653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4430858">
              <a:off x="4571743" y="5071596"/>
              <a:ext cx="626472" cy="670149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FD01A0-E6FF-41CD-AEBD-279232B9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990093" y="5372723"/>
            <a:ext cx="2088038" cy="719230"/>
            <a:chOff x="4532666" y="505937"/>
            <a:chExt cx="2981730" cy="1027064"/>
          </a:xfrm>
        </p:grpSpPr>
        <p:sp>
          <p:nvSpPr>
            <p:cNvPr id="19" name="Freeform 78">
              <a:extLst>
                <a:ext uri="{FF2B5EF4-FFF2-40B4-BE49-F238E27FC236}">
                  <a16:creationId xmlns:a16="http://schemas.microsoft.com/office/drawing/2014/main" id="{811C6308-5554-4129-8881-A95AF512C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4532666" y="754398"/>
              <a:ext cx="694205" cy="713383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0" name="Freeform 79">
              <a:extLst>
                <a:ext uri="{FF2B5EF4-FFF2-40B4-BE49-F238E27FC236}">
                  <a16:creationId xmlns:a16="http://schemas.microsoft.com/office/drawing/2014/main" id="{C28F3A03-B53B-433E-8DF7-6B13336D0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5791465" y="505937"/>
              <a:ext cx="587404" cy="943792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1" name="Freeform 85">
              <a:extLst>
                <a:ext uri="{FF2B5EF4-FFF2-40B4-BE49-F238E27FC236}">
                  <a16:creationId xmlns:a16="http://schemas.microsoft.com/office/drawing/2014/main" id="{E990BBBC-E616-4D0E-9917-A6CA72AAE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7087193" y="757585"/>
              <a:ext cx="427203" cy="775416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5616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941C2A-D0AF-DDBD-305D-C8FC73F7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7E190-A6EC-CA79-7B0D-3AD94DCEC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449238"/>
            <a:ext cx="6182259" cy="5055079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FEFFFF"/>
                </a:solidFill>
              </a:rPr>
              <a:t>Recap of the Last Lecture</a:t>
            </a:r>
          </a:p>
          <a:p>
            <a:r>
              <a:rPr lang="en-US" sz="2400" dirty="0">
                <a:solidFill>
                  <a:srgbClr val="FEFFFF"/>
                </a:solidFill>
              </a:rPr>
              <a:t>Inheritance basics</a:t>
            </a:r>
          </a:p>
          <a:p>
            <a:r>
              <a:rPr lang="en-US" sz="2400" dirty="0">
                <a:solidFill>
                  <a:srgbClr val="FEFFFF"/>
                </a:solidFill>
              </a:rPr>
              <a:t>Using Super</a:t>
            </a:r>
          </a:p>
          <a:p>
            <a:r>
              <a:rPr lang="en-US" sz="2400" dirty="0">
                <a:solidFill>
                  <a:srgbClr val="FEFFFF"/>
                </a:solidFill>
              </a:rPr>
              <a:t>Creating a multilevel hierarchy</a:t>
            </a:r>
          </a:p>
          <a:p>
            <a:r>
              <a:rPr lang="en-US" sz="2400" dirty="0">
                <a:solidFill>
                  <a:srgbClr val="FEFFFF"/>
                </a:solidFill>
              </a:rPr>
              <a:t>Method Overriding</a:t>
            </a:r>
          </a:p>
          <a:p>
            <a:r>
              <a:rPr lang="en-US" sz="2400" dirty="0">
                <a:solidFill>
                  <a:srgbClr val="FEFFFF"/>
                </a:solidFill>
              </a:rPr>
              <a:t>Dynamic Method Dispatching</a:t>
            </a:r>
          </a:p>
          <a:p>
            <a:r>
              <a:rPr lang="en-US" sz="2400" dirty="0">
                <a:solidFill>
                  <a:srgbClr val="FEFFFF"/>
                </a:solidFill>
              </a:rPr>
              <a:t>Using abstract classes</a:t>
            </a:r>
          </a:p>
          <a:p>
            <a:r>
              <a:rPr lang="en-US" sz="2400" dirty="0">
                <a:solidFill>
                  <a:srgbClr val="FEFFFF"/>
                </a:solidFill>
              </a:rPr>
              <a:t>Using final with inheritance</a:t>
            </a:r>
          </a:p>
          <a:p>
            <a:r>
              <a:rPr lang="en-US" sz="2400" dirty="0">
                <a:solidFill>
                  <a:srgbClr val="FEFFFF"/>
                </a:solidFill>
              </a:rPr>
              <a:t>The object class</a:t>
            </a:r>
          </a:p>
          <a:p>
            <a:r>
              <a:rPr lang="en-US" sz="2400" dirty="0">
                <a:solidFill>
                  <a:srgbClr val="FEFFFF"/>
                </a:solidFill>
              </a:rPr>
              <a:t>Recap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895114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Inheritance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AB05E-C75B-911C-88DF-AE2FFC181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 fontScale="92500" lnSpcReduction="20000"/>
          </a:bodyPr>
          <a:lstStyle/>
          <a:p>
            <a:pPr algn="just"/>
            <a:r>
              <a:rPr lang="en-US" sz="3200" dirty="0"/>
              <a:t>Inheritance is one main pillars of object-oriented programming.</a:t>
            </a:r>
          </a:p>
          <a:p>
            <a:pPr algn="just"/>
            <a:r>
              <a:rPr lang="en-US" sz="3200" dirty="0"/>
              <a:t>Using inheritance, we can create general or super class which then can be inherited by other, more specific or child classes or sub classes.</a:t>
            </a:r>
          </a:p>
          <a:p>
            <a:pPr algn="just"/>
            <a:r>
              <a:rPr lang="en-US" sz="3200" dirty="0"/>
              <a:t>Therefore, a subclass is a specialized version of a superclass. It inherits all the members defined by the superclass and adds its own, unique elements.</a:t>
            </a:r>
          </a:p>
          <a:p>
            <a:pPr algn="just"/>
            <a:r>
              <a:rPr lang="en-US" sz="3200" dirty="0"/>
              <a:t>Use of extends keyword for inheritance.</a:t>
            </a:r>
          </a:p>
        </p:txBody>
      </p:sp>
    </p:spTree>
    <p:extLst>
      <p:ext uri="{BB962C8B-B14F-4D97-AF65-F5344CB8AC3E}">
        <p14:creationId xmlns:p14="http://schemas.microsoft.com/office/powerpoint/2010/main" val="3532141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6BF5D3-39B4-3BFF-9A54-00A16F05A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51" y="180982"/>
            <a:ext cx="5223028" cy="25794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D0D21B-8180-44FC-724B-85FA035E3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50" y="2868796"/>
            <a:ext cx="6731345" cy="379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07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DA990B-0006-7D63-59F6-ACF6CC216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422" y="162385"/>
            <a:ext cx="6925272" cy="61105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8C3A1C-36AE-19CB-6377-941216D6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173" y="5264297"/>
            <a:ext cx="1720938" cy="126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135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Member Access and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AB05E-C75B-911C-88DF-AE2FFC181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pPr algn="just"/>
            <a:r>
              <a:rPr lang="en-US" sz="4000" dirty="0"/>
              <a:t>Although a subclass includes all the members of its superclass, it cannot access those members of the superclass that have been declared as private.</a:t>
            </a:r>
          </a:p>
        </p:txBody>
      </p:sp>
    </p:spTree>
    <p:extLst>
      <p:ext uri="{BB962C8B-B14F-4D97-AF65-F5344CB8AC3E}">
        <p14:creationId xmlns:p14="http://schemas.microsoft.com/office/powerpoint/2010/main" val="273084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BE3C87-AA57-9136-5D25-0E391019C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762" y="1319582"/>
            <a:ext cx="7550853" cy="421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764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8666D6-5BE3-CD68-474E-C6E865714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577" y="1180723"/>
            <a:ext cx="7823226" cy="345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443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2E3731-0264-E16A-CF19-A4BDB7770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940" y="1263165"/>
            <a:ext cx="7990730" cy="34209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05C118-C5F9-B047-1E41-020B02B48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653" y="4684143"/>
            <a:ext cx="3285105" cy="171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96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Super Class Variable Can Reference a Sub Class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AB05E-C75B-911C-88DF-AE2FFC181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pPr algn="just"/>
            <a:r>
              <a:rPr lang="en-US" sz="4000" dirty="0"/>
              <a:t>A reference variable of a superclass can be assigned a reference to any subclass</a:t>
            </a:r>
          </a:p>
          <a:p>
            <a:pPr algn="just"/>
            <a:r>
              <a:rPr lang="en-US" sz="4000" dirty="0"/>
              <a:t>derived from that superclass.</a:t>
            </a:r>
          </a:p>
        </p:txBody>
      </p:sp>
    </p:spTree>
    <p:extLst>
      <p:ext uri="{BB962C8B-B14F-4D97-AF65-F5344CB8AC3E}">
        <p14:creationId xmlns:p14="http://schemas.microsoft.com/office/powerpoint/2010/main" val="4269227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E12434-B5DE-C7A5-2510-AD9CD7BF3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003" y="448056"/>
            <a:ext cx="8980020" cy="598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051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Using Super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AB05E-C75B-911C-88DF-AE2FFC181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 fontScale="92500" lnSpcReduction="20000"/>
          </a:bodyPr>
          <a:lstStyle/>
          <a:p>
            <a:pPr algn="just"/>
            <a:r>
              <a:rPr lang="en-US" sz="4000" dirty="0"/>
              <a:t>A subclass can call a constructor defined by its superclass by use of the following form of super: </a:t>
            </a:r>
          </a:p>
          <a:p>
            <a:pPr algn="just"/>
            <a:r>
              <a:rPr lang="en-US" sz="4000" dirty="0"/>
              <a:t>super(</a:t>
            </a:r>
            <a:r>
              <a:rPr lang="en-US" sz="4000" dirty="0" err="1"/>
              <a:t>arg</a:t>
            </a:r>
            <a:r>
              <a:rPr lang="en-US" sz="4000" dirty="0"/>
              <a:t>-list);</a:t>
            </a:r>
          </a:p>
          <a:p>
            <a:pPr algn="just"/>
            <a:r>
              <a:rPr lang="en-US" sz="4000" dirty="0"/>
              <a:t>Here, </a:t>
            </a:r>
            <a:r>
              <a:rPr lang="en-US" sz="4000" dirty="0" err="1"/>
              <a:t>arg</a:t>
            </a:r>
            <a:r>
              <a:rPr lang="en-US" sz="4000" dirty="0"/>
              <a:t>-list specifies any arguments needed by the constructor in the superclass. </a:t>
            </a:r>
          </a:p>
          <a:p>
            <a:pPr algn="just"/>
            <a:r>
              <a:rPr lang="en-US" sz="4000" dirty="0"/>
              <a:t>super( ) must always be the first statement executed inside a subclass’ constructor.</a:t>
            </a:r>
          </a:p>
        </p:txBody>
      </p:sp>
    </p:spTree>
    <p:extLst>
      <p:ext uri="{BB962C8B-B14F-4D97-AF65-F5344CB8AC3E}">
        <p14:creationId xmlns:p14="http://schemas.microsoft.com/office/powerpoint/2010/main" val="3841305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52B71B-84F5-6F50-4A73-384C8B6C57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088"/>
          <a:stretch/>
        </p:blipFill>
        <p:spPr>
          <a:xfrm>
            <a:off x="2702843" y="1672032"/>
            <a:ext cx="7681379" cy="255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75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767D61-B3EE-0EBA-683A-05EE49E97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653" y="151573"/>
            <a:ext cx="6715357" cy="647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281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A497D8-4C13-760E-550D-B118A181E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346" y="537509"/>
            <a:ext cx="7768952" cy="534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520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C37B98-F0D1-B205-550C-46C679CE05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07" t="45032" r="13154" b="3088"/>
          <a:stretch/>
        </p:blipFill>
        <p:spPr>
          <a:xfrm>
            <a:off x="2501659" y="552091"/>
            <a:ext cx="7845202" cy="16562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433E75-99E7-A28C-6473-37EB9A62D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680" y="2382004"/>
            <a:ext cx="7405175" cy="392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622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71A9D8-AD15-EE67-B28F-80A182598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620" y="347066"/>
            <a:ext cx="6372852" cy="640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7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Using Super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AB05E-C75B-911C-88DF-AE2FFC181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 fontScale="70000" lnSpcReduction="20000"/>
          </a:bodyPr>
          <a:lstStyle/>
          <a:p>
            <a:pPr algn="just"/>
            <a:r>
              <a:rPr lang="en-US" sz="4000" dirty="0"/>
              <a:t>The second form of super acts somewhat like this, except that it always refers to</a:t>
            </a:r>
          </a:p>
          <a:p>
            <a:pPr algn="just"/>
            <a:r>
              <a:rPr lang="en-US" sz="4000" dirty="0"/>
              <a:t>the superclass of the subclass in which it is used. </a:t>
            </a:r>
          </a:p>
          <a:p>
            <a:pPr algn="just"/>
            <a:r>
              <a:rPr lang="en-US" sz="4000" dirty="0"/>
              <a:t>This usage has the following general form: </a:t>
            </a:r>
            <a:r>
              <a:rPr lang="en-US" sz="4000" dirty="0" err="1"/>
              <a:t>super.member</a:t>
            </a:r>
            <a:endParaRPr lang="en-US" sz="4000" dirty="0"/>
          </a:p>
          <a:p>
            <a:pPr algn="just"/>
            <a:r>
              <a:rPr lang="en-US" sz="4000" dirty="0"/>
              <a:t>Here, member can be either a method or an instance variable.</a:t>
            </a:r>
          </a:p>
          <a:p>
            <a:pPr algn="just"/>
            <a:r>
              <a:rPr lang="en-US" sz="4000" dirty="0"/>
              <a:t>This second form of super is most applicable to situations in which member names of a subclass hide members by the same name in the superclass.</a:t>
            </a:r>
          </a:p>
        </p:txBody>
      </p:sp>
    </p:spTree>
    <p:extLst>
      <p:ext uri="{BB962C8B-B14F-4D97-AF65-F5344CB8AC3E}">
        <p14:creationId xmlns:p14="http://schemas.microsoft.com/office/powerpoint/2010/main" val="239875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DE2D52-7AC2-CF03-0B49-29E722BC2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067" y="448055"/>
            <a:ext cx="7575837" cy="539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962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D90FF4-2537-35EB-2B25-768E5B432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518" y="790008"/>
            <a:ext cx="7961142" cy="381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318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Creating a multi-level </a:t>
            </a:r>
            <a:r>
              <a:rPr lang="en-US" sz="4000" dirty="0" err="1">
                <a:solidFill>
                  <a:srgbClr val="FFFFFF"/>
                </a:solidFill>
              </a:rPr>
              <a:t>heirarchy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AB05E-C75B-911C-88DF-AE2FFC181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 fontScale="70000" lnSpcReduction="20000"/>
          </a:bodyPr>
          <a:lstStyle/>
          <a:p>
            <a:pPr algn="just"/>
            <a:r>
              <a:rPr lang="en-US" sz="4000" dirty="0"/>
              <a:t>The second form of super acts somewhat like this, except that it always refers to</a:t>
            </a:r>
          </a:p>
          <a:p>
            <a:pPr algn="just"/>
            <a:r>
              <a:rPr lang="en-US" sz="4000" dirty="0"/>
              <a:t>the superclass of the subclass in which it is used. </a:t>
            </a:r>
          </a:p>
          <a:p>
            <a:pPr algn="just"/>
            <a:r>
              <a:rPr lang="en-US" sz="4000" dirty="0"/>
              <a:t>This usage has the following general form: </a:t>
            </a:r>
            <a:r>
              <a:rPr lang="en-US" sz="4000" dirty="0" err="1"/>
              <a:t>super.member</a:t>
            </a:r>
            <a:endParaRPr lang="en-US" sz="4000" dirty="0"/>
          </a:p>
          <a:p>
            <a:pPr algn="just"/>
            <a:r>
              <a:rPr lang="en-US" sz="4000" dirty="0"/>
              <a:t>Here, member can be either a method or an instance variable.</a:t>
            </a:r>
          </a:p>
          <a:p>
            <a:pPr algn="just"/>
            <a:r>
              <a:rPr lang="en-US" sz="4000" dirty="0"/>
              <a:t>This second form of super is most applicable to situations in which member names of a subclass hide members by the same name in the superclass.</a:t>
            </a:r>
          </a:p>
        </p:txBody>
      </p:sp>
    </p:spTree>
    <p:extLst>
      <p:ext uri="{BB962C8B-B14F-4D97-AF65-F5344CB8AC3E}">
        <p14:creationId xmlns:p14="http://schemas.microsoft.com/office/powerpoint/2010/main" val="884477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FE3E03-AAAF-BA42-70B7-5266928F5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552" y="278135"/>
            <a:ext cx="6601074" cy="645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259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0CA1A1-6EEA-E8BA-7C8D-9B9652055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343" y="249800"/>
            <a:ext cx="7569945" cy="3752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6C4F87-93B6-BBCE-9805-4339881902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7061"/>
          <a:stretch/>
        </p:blipFill>
        <p:spPr>
          <a:xfrm>
            <a:off x="2579342" y="3941015"/>
            <a:ext cx="7922910" cy="194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120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When Constructors are Executed?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AB05E-C75B-911C-88DF-AE2FFC181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pPr algn="just"/>
            <a:r>
              <a:rPr lang="en-US" sz="3200" dirty="0"/>
              <a:t>In a class hierarchy, constructors complete their execution in order of derivation, from superclass to subclass.</a:t>
            </a:r>
          </a:p>
          <a:p>
            <a:pPr algn="just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23530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5DE3BA-0D5A-197C-CDD6-ACA182467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D538D694-E9EF-464F-046D-FA853F362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F4654580-0181-4AF9-5C2C-BBABA52F2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91FDD9-3E21-541A-4384-8204D4EAE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105" y="344769"/>
            <a:ext cx="5775455" cy="634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92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561027-3EB8-445D-4B1C-A4893F69E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46B8B6-FAB1-5C71-AF3C-39D4AEF0A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08C52DA6-2BF6-C6FD-D540-228E723DB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35F33B04-519F-71C9-CD75-1EBF445E6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22146AC5-E954-4C7B-4212-9F226BD2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C2CB4129-9902-6AB8-00E3-2DBF84FAF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EE17A2-30DB-8680-AFD1-94D73459A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9B34A8-5261-356C-94A1-1A364EE98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Method Overriding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89356-891D-8EBF-0E9E-0CAE94AD5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pPr algn="just"/>
            <a:r>
              <a:rPr lang="en-US" sz="3200" dirty="0"/>
              <a:t>In a class hierarchy, when a method in a subclass has the same name and type signature as a method in its superclass, then the method in the subclass is said to override the method in the superclass.</a:t>
            </a:r>
          </a:p>
        </p:txBody>
      </p:sp>
    </p:spTree>
    <p:extLst>
      <p:ext uri="{BB962C8B-B14F-4D97-AF65-F5344CB8AC3E}">
        <p14:creationId xmlns:p14="http://schemas.microsoft.com/office/powerpoint/2010/main" val="41142264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E4E07C-7C8C-261B-EC92-0FE1A13A9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DD5F4245-125E-D7F2-8E30-D83FF473A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CC15B934-35BF-E3B3-C7B4-1C07B224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1B9953-A346-0476-3284-198E4310C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183" y="448056"/>
            <a:ext cx="6808017" cy="627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9955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4FA56-44CB-0165-D4BC-CBC5F712D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4A7FD505-4946-A197-D01D-83C742504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1CBB9511-E945-0CF9-69B9-43EC71AC1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908114-3DD1-BB3F-22FE-00228825B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916" y="737237"/>
            <a:ext cx="9257317" cy="318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4675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4E19D0-EE79-66B2-933D-911172EC2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1213F3B-88D0-1DC9-8CE3-89F3A0C79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34E4B380-46B9-B3D5-19A8-134AB87B0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98CFB7-454F-2EB8-0F93-9FF66ED87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031" y="853091"/>
            <a:ext cx="8448393" cy="462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1158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AC7A2E-8542-D3C3-1652-F6131FB23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E16FB946-0B69-D94F-66CB-5FABAB709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27B6EC50-83EC-28B1-384C-66DB94F4A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C8B37B-E86B-1849-046D-E9785C80B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052" y="448055"/>
            <a:ext cx="6578748" cy="601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7753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D61FB6-83D6-66E7-8CFE-6467C9B1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8432E232-6CC1-67A4-F6A4-4A3452D2D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29B73071-1550-4005-8411-436B06112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2633FB-4A5F-3306-09BE-CBB4A6A8A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275" y="802594"/>
            <a:ext cx="9524598" cy="311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9005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Dynamic Method Dispatching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AB05E-C75B-911C-88DF-AE2FFC181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pPr algn="just"/>
            <a:r>
              <a:rPr lang="en-US" sz="3200" dirty="0"/>
              <a:t>Dynamic method dispatch is the mechanism by which a call to an overridden method is resolved at run time, rather than compile time. </a:t>
            </a:r>
          </a:p>
          <a:p>
            <a:pPr algn="just"/>
            <a:r>
              <a:rPr lang="en-US" sz="3200" dirty="0"/>
              <a:t>Dynamic method dispatch is important because this is how Java implements run-time polymorphism.</a:t>
            </a:r>
          </a:p>
        </p:txBody>
      </p:sp>
    </p:spTree>
    <p:extLst>
      <p:ext uri="{BB962C8B-B14F-4D97-AF65-F5344CB8AC3E}">
        <p14:creationId xmlns:p14="http://schemas.microsoft.com/office/powerpoint/2010/main" val="10673643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CAFDA-2149-1786-275F-63E6237D8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30B8CF12-9460-D7F9-5533-F49D86E23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04A786D-AAEB-EB34-A2B3-4BBA4E846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F6F8A1-C867-52F0-DD7B-F547D0D22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680" y="448056"/>
            <a:ext cx="8789319" cy="608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1077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405DCB-B29C-0EF3-E1E1-7900A27BD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25812161-BA01-88EA-AB12-84CF1FE92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07E001E3-E508-982A-379D-7A29C180D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500EE0-05D1-D451-70D8-878558A8D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952" y="448056"/>
            <a:ext cx="6638407" cy="590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7048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Using final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AB05E-C75B-911C-88DF-AE2FFC181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pPr algn="just"/>
            <a:r>
              <a:rPr lang="en-US" sz="3200" dirty="0"/>
              <a:t>Three uses</a:t>
            </a:r>
          </a:p>
          <a:p>
            <a:pPr algn="just"/>
            <a:r>
              <a:rPr lang="en-US" sz="3200" dirty="0"/>
              <a:t>Creating constant variable</a:t>
            </a:r>
          </a:p>
          <a:p>
            <a:pPr algn="just"/>
            <a:r>
              <a:rPr lang="en-US" sz="3200" dirty="0"/>
              <a:t>Used to prevent method overriding</a:t>
            </a:r>
          </a:p>
          <a:p>
            <a:pPr algn="just"/>
            <a:r>
              <a:rPr lang="en-US" sz="3200" dirty="0"/>
              <a:t>Used to prevent inheritance</a:t>
            </a:r>
          </a:p>
        </p:txBody>
      </p:sp>
    </p:spTree>
    <p:extLst>
      <p:ext uri="{BB962C8B-B14F-4D97-AF65-F5344CB8AC3E}">
        <p14:creationId xmlns:p14="http://schemas.microsoft.com/office/powerpoint/2010/main" val="579502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9F83-0A35-D8C8-E02C-3BE781D1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Abstract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AB05E-C75B-911C-88DF-AE2FFC181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pPr algn="just"/>
            <a:r>
              <a:rPr lang="en-US" sz="3200" dirty="0"/>
              <a:t>Method without definition are declared as abstract.</a:t>
            </a:r>
          </a:p>
          <a:p>
            <a:pPr algn="just"/>
            <a:r>
              <a:rPr lang="en-US" sz="3200" dirty="0"/>
              <a:t>The class which contains the abstract metho should be declared as abstract</a:t>
            </a:r>
          </a:p>
        </p:txBody>
      </p:sp>
    </p:spTree>
    <p:extLst>
      <p:ext uri="{BB962C8B-B14F-4D97-AF65-F5344CB8AC3E}">
        <p14:creationId xmlns:p14="http://schemas.microsoft.com/office/powerpoint/2010/main" val="26269409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8056"/>
            <a:ext cx="1920339" cy="2894124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3515821"/>
            <a:ext cx="1920338" cy="2883258"/>
          </a:xfrm>
          <a:prstGeom prst="rect">
            <a:avLst/>
          </a:prstGeom>
          <a:solidFill>
            <a:schemeClr val="accent5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2D30AC-BBFB-0A88-291B-338CD5303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750" y="641878"/>
            <a:ext cx="7601117" cy="568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6902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941C2A-D0AF-DDBD-305D-C8FC73F7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FF"/>
                </a:solidFill>
              </a:rPr>
              <a:t>Recap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7E190-A6EC-CA79-7B0D-3AD94DCEC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449238"/>
            <a:ext cx="6182259" cy="5055079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FEFFFF"/>
                </a:solidFill>
              </a:rPr>
              <a:t>Inheritance basics</a:t>
            </a:r>
          </a:p>
          <a:p>
            <a:r>
              <a:rPr lang="en-US" sz="2400" dirty="0">
                <a:solidFill>
                  <a:srgbClr val="FEFFFF"/>
                </a:solidFill>
              </a:rPr>
              <a:t>Using Super</a:t>
            </a:r>
          </a:p>
          <a:p>
            <a:r>
              <a:rPr lang="en-US" sz="2400" dirty="0">
                <a:solidFill>
                  <a:srgbClr val="FEFFFF"/>
                </a:solidFill>
              </a:rPr>
              <a:t>Creating a multilevel hierarchy</a:t>
            </a:r>
          </a:p>
          <a:p>
            <a:r>
              <a:rPr lang="en-US" sz="2400" dirty="0">
                <a:solidFill>
                  <a:srgbClr val="FEFFFF"/>
                </a:solidFill>
              </a:rPr>
              <a:t>Method Overriding</a:t>
            </a:r>
          </a:p>
          <a:p>
            <a:r>
              <a:rPr lang="en-US" sz="2400" dirty="0">
                <a:solidFill>
                  <a:srgbClr val="FEFFFF"/>
                </a:solidFill>
              </a:rPr>
              <a:t>Dynamic Method Dispatching</a:t>
            </a:r>
          </a:p>
          <a:p>
            <a:r>
              <a:rPr lang="en-US" sz="2400" dirty="0">
                <a:solidFill>
                  <a:srgbClr val="FEFFFF"/>
                </a:solidFill>
              </a:rPr>
              <a:t>Using abstract classes</a:t>
            </a:r>
          </a:p>
          <a:p>
            <a:r>
              <a:rPr lang="en-US" sz="2400" dirty="0">
                <a:solidFill>
                  <a:srgbClr val="FEFFFF"/>
                </a:solidFill>
              </a:rPr>
              <a:t>Using final with inheritance</a:t>
            </a:r>
          </a:p>
          <a:p>
            <a:r>
              <a:rPr lang="en-US" sz="2400" dirty="0">
                <a:solidFill>
                  <a:srgbClr val="FEFFFF"/>
                </a:solidFill>
              </a:rPr>
              <a:t>The object class</a:t>
            </a:r>
          </a:p>
        </p:txBody>
      </p:sp>
    </p:spTree>
    <p:extLst>
      <p:ext uri="{BB962C8B-B14F-4D97-AF65-F5344CB8AC3E}">
        <p14:creationId xmlns:p14="http://schemas.microsoft.com/office/powerpoint/2010/main" val="812746018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AnalogousFromDarkSeedLeftStep">
      <a:dk1>
        <a:srgbClr val="000000"/>
      </a:dk1>
      <a:lt1>
        <a:srgbClr val="FFFFFF"/>
      </a:lt1>
      <a:dk2>
        <a:srgbClr val="1C2431"/>
      </a:dk2>
      <a:lt2>
        <a:srgbClr val="F2F3F0"/>
      </a:lt2>
      <a:accent1>
        <a:srgbClr val="814DC3"/>
      </a:accent1>
      <a:accent2>
        <a:srgbClr val="4643B5"/>
      </a:accent2>
      <a:accent3>
        <a:srgbClr val="4D7BC3"/>
      </a:accent3>
      <a:accent4>
        <a:srgbClr val="3B9AB1"/>
      </a:accent4>
      <a:accent5>
        <a:srgbClr val="4BC0A6"/>
      </a:accent5>
      <a:accent6>
        <a:srgbClr val="3BB166"/>
      </a:accent6>
      <a:hlink>
        <a:srgbClr val="339A95"/>
      </a:hlink>
      <a:folHlink>
        <a:srgbClr val="7F7F7F"/>
      </a:folHlink>
    </a:clrScheme>
    <a:fontScheme name="Blob">
      <a:majorFont>
        <a:latin typeface="The Hand Extrablack"/>
        <a:ea typeface=""/>
        <a:cs typeface=""/>
      </a:majorFont>
      <a:minorFont>
        <a:latin typeface="Sagona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559</Words>
  <Application>Microsoft Office PowerPoint</Application>
  <PresentationFormat>Widescreen</PresentationFormat>
  <Paragraphs>64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Arial Black</vt:lpstr>
      <vt:lpstr>Calibri</vt:lpstr>
      <vt:lpstr>Calibri Light</vt:lpstr>
      <vt:lpstr>Sagona Book</vt:lpstr>
      <vt:lpstr>The Hand Extrablack</vt:lpstr>
      <vt:lpstr>BlobVTI</vt:lpstr>
      <vt:lpstr>Office Theme</vt:lpstr>
      <vt:lpstr>Inheritance</vt:lpstr>
      <vt:lpstr>Agenda</vt:lpstr>
      <vt:lpstr>Inheritance Basics</vt:lpstr>
      <vt:lpstr>PowerPoint Presentation</vt:lpstr>
      <vt:lpstr>PowerPoint Presentation</vt:lpstr>
      <vt:lpstr>Member Access and Inheritance</vt:lpstr>
      <vt:lpstr>PowerPoint Presentation</vt:lpstr>
      <vt:lpstr>PowerPoint Presentation</vt:lpstr>
      <vt:lpstr>PowerPoint Presentation</vt:lpstr>
      <vt:lpstr>Super Class Variable Can Reference a Sub Class Object</vt:lpstr>
      <vt:lpstr>PowerPoint Presentation</vt:lpstr>
      <vt:lpstr>Using Super Keyword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Super Keyword</vt:lpstr>
      <vt:lpstr>PowerPoint Presentation</vt:lpstr>
      <vt:lpstr>PowerPoint Presentation</vt:lpstr>
      <vt:lpstr>Creating a multi-level heirarchy</vt:lpstr>
      <vt:lpstr>PowerPoint Presentation</vt:lpstr>
      <vt:lpstr>PowerPoint Presentation</vt:lpstr>
      <vt:lpstr>When Constructors are Executed?</vt:lpstr>
      <vt:lpstr>PowerPoint Presentation</vt:lpstr>
      <vt:lpstr>Method Overriding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Dynamic Method Dispatching</vt:lpstr>
      <vt:lpstr>PowerPoint Presentation</vt:lpstr>
      <vt:lpstr>PowerPoint Presentation</vt:lpstr>
      <vt:lpstr>Using final keyword</vt:lpstr>
      <vt:lpstr>Abstract Classes</vt:lpstr>
      <vt:lpstr>PowerPoint Presentation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Closer Look at Methods and Classes</dc:title>
  <dc:creator>Mr. Ghulam Mujtaba Shaikh</dc:creator>
  <cp:lastModifiedBy>Mr. Ghulam Mujtaba Shaikh</cp:lastModifiedBy>
  <cp:revision>34</cp:revision>
  <dcterms:created xsi:type="dcterms:W3CDTF">2023-02-22T09:53:49Z</dcterms:created>
  <dcterms:modified xsi:type="dcterms:W3CDTF">2024-03-05T18:12:14Z</dcterms:modified>
</cp:coreProperties>
</file>
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4" d="100"/>
          <a:sy n="74" d="100"/>
        </p:scale>
        <p:origin x="129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B52358-4A28-4098-9F24-4C14374EC014}" type="datetimeFigureOut">
              <a:rPr lang="en-US" smtClean="0"/>
              <a:t>11/29/2020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1A2042-FDDB-4359-AC0F-4DF1D9072A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8835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B52358-4A28-4098-9F24-4C14374EC014}" type="datetimeFigureOut">
              <a:rPr lang="en-US" smtClean="0"/>
              <a:t>11/29/2020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1A2042-FDDB-4359-AC0F-4DF1D9072A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61277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B52358-4A28-4098-9F24-4C14374EC014}" type="datetimeFigureOut">
              <a:rPr lang="en-US" smtClean="0"/>
              <a:t>11/29/2020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1A2042-FDDB-4359-AC0F-4DF1D9072A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07660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B52358-4A28-4098-9F24-4C14374EC014}" type="datetimeFigureOut">
              <a:rPr lang="en-US" smtClean="0"/>
              <a:t>11/29/2020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1A2042-FDDB-4359-AC0F-4DF1D9072A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12266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B52358-4A28-4098-9F24-4C14374EC014}" type="datetimeFigureOut">
              <a:rPr lang="en-US" smtClean="0"/>
              <a:t>11/29/2020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1A2042-FDDB-4359-AC0F-4DF1D9072A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92693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B52358-4A28-4098-9F24-4C14374EC014}" type="datetimeFigureOut">
              <a:rPr lang="en-US" smtClean="0"/>
              <a:t>11/29/2020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1A2042-FDDB-4359-AC0F-4DF1D9072A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24722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B52358-4A28-4098-9F24-4C14374EC014}" type="datetimeFigureOut">
              <a:rPr lang="en-US" smtClean="0"/>
              <a:t>11/29/2020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1A2042-FDDB-4359-AC0F-4DF1D9072A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9644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B52358-4A28-4098-9F24-4C14374EC014}" type="datetimeFigureOut">
              <a:rPr lang="en-US" smtClean="0"/>
              <a:t>11/29/2020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1A2042-FDDB-4359-AC0F-4DF1D9072A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26465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B52358-4A28-4098-9F24-4C14374EC014}" type="datetimeFigureOut">
              <a:rPr lang="en-US" smtClean="0"/>
              <a:t>11/29/2020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1A2042-FDDB-4359-AC0F-4DF1D9072A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91665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B52358-4A28-4098-9F24-4C14374EC014}" type="datetimeFigureOut">
              <a:rPr lang="en-US" smtClean="0"/>
              <a:t>11/29/2020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1A2042-FDDB-4359-AC0F-4DF1D9072A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56488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B52358-4A28-4098-9F24-4C14374EC014}" type="datetimeFigureOut">
              <a:rPr lang="en-US" smtClean="0"/>
              <a:t>11/29/2020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1A2042-FDDB-4359-AC0F-4DF1D9072A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25723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3B52358-4A28-4098-9F24-4C14374EC014}" type="datetimeFigureOut">
              <a:rPr lang="en-US" smtClean="0"/>
              <a:t>11/29/2020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81A2042-FDDB-4359-AC0F-4DF1D9072A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19725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emf"/><Relationship Id="rId2" Type="http://schemas.openxmlformats.org/officeDocument/2006/relationships/image" Target="../media/image10.emf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emf"/><Relationship Id="rId2" Type="http://schemas.openxmlformats.org/officeDocument/2006/relationships/image" Target="../media/image12.emf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emf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"/>
            <a:ext cx="9144000" cy="86288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62884"/>
            <a:ext cx="9144000" cy="3129567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6" name="Rectangle 5"/>
              <p:cNvSpPr/>
              <p:nvPr/>
            </p:nvSpPr>
            <p:spPr>
              <a:xfrm>
                <a:off x="1634770" y="3997716"/>
                <a:ext cx="5486400" cy="292608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m>
                        <m:mPr>
                          <m:mcs>
                            <m:mc>
                              <m:mcPr>
                                <m:count m:val="1"/>
                                <m:mcJc m:val="center"/>
                              </m:mcPr>
                            </m:mc>
                          </m:mcs>
                          <m:ctrlPr>
                            <a:rPr lang="en-US" smtClean="0"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>
                            <m:r>
                              <m:rPr>
                                <m:nor/>
                              </m:rPr>
                              <a:rPr lang="en-US"/>
                              <m:t>Proof</m:t>
                            </m:r>
                            <m:r>
                              <m:rPr>
                                <m:nor/>
                              </m:rPr>
                              <a:rPr lang="en-US"/>
                              <m:t>:</m:t>
                            </m:r>
                          </m:e>
                        </m:mr>
                        <m:mr>
                          <m:e>
                            <m:r>
                              <m:rPr>
                                <m:nor/>
                              </m:rPr>
                              <a:rPr lang="en-US" i="1"/>
                              <m:t>let</m:t>
                            </m:r>
                            <m:r>
                              <m:rPr>
                                <m:nor/>
                              </m:rPr>
                              <a:rPr lang="en-US" i="1"/>
                              <m:t> </m:t>
                            </m:r>
                          </m:e>
                        </m:mr>
                        <m:mr>
                          <m:e>
                            <m:sSup>
                              <m:s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m:rPr>
                                    <m:nor/>
                                  </m:rPr>
                                  <a:rPr lang="en-US" i="1"/>
                                  <m:t>t</m:t>
                                </m:r>
                                <m:r>
                                  <m:rPr>
                                    <m:nor/>
                                  </m:rPr>
                                  <a:rPr lang="en-US" i="1"/>
                                  <m:t>=</m:t>
                                </m:r>
                                <m:r>
                                  <m:rPr>
                                    <m:nor/>
                                  </m:rPr>
                                  <a:rPr lang="en-US" i="1"/>
                                  <m:t>a</m:t>
                                </m:r>
                              </m:e>
                              <m:sup>
                                <m:r>
                                  <m:rPr>
                                    <m:nor/>
                                  </m:rPr>
                                  <a:rPr lang="en-US" i="1"/>
                                  <m:t>x</m:t>
                                </m:r>
                              </m:sup>
                            </m:sSup>
                          </m:e>
                        </m:mr>
                        <m:mr>
                          <m:e>
                            <m:r>
                              <m:rPr>
                                <m:nor/>
                              </m:rPr>
                              <a:rPr lang="en-US" i="1">
                                <a:latin typeface="Cambria Math" panose="02040503050406030204" pitchFamily="18" charset="0"/>
                              </a:rPr>
                              <m:t>by</m:t>
                            </m:r>
                            <m:r>
                              <m:rPr>
                                <m:nor/>
                              </m:rPr>
                              <a:rPr lang="en-US" i="1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m:rPr>
                                <m:nor/>
                              </m:rPr>
                              <a:rPr lang="en-US" i="1">
                                <a:latin typeface="Cambria Math" panose="02040503050406030204" pitchFamily="18" charset="0"/>
                              </a:rPr>
                              <m:t>taking</m:t>
                            </m:r>
                            <m:r>
                              <m:rPr>
                                <m:nor/>
                              </m:rPr>
                              <a:rPr lang="en-US" i="1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m:rPr>
                                <m:nor/>
                              </m:rPr>
                              <a:rPr lang="en-US" i="1">
                                <a:latin typeface="Cambria Math" panose="02040503050406030204" pitchFamily="18" charset="0"/>
                              </a:rPr>
                              <m:t>the</m:t>
                            </m:r>
                            <m:r>
                              <m:rPr>
                                <m:nor/>
                              </m:rPr>
                              <a:rPr lang="en-US" i="1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m:rPr>
                                <m:nor/>
                              </m:rPr>
                              <a:rPr lang="en-US" i="1">
                                <a:latin typeface="Cambria Math" panose="02040503050406030204" pitchFamily="18" charset="0"/>
                              </a:rPr>
                              <m:t>ln</m:t>
                            </m:r>
                            <m:r>
                              <m:rPr>
                                <m:nor/>
                              </m:rPr>
                              <a:rPr lang="en-US" i="1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m:rPr>
                                <m:nor/>
                              </m:rPr>
                              <a:rPr lang="en-US" i="1">
                                <a:latin typeface="Cambria Math" panose="02040503050406030204" pitchFamily="18" charset="0"/>
                              </a:rPr>
                              <m:t>to</m:t>
                            </m:r>
                            <m:r>
                              <m:rPr>
                                <m:nor/>
                              </m:rPr>
                              <a:rPr lang="en-US" i="1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m:rPr>
                                <m:nor/>
                              </m:rPr>
                              <a:rPr lang="en-US" i="1">
                                <a:latin typeface="Cambria Math" panose="02040503050406030204" pitchFamily="18" charset="0"/>
                              </a:rPr>
                              <m:t>both</m:t>
                            </m:r>
                            <m:r>
                              <m:rPr>
                                <m:nor/>
                              </m:rPr>
                              <a:rPr lang="en-US" i="1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m:rPr>
                                <m:nor/>
                              </m:rPr>
                              <a:rPr lang="en-US" i="1">
                                <a:latin typeface="Cambria Math" panose="02040503050406030204" pitchFamily="18" charset="0"/>
                              </a:rPr>
                              <m:t>sides</m:t>
                            </m:r>
                          </m:e>
                        </m:mr>
                        <m:mr>
                          <m:e>
                            <m:sSup>
                              <m:s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m:rPr>
                                    <m:nor/>
                                  </m:rPr>
                                  <a:rPr lang="en-US" i="1">
                                    <a:latin typeface="Cambria Math" panose="02040503050406030204" pitchFamily="18" charset="0"/>
                                  </a:rPr>
                                  <m:t>lnt</m:t>
                                </m:r>
                                <m:r>
                                  <m:rPr>
                                    <m:nor/>
                                  </m:rPr>
                                  <a:rPr lang="en-US" i="1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m:rPr>
                                    <m:nor/>
                                  </m:rPr>
                                  <a:rPr lang="en-US" i="1">
                                    <a:latin typeface="Cambria Math" panose="02040503050406030204" pitchFamily="18" charset="0"/>
                                  </a:rPr>
                                  <m:t>lna</m:t>
                                </m:r>
                              </m:e>
                              <m:sup>
                                <m:r>
                                  <m:rPr>
                                    <m:nor/>
                                  </m:rPr>
                                  <a:rPr lang="en-US" i="1">
                                    <a:latin typeface="Cambria Math" panose="02040503050406030204" pitchFamily="18" charset="0"/>
                                  </a:rPr>
                                  <m:t>x</m:t>
                                </m:r>
                              </m:sup>
                            </m:sSup>
                          </m:e>
                        </m:mr>
                        <m:mr>
                          <m:e>
                            <m:r>
                              <m:rPr>
                                <m:nor/>
                              </m:rPr>
                              <a:rPr lang="en-US" i="1">
                                <a:latin typeface="Cambria Math" panose="02040503050406030204" pitchFamily="18" charset="0"/>
                              </a:rPr>
                              <m:t>lnt</m:t>
                            </m:r>
                            <m:r>
                              <m:rPr>
                                <m:nor/>
                              </m:rPr>
                              <a:rPr lang="en-US" i="1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m:rPr>
                                <m:nor/>
                              </m:rPr>
                              <a:rPr lang="en-US" i="1">
                                <a:latin typeface="Cambria Math" panose="02040503050406030204" pitchFamily="18" charset="0"/>
                              </a:rPr>
                              <m:t>xln</m:t>
                            </m:r>
                            <m:r>
                              <m:rPr>
                                <m:nor/>
                              </m:rPr>
                              <a:rPr lang="en-US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m:rPr>
                                <m:nor/>
                              </m:rPr>
                              <a:rPr lang="en-US" i="1">
                                <a:latin typeface="Cambria Math" panose="02040503050406030204" pitchFamily="18" charset="0"/>
                              </a:rPr>
                              <m:t>a</m:t>
                            </m:r>
                            <m:r>
                              <m:rPr>
                                <m:nor/>
                              </m:rPr>
                              <a:rPr lang="en-US" i="1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mr>
                        <m:mr>
                          <m:e>
                            <m:sSup>
                              <m:s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m:rPr>
                                    <m:nor/>
                                  </m:rPr>
                                  <a:rPr lang="en-US" i="1">
                                    <a:latin typeface="Cambria Math" panose="02040503050406030204" pitchFamily="18" charset="0"/>
                                  </a:rPr>
                                  <m:t>t</m:t>
                                </m:r>
                                <m:r>
                                  <m:rPr>
                                    <m:nor/>
                                  </m:rPr>
                                  <a:rPr lang="en-US" i="1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m:rPr>
                                    <m:nor/>
                                  </m:rPr>
                                  <a:rPr lang="en-US" i="1">
                                    <a:latin typeface="Cambria Math" panose="02040503050406030204" pitchFamily="18" charset="0"/>
                                  </a:rPr>
                                  <m:t>e</m:t>
                                </m:r>
                              </m:e>
                              <m:sup>
                                <m:r>
                                  <m:rPr>
                                    <m:nor/>
                                  </m:rPr>
                                  <a:rPr lang="en-US" i="1">
                                    <a:latin typeface="Cambria Math" panose="02040503050406030204" pitchFamily="18" charset="0"/>
                                  </a:rPr>
                                  <m:t>xln</m:t>
                                </m:r>
                                <m:r>
                                  <m:rPr>
                                    <m:nor/>
                                  </m:rPr>
                                  <a:rPr lang="en-US" i="1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m:rPr>
                                    <m:nor/>
                                  </m:rPr>
                                  <a:rPr lang="en-US" i="1">
                                    <a:latin typeface="Cambria Math" panose="02040503050406030204" pitchFamily="18" charset="0"/>
                                  </a:rPr>
                                  <m:t>a</m:t>
                                </m:r>
                                <m:r>
                                  <m:rPr>
                                    <m:nor/>
                                  </m:rPr>
                                  <a:rPr lang="en-US" i="1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sup>
                            </m:sSup>
                          </m:e>
                        </m:mr>
                      </m:m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6" name="Rectangle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34770" y="3997716"/>
                <a:ext cx="5486400" cy="2926080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251268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3052293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052292"/>
            <a:ext cx="9144000" cy="3805707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8" name="Rectangle 7"/>
              <p:cNvSpPr/>
              <p:nvPr/>
            </p:nvSpPr>
            <p:spPr>
              <a:xfrm>
                <a:off x="6892645" y="5188745"/>
                <a:ext cx="1849673" cy="6790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</a:rPr>
                        <m:t>𝑙𝑜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𝑎</m:t>
                          </m:r>
                        </m:sub>
                      </m:sSub>
                      <m:r>
                        <a:rPr lang="en-US" i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US" i="0">
                          <a:latin typeface="Cambria Math" panose="02040503050406030204" pitchFamily="18" charset="0"/>
                        </a:rPr>
                        <m:t>)=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begChr m:val="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𝑙𝑛</m:t>
                              </m:r>
                              <m:r>
                                <a:rPr lang="en-US" i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</m:d>
                        </m:num>
                        <m:den>
                          <m:d>
                            <m:dPr>
                              <m:begChr m:val="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𝑙𝑛</m:t>
                              </m:r>
                              <m:r>
                                <a:rPr lang="en-US" i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</m:d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8" name="Rectangle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92645" y="5188745"/>
                <a:ext cx="1849673" cy="679032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681751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81527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90929" y="734068"/>
            <a:ext cx="2939034" cy="959531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0152" y="270456"/>
            <a:ext cx="37992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Integration of the exponential function</a:t>
            </a:r>
            <a:endParaRPr lang="en-US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Rectangle 3"/>
              <p:cNvSpPr/>
              <p:nvPr/>
            </p:nvSpPr>
            <p:spPr>
              <a:xfrm>
                <a:off x="2236950" y="2153875"/>
                <a:ext cx="4663440" cy="255025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m>
                        <m:mPr>
                          <m:mcs>
                            <m:mc>
                              <m:mcPr>
                                <m:count m:val="1"/>
                                <m:mcJc m:val="center"/>
                              </m:mcPr>
                            </m:mc>
                          </m:mcs>
                          <m:ctrlPr>
                            <a:rPr lang="en-US" smtClean="0"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>
                            <m:r>
                              <m:rPr>
                                <m:nor/>
                              </m:rPr>
                              <a:rPr lang="en-US"/>
                              <m:t>Proof</m:t>
                            </m:r>
                            <m:r>
                              <m:rPr>
                                <m:nor/>
                              </m:rPr>
                              <a:rPr lang="en-US"/>
                              <m:t>:</m:t>
                            </m:r>
                          </m:e>
                        </m:mr>
                        <m:mr>
                          <m:e>
                            <m:r>
                              <m:rPr>
                                <m:nor/>
                              </m:rPr>
                              <a:rPr lang="en-US" i="1"/>
                              <m:t>As</m:t>
                            </m:r>
                            <m:r>
                              <m:rPr>
                                <m:nor/>
                              </m:rPr>
                              <a:rPr lang="en-US" i="1"/>
                              <m:t> </m:t>
                            </m:r>
                            <m:f>
                              <m:f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m:rPr>
                                    <m:nor/>
                                  </m:rPr>
                                  <a:rPr lang="en-US" i="1"/>
                                  <m:t>d</m:t>
                                </m:r>
                              </m:num>
                              <m:den>
                                <m:r>
                                  <m:rPr>
                                    <m:nor/>
                                  </m:rPr>
                                  <a:rPr lang="en-US" i="1"/>
                                  <m:t>dx</m:t>
                                </m:r>
                              </m:den>
                            </m:f>
                            <m:sSup>
                              <m:s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m:rPr>
                                    <m:nor/>
                                  </m:rPr>
                                  <a:rPr lang="en-US" i="1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m:rPr>
                                    <m:nor/>
                                  </m:rPr>
                                  <a:rPr lang="en-US" i="1">
                                    <a:latin typeface="Cambria Math" panose="02040503050406030204" pitchFamily="18" charset="0"/>
                                  </a:rPr>
                                  <m:t>a</m:t>
                                </m:r>
                              </m:e>
                              <m:sup>
                                <m:r>
                                  <m:rPr>
                                    <m:nor/>
                                  </m:rPr>
                                  <a:rPr lang="en-US" i="1">
                                    <a:latin typeface="Cambria Math" panose="02040503050406030204" pitchFamily="18" charset="0"/>
                                  </a:rPr>
                                  <m:t>x</m:t>
                                </m:r>
                              </m:sup>
                            </m:sSup>
                            <m:sSup>
                              <m:s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m:rPr>
                                    <m:nor/>
                                  </m:rPr>
                                  <a:rPr lang="en-US" i="1">
                                    <a:latin typeface="Cambria Math" panose="02040503050406030204" pitchFamily="18" charset="0"/>
                                  </a:rPr>
                                  <m:t>)=</m:t>
                                </m:r>
                                <m:r>
                                  <m:rPr>
                                    <m:nor/>
                                  </m:rPr>
                                  <a:rPr lang="en-US" i="1">
                                    <a:latin typeface="Cambria Math" panose="02040503050406030204" pitchFamily="18" charset="0"/>
                                  </a:rPr>
                                  <m:t>lna</m:t>
                                </m:r>
                                <m:r>
                                  <m:rPr>
                                    <m:nor/>
                                  </m:rPr>
                                  <a:rPr lang="en-US" i="1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m:rPr>
                                    <m:nor/>
                                  </m:rPr>
                                  <a:rPr lang="en-US" i="1">
                                    <a:latin typeface="Cambria Math" panose="02040503050406030204" pitchFamily="18" charset="0"/>
                                  </a:rPr>
                                  <m:t>a</m:t>
                                </m:r>
                              </m:e>
                              <m:sup>
                                <m:r>
                                  <m:rPr>
                                    <m:nor/>
                                  </m:rPr>
                                  <a:rPr lang="en-US" i="1">
                                    <a:latin typeface="Cambria Math" panose="02040503050406030204" pitchFamily="18" charset="0"/>
                                  </a:rPr>
                                  <m:t>x</m:t>
                                </m:r>
                              </m:sup>
                            </m:sSup>
                            <m:r>
                              <m:rPr>
                                <m:nor/>
                              </m:rPr>
                              <a:rPr lang="en-US" i="1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mr>
                        <m:mr>
                          <m:e>
                            <m:r>
                              <m:rPr>
                                <m:nor/>
                              </m:rPr>
                              <a:rPr lang="en-US" i="1">
                                <a:latin typeface="Cambria Math" panose="02040503050406030204" pitchFamily="18" charset="0"/>
                              </a:rPr>
                              <m:t>0</m:t>
                            </m:r>
                            <m:r>
                              <m:rPr>
                                <m:nor/>
                              </m:rPr>
                              <a:rPr lang="en-US" i="1">
                                <a:latin typeface="Cambria Math" panose="02040503050406030204" pitchFamily="18" charset="0"/>
                              </a:rPr>
                              <m:t>r</m:t>
                            </m:r>
                            <m:r>
                              <m:rPr>
                                <m:nor/>
                              </m:rPr>
                              <a:rPr lang="en-US" i="1">
                                <a:latin typeface="Cambria Math" panose="02040503050406030204" pitchFamily="18" charset="0"/>
                              </a:rPr>
                              <m:t> </m:t>
                            </m:r>
                            <m:f>
                              <m:f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m:rPr>
                                    <m:nor/>
                                  </m:rPr>
                                  <a:rPr lang="en-US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m:rPr>
                                    <m:nor/>
                                  </m:rPr>
                                  <a:rPr lang="en-US" i="1">
                                    <a:latin typeface="Cambria Math" panose="02040503050406030204" pitchFamily="18" charset="0"/>
                                  </a:rPr>
                                  <m:t>lna</m:t>
                                </m:r>
                              </m:den>
                            </m:f>
                            <m:f>
                              <m:f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m:rPr>
                                    <m:nor/>
                                  </m:rPr>
                                  <a:rPr lang="en-US" i="1">
                                    <a:latin typeface="Cambria Math" panose="02040503050406030204" pitchFamily="18" charset="0"/>
                                  </a:rPr>
                                  <m:t>d</m:t>
                                </m:r>
                              </m:num>
                              <m:den>
                                <m:r>
                                  <m:rPr>
                                    <m:nor/>
                                  </m:rPr>
                                  <a:rPr lang="en-US" i="1">
                                    <a:latin typeface="Cambria Math" panose="02040503050406030204" pitchFamily="18" charset="0"/>
                                  </a:rPr>
                                  <m:t>dx</m:t>
                                </m:r>
                              </m:den>
                            </m:f>
                            <m:sSup>
                              <m:s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m:rPr>
                                    <m:nor/>
                                  </m:rPr>
                                  <a:rPr lang="en-US" i="1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m:rPr>
                                    <m:nor/>
                                  </m:rPr>
                                  <a:rPr lang="en-US" i="1">
                                    <a:latin typeface="Cambria Math" panose="02040503050406030204" pitchFamily="18" charset="0"/>
                                  </a:rPr>
                                  <m:t>a</m:t>
                                </m:r>
                              </m:e>
                              <m:sup>
                                <m:r>
                                  <m:rPr>
                                    <m:nor/>
                                  </m:rPr>
                                  <a:rPr lang="en-US" i="1">
                                    <a:latin typeface="Cambria Math" panose="02040503050406030204" pitchFamily="18" charset="0"/>
                                  </a:rPr>
                                  <m:t>x</m:t>
                                </m:r>
                              </m:sup>
                            </m:sSup>
                            <m:sSup>
                              <m:s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m:rPr>
                                    <m:nor/>
                                  </m:rPr>
                                  <a:rPr lang="en-US" i="1">
                                    <a:latin typeface="Cambria Math" panose="02040503050406030204" pitchFamily="18" charset="0"/>
                                  </a:rPr>
                                  <m:t>)=</m:t>
                                </m:r>
                                <m:r>
                                  <m:rPr>
                                    <m:nor/>
                                  </m:rPr>
                                  <a:rPr lang="en-US" i="1">
                                    <a:latin typeface="Cambria Math" panose="02040503050406030204" pitchFamily="18" charset="0"/>
                                  </a:rPr>
                                  <m:t>a</m:t>
                                </m:r>
                              </m:e>
                              <m:sup>
                                <m:r>
                                  <m:rPr>
                                    <m:nor/>
                                  </m:rPr>
                                  <a:rPr lang="en-US" i="1">
                                    <a:latin typeface="Cambria Math" panose="02040503050406030204" pitchFamily="18" charset="0"/>
                                  </a:rPr>
                                  <m:t>x</m:t>
                                </m:r>
                              </m:sup>
                            </m:sSup>
                          </m:e>
                        </m:mr>
                        <m:mr>
                          <m:e>
                            <m:r>
                              <m:rPr>
                                <m:nor/>
                              </m:rPr>
                              <a:rPr lang="en-US" i="1">
                                <a:latin typeface="Cambria Math" panose="02040503050406030204" pitchFamily="18" charset="0"/>
                              </a:rPr>
                              <m:t>By</m:t>
                            </m:r>
                            <m:r>
                              <m:rPr>
                                <m:nor/>
                              </m:rPr>
                              <a:rPr lang="en-US" i="1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m:rPr>
                                <m:nor/>
                              </m:rPr>
                              <a:rPr lang="en-US" i="1">
                                <a:latin typeface="Cambria Math" panose="02040503050406030204" pitchFamily="18" charset="0"/>
                              </a:rPr>
                              <m:t>integrating</m:t>
                            </m:r>
                            <m:r>
                              <m:rPr>
                                <m:nor/>
                              </m:rPr>
                              <a:rPr lang="en-US" i="1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m:rPr>
                                <m:nor/>
                              </m:rPr>
                              <a:rPr lang="en-US" i="1">
                                <a:latin typeface="Cambria Math" panose="02040503050406030204" pitchFamily="18" charset="0"/>
                              </a:rPr>
                              <m:t>both</m:t>
                            </m:r>
                            <m:r>
                              <m:rPr>
                                <m:nor/>
                              </m:rPr>
                              <a:rPr lang="en-US" i="1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m:rPr>
                                <m:nor/>
                              </m:rPr>
                              <a:rPr lang="en-US" i="1">
                                <a:latin typeface="Cambria Math" panose="02040503050406030204" pitchFamily="18" charset="0"/>
                              </a:rPr>
                              <m:t>sides</m:t>
                            </m:r>
                            <m:r>
                              <m:rPr>
                                <m:nor/>
                              </m:rPr>
                              <a:rPr lang="en-US" i="1">
                                <a:latin typeface="Cambria Math" panose="02040503050406030204" pitchFamily="18" charset="0"/>
                              </a:rPr>
                              <m:t> </m:t>
                            </m:r>
                          </m:e>
                        </m:mr>
                        <m:mr>
                          <m:e>
                            <m:nary>
                              <m:naryPr>
                                <m:grow m:val="on"/>
                                <m:subHide m:val="on"/>
                                <m:supHide m:val="on"/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naryPr>
                              <m:sub/>
                              <m:sup/>
                              <m:e>
                                <m:sSup>
                                  <m:sSup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m:rPr>
                                        <m:nor/>
                                      </m:r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a</m:t>
                                    </m:r>
                                  </m:e>
                                  <m:sup>
                                    <m:r>
                                      <m:rPr>
                                        <m:nor/>
                                      </m:r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x</m:t>
                                    </m:r>
                                  </m:sup>
                                </m:sSup>
                                <m:r>
                                  <m:rPr>
                                    <m:nor/>
                                  </m:rPr>
                                  <a:rPr lang="en-US" i="1">
                                    <a:latin typeface="Cambria Math" panose="02040503050406030204" pitchFamily="18" charset="0"/>
                                  </a:rPr>
                                  <m:t>dx</m:t>
                                </m:r>
                                <m:r>
                                  <m:rPr>
                                    <m:nor/>
                                  </m:rPr>
                                  <a:rPr lang="en-US" i="1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sSup>
                                      <m:sSup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m:rPr>
                                            <m:nor/>
                                          </m:r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a</m:t>
                                        </m:r>
                                      </m:e>
                                      <m:sup>
                                        <m:r>
                                          <m:rPr>
                                            <m:nor/>
                                          </m:r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x</m:t>
                                        </m:r>
                                      </m:sup>
                                    </m:sSup>
                                  </m:num>
                                  <m:den>
                                    <m:r>
                                      <m:rPr>
                                        <m:nor/>
                                      </m:r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lna</m:t>
                                    </m:r>
                                  </m:den>
                                </m:f>
                              </m:e>
                            </m:nary>
                          </m:e>
                        </m:mr>
                      </m:m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4" name="Rectangle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36950" y="2153875"/>
                <a:ext cx="4663440" cy="2550250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297363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2047741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047741"/>
            <a:ext cx="9144000" cy="48102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80878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4906851" cy="685800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84113" y="296214"/>
            <a:ext cx="5859887" cy="65617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10551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421139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73302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23</TotalTime>
  <Words>6</Words>
  <Application>Microsoft Office PowerPoint</Application>
  <PresentationFormat>On-screen Show (4:3)</PresentationFormat>
  <Paragraphs>4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Arial</vt:lpstr>
      <vt:lpstr>Calibri</vt:lpstr>
      <vt:lpstr>Calibri Light</vt:lpstr>
      <vt:lpstr>Cambria Math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IBA</dc:creator>
  <cp:lastModifiedBy>IBA</cp:lastModifiedBy>
  <cp:revision>8</cp:revision>
  <dcterms:created xsi:type="dcterms:W3CDTF">2020-11-29T13:08:04Z</dcterms:created>
  <dcterms:modified xsi:type="dcterms:W3CDTF">2020-11-29T13:31:35Z</dcterms:modified>
</cp:coreProperties>
</file>
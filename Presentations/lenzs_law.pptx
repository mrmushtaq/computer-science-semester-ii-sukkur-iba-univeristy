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jpeg" ContentType="image/jpeg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imes New Roman" pitchFamily="18" charset="0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imes New Roman" pitchFamily="18" charset="0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imes New Roman" pitchFamily="18" charset="0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imes New Roman" pitchFamily="18" charset="0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imes New Roman" pitchFamily="18" charset="0"/>
        <a:sym typeface="Times New Roman" pitchFamily="18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1" snapVertSplitter="0" vertBarState="restored" horzBarState="restored" preferSingleView="0">
    <p:restoredLeft sz="26662" autoAdjust="0"/>
    <p:restoredTop sz="94660"/>
  </p:normalViewPr>
  <p:slideViewPr>
    <p:cSldViewPr showGuides="0" snapToGrid="1" snapToObjects="0">
      <p:cViewPr varScale="1">
        <p:scale>
          <a:sx n="86" d="100"/>
          <a:sy n="86" d="100"/>
        </p:scale>
        <p:origin x="996" y="90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tableStyles" Target="tableStyle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4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0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>
              <a:latin typeface="Arial" pitchFamily="34" charset="0"/>
            </a:endParaRPr>
          </a:p>
        </p:txBody>
      </p:sp>
      <p:sp>
        <p:nvSpPr>
          <p:cNvPr id="1048771" name="Rectangle 3"/>
          <p:cNvSpPr/>
          <p:nvPr>
            <p:ph type="dt" sz="quarter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>
              <a:latin typeface="Arial" pitchFamily="34" charset="0"/>
            </a:endParaRPr>
          </a:p>
        </p:txBody>
      </p:sp>
      <p:sp>
        <p:nvSpPr>
          <p:cNvPr id="1048772" name="Rectangle 4"/>
          <p:cNvSpPr/>
          <p:nvPr>
            <p:ph type="ftr" sz="quarter" idx="2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>
              <a:latin typeface="Arial" pitchFamily="34" charset="0"/>
            </a:endParaRPr>
          </a:p>
        </p:txBody>
      </p:sp>
      <p:sp>
        <p:nvSpPr>
          <p:cNvPr id="1048773" name="Rectangle 5"/>
          <p:cNvSpPr/>
          <p:nvPr>
            <p:ph type="sldNum" sz="quarter" idx="3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34" charset="0"/>
              </a:rPr>
              <a:pPr algn="r" eaLnBrk="1" hangingPunct="1" lvl="0"/>
            </a:fld>
            <a:endParaRPr altLang="en-US" sz="1200" lang="en-US">
              <a:latin typeface="Arial" pitchFamily="3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4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>
              <a:latin typeface="Arial" pitchFamily="34" charset="0"/>
            </a:endParaRPr>
          </a:p>
        </p:txBody>
      </p:sp>
      <p:sp>
        <p:nvSpPr>
          <p:cNvPr id="1048765" name="Rectangle 3"/>
          <p:cNvSpPr/>
          <p:nvPr>
            <p:ph type="dt" sz="full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>
              <a:latin typeface="Arial" pitchFamily="34" charset="0"/>
            </a:endParaRPr>
          </a:p>
        </p:txBody>
      </p:sp>
      <p:sp>
        <p:nvSpPr>
          <p:cNvPr id="1048766" name="Rectangle 4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767" name="Rectangle 5"/>
          <p:cNvSpPr/>
          <p:nvPr>
            <p:ph type="body" sz="quarter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768" name="Rectangle 6"/>
          <p:cNvSpPr/>
          <p:nvPr>
            <p:ph type="ftr" sz="quarter" idx="4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>
              <a:latin typeface="Arial" pitchFamily="34" charset="0"/>
            </a:endParaRPr>
          </a:p>
        </p:txBody>
      </p:sp>
      <p:sp>
        <p:nvSpPr>
          <p:cNvPr id="1048769" name="Rectangle 7"/>
          <p:cNvSpPr/>
          <p:nvPr>
            <p:ph type="sldNum" sz="quarter" idx="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34" charset="0"/>
              </a:rPr>
              <a:pPr algn="r" eaLnBrk="1" hangingPunct="1" lvl="0"/>
            </a:fld>
            <a:endParaRPr altLang="en-US" sz="1200" lang="en-US">
              <a:latin typeface="Arial" pitchFamily="3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34" charset="0"/>
        <a:sym typeface="Times New Roman" pitchFamily="18" charset="0"/>
      </a:defRPr>
    </a:lvl5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blipFill rotWithShape="0">
          <a:blip xmlns:r="http://schemas.openxmlformats.org/officeDocument/2006/relationships" r:embed="rId1">
            <a:alphaModFix amt="100000"/>
          </a:blip>
          <a:srcRect/>
          <a:tile algn="tl" flip="none" sx="100000" sy="100000" tx="0" ty="0"/>
        </a:blipFill>
      </p:bgPr>
    </p:bg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49" name=""/>
          <p:cNvGrpSpPr/>
          <p:nvPr/>
        </p:nvGrpSpPr>
        <p:grpSpPr>
          <a:xfrm rot="0">
            <a:off x="377825" y="1676400"/>
            <a:ext cx="8389938" cy="4421187"/>
            <a:chOff x="238" y="1056"/>
            <a:chExt cx="5285" cy="2785"/>
          </a:xfrm>
        </p:grpSpPr>
        <p:grpSp>
          <p:nvGrpSpPr>
            <p:cNvPr id="50" name=""/>
            <p:cNvGrpSpPr/>
            <p:nvPr/>
          </p:nvGrpSpPr>
          <p:grpSpPr>
            <a:xfrm rot="0"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1048605" name="Rectangle 4"/>
              <p:cNvSpPr/>
              <p:nvPr/>
            </p:nvSpPr>
            <p:spPr>
              <a:xfrm rot="0">
                <a:off x="243" y="1057"/>
                <a:ext cx="5272" cy="1391"/>
              </a:xfrm>
              <a:prstGeom prst="rect"/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anchor="ctr" bIns="45720" lIns="91440" rIns="91440" tIns="45720" vert="horz" wrap="none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altLang="en-US" lang="en-GB"/>
              </a:p>
            </p:txBody>
          </p:sp>
          <p:sp>
            <p:nvSpPr>
              <p:cNvPr id="1048606" name="Freeform 5"/>
              <p:cNvSpPr/>
              <p:nvPr/>
            </p:nvSpPr>
            <p:spPr bwMode="auto">
              <a:xfrm rot="0">
                <a:off x="238" y="1056"/>
                <a:ext cx="5273" cy="1393"/>
              </a:xfrm>
              <a:custGeom>
                <a:avLst/>
                <a:ahLst/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07" name="Freeform 6"/>
              <p:cNvSpPr/>
              <p:nvPr/>
            </p:nvSpPr>
            <p:spPr bwMode="auto">
              <a:xfrm rot="0">
                <a:off x="250" y="1056"/>
                <a:ext cx="5273" cy="1393"/>
              </a:xfrm>
              <a:custGeom>
                <a:avLst/>
                <a:ahLst/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51" name=""/>
            <p:cNvGrpSpPr/>
            <p:nvPr/>
          </p:nvGrpSpPr>
          <p:grpSpPr>
            <a:xfrm rot="0"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1048608" name="Rectangle 8"/>
              <p:cNvSpPr/>
              <p:nvPr/>
            </p:nvSpPr>
            <p:spPr>
              <a:xfrm rot="0">
                <a:off x="240" y="3744"/>
                <a:ext cx="5280" cy="96"/>
              </a:xfrm>
              <a:prstGeom prst="rect"/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anchor="ctr" bIns="45720" lIns="91440" rIns="91440" tIns="45720" vert="horz" wrap="none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altLang="en-US" lang="en-GB"/>
              </a:p>
            </p:txBody>
          </p:sp>
          <p:sp>
            <p:nvSpPr>
              <p:cNvPr id="1048609" name="Freeform 9"/>
              <p:cNvSpPr/>
              <p:nvPr/>
            </p:nvSpPr>
            <p:spPr bwMode="auto">
              <a:xfrm rot="0">
                <a:off x="240" y="3744"/>
                <a:ext cx="5281" cy="97"/>
              </a:xfrm>
              <a:custGeom>
                <a:avLst/>
                <a:ahLst/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10" name="Freeform 10"/>
              <p:cNvSpPr/>
              <p:nvPr/>
            </p:nvSpPr>
            <p:spPr bwMode="auto">
              <a:xfrm rot="0">
                <a:off x="240" y="3744"/>
                <a:ext cx="5281" cy="97"/>
              </a:xfrm>
              <a:custGeom>
                <a:avLst/>
                <a:ahLst/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52" name=""/>
            <p:cNvGrpSpPr/>
            <p:nvPr/>
          </p:nvGrpSpPr>
          <p:grpSpPr>
            <a:xfrm rot="0">
              <a:off x="338" y="1200"/>
              <a:ext cx="97" cy="1104"/>
              <a:chOff x="338" y="1200"/>
              <a:chExt cx="97" cy="1104"/>
            </a:xfrm>
          </p:grpSpPr>
          <p:sp>
            <p:nvSpPr>
              <p:cNvPr id="1048611" name="Rectangle 12"/>
              <p:cNvSpPr/>
              <p:nvPr/>
            </p:nvSpPr>
            <p:spPr>
              <a:xfrm rot="0">
                <a:off x="338" y="1201"/>
                <a:ext cx="96" cy="1103"/>
              </a:xfrm>
              <a:prstGeom prst="rect"/>
              <a:solidFill>
                <a:srgbClr val="FFFFFF"/>
              </a:solidFill>
              <a:ln>
                <a:noFill/>
              </a:ln>
            </p:spPr>
            <p:txBody>
              <a:bodyPr anchor="ctr" bIns="45720" lIns="91440" rIns="91440" tIns="45720" vert="horz" wrap="none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altLang="en-US" lang="en-GB"/>
              </a:p>
            </p:txBody>
          </p:sp>
          <p:sp>
            <p:nvSpPr>
              <p:cNvPr id="1048612" name="Freeform 13"/>
              <p:cNvSpPr/>
              <p:nvPr/>
            </p:nvSpPr>
            <p:spPr bwMode="auto">
              <a:xfrm rot="0">
                <a:off x="338" y="1200"/>
                <a:ext cx="97" cy="1104"/>
              </a:xfrm>
              <a:custGeom>
                <a:avLst/>
                <a:ahLst/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13" name="Freeform 14"/>
              <p:cNvSpPr/>
              <p:nvPr/>
            </p:nvSpPr>
            <p:spPr bwMode="auto">
              <a:xfrm rot="0">
                <a:off x="338" y="1200"/>
                <a:ext cx="97" cy="1104"/>
              </a:xfrm>
              <a:custGeom>
                <a:avLst/>
                <a:ahLst/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</p:grpSp>
      <p:sp>
        <p:nvSpPr>
          <p:cNvPr id="1048616" name="Rectangle 17"/>
          <p:cNvSpPr/>
          <p:nvPr>
            <p:ph type="dt" sz="quarter" idx="2"/>
          </p:nvPr>
        </p:nvSpPr>
        <p:spPr>
          <a:xfrm rot="0">
            <a:off x="381000" y="6324600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617" name="Rectangle 18"/>
          <p:cNvSpPr/>
          <p:nvPr>
            <p:ph type="ftr" sz="quarter" idx="3"/>
          </p:nvPr>
        </p:nvSpPr>
        <p:spPr>
          <a:xfrm rot="0">
            <a:off x="3124200" y="6324600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  <p:sp>
        <p:nvSpPr>
          <p:cNvPr id="1048618" name="Rectangle 19"/>
          <p:cNvSpPr/>
          <p:nvPr>
            <p:ph type="sldNum" sz="quarter" idx="4"/>
          </p:nvPr>
        </p:nvSpPr>
        <p:spPr>
          <a:xfrm rot="0">
            <a:off x="6858000" y="6324600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620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038600"/>
            <a:ext cx="6400800" cy="1752600"/>
          </a:xfrm>
        </p:spPr>
        <p:txBody>
          <a:bodyPr anchor="ctr"/>
          <a:lstStyle>
            <a:lvl1pPr algn="ctr" indent="0" marL="0">
              <a:buFontTx/>
              <a:buNone/>
            </a:lvl1pPr>
          </a:lstStyle>
          <a:p>
            <a:pPr lvl="0"/>
            <a:r>
              <a:rPr altLang="en-US" lang="en-US" noProof="0" smtClean="0"/>
              <a:t>Click to edit Master subtitle style</a:t>
            </a:r>
          </a:p>
        </p:txBody>
      </p:sp>
      <p:sp>
        <p:nvSpPr>
          <p:cNvPr id="1048619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36613" y="2133600"/>
            <a:ext cx="7772400" cy="1143000"/>
          </a:xfrm>
        </p:spPr>
        <p:txBody>
          <a:bodyPr/>
          <a:p>
            <a:pPr lvl="0"/>
            <a:r>
              <a:rPr altLang="en-US" lang="en-US" noProof="0" smtClean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45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59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98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47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748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74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750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52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753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55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anchor="t" anchorCtr="0" bIns="46038" compatLnSpc="1" lIns="92075" numCol="1" rIns="92075" tIns="46038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</a:pPr>
            <a:endParaRPr baseline="0" b="0" cap="none" sz="3200" i="0" kern="1200" kumimoji="0" lang="en-GB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6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5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42900"/>
            <a:ext cx="1943100" cy="55245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6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42900"/>
            <a:ext cx="5676900" cy="5524500"/>
          </a:xfrm>
        </p:spPr>
        <p:txBody>
          <a:bodyPr vert="eaVert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xAndObj">
  <p:cSld name="Title, Text, and Conten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626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627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AndTx">
  <p:cSld name="Title, Content and Text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6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7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image" Target="../media/image1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blipFill rotWithShape="0">
          <a:blip xmlns:r="http://schemas.openxmlformats.org/officeDocument/2006/relationships" r:embed="rId14">
            <a:alphaModFix amt="100000"/>
          </a:blip>
          <a:srcRect/>
          <a:tile algn="tl" flip="none" sx="100000" sy="100000" tx="0" ty="0"/>
        </a:blipFill>
      </p:bgPr>
    </p:bg>
    <p:spTree>
      <p:nvGrpSpPr>
        <p:cNvPr id="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37" name=""/>
          <p:cNvGrpSpPr/>
          <p:nvPr/>
        </p:nvGrpSpPr>
        <p:grpSpPr>
          <a:xfrm rot="0">
            <a:off x="381000" y="304800"/>
            <a:ext cx="8383587" cy="6022975"/>
            <a:chOff x="240" y="192"/>
            <a:chExt cx="5281" cy="3794"/>
          </a:xfrm>
        </p:grpSpPr>
        <p:grpSp>
          <p:nvGrpSpPr>
            <p:cNvPr id="38" name=""/>
            <p:cNvGrpSpPr/>
            <p:nvPr/>
          </p:nvGrpSpPr>
          <p:grpSpPr>
            <a:xfrm rot="0">
              <a:off x="240" y="1008"/>
              <a:ext cx="5281" cy="2978"/>
              <a:chOff x="240" y="1008"/>
              <a:chExt cx="5281" cy="2978"/>
            </a:xfrm>
          </p:grpSpPr>
          <p:sp>
            <p:nvSpPr>
              <p:cNvPr id="1048576" name="Rectangle 4"/>
              <p:cNvSpPr/>
              <p:nvPr/>
            </p:nvSpPr>
            <p:spPr>
              <a:xfrm rot="0">
                <a:off x="245" y="1010"/>
                <a:ext cx="5269" cy="2976"/>
              </a:xfrm>
              <a:prstGeom prst="rect"/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anchor="ctr" bIns="45720" lIns="91440" rIns="91440" tIns="45720" vert="horz" wrap="none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altLang="en-US" lang="en-GB"/>
              </a:p>
            </p:txBody>
          </p:sp>
          <p:sp>
            <p:nvSpPr>
              <p:cNvPr id="1048577" name="Freeform 5"/>
              <p:cNvSpPr/>
              <p:nvPr/>
            </p:nvSpPr>
            <p:spPr bwMode="auto">
              <a:xfrm rot="0">
                <a:off x="240" y="1008"/>
                <a:ext cx="5269" cy="2977"/>
              </a:xfrm>
              <a:custGeom>
                <a:avLst/>
                <a:ahLst/>
                <a:rect l="0" t="0" r="r" b="b"/>
                <a:pathLst>
                  <a:path w="5269" h="2977">
                    <a:moveTo>
                      <a:pt x="5268" y="0"/>
                    </a:moveTo>
                    <a:lnTo>
                      <a:pt x="0" y="0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578" name="Freeform 6"/>
              <p:cNvSpPr/>
              <p:nvPr/>
            </p:nvSpPr>
            <p:spPr bwMode="auto">
              <a:xfrm rot="0">
                <a:off x="252" y="1008"/>
                <a:ext cx="5269" cy="2977"/>
              </a:xfrm>
              <a:custGeom>
                <a:avLst/>
                <a:ahLst/>
                <a:rect l="0" t="0" r="r" b="b"/>
                <a:pathLst>
                  <a:path w="5269" h="2977">
                    <a:moveTo>
                      <a:pt x="5268" y="0"/>
                    </a:moveTo>
                    <a:lnTo>
                      <a:pt x="5268" y="2976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39" name=""/>
            <p:cNvGrpSpPr/>
            <p:nvPr/>
          </p:nvGrpSpPr>
          <p:grpSpPr>
            <a:xfrm rot="0">
              <a:off x="336" y="1103"/>
              <a:ext cx="97" cy="2785"/>
              <a:chOff x="336" y="1103"/>
              <a:chExt cx="97" cy="2785"/>
            </a:xfrm>
          </p:grpSpPr>
          <p:sp>
            <p:nvSpPr>
              <p:cNvPr id="1048579" name="Rectangle 8"/>
              <p:cNvSpPr/>
              <p:nvPr/>
            </p:nvSpPr>
            <p:spPr>
              <a:xfrm rot="0">
                <a:off x="336" y="1104"/>
                <a:ext cx="96" cy="2784"/>
              </a:xfrm>
              <a:prstGeom prst="rect"/>
              <a:solidFill>
                <a:srgbClr val="FFFFFF"/>
              </a:solidFill>
              <a:ln>
                <a:noFill/>
              </a:ln>
            </p:spPr>
            <p:txBody>
              <a:bodyPr anchor="ctr" bIns="45720" lIns="91440" rIns="91440" tIns="45720" vert="horz" wrap="none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altLang="en-US" lang="en-GB"/>
              </a:p>
            </p:txBody>
          </p:sp>
          <p:sp>
            <p:nvSpPr>
              <p:cNvPr id="1048580" name="Freeform 9"/>
              <p:cNvSpPr/>
              <p:nvPr/>
            </p:nvSpPr>
            <p:spPr bwMode="auto">
              <a:xfrm rot="0">
                <a:off x="336" y="1103"/>
                <a:ext cx="97" cy="2785"/>
              </a:xfrm>
              <a:custGeom>
                <a:avLst/>
                <a:ahLst/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581" name="Freeform 10"/>
              <p:cNvSpPr/>
              <p:nvPr/>
            </p:nvSpPr>
            <p:spPr bwMode="auto">
              <a:xfrm rot="0">
                <a:off x="336" y="1103"/>
                <a:ext cx="97" cy="2785"/>
              </a:xfrm>
              <a:custGeom>
                <a:avLst/>
                <a:ahLst/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40" name=""/>
            <p:cNvGrpSpPr/>
            <p:nvPr/>
          </p:nvGrpSpPr>
          <p:grpSpPr>
            <a:xfrm rot="0">
              <a:off x="240" y="192"/>
              <a:ext cx="193" cy="721"/>
              <a:chOff x="240" y="192"/>
              <a:chExt cx="193" cy="721"/>
            </a:xfrm>
          </p:grpSpPr>
          <p:sp>
            <p:nvSpPr>
              <p:cNvPr id="1048582" name="Rectangle 12"/>
              <p:cNvSpPr/>
              <p:nvPr/>
            </p:nvSpPr>
            <p:spPr>
              <a:xfrm rot="0">
                <a:off x="240" y="192"/>
                <a:ext cx="192" cy="720"/>
              </a:xfrm>
              <a:prstGeom prst="rect"/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anchor="ctr" bIns="45720" lIns="91440" rIns="91440" tIns="45720" vert="horz" wrap="none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altLang="en-US" lang="en-GB"/>
              </a:p>
            </p:txBody>
          </p:sp>
          <p:sp>
            <p:nvSpPr>
              <p:cNvPr id="1048583" name="Freeform 13"/>
              <p:cNvSpPr/>
              <p:nvPr/>
            </p:nvSpPr>
            <p:spPr bwMode="auto">
              <a:xfrm rot="0">
                <a:off x="240" y="192"/>
                <a:ext cx="193" cy="721"/>
              </a:xfrm>
              <a:custGeom>
                <a:avLst/>
                <a:ahLst/>
                <a:rect l="0" t="0" r="r" b="b"/>
                <a:pathLst>
                  <a:path w="193" h="721">
                    <a:moveTo>
                      <a:pt x="192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584" name="Freeform 14"/>
              <p:cNvSpPr/>
              <p:nvPr/>
            </p:nvSpPr>
            <p:spPr bwMode="auto">
              <a:xfrm rot="0">
                <a:off x="240" y="192"/>
                <a:ext cx="193" cy="721"/>
              </a:xfrm>
              <a:custGeom>
                <a:avLst/>
                <a:ahLst/>
                <a:rect l="0" t="0" r="r" b="b"/>
                <a:pathLst>
                  <a:path w="193" h="721">
                    <a:moveTo>
                      <a:pt x="192" y="0"/>
                    </a:moveTo>
                    <a:lnTo>
                      <a:pt x="192" y="72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</p:grpSp>
      <p:sp>
        <p:nvSpPr>
          <p:cNvPr id="1048585" name="Rectangle 15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86" name="Rectangle 16"/>
          <p:cNvSpPr/>
          <p:nvPr>
            <p:ph type="body" sz="full" idx="1"/>
          </p:nvPr>
        </p:nvSpPr>
        <p:spPr>
          <a:xfrm rot="0">
            <a:off x="838200" y="1752600"/>
            <a:ext cx="7772400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87" name="Rectangle 17"/>
          <p:cNvSpPr/>
          <p:nvPr>
            <p:ph type="dt" sz="half" idx="2"/>
          </p:nvPr>
        </p:nvSpPr>
        <p:spPr>
          <a:xfrm rot="0">
            <a:off x="381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altLang="en-US" sz="1400" lang="en-US"/>
          </a:p>
        </p:txBody>
      </p:sp>
      <p:sp>
        <p:nvSpPr>
          <p:cNvPr id="1048588" name="Rectangle 18"/>
          <p:cNvSpPr/>
          <p:nvPr>
            <p:ph type="ftr" sz="quarter" idx="3"/>
          </p:nvPr>
        </p:nvSpPr>
        <p:spPr>
          <a:xfrm rot="0">
            <a:off x="3124200" y="6323012"/>
            <a:ext cx="28956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lvl="0"/>
            <a:endParaRPr altLang="en-US" sz="1400" lang="en-US"/>
          </a:p>
        </p:txBody>
      </p:sp>
      <p:sp>
        <p:nvSpPr>
          <p:cNvPr id="1048589" name="Rectangle 19"/>
          <p:cNvSpPr/>
          <p:nvPr>
            <p:ph type="sldNum" sz="quarter" idx="4"/>
          </p:nvPr>
        </p:nvSpPr>
        <p:spPr>
          <a:xfrm rot="0">
            <a:off x="6858000" y="6323012"/>
            <a:ext cx="1905000" cy="457200"/>
          </a:xfrm>
          <a:prstGeom prst="rect"/>
          <a:noFill/>
          <a:ln>
            <a:noFill/>
          </a:ln>
        </p:spPr>
        <p:txBody>
          <a:bodyPr anchor="ctr" bIns="46038" lIns="92075" rIns="92075" tIns="46038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lvl="0"/>
            <a:fld id="{566ABCEB-ACFC-4714-9973-3DA970169C29}" type="slidenum">
              <a:rPr altLang="en-US" sz="1400" lang="en-US"/>
              <a:pPr algn="r" lvl="0"/>
            </a:fld>
            <a:endParaRPr altLang="en-US" sz="1400" lang="en-U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sldNum="0"/>
  <p:txStyles>
    <p:titleStyle>
      <a:lvl1pPr algn="l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algn="l" eaLnBrk="0" fontAlgn="base" hangingPunct="0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algn="l" eaLnBrk="0" fontAlgn="base" hangingPunct="0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algn="l" eaLnBrk="0" fontAlgn="base" hangingPunct="0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algn="l" eaLnBrk="0" fontAlgn="base" hangingPunct="0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audio" Target="../media/media1.wav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3" name="Title 1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altLang="en-US" lang="en-US">
                <a:solidFill>
                  <a:srgbClr val="0070C0"/>
                </a:solidFill>
              </a:rPr>
              <a:t>Introduction Of Presentators</a:t>
            </a:r>
          </a:p>
        </p:txBody>
      </p:sp>
      <p:sp>
        <p:nvSpPr>
          <p:cNvPr id="1048604" name="Content Placeholder 2"/>
          <p:cNvSpPr/>
          <p:nvPr>
            <p:ph sz="full" idx="1"/>
          </p:nvPr>
        </p:nvSpPr>
        <p:spPr>
          <a:xfrm rot="0">
            <a:off x="838200" y="1752600"/>
            <a:ext cx="7772400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lang="en-US"/>
              <a:t>FARHAN MURTAZA</a:t>
            </a:r>
          </a:p>
          <a:p>
            <a:pPr lvl="0"/>
            <a:endParaRPr altLang="en-US" lang="en-US"/>
          </a:p>
          <a:p>
            <a:pPr lvl="0"/>
            <a:r>
              <a:rPr altLang="en-US" lang="en-US"/>
              <a:t>ISRAR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1" name="Rectangle 2"/>
          <p:cNvSpPr/>
          <p:nvPr>
            <p:ph type="ctrTitle" sz="full" idx="4294967295"/>
          </p:nvPr>
        </p:nvSpPr>
        <p:spPr>
          <a:xfrm rot="0">
            <a:off x="3657600" y="2209800"/>
            <a:ext cx="7772400" cy="11430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>
              <a:defRPr sz="4400"/>
            </a:lvl1pPr>
          </a:lstStyle>
          <a:p>
            <a:r>
              <a:rPr altLang="en-US" lang="en-US"/>
              <a:t>LENZ’S LAW</a:t>
            </a:r>
          </a:p>
        </p:txBody>
      </p:sp>
      <p:pic>
        <p:nvPicPr>
          <p:cNvPr id="2097155" name="Picture 5" descr="Cartoon_cop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81000" y="1752600"/>
            <a:ext cx="3429000" cy="2065337"/>
          </a:xfrm>
          <a:prstGeom prst="rect"/>
          <a:noFill/>
          <a:ln>
            <a:noFill/>
          </a:ln>
        </p:spPr>
      </p:pic>
      <p:pic>
        <p:nvPicPr>
          <p:cNvPr id="2097156" name="Picture 6">
            <a:hlinkClick action="ppaction://media"/>
          </p:cNvPr>
          <p:cNvPicPr>
            <a:picLocks/>
          </p:cNvPicPr>
          <p:nvPr>
            <a:wavAudioFile r:embed="rId2"/>
          </p:nvPr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-304800" y="3810000"/>
            <a:ext cx="304800" cy="3048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fast" advClick="1">
    <p:fade/>
  </p:transition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7"/>
                                        <p:tgtEl>
                                          <p:spTgt spid="209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fill="hold" id="9" nodeType="afterEffect" presetClass="mediacall" presetID="1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dur="374" fill="hold" id="10"/>
                                        <p:tgtEl>
                                          <p:spTgt spid="20971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 nodeType="afterGroup">
                            <p:stCondLst>
                              <p:cond delay="2374"/>
                            </p:stCondLst>
                            <p:childTnLst>
                              <p:par>
                                <p:cTn fill="hold" grpId="0" id="12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0000">
                <p:cTn display="0" fill="hold" id="16" repeatCount="100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97156"/>
                </p:tgtEl>
              </p:cMediaNode>
            </p:audio>
          </p:childTnLst>
        </p:cTn>
      </p:par>
    </p:tnLst>
    <p:bldLst>
      <p:bldP spid="1048621" grpId="0" uiExpand="0" build="whol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2" name="Title 1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altLang="en-US" lang="en-US"/>
              <a:t>CONTENT</a:t>
            </a:r>
          </a:p>
        </p:txBody>
      </p:sp>
      <p:sp>
        <p:nvSpPr>
          <p:cNvPr id="1048623" name="Text Placeholder 2"/>
          <p:cNvSpPr/>
          <p:nvPr>
            <p:ph type="body" sz="half" idx="1"/>
          </p:nvPr>
        </p:nvSpPr>
        <p:spPr>
          <a:xfrm rot="0">
            <a:off x="838200" y="1752600"/>
            <a:ext cx="3810000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/>
            <a:r>
              <a:rPr altLang="en-US" sz="3200" lang="en-US"/>
              <a:t>Magnetic Field</a:t>
            </a:r>
          </a:p>
          <a:p>
            <a:pPr lvl="0"/>
            <a:r>
              <a:rPr altLang="en-US" sz="3200" lang="en-US"/>
              <a:t>Induction</a:t>
            </a:r>
          </a:p>
          <a:p>
            <a:pPr lvl="0"/>
            <a:r>
              <a:rPr altLang="en-US" sz="3200" lang="en-US"/>
              <a:t>Faraday’s Laws</a:t>
            </a:r>
          </a:p>
          <a:p>
            <a:pPr lvl="0"/>
            <a:r>
              <a:rPr altLang="en-US" sz="3200" lang="en-US"/>
              <a:t>Lenz’s Law</a:t>
            </a:r>
          </a:p>
          <a:p>
            <a:pPr lvl="0"/>
            <a:r>
              <a:rPr altLang="en-US" sz="3200" lang="en-US"/>
              <a:t>Right Hand Rule</a:t>
            </a:r>
          </a:p>
          <a:p>
            <a:pPr lvl="0"/>
            <a:r>
              <a:rPr altLang="en-US" sz="3200" lang="en-US"/>
              <a:t>Direction of induced Current</a:t>
            </a:r>
          </a:p>
          <a:p>
            <a:pPr lvl="0"/>
            <a:endParaRPr altLang="en-US" sz="3200" lang="en-GB"/>
          </a:p>
        </p:txBody>
      </p:sp>
      <p:sp>
        <p:nvSpPr>
          <p:cNvPr id="1048624" name="Content Placeholder 3"/>
          <p:cNvSpPr/>
          <p:nvPr>
            <p:ph sz="half" idx="2"/>
          </p:nvPr>
        </p:nvSpPr>
        <p:spPr>
          <a:xfrm rot="0">
            <a:off x="4800600" y="1752600"/>
            <a:ext cx="3810000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/>
            <a:r>
              <a:rPr altLang="en-US" sz="3200" lang="en-US"/>
              <a:t>Examples</a:t>
            </a:r>
          </a:p>
          <a:p>
            <a:pPr lvl="0"/>
            <a:r>
              <a:rPr altLang="en-US" sz="3200" lang="en-US"/>
              <a:t>Applications Of Lenz’s 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8" name="Rectangle 7"/>
          <p:cNvSpPr/>
          <p:nvPr>
            <p:ph type="body" sz="half" idx="1"/>
          </p:nvPr>
        </p:nvSpPr>
        <p:spPr>
          <a:xfrm rot="0">
            <a:off x="533400" y="1752600"/>
            <a:ext cx="4724400" cy="4495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altLang="en-US" sz="2400" lang="en-US"/>
              <a:t>Russian physicist </a:t>
            </a:r>
          </a:p>
          <a:p>
            <a:pPr lvl="0">
              <a:lnSpc>
                <a:spcPct val="80000"/>
              </a:lnSpc>
            </a:pPr>
            <a:r>
              <a:rPr altLang="en-US" sz="2400" lang="en-US"/>
              <a:t>(1804-1865</a:t>
            </a:r>
            <a:r>
              <a:rPr altLang="en-US" b="1" sz="2400" lang="en-US"/>
              <a:t>)</a:t>
            </a:r>
          </a:p>
          <a:p>
            <a:pPr lvl="0">
              <a:lnSpc>
                <a:spcPct val="80000"/>
              </a:lnSpc>
            </a:pPr>
            <a:r>
              <a:rPr altLang="en-US" sz="2400" lang="en-US"/>
              <a:t>1834 Lenz’s Law</a:t>
            </a:r>
          </a:p>
          <a:p>
            <a:pPr lvl="0">
              <a:lnSpc>
                <a:spcPct val="80000"/>
              </a:lnSpc>
            </a:pPr>
            <a:r>
              <a:rPr altLang="en-US" b="1" i="1" lang="en-US"/>
              <a:t>There is an induced current in a closed conducting loop if and only if the magnetic flux through the loop is changing.  The direction of the induced current is such that the induced magnetic field always </a:t>
            </a:r>
            <a:r>
              <a:rPr altLang="en-US" b="1" i="1" lang="en-US">
                <a:solidFill>
                  <a:srgbClr val="CC0000"/>
                </a:solidFill>
              </a:rPr>
              <a:t>opposes</a:t>
            </a:r>
            <a:r>
              <a:rPr altLang="en-US" b="1" i="1" lang="en-US"/>
              <a:t> the change in the flux.</a:t>
            </a:r>
          </a:p>
        </p:txBody>
      </p:sp>
      <p:pic>
        <p:nvPicPr>
          <p:cNvPr id="2097157" name="Picture 4" descr="lenz"/>
          <p:cNvPicPr>
            <a:picLocks/>
          </p:cNvPicPr>
          <p:nvPr>
            <p:ph sz="half" idx="2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370512" y="1676400"/>
            <a:ext cx="3209925" cy="3810000"/>
          </a:xfrm>
          <a:prstGeom prst="rect"/>
          <a:noFill/>
          <a:ln>
            <a:noFill/>
          </a:ln>
        </p:spPr>
      </p:pic>
    </p:spTree>
  </p:cSld>
  <p:clrMapOvr>
    <a:masterClrMapping/>
  </p:clrMapOvr>
  <p:transition spd="slow" advClick="1">
    <p:fade/>
  </p:transition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8" name="Picture 3" descr="33_20"/>
          <p:cNvPicPr>
            <a:picLocks/>
          </p:cNvPicPr>
          <p:nvPr/>
        </p:nvPicPr>
        <p:blipFill>
          <a:blip xmlns:r="http://schemas.openxmlformats.org/officeDocument/2006/relationships" r:embed="rId1">
            <a:lum bright="-20000" contrast="40000"/>
          </a:blip>
          <a:srcRect l="0" t="0" r="0" b="0"/>
          <a:stretch>
            <a:fillRect/>
          </a:stretch>
        </p:blipFill>
        <p:spPr>
          <a:xfrm rot="0">
            <a:off x="381000" y="1828800"/>
            <a:ext cx="4495800" cy="4486275"/>
          </a:xfrm>
          <a:prstGeom prst="rect"/>
          <a:noFill/>
          <a:ln>
            <a:noFill/>
          </a:ln>
        </p:spPr>
      </p:pic>
      <p:pic>
        <p:nvPicPr>
          <p:cNvPr id="2097159" name="Picture 4" descr="33_21"/>
          <p:cNvPicPr>
            <a:picLocks/>
          </p:cNvPicPr>
          <p:nvPr/>
        </p:nvPicPr>
        <p:blipFill>
          <a:blip xmlns:r="http://schemas.openxmlformats.org/officeDocument/2006/relationships" r:embed="rId2">
            <a:lum bright="-20000" contrast="40000"/>
          </a:blip>
          <a:srcRect l="0" t="0" r="0" b="0"/>
          <a:stretch>
            <a:fillRect/>
          </a:stretch>
        </p:blipFill>
        <p:spPr>
          <a:xfrm rot="0">
            <a:off x="5029200" y="1600200"/>
            <a:ext cx="3425825" cy="4724400"/>
          </a:xfrm>
          <a:prstGeom prst="rect"/>
          <a:noFill/>
          <a:ln>
            <a:noFill/>
          </a:ln>
        </p:spPr>
      </p:pic>
      <p:sp>
        <p:nvSpPr>
          <p:cNvPr id="1048629" name="Text Box 7"/>
          <p:cNvSpPr txBox="1"/>
          <p:nvPr/>
        </p:nvSpPr>
        <p:spPr>
          <a:xfrm rot="0">
            <a:off x="685800" y="387350"/>
            <a:ext cx="8229600" cy="11582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b="1" sz="1800" i="1" lang="en-US">
                <a:latin typeface="Comic Sans MS" pitchFamily="66" charset="0"/>
              </a:rPr>
              <a:t>There is an induced current in a closed conducting loop if and only if the magnetic flux through the loop is changing.  The direction of the induced current is such that the induced magnetic field always </a:t>
            </a:r>
            <a:r>
              <a:rPr altLang="en-US" b="1" sz="1800" i="1" lang="en-US">
                <a:solidFill>
                  <a:srgbClr val="CC0000"/>
                </a:solidFill>
                <a:latin typeface="Comic Sans MS" pitchFamily="66" charset="0"/>
              </a:rPr>
              <a:t>opposes</a:t>
            </a:r>
            <a:r>
              <a:rPr altLang="en-US" b="1" sz="1800" i="1" lang="en-US">
                <a:latin typeface="Comic Sans MS" pitchFamily="66" charset="0"/>
              </a:rPr>
              <a:t> the change in the flux.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629">
                                            <p:txEl>
                                              <p:charRg st="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29">
                                            <p:txEl>
                                              <p:charRg st="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Rectangle 10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altLang="en-US" lang="en-US"/>
              <a:t>Right Hand Rule</a:t>
            </a:r>
          </a:p>
        </p:txBody>
      </p:sp>
      <p:pic>
        <p:nvPicPr>
          <p:cNvPr id="2097160" name="Picture 4" descr="rt hand"/>
          <p:cNvPicPr>
            <a:picLocks/>
          </p:cNvPicPr>
          <p:nvPr>
            <p:ph sz="half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648200" y="1600200"/>
            <a:ext cx="3890962" cy="4152900"/>
          </a:xfrm>
          <a:prstGeom prst="rect"/>
          <a:noFill/>
          <a:ln>
            <a:noFill/>
          </a:ln>
        </p:spPr>
      </p:pic>
      <p:sp>
        <p:nvSpPr>
          <p:cNvPr id="1048632" name="Rectangle 11"/>
          <p:cNvSpPr/>
          <p:nvPr>
            <p:ph sz="half" idx="2"/>
          </p:nvPr>
        </p:nvSpPr>
        <p:spPr>
          <a:xfrm rot="0">
            <a:off x="909637" y="1752600"/>
            <a:ext cx="3814762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/>
            <a:r>
              <a:rPr altLang="en-US" sz="3200" lang="en-US"/>
              <a:t>If you wrap your fingers around the coil in the direction of the current, your thumb  points north.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3" name="Rectangle 2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altLang="en-US" sz="2400" lang="en-US">
                <a:solidFill>
                  <a:schemeClr val="dk1"/>
                </a:solidFill>
              </a:rPr>
              <a:t>If the field of the bar magnet is already in the loop and the magnet is removed, the induced current is in the direction that tries to keep the field constant</a:t>
            </a:r>
          </a:p>
        </p:txBody>
      </p:sp>
      <p:pic>
        <p:nvPicPr>
          <p:cNvPr id="2097161" name="Picture 3" descr="33_22_01"/>
          <p:cNvPicPr>
            <a:picLocks/>
          </p:cNvPicPr>
          <p:nvPr/>
        </p:nvPicPr>
        <p:blipFill>
          <a:blip xmlns:r="http://schemas.openxmlformats.org/officeDocument/2006/relationships" r:embed="rId1">
            <a:lum bright="-20000" contrast="40000"/>
          </a:blip>
          <a:srcRect l="0" t="0" r="0" b="0"/>
          <a:stretch>
            <a:fillRect/>
          </a:stretch>
        </p:blipFill>
        <p:spPr>
          <a:xfrm rot="0">
            <a:off x="0" y="1676400"/>
            <a:ext cx="4953000" cy="3932237"/>
          </a:xfrm>
          <a:prstGeom prst="rect"/>
          <a:noFill/>
          <a:ln>
            <a:noFill/>
          </a:ln>
        </p:spPr>
      </p:pic>
      <p:pic>
        <p:nvPicPr>
          <p:cNvPr id="2097162" name="Picture 4" descr="33_22_02"/>
          <p:cNvPicPr>
            <a:picLocks/>
          </p:cNvPicPr>
          <p:nvPr/>
        </p:nvPicPr>
        <p:blipFill>
          <a:blip xmlns:r="http://schemas.openxmlformats.org/officeDocument/2006/relationships" r:embed="rId2">
            <a:lum bright="-20000" contrast="40000"/>
          </a:blip>
          <a:srcRect l="0" t="0" r="0" b="0"/>
          <a:stretch>
            <a:fillRect/>
          </a:stretch>
        </p:blipFill>
        <p:spPr>
          <a:xfrm rot="0">
            <a:off x="4953000" y="1905000"/>
            <a:ext cx="4038600" cy="3416300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4" name="Rectangle 2"/>
          <p:cNvSpPr/>
          <p:nvPr>
            <p:ph type="title" sz="full" idx="4294967295"/>
          </p:nvPr>
        </p:nvSpPr>
        <p:spPr>
          <a:xfrm rot="0">
            <a:off x="576262" y="304800"/>
            <a:ext cx="8170862" cy="1468437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indent="-952500" lvl="0" marL="952500"/>
            <a:r>
              <a:rPr altLang="en-US" lang="zh-TW">
                <a:ea typeface="新細明體" pitchFamily="0" charset="-120"/>
              </a:rPr>
              <a:t>2	</a:t>
            </a:r>
            <a:r>
              <a:rPr altLang="zh-TW" lang="en-US">
                <a:ea typeface="新細明體" pitchFamily="0" charset="-120"/>
              </a:rPr>
              <a:t>Direction of induced current</a:t>
            </a:r>
          </a:p>
        </p:txBody>
      </p:sp>
      <p:pic>
        <p:nvPicPr>
          <p:cNvPr id="2097163" name="Picture 3" descr="17_10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" y="2409825"/>
            <a:ext cx="4062412" cy="1301750"/>
          </a:xfrm>
          <a:prstGeom prst="rect"/>
          <a:noFill/>
          <a:ln>
            <a:noFill/>
          </a:ln>
        </p:spPr>
      </p:pic>
      <p:pic>
        <p:nvPicPr>
          <p:cNvPr id="2097164" name="Picture 4" descr="17_1018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9600" y="3889375"/>
            <a:ext cx="4062412" cy="1270000"/>
          </a:xfrm>
          <a:prstGeom prst="rect"/>
          <a:noFill/>
          <a:ln>
            <a:noFill/>
          </a:ln>
        </p:spPr>
      </p:pic>
      <p:sp>
        <p:nvSpPr>
          <p:cNvPr id="1048635" name="Line 5"/>
          <p:cNvSpPr/>
          <p:nvPr/>
        </p:nvSpPr>
        <p:spPr>
          <a:xfrm rot="0">
            <a:off x="1066800" y="2968625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36" name="Line 6"/>
          <p:cNvSpPr/>
          <p:nvPr/>
        </p:nvSpPr>
        <p:spPr>
          <a:xfrm rot="0" flipH="1">
            <a:off x="1066800" y="4452937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37" name="Text Box 7"/>
          <p:cNvSpPr txBox="1"/>
          <p:nvPr/>
        </p:nvSpPr>
        <p:spPr>
          <a:xfrm rot="0">
            <a:off x="5013325" y="2309812"/>
            <a:ext cx="4130675" cy="9461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In both cases, magnet moves </a:t>
            </a: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against a force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.</a:t>
            </a:r>
          </a:p>
        </p:txBody>
      </p:sp>
      <p:sp>
        <p:nvSpPr>
          <p:cNvPr id="1048638" name="Text Box 8"/>
          <p:cNvSpPr txBox="1"/>
          <p:nvPr/>
        </p:nvSpPr>
        <p:spPr>
          <a:xfrm rot="0">
            <a:off x="4999037" y="3521899"/>
            <a:ext cx="4144962" cy="1350901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Work is done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39" name="AutoShape 9" descr="Parchment"/>
          <p:cNvSpPr/>
          <p:nvPr/>
        </p:nvSpPr>
        <p:spPr>
          <a:xfrm rot="0">
            <a:off x="868362" y="5409636"/>
            <a:ext cx="7332662" cy="982202"/>
          </a:xfrm>
          <a:prstGeom prst="horizontalScroll"/>
          <a:blipFill rotWithShape="0">
            <a:blip xmlns:r="http://schemas.openxmlformats.org/officeDocument/2006/relationships" r:embed="rId3">
              <a:alphaModFix amt="100000"/>
            </a:blip>
            <a:srcRect/>
            <a:tile algn="tl" flip="none" sx="100000" sy="100000" tx="0" ty="0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72000" lIns="91440" rIns="91440" tIns="720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28575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always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flows to oppose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the movement which started it.</a:t>
            </a:r>
          </a:p>
        </p:txBody>
      </p:sp>
      <p:sp>
        <p:nvSpPr>
          <p:cNvPr id="1048640" name="Text Box 10"/>
          <p:cNvSpPr txBox="1"/>
          <p:nvPr/>
        </p:nvSpPr>
        <p:spPr>
          <a:xfrm rot="0">
            <a:off x="1366837" y="1544637"/>
            <a:ext cx="4895850" cy="6413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-762000" lvl="0" marL="762000">
              <a:spcBef>
                <a:spcPct val="0"/>
              </a:spcBef>
              <a:buSzPct val="100000"/>
              <a:buFontTx/>
              <a:buNone/>
            </a:pPr>
            <a:r>
              <a:rPr altLang="zh-TW" b="1" sz="36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 nodeType="clickPar">
                      <p:stCondLst>
                        <p:cond delay="indefinite"/>
                      </p:stCondLst>
                      <p:childTnLst>
                        <p:par>
                          <p:cTn fill="hold" id="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7" grpId="0" uiExpand="0" build="whole"/>
      <p:bldP spid="1048638" grpId="0" uiExpand="0" build="whole"/>
      <p:bldP spid="1048639" grpId="0" uiExpand="0" build="whol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1" name="Rectangle 2"/>
          <p:cNvSpPr/>
          <p:nvPr>
            <p:ph type="title" sz="full" idx="4294967295"/>
          </p:nvPr>
        </p:nvSpPr>
        <p:spPr>
          <a:xfrm rot="0">
            <a:off x="576262" y="304800"/>
            <a:ext cx="8170862" cy="1468437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indent="-952500" lvl="0" marL="952500"/>
            <a:r>
              <a:rPr altLang="en-US" lang="zh-TW">
                <a:ea typeface="新細明體" pitchFamily="0" charset="-120"/>
              </a:rPr>
              <a:t>2	</a:t>
            </a:r>
            <a:r>
              <a:rPr altLang="zh-TW" lang="en-US">
                <a:ea typeface="新細明體" pitchFamily="0" charset="-120"/>
              </a:rPr>
              <a:t>Direction of induced current</a:t>
            </a:r>
          </a:p>
        </p:txBody>
      </p:sp>
      <p:pic>
        <p:nvPicPr>
          <p:cNvPr id="2097165" name="Picture 3" descr="17_10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" y="2409825"/>
            <a:ext cx="4062412" cy="1301750"/>
          </a:xfrm>
          <a:prstGeom prst="rect"/>
          <a:noFill/>
          <a:ln>
            <a:noFill/>
          </a:ln>
        </p:spPr>
      </p:pic>
      <p:pic>
        <p:nvPicPr>
          <p:cNvPr id="2097166" name="Picture 4" descr="17_1018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9600" y="3889375"/>
            <a:ext cx="4062412" cy="1270000"/>
          </a:xfrm>
          <a:prstGeom prst="rect"/>
          <a:noFill/>
          <a:ln>
            <a:noFill/>
          </a:ln>
        </p:spPr>
      </p:pic>
      <p:sp>
        <p:nvSpPr>
          <p:cNvPr id="1048642" name="Line 5"/>
          <p:cNvSpPr/>
          <p:nvPr/>
        </p:nvSpPr>
        <p:spPr>
          <a:xfrm rot="0">
            <a:off x="1066800" y="2968625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3" name="Line 6"/>
          <p:cNvSpPr/>
          <p:nvPr/>
        </p:nvSpPr>
        <p:spPr>
          <a:xfrm rot="0" flipH="1">
            <a:off x="1066800" y="4452937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4" name="Text Box 7"/>
          <p:cNvSpPr txBox="1"/>
          <p:nvPr/>
        </p:nvSpPr>
        <p:spPr>
          <a:xfrm rot="0">
            <a:off x="5013325" y="2309812"/>
            <a:ext cx="4130675" cy="9461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In both cases, magnet moves </a:t>
            </a: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against a force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.</a:t>
            </a:r>
          </a:p>
        </p:txBody>
      </p:sp>
      <p:sp>
        <p:nvSpPr>
          <p:cNvPr id="1048645" name="Text Box 8"/>
          <p:cNvSpPr txBox="1"/>
          <p:nvPr/>
        </p:nvSpPr>
        <p:spPr>
          <a:xfrm rot="0">
            <a:off x="4999037" y="3521899"/>
            <a:ext cx="4144962" cy="1350901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Work is done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46" name="AutoShape 9" descr="Parchment"/>
          <p:cNvSpPr/>
          <p:nvPr/>
        </p:nvSpPr>
        <p:spPr>
          <a:xfrm rot="0">
            <a:off x="868362" y="5409636"/>
            <a:ext cx="7332662" cy="982202"/>
          </a:xfrm>
          <a:prstGeom prst="horizontalScroll"/>
          <a:blipFill rotWithShape="0">
            <a:blip xmlns:r="http://schemas.openxmlformats.org/officeDocument/2006/relationships" r:embed="rId3">
              <a:alphaModFix amt="100000"/>
            </a:blip>
            <a:srcRect/>
            <a:tile algn="tl" flip="none" sx="100000" sy="100000" tx="0" ty="0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72000" lIns="91440" rIns="91440" tIns="720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28575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always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flows to oppose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the movement which started it.</a:t>
            </a:r>
          </a:p>
        </p:txBody>
      </p:sp>
      <p:sp>
        <p:nvSpPr>
          <p:cNvPr id="1048647" name="Text Box 10"/>
          <p:cNvSpPr txBox="1"/>
          <p:nvPr/>
        </p:nvSpPr>
        <p:spPr>
          <a:xfrm rot="0">
            <a:off x="1366837" y="1544637"/>
            <a:ext cx="4895850" cy="6413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-762000" lvl="0" marL="762000">
              <a:spcBef>
                <a:spcPct val="0"/>
              </a:spcBef>
              <a:buSzPct val="100000"/>
              <a:buFontTx/>
              <a:buNone/>
            </a:pPr>
            <a:r>
              <a:rPr altLang="zh-TW" b="1" sz="36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 nodeType="clickPar">
                      <p:stCondLst>
                        <p:cond delay="indefinite"/>
                      </p:stCondLst>
                      <p:childTnLst>
                        <p:par>
                          <p:cTn fill="hold" id="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4" grpId="0" uiExpand="0" build="whole"/>
      <p:bldP spid="1048645" grpId="0" uiExpand="0" build="whole"/>
      <p:bldP spid="1048646" grpId="0" uiExpand="0" build="whol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8" name="Rectangle 2"/>
          <p:cNvSpPr/>
          <p:nvPr>
            <p:ph type="title" sz="full" idx="4294967295"/>
          </p:nvPr>
        </p:nvSpPr>
        <p:spPr>
          <a:xfrm rot="0">
            <a:off x="576262" y="304800"/>
            <a:ext cx="8170862" cy="1468437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indent="-952500" lvl="0" marL="952500"/>
            <a:r>
              <a:rPr altLang="en-US" lang="zh-TW">
                <a:ea typeface="新細明體" pitchFamily="0" charset="-120"/>
              </a:rPr>
              <a:t>2	</a:t>
            </a:r>
            <a:r>
              <a:rPr altLang="zh-TW" lang="en-US">
                <a:ea typeface="新細明體" pitchFamily="0" charset="-120"/>
              </a:rPr>
              <a:t>Direction of induced current</a:t>
            </a:r>
          </a:p>
        </p:txBody>
      </p:sp>
      <p:pic>
        <p:nvPicPr>
          <p:cNvPr id="2097167" name="Picture 3" descr="17_10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" y="2409825"/>
            <a:ext cx="4062412" cy="1301750"/>
          </a:xfrm>
          <a:prstGeom prst="rect"/>
          <a:noFill/>
          <a:ln>
            <a:noFill/>
          </a:ln>
        </p:spPr>
      </p:pic>
      <p:pic>
        <p:nvPicPr>
          <p:cNvPr id="2097168" name="Picture 4" descr="17_1018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9600" y="3889375"/>
            <a:ext cx="4062412" cy="1270000"/>
          </a:xfrm>
          <a:prstGeom prst="rect"/>
          <a:noFill/>
          <a:ln>
            <a:noFill/>
          </a:ln>
        </p:spPr>
      </p:pic>
      <p:sp>
        <p:nvSpPr>
          <p:cNvPr id="1048649" name="Line 5"/>
          <p:cNvSpPr/>
          <p:nvPr/>
        </p:nvSpPr>
        <p:spPr>
          <a:xfrm rot="0">
            <a:off x="1066800" y="2968625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50" name="Line 6"/>
          <p:cNvSpPr/>
          <p:nvPr/>
        </p:nvSpPr>
        <p:spPr>
          <a:xfrm rot="0" flipH="1">
            <a:off x="1066800" y="4452937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51" name="Text Box 7"/>
          <p:cNvSpPr txBox="1"/>
          <p:nvPr/>
        </p:nvSpPr>
        <p:spPr>
          <a:xfrm rot="0">
            <a:off x="5013325" y="2309812"/>
            <a:ext cx="4130675" cy="9461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In both cases, magnet moves </a:t>
            </a: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against a force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.</a:t>
            </a:r>
          </a:p>
        </p:txBody>
      </p:sp>
      <p:sp>
        <p:nvSpPr>
          <p:cNvPr id="1048652" name="Text Box 8"/>
          <p:cNvSpPr txBox="1"/>
          <p:nvPr/>
        </p:nvSpPr>
        <p:spPr>
          <a:xfrm rot="0">
            <a:off x="4999037" y="3521899"/>
            <a:ext cx="4144962" cy="1350901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Work is done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53" name="AutoShape 9" descr="Parchment"/>
          <p:cNvSpPr/>
          <p:nvPr/>
        </p:nvSpPr>
        <p:spPr>
          <a:xfrm rot="0">
            <a:off x="868362" y="5409636"/>
            <a:ext cx="7332662" cy="982202"/>
          </a:xfrm>
          <a:prstGeom prst="horizontalScroll"/>
          <a:blipFill rotWithShape="0">
            <a:blip xmlns:r="http://schemas.openxmlformats.org/officeDocument/2006/relationships" r:embed="rId3">
              <a:alphaModFix amt="100000"/>
            </a:blip>
            <a:srcRect/>
            <a:tile algn="tl" flip="none" sx="100000" sy="100000" tx="0" ty="0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72000" lIns="91440" rIns="91440" tIns="720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28575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always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flows to oppose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the movement which started it.</a:t>
            </a:r>
          </a:p>
        </p:txBody>
      </p:sp>
      <p:sp>
        <p:nvSpPr>
          <p:cNvPr id="1048654" name="Text Box 10"/>
          <p:cNvSpPr txBox="1"/>
          <p:nvPr/>
        </p:nvSpPr>
        <p:spPr>
          <a:xfrm rot="0">
            <a:off x="1366837" y="1544637"/>
            <a:ext cx="4895850" cy="6413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-762000" lvl="0" marL="762000">
              <a:spcBef>
                <a:spcPct val="0"/>
              </a:spcBef>
              <a:buSzPct val="100000"/>
              <a:buFontTx/>
              <a:buNone/>
            </a:pPr>
            <a:r>
              <a:rPr altLang="zh-TW" b="1" sz="36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 nodeType="clickPar">
                      <p:stCondLst>
                        <p:cond delay="indefinite"/>
                      </p:stCondLst>
                      <p:childTnLst>
                        <p:par>
                          <p:cTn fill="hold" id="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1" grpId="0" uiExpand="0" build="whole"/>
      <p:bldP spid="1048652" grpId="0" uiExpand="0" build="whole"/>
      <p:bldP spid="1048653" grpId="0" uiExpand="0" build="whol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5" name="Rectangle 2"/>
          <p:cNvSpPr/>
          <p:nvPr>
            <p:ph type="title" sz="full" idx="4294967295"/>
          </p:nvPr>
        </p:nvSpPr>
        <p:spPr>
          <a:xfrm rot="0">
            <a:off x="576262" y="304800"/>
            <a:ext cx="8170862" cy="1468437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indent="-952500" lvl="0" marL="952500"/>
            <a:r>
              <a:rPr altLang="en-US" lang="zh-TW">
                <a:ea typeface="新細明體" pitchFamily="0" charset="-120"/>
              </a:rPr>
              <a:t>2	</a:t>
            </a:r>
            <a:r>
              <a:rPr altLang="zh-TW" lang="en-US">
                <a:ea typeface="新細明體" pitchFamily="0" charset="-120"/>
              </a:rPr>
              <a:t>Direction of induced current</a:t>
            </a:r>
          </a:p>
        </p:txBody>
      </p:sp>
      <p:pic>
        <p:nvPicPr>
          <p:cNvPr id="2097169" name="Picture 3" descr="17_10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" y="2409825"/>
            <a:ext cx="4062412" cy="1301750"/>
          </a:xfrm>
          <a:prstGeom prst="rect"/>
          <a:noFill/>
          <a:ln>
            <a:noFill/>
          </a:ln>
        </p:spPr>
      </p:pic>
      <p:pic>
        <p:nvPicPr>
          <p:cNvPr id="2097170" name="Picture 4" descr="17_1018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9600" y="3889375"/>
            <a:ext cx="4062412" cy="1270000"/>
          </a:xfrm>
          <a:prstGeom prst="rect"/>
          <a:noFill/>
          <a:ln>
            <a:noFill/>
          </a:ln>
        </p:spPr>
      </p:pic>
      <p:sp>
        <p:nvSpPr>
          <p:cNvPr id="1048656" name="Line 5"/>
          <p:cNvSpPr/>
          <p:nvPr/>
        </p:nvSpPr>
        <p:spPr>
          <a:xfrm rot="0">
            <a:off x="1066800" y="2968625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57" name="Line 6"/>
          <p:cNvSpPr/>
          <p:nvPr/>
        </p:nvSpPr>
        <p:spPr>
          <a:xfrm rot="0" flipH="1">
            <a:off x="1066800" y="4452937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58" name="Text Box 7"/>
          <p:cNvSpPr txBox="1"/>
          <p:nvPr/>
        </p:nvSpPr>
        <p:spPr>
          <a:xfrm rot="0">
            <a:off x="5013325" y="2309812"/>
            <a:ext cx="4130675" cy="9461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In both cases, magnet moves </a:t>
            </a: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against a force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.</a:t>
            </a:r>
          </a:p>
        </p:txBody>
      </p:sp>
      <p:sp>
        <p:nvSpPr>
          <p:cNvPr id="1048659" name="Text Box 8"/>
          <p:cNvSpPr txBox="1"/>
          <p:nvPr/>
        </p:nvSpPr>
        <p:spPr>
          <a:xfrm rot="0">
            <a:off x="4999037" y="3521899"/>
            <a:ext cx="4144962" cy="1350901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Work is done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60" name="AutoShape 9" descr="Parchment"/>
          <p:cNvSpPr/>
          <p:nvPr/>
        </p:nvSpPr>
        <p:spPr>
          <a:xfrm rot="0">
            <a:off x="868362" y="5409636"/>
            <a:ext cx="7332662" cy="982202"/>
          </a:xfrm>
          <a:prstGeom prst="horizontalScroll"/>
          <a:blipFill rotWithShape="0">
            <a:blip xmlns:r="http://schemas.openxmlformats.org/officeDocument/2006/relationships" r:embed="rId3">
              <a:alphaModFix amt="100000"/>
            </a:blip>
            <a:srcRect/>
            <a:tile algn="tl" flip="none" sx="100000" sy="100000" tx="0" ty="0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72000" lIns="91440" rIns="91440" tIns="720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28575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always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flows to oppose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the movement which started it.</a:t>
            </a:r>
          </a:p>
        </p:txBody>
      </p:sp>
      <p:sp>
        <p:nvSpPr>
          <p:cNvPr id="1048661" name="Text Box 10"/>
          <p:cNvSpPr txBox="1"/>
          <p:nvPr/>
        </p:nvSpPr>
        <p:spPr>
          <a:xfrm rot="0">
            <a:off x="1366837" y="1544637"/>
            <a:ext cx="4895850" cy="6413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-762000" lvl="0" marL="762000">
              <a:spcBef>
                <a:spcPct val="0"/>
              </a:spcBef>
              <a:buSzPct val="100000"/>
              <a:buFontTx/>
              <a:buNone/>
            </a:pPr>
            <a:r>
              <a:rPr altLang="zh-TW" b="1" sz="36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 nodeType="clickPar">
                      <p:stCondLst>
                        <p:cond delay="indefinite"/>
                      </p:stCondLst>
                      <p:childTnLst>
                        <p:par>
                          <p:cTn fill="hold" id="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8" grpId="0" uiExpand="0" build="whole"/>
      <p:bldP spid="1048659" grpId="0" uiExpand="0" build="whole"/>
      <p:bldP spid="1048660" grpId="0" uiExpand="0" build="whol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2" name="Rectangle 2"/>
          <p:cNvSpPr/>
          <p:nvPr>
            <p:ph type="title" sz="full" idx="4294967295"/>
          </p:nvPr>
        </p:nvSpPr>
        <p:spPr>
          <a:xfrm rot="0">
            <a:off x="576262" y="304800"/>
            <a:ext cx="8170862" cy="1468437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indent="-952500" lvl="0" marL="952500"/>
            <a:r>
              <a:rPr altLang="en-US" lang="zh-TW">
                <a:ea typeface="新細明體" pitchFamily="0" charset="-120"/>
              </a:rPr>
              <a:t>2	</a:t>
            </a:r>
            <a:r>
              <a:rPr altLang="zh-TW" lang="en-US">
                <a:ea typeface="新細明體" pitchFamily="0" charset="-120"/>
              </a:rPr>
              <a:t>Direction of induced current</a:t>
            </a:r>
          </a:p>
        </p:txBody>
      </p:sp>
      <p:pic>
        <p:nvPicPr>
          <p:cNvPr id="2097171" name="Picture 3" descr="17_10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" y="2409825"/>
            <a:ext cx="4062412" cy="1301750"/>
          </a:xfrm>
          <a:prstGeom prst="rect"/>
          <a:noFill/>
          <a:ln>
            <a:noFill/>
          </a:ln>
        </p:spPr>
      </p:pic>
      <p:pic>
        <p:nvPicPr>
          <p:cNvPr id="2097172" name="Picture 4" descr="17_1018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9600" y="3889375"/>
            <a:ext cx="4062412" cy="1270000"/>
          </a:xfrm>
          <a:prstGeom prst="rect"/>
          <a:noFill/>
          <a:ln>
            <a:noFill/>
          </a:ln>
        </p:spPr>
      </p:pic>
      <p:sp>
        <p:nvSpPr>
          <p:cNvPr id="1048663" name="Line 5"/>
          <p:cNvSpPr/>
          <p:nvPr/>
        </p:nvSpPr>
        <p:spPr>
          <a:xfrm rot="0">
            <a:off x="1066800" y="2968625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64" name="Line 6"/>
          <p:cNvSpPr/>
          <p:nvPr/>
        </p:nvSpPr>
        <p:spPr>
          <a:xfrm rot="0" flipH="1">
            <a:off x="1066800" y="4452937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65" name="Text Box 7"/>
          <p:cNvSpPr txBox="1"/>
          <p:nvPr/>
        </p:nvSpPr>
        <p:spPr>
          <a:xfrm rot="0">
            <a:off x="5013325" y="2309812"/>
            <a:ext cx="4130675" cy="9461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In both cases, magnet moves </a:t>
            </a: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against a force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.</a:t>
            </a:r>
          </a:p>
        </p:txBody>
      </p:sp>
      <p:sp>
        <p:nvSpPr>
          <p:cNvPr id="1048666" name="Text Box 8"/>
          <p:cNvSpPr txBox="1"/>
          <p:nvPr/>
        </p:nvSpPr>
        <p:spPr>
          <a:xfrm rot="0">
            <a:off x="4999037" y="3521899"/>
            <a:ext cx="4144962" cy="1350901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Work is done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67" name="AutoShape 9" descr="Parchment"/>
          <p:cNvSpPr/>
          <p:nvPr/>
        </p:nvSpPr>
        <p:spPr>
          <a:xfrm rot="0">
            <a:off x="868362" y="5409636"/>
            <a:ext cx="7332662" cy="982202"/>
          </a:xfrm>
          <a:prstGeom prst="horizontalScroll"/>
          <a:blipFill rotWithShape="0">
            <a:blip xmlns:r="http://schemas.openxmlformats.org/officeDocument/2006/relationships" r:embed="rId3">
              <a:alphaModFix amt="100000"/>
            </a:blip>
            <a:srcRect/>
            <a:tile algn="tl" flip="none" sx="100000" sy="100000" tx="0" ty="0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72000" lIns="91440" rIns="91440" tIns="720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28575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always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flows to oppose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the movement which started it.</a:t>
            </a:r>
          </a:p>
        </p:txBody>
      </p:sp>
      <p:sp>
        <p:nvSpPr>
          <p:cNvPr id="1048668" name="Text Box 10"/>
          <p:cNvSpPr txBox="1"/>
          <p:nvPr/>
        </p:nvSpPr>
        <p:spPr>
          <a:xfrm rot="0">
            <a:off x="1366837" y="1544637"/>
            <a:ext cx="4895850" cy="6413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-762000" lvl="0" marL="762000">
              <a:spcBef>
                <a:spcPct val="0"/>
              </a:spcBef>
              <a:buSzPct val="100000"/>
              <a:buFontTx/>
              <a:buNone/>
            </a:pPr>
            <a:r>
              <a:rPr altLang="zh-TW" b="1" sz="36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 nodeType="clickPar">
                      <p:stCondLst>
                        <p:cond delay="indefinite"/>
                      </p:stCondLst>
                      <p:childTnLst>
                        <p:par>
                          <p:cTn fill="hold" id="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uiExpand="0" build="whole"/>
      <p:bldP spid="1048666" grpId="0" uiExpand="0" build="whole"/>
      <p:bldP spid="1048667" grpId="0" uiExpand="0" build="whol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9" name="Rectangle 2"/>
          <p:cNvSpPr/>
          <p:nvPr>
            <p:ph type="title" sz="full" idx="4294967295"/>
          </p:nvPr>
        </p:nvSpPr>
        <p:spPr>
          <a:xfrm rot="0">
            <a:off x="576262" y="304800"/>
            <a:ext cx="8170862" cy="1468437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indent="-952500" lvl="0" marL="952500"/>
            <a:r>
              <a:rPr altLang="en-US" lang="zh-TW">
                <a:ea typeface="新細明體" pitchFamily="0" charset="-120"/>
              </a:rPr>
              <a:t>2	</a:t>
            </a:r>
            <a:r>
              <a:rPr altLang="zh-TW" lang="en-US">
                <a:ea typeface="新細明體" pitchFamily="0" charset="-120"/>
              </a:rPr>
              <a:t>Direction of induced current</a:t>
            </a:r>
          </a:p>
        </p:txBody>
      </p:sp>
      <p:pic>
        <p:nvPicPr>
          <p:cNvPr id="2097173" name="Picture 3" descr="17_101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9600" y="2409825"/>
            <a:ext cx="4062412" cy="1301750"/>
          </a:xfrm>
          <a:prstGeom prst="rect"/>
          <a:noFill/>
          <a:ln>
            <a:noFill/>
          </a:ln>
        </p:spPr>
      </p:pic>
      <p:pic>
        <p:nvPicPr>
          <p:cNvPr id="2097174" name="Picture 4" descr="17_1018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09600" y="3889375"/>
            <a:ext cx="4062412" cy="1270000"/>
          </a:xfrm>
          <a:prstGeom prst="rect"/>
          <a:noFill/>
          <a:ln>
            <a:noFill/>
          </a:ln>
        </p:spPr>
      </p:pic>
      <p:sp>
        <p:nvSpPr>
          <p:cNvPr id="1048670" name="Line 5"/>
          <p:cNvSpPr/>
          <p:nvPr/>
        </p:nvSpPr>
        <p:spPr>
          <a:xfrm rot="0">
            <a:off x="1066800" y="2968625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71" name="Line 6"/>
          <p:cNvSpPr/>
          <p:nvPr/>
        </p:nvSpPr>
        <p:spPr>
          <a:xfrm rot="0" flipH="1">
            <a:off x="1066800" y="4452937"/>
            <a:ext cx="838200" cy="0"/>
          </a:xfrm>
          <a:prstGeom prst="line"/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72" name="Text Box 7"/>
          <p:cNvSpPr txBox="1"/>
          <p:nvPr/>
        </p:nvSpPr>
        <p:spPr>
          <a:xfrm rot="0">
            <a:off x="5013325" y="2309812"/>
            <a:ext cx="4130675" cy="9461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In both cases, magnet moves </a:t>
            </a: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against a force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.</a:t>
            </a:r>
          </a:p>
        </p:txBody>
      </p:sp>
      <p:sp>
        <p:nvSpPr>
          <p:cNvPr id="1048673" name="Text Box 8"/>
          <p:cNvSpPr txBox="1"/>
          <p:nvPr/>
        </p:nvSpPr>
        <p:spPr>
          <a:xfrm rot="0">
            <a:off x="4999037" y="3297237"/>
            <a:ext cx="4144962" cy="1800225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b="1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Work is done</a:t>
            </a:r>
            <a:r>
              <a:rPr altLang="zh-TW" sz="28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74" name="AutoShape 9" descr="Parchment"/>
          <p:cNvSpPr/>
          <p:nvPr/>
        </p:nvSpPr>
        <p:spPr>
          <a:xfrm rot="0">
            <a:off x="868362" y="5240337"/>
            <a:ext cx="7332662" cy="1320800"/>
          </a:xfrm>
          <a:prstGeom prst="horizontalScroll"/>
          <a:blipFill rotWithShape="0">
            <a:blip xmlns:r="http://schemas.openxmlformats.org/officeDocument/2006/relationships" r:embed="rId3">
              <a:alphaModFix amt="100000"/>
            </a:blip>
            <a:srcRect/>
            <a:tile algn="tl" flip="none" sx="100000" sy="100000" tx="0" ty="0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72000" lIns="91440" rIns="91440" tIns="720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28575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6184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always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flows to oppose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the movement which started it.</a:t>
            </a:r>
          </a:p>
        </p:txBody>
      </p:sp>
      <p:sp>
        <p:nvSpPr>
          <p:cNvPr id="1048675" name="Text Box 10"/>
          <p:cNvSpPr txBox="1"/>
          <p:nvPr/>
        </p:nvSpPr>
        <p:spPr>
          <a:xfrm rot="0">
            <a:off x="1366837" y="1544637"/>
            <a:ext cx="4895850" cy="641350"/>
          </a:xfrm>
          <a:prstGeom prst="rect"/>
          <a:noFill/>
          <a:ln>
            <a:noFill/>
          </a:ln>
        </p:spPr>
        <p:txBody>
          <a:bodyPr anchor="ctr" bIns="46800" lIns="90000" rIns="90000" tIns="4680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fontAlgn="ctr" hangingPunct="1" indent="-762000" lvl="0" marL="762000">
              <a:spcBef>
                <a:spcPct val="0"/>
              </a:spcBef>
              <a:buSzPct val="100000"/>
              <a:buFontTx/>
              <a:buNone/>
            </a:pPr>
            <a:r>
              <a:rPr altLang="zh-TW" b="1" sz="3600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 nodeType="clickPar">
                      <p:stCondLst>
                        <p:cond delay="indefinite"/>
                      </p:stCondLst>
                      <p:childTnLst>
                        <p:par>
                          <p:cTn fill="hold" id="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 nodeType="clickPar">
                      <p:stCondLst>
                        <p:cond delay="indefinite"/>
                      </p:stCondLst>
                      <p:childTnLst>
                        <p:par>
                          <p:cTn fill="hold" id="12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5"/>
                                        <p:tgtEl>
                                          <p:spTgt spid="104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2" grpId="0" uiExpand="0" build="whole"/>
      <p:bldP spid="1048673" grpId="0" uiExpand="0" build="whole"/>
      <p:bldP spid="1048674" grpId="0" uiExpand="0" build="whol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75" name="Picture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3337" y="0"/>
            <a:ext cx="9077325" cy="685800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7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6" name="Rectangle 2"/>
          <p:cNvSpPr/>
          <p:nvPr>
            <p:ph type="title" sz="full" idx="4294967295"/>
          </p:nvPr>
        </p:nvSpPr>
        <p:spPr>
          <a:xfrm rot="0">
            <a:off x="1249362" y="0"/>
            <a:ext cx="7772400" cy="11430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altLang="zh-TW" lang="en-US">
                <a:ea typeface="新細明體" pitchFamily="0" charset="-120"/>
              </a:rPr>
              <a:t>Example 1</a:t>
            </a:r>
          </a:p>
        </p:txBody>
      </p:sp>
      <p:sp>
        <p:nvSpPr>
          <p:cNvPr id="1048677" name="Rectangle 3"/>
          <p:cNvSpPr/>
          <p:nvPr/>
        </p:nvSpPr>
        <p:spPr>
          <a:xfrm rot="0">
            <a:off x="4841875" y="3768725"/>
            <a:ext cx="0" cy="487362"/>
          </a:xfrm>
          <a:prstGeom prst="rect"/>
          <a:noFill/>
          <a:ln>
            <a:noFill/>
          </a:ln>
        </p:spPr>
        <p:txBody>
          <a:bodyPr anchor="t" bIns="0" lIns="0" rIns="0" tIns="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zh-TW">
              <a:ea typeface="新細明體" pitchFamily="0" charset="-120"/>
            </a:endParaRPr>
          </a:p>
        </p:txBody>
      </p:sp>
      <p:sp>
        <p:nvSpPr>
          <p:cNvPr id="1048678" name="Text Box 4"/>
          <p:cNvSpPr txBox="1"/>
          <p:nvPr/>
        </p:nvSpPr>
        <p:spPr>
          <a:xfrm rot="0">
            <a:off x="1335087" y="912812"/>
            <a:ext cx="3328987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0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Current induced along a coil</a:t>
            </a:r>
          </a:p>
        </p:txBody>
      </p:sp>
      <p:sp>
        <p:nvSpPr>
          <p:cNvPr id="1048679" name="Rectangle 5"/>
          <p:cNvSpPr/>
          <p:nvPr/>
        </p:nvSpPr>
        <p:spPr>
          <a:xfrm rot="0">
            <a:off x="673100" y="1295400"/>
            <a:ext cx="8534400" cy="5794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-666750" lvl="0" marL="666750">
              <a:spcBef>
                <a:spcPct val="0"/>
              </a:spcBef>
              <a:buSzPct val="100000"/>
              <a:buFontTx/>
              <a:buNone/>
            </a:pPr>
            <a:r>
              <a:rPr altLang="zh-TW" lang="en-US">
                <a:latin typeface="Tahoma" pitchFamily="34" charset="0"/>
                <a:ea typeface="新細明體" pitchFamily="0" charset="-120"/>
              </a:rPr>
              <a:t>A bar magnet passes through a coil:</a:t>
            </a:r>
          </a:p>
        </p:txBody>
      </p:sp>
      <p:pic>
        <p:nvPicPr>
          <p:cNvPr id="2097176" name="Picture 6" descr="17_102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73100" y="2057400"/>
            <a:ext cx="2925762" cy="1720850"/>
          </a:xfrm>
          <a:prstGeom prst="rect"/>
          <a:noFill/>
          <a:ln>
            <a:noFill/>
          </a:ln>
        </p:spPr>
      </p:pic>
      <p:pic>
        <p:nvPicPr>
          <p:cNvPr id="2097177" name="Picture 7" descr="17_1024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178300" y="2057400"/>
            <a:ext cx="1555750" cy="1720850"/>
          </a:xfrm>
          <a:prstGeom prst="rect"/>
          <a:noFill/>
          <a:ln>
            <a:noFill/>
          </a:ln>
        </p:spPr>
      </p:pic>
      <p:pic>
        <p:nvPicPr>
          <p:cNvPr id="2097178" name="Picture 8" descr="17_1025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6199187" y="2057400"/>
            <a:ext cx="2932112" cy="1720850"/>
          </a:xfrm>
          <a:prstGeom prst="rect"/>
          <a:noFill/>
          <a:ln>
            <a:noFill/>
          </a:ln>
        </p:spPr>
      </p:pic>
      <p:sp>
        <p:nvSpPr>
          <p:cNvPr id="1048680" name="Line 9"/>
          <p:cNvSpPr/>
          <p:nvPr/>
        </p:nvSpPr>
        <p:spPr>
          <a:xfrm rot="0" flipH="1">
            <a:off x="6159500" y="2209800"/>
            <a:ext cx="277812" cy="0"/>
          </a:xfrm>
          <a:prstGeom prst="line"/>
          <a:noFill/>
          <a:ln w="508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sm" len="sm"/>
          </a:ln>
        </p:spPr>
      </p:sp>
      <p:sp>
        <p:nvSpPr>
          <p:cNvPr id="1048681" name="Text Box 10"/>
          <p:cNvSpPr txBox="1"/>
          <p:nvPr/>
        </p:nvSpPr>
        <p:spPr>
          <a:xfrm rot="0">
            <a:off x="673100" y="4495800"/>
            <a:ext cx="8229600" cy="10668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-666750" lvl="0" marL="666750">
              <a:spcBef>
                <a:spcPct val="0"/>
              </a:spcBef>
              <a:buSzPct val="100000"/>
              <a:buFontTx/>
              <a:buNone/>
            </a:pPr>
            <a:r>
              <a:rPr altLang="zh-TW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lang="en-US">
                <a:latin typeface="Tahoma" pitchFamily="34" charset="0"/>
                <a:ea typeface="新細明體" pitchFamily="0" charset="-120"/>
              </a:rPr>
              <a:t>a)	Indicate the direction of the </a:t>
            </a:r>
            <a:r>
              <a:rPr altLang="zh-TW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lang="en-US">
                <a:latin typeface="Tahoma" pitchFamily="34" charset="0"/>
                <a:ea typeface="新細明體" pitchFamily="0" charset="-120"/>
              </a:rPr>
              <a:t> in each case. Explain briefly.</a:t>
            </a:r>
          </a:p>
        </p:txBody>
      </p:sp>
      <p:sp>
        <p:nvSpPr>
          <p:cNvPr id="1048682" name="Rectangle 11"/>
          <p:cNvSpPr/>
          <p:nvPr/>
        </p:nvSpPr>
        <p:spPr>
          <a:xfrm rot="0">
            <a:off x="1222375" y="3733800"/>
            <a:ext cx="411162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1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1800" lang="en-US">
                <a:latin typeface="Tahoma" pitchFamily="34" charset="0"/>
                <a:ea typeface="新細明體" pitchFamily="0" charset="-120"/>
              </a:rPr>
              <a:t>i)</a:t>
            </a:r>
          </a:p>
        </p:txBody>
      </p:sp>
      <p:sp>
        <p:nvSpPr>
          <p:cNvPr id="1048683" name="Rectangle 12"/>
          <p:cNvSpPr/>
          <p:nvPr/>
        </p:nvSpPr>
        <p:spPr>
          <a:xfrm rot="0">
            <a:off x="4727575" y="3733800"/>
            <a:ext cx="436881" cy="3581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1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1800" lang="en-US">
                <a:latin typeface="Tahoma" pitchFamily="34" charset="0"/>
                <a:ea typeface="新細明體" pitchFamily="0" charset="-120"/>
              </a:rPr>
              <a:t>ii)</a:t>
            </a:r>
          </a:p>
        </p:txBody>
      </p:sp>
      <p:sp>
        <p:nvSpPr>
          <p:cNvPr id="1048684" name="Rectangle 13"/>
          <p:cNvSpPr/>
          <p:nvPr/>
        </p:nvSpPr>
        <p:spPr>
          <a:xfrm rot="0">
            <a:off x="8102600" y="3733800"/>
            <a:ext cx="487681" cy="3581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1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1800" lang="en-US">
                <a:latin typeface="Tahoma" pitchFamily="34" charset="0"/>
                <a:ea typeface="新細明體" pitchFamily="0" charset="-120"/>
              </a:rPr>
              <a:t>iii)</a:t>
            </a:r>
          </a:p>
        </p:txBody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1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7"/>
                                        <p:tgtEl>
                                          <p:spTgt spid="1048681">
                                            <p:txEl>
                                              <p:charRg st="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1" grpId="0" uiExpand="0" build="p" bldLvl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5" name="Rectangle 2"/>
          <p:cNvSpPr/>
          <p:nvPr>
            <p:ph type="title" sz="full" idx="4294967295"/>
          </p:nvPr>
        </p:nvSpPr>
        <p:spPr>
          <a:xfrm rot="0">
            <a:off x="1095375" y="0"/>
            <a:ext cx="7772400" cy="11430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altLang="zh-TW" lang="en-US">
                <a:ea typeface="新細明體" pitchFamily="0" charset="-120"/>
              </a:rPr>
              <a:t>Example 1</a:t>
            </a:r>
          </a:p>
        </p:txBody>
      </p:sp>
      <p:sp>
        <p:nvSpPr>
          <p:cNvPr id="1048686" name="Rectangle 3"/>
          <p:cNvSpPr/>
          <p:nvPr/>
        </p:nvSpPr>
        <p:spPr>
          <a:xfrm rot="0">
            <a:off x="4778375" y="3768725"/>
            <a:ext cx="0" cy="487362"/>
          </a:xfrm>
          <a:prstGeom prst="rect"/>
          <a:noFill/>
          <a:ln>
            <a:noFill/>
          </a:ln>
        </p:spPr>
        <p:txBody>
          <a:bodyPr anchor="t" bIns="0" lIns="0" rIns="0" tIns="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zh-TW">
              <a:ea typeface="新細明體" pitchFamily="0" charset="-120"/>
            </a:endParaRPr>
          </a:p>
        </p:txBody>
      </p:sp>
      <p:sp>
        <p:nvSpPr>
          <p:cNvPr id="1048687" name="Text Box 4"/>
          <p:cNvSpPr txBox="1"/>
          <p:nvPr/>
        </p:nvSpPr>
        <p:spPr>
          <a:xfrm rot="0">
            <a:off x="1090612" y="912812"/>
            <a:ext cx="3328987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0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Current induced along a coil</a:t>
            </a:r>
          </a:p>
        </p:txBody>
      </p:sp>
      <p:sp>
        <p:nvSpPr>
          <p:cNvPr id="1048688" name="Rectangle 5"/>
          <p:cNvSpPr/>
          <p:nvPr/>
        </p:nvSpPr>
        <p:spPr>
          <a:xfrm rot="0">
            <a:off x="882650" y="1295400"/>
            <a:ext cx="8534400" cy="519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a)  Indicate the direction of the </a:t>
            </a:r>
            <a:r>
              <a:rPr altLang="zh-TW" sz="2800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. Explain.</a:t>
            </a:r>
          </a:p>
        </p:txBody>
      </p:sp>
      <p:pic>
        <p:nvPicPr>
          <p:cNvPr id="2097179" name="Picture 6" descr="17_102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244600" y="2057400"/>
            <a:ext cx="2925762" cy="1720850"/>
          </a:xfrm>
          <a:prstGeom prst="rect"/>
          <a:noFill/>
          <a:ln>
            <a:noFill/>
          </a:ln>
        </p:spPr>
      </p:pic>
      <p:sp>
        <p:nvSpPr>
          <p:cNvPr id="1048689" name="Rectangle 7"/>
          <p:cNvSpPr/>
          <p:nvPr/>
        </p:nvSpPr>
        <p:spPr>
          <a:xfrm rot="0">
            <a:off x="1158875" y="3733800"/>
            <a:ext cx="411162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1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1800" lang="en-US">
                <a:latin typeface="Tahoma" pitchFamily="34" charset="0"/>
                <a:ea typeface="新細明體" pitchFamily="0" charset="-120"/>
              </a:rPr>
              <a:t>i)</a:t>
            </a:r>
          </a:p>
        </p:txBody>
      </p:sp>
      <p:sp>
        <p:nvSpPr>
          <p:cNvPr id="1048690" name="Line 8"/>
          <p:cNvSpPr/>
          <p:nvPr/>
        </p:nvSpPr>
        <p:spPr>
          <a:xfrm rot="0" flipV="1">
            <a:off x="2025650" y="3429000"/>
            <a:ext cx="136525" cy="273050"/>
          </a:xfrm>
          <a:prstGeom prst="line"/>
          <a:noFill/>
          <a:ln w="50800" cap="flat" cmpd="sng">
            <a:solidFill>
              <a:schemeClr val="accent2">
                <a:alpha val="100000"/>
              </a:schemeClr>
            </a:solidFill>
            <a:prstDash val="solid"/>
            <a:round/>
            <a:tailEnd type="triangle" w="sm" len="sm"/>
          </a:ln>
        </p:spPr>
      </p:sp>
      <p:sp>
        <p:nvSpPr>
          <p:cNvPr id="1048691" name="Text Box 9"/>
          <p:cNvSpPr txBox="1"/>
          <p:nvPr/>
        </p:nvSpPr>
        <p:spPr>
          <a:xfrm rot="0">
            <a:off x="2819400" y="2743200"/>
            <a:ext cx="5867400" cy="9461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latin typeface="Tahoma" pitchFamily="34" charset="0"/>
                <a:ea typeface="新細明體" pitchFamily="0" charset="-120"/>
              </a:rPr>
              <a:t>When magnet’s N-pole is moving into coil,</a:t>
            </a:r>
          </a:p>
        </p:txBody>
      </p:sp>
      <p:sp>
        <p:nvSpPr>
          <p:cNvPr id="1048692" name="Text Box 10"/>
          <p:cNvSpPr txBox="1"/>
          <p:nvPr/>
        </p:nvSpPr>
        <p:spPr>
          <a:xfrm rot="0">
            <a:off x="2819400" y="3689350"/>
            <a:ext cx="6172200" cy="9461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flows in such a direction as to produce a N-pole</a:t>
            </a:r>
          </a:p>
        </p:txBody>
      </p:sp>
      <p:sp>
        <p:nvSpPr>
          <p:cNvPr id="1048693" name="Text Box 11"/>
          <p:cNvSpPr txBox="1"/>
          <p:nvPr/>
        </p:nvSpPr>
        <p:spPr>
          <a:xfrm rot="0">
            <a:off x="2819400" y="4660900"/>
            <a:ext cx="6400800" cy="519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latin typeface="Tahoma" pitchFamily="34" charset="0"/>
                <a:ea typeface="新細明體" pitchFamily="0" charset="-120"/>
              </a:rPr>
              <a:t>to </a:t>
            </a:r>
            <a:r>
              <a:rPr altLang="zh-TW" sz="28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oppose the approaching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 of magnet.</a:t>
            </a:r>
          </a:p>
        </p:txBody>
      </p:sp>
      <p:sp>
        <p:nvSpPr>
          <p:cNvPr id="1048694" name="AutoShape 12"/>
          <p:cNvSpPr/>
          <p:nvPr/>
        </p:nvSpPr>
        <p:spPr>
          <a:xfrm rot="0">
            <a:off x="457200" y="4586446"/>
            <a:ext cx="1828800" cy="426720"/>
          </a:xfrm>
          <a:prstGeom prst="cloudCallout">
            <a:avLst>
              <a:gd name="adj1" fmla="val 81685"/>
              <a:gd name="adj2" fmla="val -59287"/>
            </a:avLst>
          </a:prstGeom>
          <a:solidFill>
            <a:schemeClr val="accent1"/>
          </a:solid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indent="0" lvl="0" marL="0">
              <a:lnSpc>
                <a:spcPct val="80000"/>
              </a:lnSpc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latin typeface="Tahoma" pitchFamily="34" charset="0"/>
                <a:ea typeface="新細明體" pitchFamily="0" charset="-120"/>
              </a:rPr>
              <a:t>Lenz’s law</a:t>
            </a:r>
          </a:p>
        </p:txBody>
      </p:sp>
      <p:grpSp>
        <p:nvGrpSpPr>
          <p:cNvPr id="73" name=""/>
          <p:cNvGrpSpPr/>
          <p:nvPr/>
        </p:nvGrpSpPr>
        <p:grpSpPr>
          <a:xfrm rot="0">
            <a:off x="882650" y="2362200"/>
            <a:ext cx="1800225" cy="1212070"/>
            <a:chOff x="816" y="1801"/>
            <a:chExt cx="1042" cy="850"/>
          </a:xfrm>
        </p:grpSpPr>
        <p:sp>
          <p:nvSpPr>
            <p:cNvPr id="1048695" name="Line 14"/>
            <p:cNvSpPr/>
            <p:nvPr/>
          </p:nvSpPr>
          <p:spPr>
            <a:xfrm rot="0">
              <a:off x="1086" y="2469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6" name="Line 15"/>
            <p:cNvSpPr/>
            <p:nvPr/>
          </p:nvSpPr>
          <p:spPr>
            <a:xfrm rot="0">
              <a:off x="1256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7" name="Line 16"/>
            <p:cNvSpPr/>
            <p:nvPr/>
          </p:nvSpPr>
          <p:spPr>
            <a:xfrm rot="0">
              <a:off x="1336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8" name="Line 17"/>
            <p:cNvSpPr/>
            <p:nvPr/>
          </p:nvSpPr>
          <p:spPr>
            <a:xfrm rot="0">
              <a:off x="1416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9" name="Line 18"/>
            <p:cNvSpPr/>
            <p:nvPr/>
          </p:nvSpPr>
          <p:spPr>
            <a:xfrm rot="0">
              <a:off x="1498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0" name="Line 19"/>
            <p:cNvSpPr/>
            <p:nvPr/>
          </p:nvSpPr>
          <p:spPr>
            <a:xfrm rot="0">
              <a:off x="1578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1" name="Line 20"/>
            <p:cNvSpPr/>
            <p:nvPr/>
          </p:nvSpPr>
          <p:spPr>
            <a:xfrm rot="0">
              <a:off x="1658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2" name="Line 21"/>
            <p:cNvSpPr/>
            <p:nvPr/>
          </p:nvSpPr>
          <p:spPr>
            <a:xfrm rot="0">
              <a:off x="1742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3" name="Line 22"/>
            <p:cNvSpPr/>
            <p:nvPr/>
          </p:nvSpPr>
          <p:spPr>
            <a:xfrm rot="0">
              <a:off x="1824" y="180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4" name="Line 23"/>
            <p:cNvSpPr/>
            <p:nvPr/>
          </p:nvSpPr>
          <p:spPr>
            <a:xfrm rot="0" flipV="1">
              <a:off x="1858" y="2385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5" name="Rectangle 24"/>
            <p:cNvSpPr/>
            <p:nvPr/>
          </p:nvSpPr>
          <p:spPr>
            <a:xfrm rot="0">
              <a:off x="816" y="2292"/>
              <a:ext cx="162" cy="359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 wrap="none">
              <a:spAutoFit/>
            </a:bodyPr>
            <a:lstStyle>
              <a:lvl1pPr algn="l" eaLnBrk="0" fontAlgn="base" hangingPunct="0" indent="-342900" latinLnBrk="0" marL="3429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32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algn="l" eaLnBrk="0" fontAlgn="base" hangingPunct="0" indent="-285750" latinLnBrk="0" marL="74295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8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algn="l" eaLnBrk="0" fontAlgn="base" hangingPunct="0" indent="-228600" latinLnBrk="0" marL="11430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algn="l" eaLnBrk="0" fontAlgn="base" hangingPunct="0" indent="-228600" latinLnBrk="0" marL="16002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algn="l" eaLnBrk="0" fontAlgn="base" hangingPunct="0" indent="-228600" latinLnBrk="0" marL="20574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eaLnBrk="1" hangingPunct="1" indent="0" lvl="0" marL="0">
                <a:spcBef>
                  <a:spcPct val="0"/>
                </a:spcBef>
                <a:buSzPct val="100000"/>
                <a:buFontTx/>
                <a:buNone/>
              </a:pPr>
              <a:r>
                <a:rPr altLang="zh-TW" sz="2800" i="1" lang="en-US">
                  <a:solidFill>
                    <a:srgbClr val="0000FF"/>
                  </a:solidFill>
                  <a:latin typeface="Tahoma" pitchFamily="34" charset="0"/>
                  <a:ea typeface="新細明體" pitchFamily="0" charset="-120"/>
                </a:rPr>
                <a:t>I</a:t>
              </a:r>
            </a:p>
          </p:txBody>
        </p:sp>
        <p:sp>
          <p:nvSpPr>
            <p:cNvPr id="1048706" name="Line 25"/>
            <p:cNvSpPr/>
            <p:nvPr/>
          </p:nvSpPr>
          <p:spPr>
            <a:xfrm rot="0">
              <a:off x="1096" y="180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7" name="Line 26"/>
            <p:cNvSpPr/>
            <p:nvPr/>
          </p:nvSpPr>
          <p:spPr>
            <a:xfrm rot="0">
              <a:off x="1176" y="180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</p:grpSp>
      <p:grpSp>
        <p:nvGrpSpPr>
          <p:cNvPr id="74" name=""/>
          <p:cNvGrpSpPr/>
          <p:nvPr/>
        </p:nvGrpSpPr>
        <p:grpSpPr>
          <a:xfrm rot="0">
            <a:off x="895350" y="1819275"/>
            <a:ext cx="2187575" cy="457200"/>
            <a:chOff x="814" y="1489"/>
            <a:chExt cx="1284" cy="288"/>
          </a:xfrm>
        </p:grpSpPr>
        <p:sp>
          <p:nvSpPr>
            <p:cNvPr id="1048708" name="Text Box 28"/>
            <p:cNvSpPr txBox="1"/>
            <p:nvPr/>
          </p:nvSpPr>
          <p:spPr>
            <a:xfrm rot="0" flipH="1">
              <a:off x="814" y="1489"/>
              <a:ext cx="208" cy="288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 wrap="none">
              <a:spAutoFit/>
            </a:bodyPr>
            <a:lstStyle>
              <a:lvl1pPr algn="l" eaLnBrk="0" fontAlgn="base" hangingPunct="0" indent="-342900" latinLnBrk="0" marL="3429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32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algn="l" eaLnBrk="0" fontAlgn="base" hangingPunct="0" indent="-285750" latinLnBrk="0" marL="74295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8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algn="l" eaLnBrk="0" fontAlgn="base" hangingPunct="0" indent="-228600" latinLnBrk="0" marL="11430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algn="l" eaLnBrk="0" fontAlgn="base" hangingPunct="0" indent="-228600" latinLnBrk="0" marL="16002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algn="l" eaLnBrk="0" fontAlgn="base" hangingPunct="0" indent="-228600" latinLnBrk="0" marL="20574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eaLnBrk="1" hangingPunct="1" indent="0" lvl="0" marL="0">
                <a:spcBef>
                  <a:spcPct val="0"/>
                </a:spcBef>
                <a:buSzPct val="100000"/>
                <a:buFontTx/>
                <a:buNone/>
              </a:pPr>
              <a:r>
                <a:rPr altLang="zh-TW" sz="2400" lang="en-US">
                  <a:solidFill>
                    <a:srgbClr val="0000FF"/>
                  </a:solidFill>
                  <a:latin typeface="Tahoma" pitchFamily="34" charset="0"/>
                  <a:ea typeface="新細明體" pitchFamily="0" charset="-120"/>
                </a:rPr>
                <a:t>S</a:t>
              </a:r>
            </a:p>
          </p:txBody>
        </p:sp>
        <p:sp>
          <p:nvSpPr>
            <p:cNvPr id="1048709" name="Text Box 29"/>
            <p:cNvSpPr txBox="1"/>
            <p:nvPr/>
          </p:nvSpPr>
          <p:spPr>
            <a:xfrm rot="0" flipH="1">
              <a:off x="1871" y="1489"/>
              <a:ext cx="227" cy="288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 wrap="none">
              <a:spAutoFit/>
            </a:bodyPr>
            <a:lstStyle>
              <a:lvl1pPr algn="l" eaLnBrk="0" fontAlgn="base" hangingPunct="0" indent="-342900" latinLnBrk="0" marL="3429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32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algn="l" eaLnBrk="0" fontAlgn="base" hangingPunct="0" indent="-285750" latinLnBrk="0" marL="74295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8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algn="l" eaLnBrk="0" fontAlgn="base" hangingPunct="0" indent="-228600" latinLnBrk="0" marL="11430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algn="l" eaLnBrk="0" fontAlgn="base" hangingPunct="0" indent="-228600" latinLnBrk="0" marL="16002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algn="l" eaLnBrk="0" fontAlgn="base" hangingPunct="0" indent="-228600" latinLnBrk="0" marL="20574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eaLnBrk="1" hangingPunct="1" indent="0" lvl="0" marL="0">
                <a:spcBef>
                  <a:spcPct val="0"/>
                </a:spcBef>
                <a:buSzPct val="100000"/>
                <a:buFontTx/>
                <a:buNone/>
              </a:pPr>
              <a:r>
                <a:rPr altLang="zh-TW" sz="2400" lang="en-US">
                  <a:solidFill>
                    <a:srgbClr val="0000FF"/>
                  </a:solidFill>
                  <a:latin typeface="Tahoma" pitchFamily="34" charset="0"/>
                  <a:ea typeface="新細明體" pitchFamily="0" charset="-120"/>
                </a:rPr>
                <a:t>N</a:t>
              </a:r>
            </a:p>
          </p:txBody>
        </p:sp>
      </p:grp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7"/>
                                        <p:tgtEl>
                                          <p:spTgt spid="104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2"/>
                                        <p:tgtEl>
                                          <p:spTgt spid="104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3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4" nodeType="after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16"/>
                                        <p:tgtEl>
                                          <p:spTgt spid="104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 nodeType="clickPar">
                      <p:stCondLst>
                        <p:cond delay="indefinite"/>
                      </p:stCondLst>
                      <p:childTnLst>
                        <p:par>
                          <p:cTn fill="hold" id="1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500" id="21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id="23" nodeType="afterEffect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 nodeType="clickPar">
                      <p:stCondLst>
                        <p:cond delay="indefinite"/>
                      </p:stCondLst>
                      <p:childTnLst>
                        <p:par>
                          <p:cTn fill="hold" id="2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9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31"/>
                                        <p:tgtEl>
                                          <p:spTgt spid="104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1" grpId="0" uiExpand="0" build="whole"/>
      <p:bldP spid="1048692" grpId="0" uiExpand="0" build="whole"/>
      <p:bldP spid="1048693" grpId="0" uiExpand="0" build="whole"/>
      <p:bldP spid="1048694" grpId="0" uiExpand="0" build="whol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7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0" name="Rectangle 2"/>
          <p:cNvSpPr/>
          <p:nvPr>
            <p:ph type="title" sz="full" idx="4294967295"/>
          </p:nvPr>
        </p:nvSpPr>
        <p:spPr>
          <a:xfrm rot="0">
            <a:off x="1133475" y="0"/>
            <a:ext cx="7772400" cy="11430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altLang="zh-TW" lang="en-US">
                <a:ea typeface="新細明體" pitchFamily="0" charset="-120"/>
              </a:rPr>
              <a:t>Example 1</a:t>
            </a:r>
          </a:p>
        </p:txBody>
      </p:sp>
      <p:sp>
        <p:nvSpPr>
          <p:cNvPr id="1048711" name="Rectangle 3"/>
          <p:cNvSpPr/>
          <p:nvPr/>
        </p:nvSpPr>
        <p:spPr>
          <a:xfrm rot="0">
            <a:off x="4778375" y="3768725"/>
            <a:ext cx="0" cy="487362"/>
          </a:xfrm>
          <a:prstGeom prst="rect"/>
          <a:noFill/>
          <a:ln>
            <a:noFill/>
          </a:ln>
        </p:spPr>
        <p:txBody>
          <a:bodyPr anchor="t" bIns="0" lIns="0" rIns="0" tIns="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zh-TW">
              <a:ea typeface="新細明體" pitchFamily="0" charset="-120"/>
            </a:endParaRPr>
          </a:p>
        </p:txBody>
      </p:sp>
      <p:sp>
        <p:nvSpPr>
          <p:cNvPr id="1048712" name="Text Box 4"/>
          <p:cNvSpPr txBox="1"/>
          <p:nvPr/>
        </p:nvSpPr>
        <p:spPr>
          <a:xfrm rot="0">
            <a:off x="1193800" y="912812"/>
            <a:ext cx="3328987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0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Current induced along a coil</a:t>
            </a:r>
          </a:p>
        </p:txBody>
      </p:sp>
      <p:sp>
        <p:nvSpPr>
          <p:cNvPr id="1048713" name="Rectangle 5"/>
          <p:cNvSpPr/>
          <p:nvPr/>
        </p:nvSpPr>
        <p:spPr>
          <a:xfrm rot="0">
            <a:off x="609600" y="1295400"/>
            <a:ext cx="8534400" cy="519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a)  Indicate the direction of the </a:t>
            </a:r>
            <a:r>
              <a:rPr altLang="zh-TW" sz="2800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. Explain.</a:t>
            </a:r>
          </a:p>
        </p:txBody>
      </p:sp>
      <p:pic>
        <p:nvPicPr>
          <p:cNvPr id="2097180" name="Picture 6" descr="17_102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114800" y="2057400"/>
            <a:ext cx="1555750" cy="1720850"/>
          </a:xfrm>
          <a:prstGeom prst="rect"/>
          <a:noFill/>
          <a:ln>
            <a:noFill/>
          </a:ln>
        </p:spPr>
      </p:pic>
      <p:sp>
        <p:nvSpPr>
          <p:cNvPr id="1048714" name="Rectangle 7"/>
          <p:cNvSpPr/>
          <p:nvPr/>
        </p:nvSpPr>
        <p:spPr>
          <a:xfrm rot="0">
            <a:off x="4664075" y="3733800"/>
            <a:ext cx="436881" cy="3581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1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1800" lang="en-US">
                <a:latin typeface="Tahoma" pitchFamily="34" charset="0"/>
                <a:ea typeface="新細明體" pitchFamily="0" charset="-120"/>
              </a:rPr>
              <a:t>ii)</a:t>
            </a:r>
          </a:p>
        </p:txBody>
      </p:sp>
      <p:sp>
        <p:nvSpPr>
          <p:cNvPr id="1048715" name="Text Box 8"/>
          <p:cNvSpPr txBox="1"/>
          <p:nvPr/>
        </p:nvSpPr>
        <p:spPr>
          <a:xfrm rot="0">
            <a:off x="2097087" y="4487862"/>
            <a:ext cx="5089525" cy="579437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lang="en-US">
                <a:latin typeface="Tahoma" pitchFamily="34" charset="0"/>
                <a:ea typeface="新細明體" pitchFamily="0" charset="-120"/>
              </a:rPr>
              <a:t>The </a:t>
            </a:r>
            <a:r>
              <a:rPr altLang="zh-TW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lang="en-US">
                <a:latin typeface="Tahoma" pitchFamily="34" charset="0"/>
                <a:ea typeface="新細明體" pitchFamily="0" charset="-120"/>
              </a:rPr>
              <a:t>become zero</a:t>
            </a:r>
          </a:p>
        </p:txBody>
      </p:sp>
      <p:sp>
        <p:nvSpPr>
          <p:cNvPr id="1048716" name="Text Box 9"/>
          <p:cNvSpPr txBox="1"/>
          <p:nvPr/>
        </p:nvSpPr>
        <p:spPr>
          <a:xfrm rot="10800000">
            <a:off x="2101850" y="5048250"/>
            <a:ext cx="534987" cy="579437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lang="zh-TW">
                <a:latin typeface="Tahoma" pitchFamily="34" charset="0"/>
                <a:ea typeface="新細明體" pitchFamily="0" charset="-120"/>
                <a:sym typeface="Symbol" pitchFamily="18" charset="2"/>
              </a:rPr>
              <a:t></a:t>
            </a:r>
          </a:p>
        </p:txBody>
      </p:sp>
      <p:sp>
        <p:nvSpPr>
          <p:cNvPr id="1048717" name="Text Box 10"/>
          <p:cNvSpPr txBox="1"/>
          <p:nvPr/>
        </p:nvSpPr>
        <p:spPr>
          <a:xfrm rot="0">
            <a:off x="2586037" y="5010150"/>
            <a:ext cx="5517277" cy="5740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lang="en-US">
                <a:latin typeface="Tahoma" pitchFamily="34" charset="0"/>
                <a:ea typeface="新細明體" pitchFamily="0" charset="-120"/>
              </a:rPr>
              <a:t>is about to </a:t>
            </a:r>
            <a:r>
              <a:rPr altLang="zh-TW" lang="en-US">
                <a:solidFill>
                  <a:srgbClr val="009900"/>
                </a:solidFill>
                <a:latin typeface="Tahoma" pitchFamily="34" charset="0"/>
                <a:ea typeface="新細明體" pitchFamily="0" charset="-120"/>
              </a:rPr>
              <a:t>change direction</a:t>
            </a:r>
            <a:r>
              <a:rPr altLang="zh-TW" lang="en-US">
                <a:latin typeface="Tahoma" pitchFamily="34" charset="0"/>
                <a:ea typeface="新細明體" pitchFamily="0" charset="-120"/>
              </a:rPr>
              <a:t>.</a:t>
            </a:r>
          </a:p>
        </p:txBody>
      </p:sp>
      <p:sp>
        <p:nvSpPr>
          <p:cNvPr id="1048718" name="Line 11"/>
          <p:cNvSpPr/>
          <p:nvPr/>
        </p:nvSpPr>
        <p:spPr>
          <a:xfrm rot="10800000">
            <a:off x="4891087" y="3484562"/>
            <a:ext cx="0" cy="241300"/>
          </a:xfrm>
          <a:prstGeom prst="line"/>
          <a:noFill/>
          <a:ln w="57150" cap="flat" cmpd="sng">
            <a:solidFill>
              <a:srgbClr val="FF0000">
                <a:alpha val="100000"/>
              </a:srgbClr>
            </a:solidFill>
            <a:prstDash val="solid"/>
            <a:round/>
            <a:tailEnd type="triangle" w="sm" len="sm"/>
          </a:ln>
        </p:spPr>
      </p: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7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2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3" nodeType="after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15"/>
                                        <p:tgtEl>
                                          <p:spTgt spid="104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5" grpId="0" uiExpand="0" build="whole"/>
      <p:bldP spid="1048716" grpId="0" uiExpand="0" build="whole"/>
      <p:bldP spid="1048717" grpId="0" uiExpand="0" build="whol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9" name="Rectangle 2"/>
          <p:cNvSpPr/>
          <p:nvPr>
            <p:ph type="title" sz="full" idx="4294967295"/>
          </p:nvPr>
        </p:nvSpPr>
        <p:spPr>
          <a:xfrm rot="0">
            <a:off x="1147762" y="0"/>
            <a:ext cx="7772400" cy="11430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altLang="zh-TW" lang="en-US">
                <a:ea typeface="新細明體" pitchFamily="0" charset="-120"/>
              </a:rPr>
              <a:t>Example 1</a:t>
            </a:r>
          </a:p>
        </p:txBody>
      </p:sp>
      <p:sp>
        <p:nvSpPr>
          <p:cNvPr id="1048720" name="Rectangle 3"/>
          <p:cNvSpPr/>
          <p:nvPr/>
        </p:nvSpPr>
        <p:spPr>
          <a:xfrm rot="0">
            <a:off x="4778375" y="3768725"/>
            <a:ext cx="0" cy="487362"/>
          </a:xfrm>
          <a:prstGeom prst="rect"/>
          <a:noFill/>
          <a:ln>
            <a:noFill/>
          </a:ln>
        </p:spPr>
        <p:txBody>
          <a:bodyPr anchor="t" bIns="0" lIns="0" rIns="0" tIns="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zh-TW">
              <a:ea typeface="新細明體" pitchFamily="0" charset="-120"/>
            </a:endParaRPr>
          </a:p>
        </p:txBody>
      </p:sp>
      <p:sp>
        <p:nvSpPr>
          <p:cNvPr id="1048721" name="Text Box 4"/>
          <p:cNvSpPr txBox="1"/>
          <p:nvPr/>
        </p:nvSpPr>
        <p:spPr>
          <a:xfrm rot="0">
            <a:off x="1141412" y="873125"/>
            <a:ext cx="3328987" cy="396875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000" lang="en-US">
                <a:solidFill>
                  <a:schemeClr val="lt2"/>
                </a:solidFill>
                <a:latin typeface="Tahoma" pitchFamily="34" charset="0"/>
                <a:ea typeface="新細明體" pitchFamily="0" charset="-120"/>
              </a:rPr>
              <a:t>Current induced along a coil</a:t>
            </a:r>
          </a:p>
        </p:txBody>
      </p:sp>
      <p:sp>
        <p:nvSpPr>
          <p:cNvPr id="1048722" name="Rectangle 5"/>
          <p:cNvSpPr/>
          <p:nvPr/>
        </p:nvSpPr>
        <p:spPr>
          <a:xfrm rot="0">
            <a:off x="609600" y="1295400"/>
            <a:ext cx="8534400" cy="519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a)  Indicate the direction of the </a:t>
            </a:r>
            <a:r>
              <a:rPr altLang="zh-TW" sz="2800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. Explain.</a:t>
            </a:r>
          </a:p>
        </p:txBody>
      </p:sp>
      <p:pic>
        <p:nvPicPr>
          <p:cNvPr id="2097181" name="Picture 6" descr="17_102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249487" y="2057400"/>
            <a:ext cx="2932112" cy="1720850"/>
          </a:xfrm>
          <a:prstGeom prst="rect"/>
          <a:noFill/>
          <a:ln>
            <a:noFill/>
          </a:ln>
        </p:spPr>
      </p:pic>
      <p:sp>
        <p:nvSpPr>
          <p:cNvPr id="1048723" name="Line 7"/>
          <p:cNvSpPr/>
          <p:nvPr/>
        </p:nvSpPr>
        <p:spPr>
          <a:xfrm rot="0" flipH="1">
            <a:off x="2209800" y="2209800"/>
            <a:ext cx="277812" cy="0"/>
          </a:xfrm>
          <a:prstGeom prst="line"/>
          <a:noFill/>
          <a:ln w="508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sm" len="sm"/>
          </a:ln>
        </p:spPr>
      </p:sp>
      <p:sp>
        <p:nvSpPr>
          <p:cNvPr id="1048724" name="Rectangle 8"/>
          <p:cNvSpPr/>
          <p:nvPr/>
        </p:nvSpPr>
        <p:spPr>
          <a:xfrm rot="0">
            <a:off x="4152900" y="3733800"/>
            <a:ext cx="487680" cy="3581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1800" lang="zh-TW">
                <a:latin typeface="Tahoma" pitchFamily="34" charset="0"/>
                <a:ea typeface="新細明體" pitchFamily="0" charset="-120"/>
              </a:rPr>
              <a:t>(</a:t>
            </a:r>
            <a:r>
              <a:rPr altLang="zh-TW" sz="1800" lang="en-US">
                <a:latin typeface="Tahoma" pitchFamily="34" charset="0"/>
                <a:ea typeface="新細明體" pitchFamily="0" charset="-120"/>
              </a:rPr>
              <a:t>iii)</a:t>
            </a:r>
          </a:p>
        </p:txBody>
      </p:sp>
      <p:sp>
        <p:nvSpPr>
          <p:cNvPr id="1048725" name="Line 9"/>
          <p:cNvSpPr/>
          <p:nvPr/>
        </p:nvSpPr>
        <p:spPr>
          <a:xfrm rot="0" flipH="1" flipV="1">
            <a:off x="4254500" y="3492500"/>
            <a:ext cx="169862" cy="225425"/>
          </a:xfrm>
          <a:prstGeom prst="line"/>
          <a:noFill/>
          <a:ln w="50800" cap="flat" cmpd="sng">
            <a:solidFill>
              <a:srgbClr val="FF0000">
                <a:alpha val="100000"/>
              </a:srgbClr>
            </a:solidFill>
            <a:prstDash val="solid"/>
            <a:round/>
            <a:tailEnd type="triangle" w="sm" len="sm"/>
          </a:ln>
        </p:spPr>
      </p:sp>
      <p:sp>
        <p:nvSpPr>
          <p:cNvPr id="1048726" name="Text Box 10"/>
          <p:cNvSpPr txBox="1"/>
          <p:nvPr/>
        </p:nvSpPr>
        <p:spPr>
          <a:xfrm rot="0">
            <a:off x="1219200" y="4487862"/>
            <a:ext cx="6587005" cy="5105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latin typeface="Tahoma" pitchFamily="34" charset="0"/>
                <a:ea typeface="新細明體" pitchFamily="0" charset="-120"/>
              </a:rPr>
              <a:t>When magnet’s S-pole is leaving the coil,</a:t>
            </a:r>
          </a:p>
        </p:txBody>
      </p:sp>
      <p:sp>
        <p:nvSpPr>
          <p:cNvPr id="1048727" name="Text Box 11"/>
          <p:cNvSpPr txBox="1"/>
          <p:nvPr/>
        </p:nvSpPr>
        <p:spPr>
          <a:xfrm rot="0">
            <a:off x="1219200" y="4994275"/>
            <a:ext cx="6380778" cy="510540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induced </a:t>
            </a:r>
            <a:r>
              <a:rPr altLang="zh-TW" sz="2800" i="1" lang="en-US">
                <a:solidFill>
                  <a:srgbClr val="0000FF"/>
                </a:solidFill>
                <a:latin typeface="Tahoma" pitchFamily="34" charset="0"/>
                <a:ea typeface="新細明體" pitchFamily="0" charset="-120"/>
              </a:rPr>
              <a:t>I</a:t>
            </a:r>
            <a:r>
              <a:rPr altLang="zh-TW" sz="2800" i="1" lang="en-US">
                <a:latin typeface="Tahoma" pitchFamily="34" charset="0"/>
                <a:ea typeface="新細明體" pitchFamily="0" charset="-120"/>
              </a:rPr>
              <a:t> </a:t>
            </a:r>
            <a:r>
              <a:rPr altLang="zh-TW" sz="2800" lang="en-US">
                <a:latin typeface="Tahoma" pitchFamily="34" charset="0"/>
                <a:ea typeface="新細明體" pitchFamily="0" charset="-120"/>
              </a:rPr>
              <a:t>flows in such a direction as to</a:t>
            </a:r>
          </a:p>
        </p:txBody>
      </p:sp>
      <p:sp>
        <p:nvSpPr>
          <p:cNvPr id="1048728" name="Text Box 12"/>
          <p:cNvSpPr txBox="1"/>
          <p:nvPr/>
        </p:nvSpPr>
        <p:spPr>
          <a:xfrm rot="0">
            <a:off x="1219200" y="5486400"/>
            <a:ext cx="7085012" cy="9461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zh-TW" sz="2800" lang="en-US">
                <a:latin typeface="Tahoma" pitchFamily="34" charset="0"/>
                <a:ea typeface="新細明體" pitchFamily="0" charset="-120"/>
              </a:rPr>
              <a:t>produce a N-pole to </a:t>
            </a:r>
            <a:r>
              <a:rPr altLang="zh-TW" sz="2800" lang="en-US">
                <a:solidFill>
                  <a:schemeClr val="accent2"/>
                </a:solidFill>
                <a:latin typeface="Tahoma" pitchFamily="34" charset="0"/>
                <a:ea typeface="新細明體" pitchFamily="0" charset="-120"/>
              </a:rPr>
              <a:t>oppose the leaving of magnet.</a:t>
            </a:r>
          </a:p>
        </p:txBody>
      </p:sp>
      <p:grpSp>
        <p:nvGrpSpPr>
          <p:cNvPr id="77" name=""/>
          <p:cNvGrpSpPr/>
          <p:nvPr/>
        </p:nvGrpSpPr>
        <p:grpSpPr>
          <a:xfrm rot="0">
            <a:off x="3411537" y="2298700"/>
            <a:ext cx="1677987" cy="1211262"/>
            <a:chOff x="2719" y="1591"/>
            <a:chExt cx="945" cy="763"/>
          </a:xfrm>
        </p:grpSpPr>
        <p:sp>
          <p:nvSpPr>
            <p:cNvPr id="1048729" name="Line 14"/>
            <p:cNvSpPr/>
            <p:nvPr/>
          </p:nvSpPr>
          <p:spPr>
            <a:xfrm rot="0" flipV="1">
              <a:off x="2905" y="2124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0" name="Line 15"/>
            <p:cNvSpPr/>
            <p:nvPr/>
          </p:nvSpPr>
          <p:spPr>
            <a:xfrm rot="0" flipV="1">
              <a:off x="3077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1" name="Line 16"/>
            <p:cNvSpPr/>
            <p:nvPr/>
          </p:nvSpPr>
          <p:spPr>
            <a:xfrm rot="0" flipV="1">
              <a:off x="3157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2" name="Line 17"/>
            <p:cNvSpPr/>
            <p:nvPr/>
          </p:nvSpPr>
          <p:spPr>
            <a:xfrm rot="0" flipV="1">
              <a:off x="3235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3" name="Line 18"/>
            <p:cNvSpPr/>
            <p:nvPr/>
          </p:nvSpPr>
          <p:spPr>
            <a:xfrm rot="0" flipV="1">
              <a:off x="3313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4" name="Line 19"/>
            <p:cNvSpPr/>
            <p:nvPr/>
          </p:nvSpPr>
          <p:spPr>
            <a:xfrm rot="0" flipV="1">
              <a:off x="3393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5" name="Line 20"/>
            <p:cNvSpPr/>
            <p:nvPr/>
          </p:nvSpPr>
          <p:spPr>
            <a:xfrm rot="0" flipV="1">
              <a:off x="3472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6" name="Line 21"/>
            <p:cNvSpPr/>
            <p:nvPr/>
          </p:nvSpPr>
          <p:spPr>
            <a:xfrm rot="0" flipV="1">
              <a:off x="3551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7" name="Line 22"/>
            <p:cNvSpPr/>
            <p:nvPr/>
          </p:nvSpPr>
          <p:spPr>
            <a:xfrm rot="0" flipV="1">
              <a:off x="3633" y="1592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8" name="Line 23"/>
            <p:cNvSpPr/>
            <p:nvPr/>
          </p:nvSpPr>
          <p:spPr>
            <a:xfrm rot="0">
              <a:off x="3664" y="2208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9" name="Rectangle 24"/>
            <p:cNvSpPr/>
            <p:nvPr/>
          </p:nvSpPr>
          <p:spPr>
            <a:xfrm rot="0" flipV="1">
              <a:off x="2719" y="2032"/>
              <a:ext cx="158" cy="322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 wrap="none">
              <a:spAutoFit/>
            </a:bodyPr>
            <a:lstStyle>
              <a:lvl1pPr algn="l" eaLnBrk="0" fontAlgn="base" hangingPunct="0" indent="-342900" latinLnBrk="0" marL="3429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32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algn="l" eaLnBrk="0" fontAlgn="base" hangingPunct="0" indent="-285750" latinLnBrk="0" marL="74295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8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algn="l" eaLnBrk="0" fontAlgn="base" hangingPunct="0" indent="-228600" latinLnBrk="0" marL="11430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algn="l" eaLnBrk="0" fontAlgn="base" hangingPunct="0" indent="-228600" latinLnBrk="0" marL="16002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algn="l" eaLnBrk="0" fontAlgn="base" hangingPunct="0" indent="-228600" latinLnBrk="0" marL="20574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eaLnBrk="1" hangingPunct="1" indent="0" lvl="0" marL="0">
                <a:spcBef>
                  <a:spcPct val="0"/>
                </a:spcBef>
                <a:buSzPct val="100000"/>
                <a:buFontTx/>
                <a:buNone/>
              </a:pPr>
              <a:r>
                <a:rPr altLang="zh-TW" sz="2800" i="1" lang="en-US">
                  <a:solidFill>
                    <a:srgbClr val="0000FF"/>
                  </a:solidFill>
                  <a:latin typeface="Tahoma" pitchFamily="34" charset="0"/>
                  <a:ea typeface="新細明體" pitchFamily="0" charset="-120"/>
                </a:rPr>
                <a:t>I</a:t>
              </a:r>
            </a:p>
          </p:txBody>
        </p:sp>
        <p:sp>
          <p:nvSpPr>
            <p:cNvPr id="1048740" name="Line 25"/>
            <p:cNvSpPr/>
            <p:nvPr/>
          </p:nvSpPr>
          <p:spPr>
            <a:xfrm rot="0" flipV="1">
              <a:off x="2919" y="159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41" name="Line 26"/>
            <p:cNvSpPr/>
            <p:nvPr/>
          </p:nvSpPr>
          <p:spPr>
            <a:xfrm rot="0" flipV="1">
              <a:off x="2997" y="1591"/>
              <a:ext cx="0" cy="48"/>
            </a:xfrm>
            <a:prstGeom prst="line"/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</p:grpSp>
      <p:grpSp>
        <p:nvGrpSpPr>
          <p:cNvPr id="78" name=""/>
          <p:cNvGrpSpPr/>
          <p:nvPr/>
        </p:nvGrpSpPr>
        <p:grpSpPr>
          <a:xfrm rot="0" flipH="1">
            <a:off x="3328987" y="1835150"/>
            <a:ext cx="2109787" cy="457200"/>
            <a:chOff x="811" y="1489"/>
            <a:chExt cx="1282" cy="288"/>
          </a:xfrm>
        </p:grpSpPr>
        <p:sp>
          <p:nvSpPr>
            <p:cNvPr id="1048742" name="Text Box 28"/>
            <p:cNvSpPr txBox="1"/>
            <p:nvPr/>
          </p:nvSpPr>
          <p:spPr>
            <a:xfrm rot="0" flipH="1">
              <a:off x="1858" y="1489"/>
              <a:ext cx="235" cy="288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 wrap="none">
              <a:spAutoFit/>
            </a:bodyPr>
            <a:lstStyle>
              <a:lvl1pPr algn="l" eaLnBrk="0" fontAlgn="base" hangingPunct="0" indent="-342900" latinLnBrk="0" marL="3429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32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algn="l" eaLnBrk="0" fontAlgn="base" hangingPunct="0" indent="-285750" latinLnBrk="0" marL="74295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8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algn="l" eaLnBrk="0" fontAlgn="base" hangingPunct="0" indent="-228600" latinLnBrk="0" marL="11430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algn="l" eaLnBrk="0" fontAlgn="base" hangingPunct="0" indent="-228600" latinLnBrk="0" marL="16002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algn="l" eaLnBrk="0" fontAlgn="base" hangingPunct="0" indent="-228600" latinLnBrk="0" marL="20574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eaLnBrk="1" hangingPunct="1" indent="0" lvl="0" marL="0">
                <a:spcBef>
                  <a:spcPct val="0"/>
                </a:spcBef>
                <a:buSzPct val="100000"/>
                <a:buFontTx/>
                <a:buNone/>
              </a:pPr>
              <a:r>
                <a:rPr altLang="zh-TW" sz="2400" lang="en-US">
                  <a:solidFill>
                    <a:srgbClr val="0000FF"/>
                  </a:solidFill>
                  <a:latin typeface="Tahoma" pitchFamily="34" charset="0"/>
                  <a:ea typeface="新細明體" pitchFamily="0" charset="-120"/>
                </a:rPr>
                <a:t>N</a:t>
              </a:r>
            </a:p>
          </p:txBody>
        </p:sp>
        <p:sp>
          <p:nvSpPr>
            <p:cNvPr id="1048743" name="Text Box 29"/>
            <p:cNvSpPr txBox="1"/>
            <p:nvPr/>
          </p:nvSpPr>
          <p:spPr>
            <a:xfrm rot="0" flipH="1">
              <a:off x="811" y="1489"/>
              <a:ext cx="215" cy="288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 wrap="none">
              <a:spAutoFit/>
            </a:bodyPr>
            <a:lstStyle>
              <a:lvl1pPr algn="l" eaLnBrk="0" fontAlgn="base" hangingPunct="0" indent="-342900" latinLnBrk="0" marL="3429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32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algn="l" eaLnBrk="0" fontAlgn="base" hangingPunct="0" indent="-285750" latinLnBrk="0" marL="74295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8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algn="l" eaLnBrk="0" fontAlgn="base" hangingPunct="0" indent="-228600" latinLnBrk="0" marL="11430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4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algn="l" eaLnBrk="0" fontAlgn="base" hangingPunct="0" indent="-228600" latinLnBrk="0" marL="16002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algn="l" eaLnBrk="0" fontAlgn="base" hangingPunct="0" indent="-228600" latinLnBrk="0" marL="2057400" rtl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baseline="0" b="0" sz="2000" i="0" u="none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eaLnBrk="1" hangingPunct="1" indent="0" lvl="0" marL="0">
                <a:spcBef>
                  <a:spcPct val="0"/>
                </a:spcBef>
                <a:buSzPct val="100000"/>
                <a:buFontTx/>
                <a:buNone/>
              </a:pPr>
              <a:r>
                <a:rPr altLang="zh-TW" sz="2400" lang="en-US">
                  <a:solidFill>
                    <a:srgbClr val="0000FF"/>
                  </a:solidFill>
                  <a:latin typeface="Tahoma" pitchFamily="34" charset="0"/>
                  <a:ea typeface="新細明體" pitchFamily="0" charset="-120"/>
                </a:rPr>
                <a:t>S</a:t>
              </a:r>
            </a:p>
          </p:txBody>
        </p:sp>
      </p:grpSp>
    </p:spTree>
  </p:cSld>
  <p:clrMapOvr>
    <a:masterClrMapping/>
  </p:clrMapOvr>
  <p:transition spd="fast" advClick="1"/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7"/>
                                        <p:tgtEl>
                                          <p:spTgt spid="104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 nodeType="clickPar">
                      <p:stCondLst>
                        <p:cond delay="indefinite"/>
                      </p:stCondLst>
                      <p:childTnLst>
                        <p:par>
                          <p:cTn fill="hold" id="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12"/>
                                        <p:tgtEl>
                                          <p:spTgt spid="104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 nodeType="clickPar">
                      <p:stCondLst>
                        <p:cond delay="indefinite"/>
                      </p:stCondLst>
                      <p:childTnLst>
                        <p:par>
                          <p:cTn fill="hold" id="1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dur="500" id="17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 nodeType="clickPar">
                      <p:stCondLst>
                        <p:cond delay="indefinite"/>
                      </p:stCondLst>
                      <p:childTnLst>
                        <p:par>
                          <p:cTn fill="hold" id="1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20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2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3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fill="hold" id="24" nodeType="afterEffect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6" grpId="0" uiExpand="0" build="whole"/>
      <p:bldP spid="1048727" grpId="0" uiExpand="0" build="whole"/>
      <p:bldP spid="1048728" grpId="0" uiExpand="0" build="whol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1" name="Rectangle 10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altLang="en-US" lang="en-US"/>
              <a:t>Lenz’s Law</a:t>
            </a:r>
          </a:p>
        </p:txBody>
      </p:sp>
      <p:pic>
        <p:nvPicPr>
          <p:cNvPr id="2097154" name="Picture 4"/>
          <p:cNvPicPr>
            <a:picLocks/>
          </p:cNvPicPr>
          <p:nvPr>
            <p:ph sz="half" idx="1"/>
          </p:nvPr>
        </p:nvPicPr>
        <p:blipFill>
          <a:blip xmlns:r="http://schemas.openxmlformats.org/officeDocument/2006/relationships" r:embed="rId1">
            <a:grayscl/>
          </a:blip>
          <a:srcRect l="0" t="0" r="0" b="0"/>
          <a:stretch>
            <a:fillRect/>
          </a:stretch>
        </p:blipFill>
        <p:spPr>
          <a:xfrm rot="0">
            <a:off x="1054100" y="2514600"/>
            <a:ext cx="3598862" cy="2105025"/>
          </a:xfrm>
          <a:prstGeom prst="rect"/>
          <a:noFill/>
          <a:ln>
            <a:noFill/>
          </a:ln>
        </p:spPr>
      </p:pic>
      <p:sp>
        <p:nvSpPr>
          <p:cNvPr id="1048602" name="Rectangle 11"/>
          <p:cNvSpPr/>
          <p:nvPr>
            <p:ph sz="half" idx="2"/>
          </p:nvPr>
        </p:nvSpPr>
        <p:spPr>
          <a:xfrm rot="0">
            <a:off x="4795837" y="1752600"/>
            <a:ext cx="3814762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r>
              <a:rPr altLang="en-US" lang="en-US"/>
              <a:t>Alternating current through the coil</a:t>
            </a:r>
          </a:p>
          <a:p>
            <a:r>
              <a:rPr altLang="en-US" lang="en-US"/>
              <a:t>What happens to Iron core?</a:t>
            </a:r>
          </a:p>
          <a:p>
            <a:r>
              <a:rPr altLang="en-US" lang="en-US"/>
              <a:t>What will happen to the ring?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02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02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 nodeType="clickPar">
                      <p:stCondLst>
                        <p:cond delay="indefinite"/>
                      </p:stCondLst>
                      <p:childTnLst>
                        <p:par>
                          <p:cTn fill="hold" id="10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6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02">
                                            <p:txEl>
                                              <p:charRg st="6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602">
                                            <p:txEl>
                                              <p:charRg st="6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9" name="Rectangle 7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altLang="en-US" lang="en-US"/>
              <a:t>Lenz’s Law</a:t>
            </a:r>
          </a:p>
        </p:txBody>
      </p:sp>
      <p:pic>
        <p:nvPicPr>
          <p:cNvPr id="2097153" name="Picture 4"/>
          <p:cNvPicPr>
            <a:picLocks/>
          </p:cNvPicPr>
          <p:nvPr>
            <p:ph sz="half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57200" y="2286000"/>
            <a:ext cx="4191000" cy="3067050"/>
          </a:xfrm>
          <a:prstGeom prst="rect"/>
          <a:noFill/>
          <a:ln>
            <a:noFill/>
          </a:ln>
        </p:spPr>
      </p:pic>
      <p:sp>
        <p:nvSpPr>
          <p:cNvPr id="1048600" name="Rectangle 8"/>
          <p:cNvSpPr/>
          <p:nvPr>
            <p:ph sz="half" idx="2"/>
          </p:nvPr>
        </p:nvSpPr>
        <p:spPr>
          <a:xfrm rot="0">
            <a:off x="4495800" y="1676400"/>
            <a:ext cx="4343400" cy="41910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r>
              <a:rPr altLang="en-US" lang="en-US"/>
              <a:t>The changing magnetic field in the coil due to the change in current induces a current in the metal ring.  Lenz’s Law states that the magnetic field in the ring opposes the magnetic field of the coil and forces the ring to fly away.</a:t>
            </a:r>
          </a:p>
        </p:txBody>
      </p:sp>
    </p:spTree>
  </p:cSld>
  <p:clrMapOvr>
    <a:masterClrMapping/>
  </p:clrMapOvr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4" name="Rectangle 7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altLang="en-US" lang="en-US"/>
              <a:t>Lenz’s Law</a:t>
            </a:r>
          </a:p>
        </p:txBody>
      </p:sp>
      <p:pic>
        <p:nvPicPr>
          <p:cNvPr id="2097152" name="Picture 4"/>
          <p:cNvPicPr>
            <a:picLocks/>
          </p:cNvPicPr>
          <p:nvPr>
            <p:ph sz="half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85787" y="1828800"/>
            <a:ext cx="3452812" cy="4495800"/>
          </a:xfrm>
          <a:prstGeom prst="rect"/>
          <a:noFill/>
          <a:ln>
            <a:noFill/>
          </a:ln>
        </p:spPr>
      </p:pic>
      <p:sp>
        <p:nvSpPr>
          <p:cNvPr id="1048595" name="Rectangle 8"/>
          <p:cNvSpPr/>
          <p:nvPr>
            <p:ph sz="half" idx="2"/>
          </p:nvPr>
        </p:nvSpPr>
        <p:spPr>
          <a:xfrm rot="0">
            <a:off x="4795837" y="1752600"/>
            <a:ext cx="3814762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r>
              <a:rPr altLang="en-US" lang="en-US"/>
              <a:t>What just happened?</a:t>
            </a:r>
          </a:p>
          <a:p>
            <a:r>
              <a:rPr altLang="en-US" lang="en-US"/>
              <a:t>How often does this occur?</a:t>
            </a:r>
          </a:p>
          <a:p>
            <a:endParaRPr altLang="en-US" lang="en-US"/>
          </a:p>
          <a:p>
            <a:endParaRPr altLang="en-US" lang="en-US"/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charRg st="2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95">
                                            <p:txEl>
                                              <p:charRg st="2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95">
                                            <p:txEl>
                                              <p:charRg st="2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0" name="Title 1"/>
          <p:cNvSpPr/>
          <p:nvPr>
            <p:ph type="title" sz="full" idx="0"/>
          </p:nvPr>
        </p:nvSpPr>
        <p:spPr>
          <a:xfrm rot="0">
            <a:off x="838200" y="342900"/>
            <a:ext cx="7772400" cy="1104900"/>
          </a:xfrm>
          <a:prstGeom prst="rect"/>
          <a:noFill/>
          <a:ln>
            <a:noFill/>
          </a:ln>
        </p:spPr>
        <p:txBody>
          <a:bodyPr anchor="ctr" bIns="46038" lIns="92075" rIns="92075" tIns="4603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altLang="en-US" lang="en-US"/>
              <a:t>Application of Lenz’s Law</a:t>
            </a:r>
          </a:p>
        </p:txBody>
      </p:sp>
      <p:sp>
        <p:nvSpPr>
          <p:cNvPr id="1048591" name="Content Placeholder 4"/>
          <p:cNvSpPr/>
          <p:nvPr>
            <p:ph sz="full" idx="1"/>
          </p:nvPr>
        </p:nvSpPr>
        <p:spPr>
          <a:xfrm rot="0">
            <a:off x="838200" y="1752600"/>
            <a:ext cx="7772400" cy="4114800"/>
          </a:xfrm>
          <a:prstGeom prst="rect"/>
          <a:noFill/>
          <a:ln>
            <a:noFill/>
          </a:ln>
        </p:spPr>
        <p:txBody>
          <a:bodyPr anchor="t" bIns="46038" lIns="92075" rIns="92075" tIns="46038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r>
              <a:rPr altLang="en-US" lang="en-US"/>
              <a:t>Breaking Systems of train</a:t>
            </a:r>
          </a:p>
          <a:p>
            <a:r>
              <a:rPr altLang="en-US" lang="en-US"/>
              <a:t>AC Generator </a:t>
            </a:r>
          </a:p>
          <a:p>
            <a:r>
              <a:rPr altLang="en-US" lang="en-US"/>
              <a:t>Microphones</a:t>
            </a:r>
          </a:p>
          <a:p>
            <a:r>
              <a:rPr altLang="en-US" lang="en-US"/>
              <a:t>Motors </a:t>
            </a:r>
          </a:p>
          <a:p>
            <a:r>
              <a:rPr altLang="en-US" lang="en-US"/>
              <a:t>Transformer</a:t>
            </a:r>
          </a:p>
          <a:p>
            <a:endParaRPr altLang="en-US"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u</a:t>
            </a:r>
            <a:r>
              <a:rPr lang="en-US"/>
              <a:t>s</a:t>
            </a:r>
            <a:r>
              <a:rPr lang="en-US"/>
              <a:t>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B2B2B2"/>
      </a:dk2>
      <a:lt2>
        <a:srgbClr val="000000"/>
      </a:lt2>
      <a:accent1>
        <a:srgbClr val="6600FF"/>
      </a:accent1>
      <a:accent2>
        <a:srgbClr val="CC00FF"/>
      </a:accent2>
      <a:accent3>
        <a:srgbClr val="FFFFFF"/>
      </a:accent3>
      <a:accent4>
        <a:srgbClr val="000000"/>
      </a:accent4>
      <a:accent5>
        <a:srgbClr val="B9AAFF"/>
      </a:accent5>
      <a:accent6>
        <a:srgbClr val="B700E5"/>
      </a:accent6>
      <a:hlink>
        <a:srgbClr val="00CC99"/>
      </a:hlink>
      <a:folHlink>
        <a:srgbClr val="0099CC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9AAFF"/>
        </a:accent5>
        <a:accent6>
          <a:srgbClr val="B700E5"/>
        </a:accent6>
        <a:hlink>
          <a:srgbClr val="00CC99"/>
        </a:hlink>
        <a:folHlink>
          <a:srgbClr val="0099CC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FF99CC"/>
        </a:hlink>
        <a:folHlink>
          <a:srgbClr val="CBCBCB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555555"/>
        </a:accent6>
        <a:hlink>
          <a:srgbClr val="969696"/>
        </a:hlink>
        <a:folHlink>
          <a:srgbClr val="CBCBCB"/>
        </a:folHlink>
      </a:clrScheme>
    </a:extraClrScheme>
    <a:extraClrScheme>
      <a:clrScheme name="Default Color Scheme 4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75B00"/>
        </a:accent6>
        <a:hlink>
          <a:srgbClr val="999933"/>
        </a:hlink>
        <a:folHlink>
          <a:srgbClr val="A50021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LENZ’S LAW</dc:title>
  <dc:creator>Raymond Yoh</dc:creator>
  <cp:lastModifiedBy>SYED</cp:lastModifiedBy>
  <dcterms:created xsi:type="dcterms:W3CDTF">2004-07-23T19:10:56Z</dcterms:created>
  <dcterms:modified xsi:type="dcterms:W3CDTF">2024-04-27T04:53:55Z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60c9cd3a5c894b289610e9c2cbe96a8e</vt:lpwstr>
  </property>
</Properties>
</file>
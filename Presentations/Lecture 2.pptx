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32"/>
  </p:notesMasterIdLst>
  <p:sldIdLst>
    <p:sldId id="334" r:id="rId2"/>
    <p:sldId id="266" r:id="rId3"/>
    <p:sldId id="364" r:id="rId4"/>
    <p:sldId id="365" r:id="rId5"/>
    <p:sldId id="366" r:id="rId6"/>
    <p:sldId id="367" r:id="rId7"/>
    <p:sldId id="368" r:id="rId8"/>
    <p:sldId id="369" r:id="rId9"/>
    <p:sldId id="370" r:id="rId10"/>
    <p:sldId id="372" r:id="rId11"/>
    <p:sldId id="373" r:id="rId12"/>
    <p:sldId id="376" r:id="rId13"/>
    <p:sldId id="377" r:id="rId14"/>
    <p:sldId id="379" r:id="rId15"/>
    <p:sldId id="381" r:id="rId16"/>
    <p:sldId id="382" r:id="rId17"/>
    <p:sldId id="380" r:id="rId18"/>
    <p:sldId id="383" r:id="rId19"/>
    <p:sldId id="384" r:id="rId20"/>
    <p:sldId id="385" r:id="rId21"/>
    <p:sldId id="386" r:id="rId22"/>
    <p:sldId id="387" r:id="rId23"/>
    <p:sldId id="388" r:id="rId24"/>
    <p:sldId id="389" r:id="rId25"/>
    <p:sldId id="390" r:id="rId26"/>
    <p:sldId id="391" r:id="rId27"/>
    <p:sldId id="394" r:id="rId28"/>
    <p:sldId id="395" r:id="rId29"/>
    <p:sldId id="396" r:id="rId30"/>
    <p:sldId id="333" r:id="rId3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eorgia" panose="02040502050405020303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61" autoAdjust="0"/>
    <p:restoredTop sz="94958" autoAdjust="0"/>
  </p:normalViewPr>
  <p:slideViewPr>
    <p:cSldViewPr>
      <p:cViewPr varScale="1">
        <p:scale>
          <a:sx n="105" d="100"/>
          <a:sy n="105" d="100"/>
        </p:scale>
        <p:origin x="159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DD905D7B-71F7-4785-8713-ECB971A57CF1}" type="datetimeFigureOut">
              <a:rPr lang="en-US"/>
              <a:pPr>
                <a:defRPr/>
              </a:pPr>
              <a:t>1/16/2024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A579BC09-02B5-44AB-A850-978EA25D11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1EF5419-451A-454B-9572-68FAC93CCE98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1/30/2011</a:t>
            </a:r>
          </a:p>
        </p:txBody>
      </p:sp>
      <p:sp>
        <p:nvSpPr>
          <p:cNvPr id="5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CCE1F3"/>
                </a:solidFill>
              </a:defRPr>
            </a:lvl1pPr>
          </a:lstStyle>
          <a:p>
            <a:pPr>
              <a:defRPr/>
            </a:pPr>
            <a:fld id="{5B8F2C76-C548-41AA-96E2-2B79DFAA0A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10705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763000" cy="8382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763000" cy="5486400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</a:defRPr>
            </a:lvl1pPr>
            <a:lvl2pPr>
              <a:defRPr sz="3600">
                <a:solidFill>
                  <a:srgbClr val="C00000"/>
                </a:solidFill>
              </a:defRPr>
            </a:lvl2pPr>
            <a:lvl3pPr>
              <a:defRPr sz="2800">
                <a:solidFill>
                  <a:srgbClr val="C00000"/>
                </a:solidFill>
              </a:defRPr>
            </a:lvl3pPr>
            <a:lvl4pPr>
              <a:defRPr sz="2800">
                <a:solidFill>
                  <a:srgbClr val="C00000"/>
                </a:solidFill>
              </a:defRPr>
            </a:lvl4pPr>
            <a:lvl5pPr>
              <a:defRPr sz="2800">
                <a:solidFill>
                  <a:srgbClr val="C00000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1/30/2011</a:t>
            </a: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1A242B-8281-4B17-A886-C52F993DACD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5571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1/30/2011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CCE1F3"/>
                </a:solidFill>
              </a:defRPr>
            </a:lvl1pPr>
          </a:lstStyle>
          <a:p>
            <a:pPr>
              <a:defRPr/>
            </a:pPr>
            <a:fld id="{8F4C6FFC-B53F-43ED-8649-EFE8FAF2CB0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03504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1/30/2011</a:t>
            </a: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C37D79-EEE7-41D5-8700-3E8B41BE476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131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1/30/2011</a:t>
            </a:r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B673DD-31AE-4844-AD98-5825D9EE7E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1278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1/30/2011</a:t>
            </a:r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423D68-4200-40E6-9701-AA7B2F827C1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3928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1/30/2011</a:t>
            </a:r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C472DC-AB45-4C8A-AEC1-F3B610546C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8247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1/30/2011</a:t>
            </a: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D22996-26FD-4159-A71C-201CFE3D34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718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1/30/2011</a:t>
            </a: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B92BA0-D710-4D06-B54A-CF95288F25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8197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1/30/2011</a:t>
            </a: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B9DB9C-535D-4ED8-BF12-813372DC95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5067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1/30/2011</a:t>
            </a:r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ACC586-F2FB-4D48-AF67-95F7572BDCF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6428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2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>
                    <a:shade val="9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1/30/2011</a:t>
            </a: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>
                    <a:shade val="90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4A566A"/>
                </a:solidFill>
              </a:defRPr>
            </a:lvl1pPr>
          </a:lstStyle>
          <a:p>
            <a:pPr>
              <a:defRPr/>
            </a:pPr>
            <a:fld id="{65F544C3-656A-4F1F-8BC3-FAB44DD82C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33" name="Group 1"/>
          <p:cNvGrpSpPr>
            <a:grpSpLocks/>
          </p:cNvGrpSpPr>
          <p:nvPr/>
        </p:nvGrpSpPr>
        <p:grpSpPr bwMode="auto">
          <a:xfrm>
            <a:off x="-19050" y="203200"/>
            <a:ext cx="9180513" cy="647700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55" r:id="rId1"/>
    <p:sldLayoutId id="2147484647" r:id="rId2"/>
    <p:sldLayoutId id="2147484656" r:id="rId3"/>
    <p:sldLayoutId id="2147484648" r:id="rId4"/>
    <p:sldLayoutId id="2147484649" r:id="rId5"/>
    <p:sldLayoutId id="2147484650" r:id="rId6"/>
    <p:sldLayoutId id="2147484651" r:id="rId7"/>
    <p:sldLayoutId id="2147484652" r:id="rId8"/>
    <p:sldLayoutId id="2147484657" r:id="rId9"/>
    <p:sldLayoutId id="2147484653" r:id="rId10"/>
    <p:sldLayoutId id="2147484654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Georgia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Georgia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Georgia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Georgia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Georgia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Georgia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Georgia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Georgia" pitchFamily="18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rgbClr val="FEB80A"/>
        </a:buClr>
        <a:buSzPct val="9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Clr>
          <a:srgbClr val="FEB80A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Clr>
          <a:srgbClr val="00ADDC"/>
        </a:buClr>
        <a:buSzPct val="6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jpeg"/><Relationship Id="rId4" Type="http://schemas.openxmlformats.org/officeDocument/2006/relationships/image" Target="../media/image7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975" y="1981200"/>
            <a:ext cx="8305800" cy="990600"/>
          </a:xfrm>
          <a:ln>
            <a:miter lim="800000"/>
            <a:headEnd/>
            <a:tailEnd/>
          </a:ln>
          <a:extLst/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dirty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</a:rPr>
              <a:t>Electronic Devices and </a:t>
            </a:r>
            <a:r>
              <a:rPr lang="en-US" sz="4000" dirty="0" smtClean="0">
                <a:effectLst>
                  <a:outerShdw blurRad="50800" dist="38100" dir="2700000" algn="tl">
                    <a:srgbClr val="000000">
                      <a:alpha val="40000"/>
                    </a:srgbClr>
                  </a:outerShdw>
                </a:effectLst>
              </a:rPr>
              <a:t>Circuits</a:t>
            </a:r>
            <a:endParaRPr lang="en-US" sz="4000" dirty="0"/>
          </a:p>
        </p:txBody>
      </p:sp>
      <p:sp>
        <p:nvSpPr>
          <p:cNvPr id="7172" name="Subtitle 2"/>
          <p:cNvSpPr txBox="1">
            <a:spLocks/>
          </p:cNvSpPr>
          <p:nvPr/>
        </p:nvSpPr>
        <p:spPr bwMode="auto">
          <a:xfrm>
            <a:off x="655638" y="5181600"/>
            <a:ext cx="785495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18288"/>
          <a:lstStyle>
            <a:lvl1pPr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20000"/>
              </a:spcBef>
              <a:buClr>
                <a:srgbClr val="FEB80A"/>
              </a:buClr>
              <a:buSzPct val="95000"/>
              <a:buFont typeface="Wingdings 2" panose="05020102010507070707" pitchFamily="18" charset="2"/>
              <a:buNone/>
              <a:defRPr/>
            </a:pPr>
            <a:r>
              <a:rPr lang="en-US" altLang="en-US" sz="2600" b="1" dirty="0" smtClean="0"/>
              <a:t>Dr. </a:t>
            </a:r>
            <a:r>
              <a:rPr lang="en-US" altLang="en-US" sz="2600" b="1" dirty="0" smtClean="0"/>
              <a:t>Junaid Ahmed</a:t>
            </a:r>
            <a:endParaRPr lang="en-US" altLang="en-US" sz="2600" b="1" dirty="0" smtClean="0"/>
          </a:p>
        </p:txBody>
      </p:sp>
    </p:spTree>
  </p:cSld>
  <p:clrMapOvr>
    <a:masterClrMapping/>
  </p:clrMapOvr>
  <p:transition spd="slow">
    <p:checke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15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800" dirty="0" smtClean="0"/>
              <a:t>Full-wave rectifier</a:t>
            </a:r>
          </a:p>
          <a:p>
            <a:pPr marL="854075" eaLnBrk="1" hangingPunct="1">
              <a:defRPr/>
            </a:pPr>
            <a:r>
              <a:rPr lang="en-US" altLang="en-US" sz="2800" dirty="0" smtClean="0"/>
              <a:t>Center-tap rectifier</a:t>
            </a:r>
          </a:p>
          <a:p>
            <a:pPr marL="854075" eaLnBrk="1" hangingPunct="1">
              <a:defRPr/>
            </a:pPr>
            <a:r>
              <a:rPr lang="en-US" altLang="en-US" sz="2800" dirty="0" smtClean="0"/>
              <a:t>Full-bridge rectifier</a:t>
            </a:r>
          </a:p>
          <a:p>
            <a:pPr marL="854075" eaLnBrk="1" hangingPunct="1">
              <a:defRPr/>
            </a:pPr>
            <a:r>
              <a:rPr lang="en-US" altLang="en-US" sz="2800" dirty="0" smtClean="0"/>
              <a:t>Output frequency of Full-wave rectifier</a:t>
            </a:r>
          </a:p>
          <a:p>
            <a:pPr marL="854075" eaLnBrk="1" hangingPunct="1">
              <a:defRPr/>
            </a:pPr>
            <a:r>
              <a:rPr lang="en-US" altLang="en-US" sz="2800" dirty="0" smtClean="0"/>
              <a:t>Efficiency of Full-wave rectifier</a:t>
            </a:r>
          </a:p>
          <a:p>
            <a:pPr eaLnBrk="1" hangingPunct="1">
              <a:defRPr/>
            </a:pPr>
            <a:r>
              <a:rPr lang="en-US" altLang="en-US" sz="2800" dirty="0" smtClean="0"/>
              <a:t>Nature of rectifier output</a:t>
            </a:r>
          </a:p>
          <a:p>
            <a:pPr eaLnBrk="1" hangingPunct="1">
              <a:defRPr/>
            </a:pPr>
            <a:r>
              <a:rPr lang="en-US" altLang="en-US" sz="2800" dirty="0" smtClean="0"/>
              <a:t>Ripple factor</a:t>
            </a:r>
          </a:p>
          <a:p>
            <a:pPr eaLnBrk="1" hangingPunct="1">
              <a:defRPr/>
            </a:pPr>
            <a:r>
              <a:rPr lang="en-US" altLang="en-US" sz="2800" dirty="0" smtClean="0"/>
              <a:t>Comparison of rectifiers</a:t>
            </a:r>
            <a:endParaRPr lang="en-US" altLang="en-US" sz="2800" dirty="0"/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EB80A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B80A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ADDC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ADDC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ADDC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ADDC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ADDC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3BCC374-C3CB-4D17-9AB9-5A9D9DC34A10}" type="slidenum">
              <a:rPr lang="en-US" altLang="en-US" sz="1200" smtClean="0">
                <a:solidFill>
                  <a:srgbClr val="4A566A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200" smtClean="0">
              <a:solidFill>
                <a:srgbClr val="4A566A"/>
              </a:solidFill>
            </a:endParaRPr>
          </a:p>
        </p:txBody>
      </p:sp>
    </p:spTree>
  </p:cSld>
  <p:clrMapOvr>
    <a:masterClrMapping/>
  </p:clrMapOvr>
  <p:transition spd="slow"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Full-wave rectifier: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>
              <a:defRPr/>
            </a:pPr>
            <a:r>
              <a:rPr lang="en-US" dirty="0" smtClean="0"/>
              <a:t>In full-wave rectifier, current flow towards load in the same direction for the both half cycles of input </a:t>
            </a:r>
            <a:r>
              <a:rPr lang="en-US" dirty="0" err="1" smtClean="0"/>
              <a:t>a.c</a:t>
            </a:r>
            <a:r>
              <a:rPr lang="en-US" dirty="0" smtClean="0"/>
              <a:t>. voltage</a:t>
            </a:r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 smtClean="0"/>
              <a:t>Two diodes are used to achieve full wave rectification.</a:t>
            </a:r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 smtClean="0"/>
              <a:t>Full-wave utilizes both half cycles of the </a:t>
            </a:r>
            <a:r>
              <a:rPr lang="en-US" dirty="0" err="1" smtClean="0"/>
              <a:t>a.c</a:t>
            </a:r>
            <a:r>
              <a:rPr lang="en-US" dirty="0" smtClean="0"/>
              <a:t>. input voltage to produce </a:t>
            </a:r>
            <a:r>
              <a:rPr lang="en-US" dirty="0" err="1" smtClean="0"/>
              <a:t>d.c.</a:t>
            </a:r>
            <a:r>
              <a:rPr lang="en-US" dirty="0" smtClean="0"/>
              <a:t> output.</a:t>
            </a:r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 smtClean="0"/>
              <a:t>For positive half-cycle, one diode supplies current to load, for negative half cycle, second diode supplies current to load.</a:t>
            </a:r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 smtClean="0"/>
              <a:t>Two circuit are most commonly used for full-wave rectification.</a:t>
            </a:r>
          </a:p>
          <a:p>
            <a:pPr algn="just">
              <a:defRPr/>
            </a:pPr>
            <a:endParaRPr lang="en-US" dirty="0"/>
          </a:p>
          <a:p>
            <a:pPr marL="1500188" indent="-742950" algn="just">
              <a:buFont typeface="+mj-lt"/>
              <a:buAutoNum type="arabicPeriod"/>
              <a:defRPr/>
            </a:pPr>
            <a:r>
              <a:rPr lang="en-US" dirty="0" smtClean="0"/>
              <a:t>Center-tap full wave rectifier</a:t>
            </a:r>
          </a:p>
          <a:p>
            <a:pPr marL="1500188" indent="-742950" algn="just">
              <a:buFont typeface="+mj-lt"/>
              <a:buAutoNum type="arabicPeriod"/>
              <a:defRPr/>
            </a:pPr>
            <a:r>
              <a:rPr lang="en-US" dirty="0" smtClean="0"/>
              <a:t>Full-wave bridge rectifier</a:t>
            </a:r>
          </a:p>
          <a:p>
            <a:pPr algn="just">
              <a:defRPr/>
            </a:pPr>
            <a:endParaRPr lang="en-US" dirty="0"/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D64A9892-AE00-4E8C-A93D-DCA6490833ED}" type="slidenum">
              <a:rPr lang="en-US" altLang="en-US" smtClean="0">
                <a:solidFill>
                  <a:srgbClr val="4A566A"/>
                </a:solidFill>
              </a:rPr>
              <a:pPr/>
              <a:t>3</a:t>
            </a:fld>
            <a:endParaRPr lang="en-US" altLang="en-US" smtClean="0">
              <a:solidFill>
                <a:srgbClr val="4A566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Full-wave rectifier: (cont.)</a:t>
            </a:r>
          </a:p>
        </p:txBody>
      </p:sp>
      <p:pic>
        <p:nvPicPr>
          <p:cNvPr id="10243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65200" y="2362200"/>
            <a:ext cx="6972300" cy="1847850"/>
          </a:xfrm>
        </p:spPr>
      </p:pic>
      <p:sp>
        <p:nvSpPr>
          <p:cNvPr id="1024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4D7BAE4F-7BA3-4C37-B59F-35AAA37D7D3E}" type="slidenum">
              <a:rPr lang="en-US" altLang="en-US" smtClean="0">
                <a:solidFill>
                  <a:srgbClr val="4A566A"/>
                </a:solidFill>
              </a:rPr>
              <a:pPr/>
              <a:t>4</a:t>
            </a:fld>
            <a:endParaRPr lang="en-US" altLang="en-US" smtClean="0">
              <a:solidFill>
                <a:srgbClr val="4A566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Full-wave rectifier: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Font typeface="Wingdings 2" panose="05020102010507070707" pitchFamily="18" charset="2"/>
              <a:buNone/>
              <a:defRPr/>
            </a:pPr>
            <a:r>
              <a:rPr lang="en-US" sz="3200" b="1" dirty="0" smtClean="0"/>
              <a:t>Center-Tap Full-Wave Rectifier:</a:t>
            </a:r>
          </a:p>
          <a:p>
            <a:pPr algn="just">
              <a:defRPr/>
            </a:pPr>
            <a:r>
              <a:rPr lang="en-US" sz="3200" dirty="0" smtClean="0"/>
              <a:t>Circuit consist of two diodes D1 and D2.</a:t>
            </a:r>
          </a:p>
          <a:p>
            <a:pPr algn="just">
              <a:defRPr/>
            </a:pPr>
            <a:endParaRPr lang="en-US" sz="3200" dirty="0" smtClean="0"/>
          </a:p>
          <a:p>
            <a:pPr algn="just">
              <a:defRPr/>
            </a:pPr>
            <a:r>
              <a:rPr lang="en-US" sz="3200" dirty="0" smtClean="0"/>
              <a:t>A center tapped secondary winding transformer is also used with two diodes connected so that each diode uses half cycle of </a:t>
            </a:r>
            <a:r>
              <a:rPr lang="en-US" sz="3200" dirty="0" err="1" smtClean="0"/>
              <a:t>a.c</a:t>
            </a:r>
            <a:r>
              <a:rPr lang="en-US" sz="3200" dirty="0" smtClean="0"/>
              <a:t>. input.</a:t>
            </a:r>
          </a:p>
          <a:p>
            <a:pPr algn="just">
              <a:defRPr/>
            </a:pPr>
            <a:endParaRPr lang="en-US" sz="3200" dirty="0" smtClean="0"/>
          </a:p>
          <a:p>
            <a:pPr algn="just">
              <a:defRPr/>
            </a:pPr>
            <a:r>
              <a:rPr lang="en-US" sz="3200" dirty="0" smtClean="0"/>
              <a:t>Both diodes respond to input from the respective (upper and lower) half winding of </a:t>
            </a:r>
            <a:r>
              <a:rPr lang="en-US" sz="3200" dirty="0" err="1" smtClean="0"/>
              <a:t>centre</a:t>
            </a:r>
            <a:r>
              <a:rPr lang="en-US" sz="3200" dirty="0" smtClean="0"/>
              <a:t> tapped transformer.</a:t>
            </a:r>
          </a:p>
          <a:p>
            <a:pPr algn="just">
              <a:defRPr/>
            </a:pPr>
            <a:endParaRPr lang="en-US" sz="3200" b="1" dirty="0" smtClean="0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E1675D09-E416-4570-8163-AB1B6B752CBA}" type="slidenum">
              <a:rPr lang="en-US" altLang="en-US" smtClean="0">
                <a:solidFill>
                  <a:srgbClr val="4A566A"/>
                </a:solidFill>
              </a:rPr>
              <a:pPr/>
              <a:t>5</a:t>
            </a:fld>
            <a:endParaRPr lang="en-US" altLang="en-US" smtClean="0">
              <a:solidFill>
                <a:srgbClr val="4A566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Full-wave rectifier: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Font typeface="Wingdings 2" panose="05020102010507070707" pitchFamily="18" charset="2"/>
              <a:buNone/>
              <a:defRPr/>
            </a:pPr>
            <a:r>
              <a:rPr lang="en-US" sz="3200" b="1" dirty="0" smtClean="0"/>
              <a:t>Center-Tap Full-Wave Rectifier: (Circuit </a:t>
            </a:r>
            <a:r>
              <a:rPr lang="en-US" sz="3200" b="1" dirty="0"/>
              <a:t>details and working </a:t>
            </a:r>
            <a:r>
              <a:rPr lang="en-US" sz="3200" b="1" dirty="0" smtClean="0"/>
              <a:t>mechanism)</a:t>
            </a:r>
            <a:endParaRPr lang="en-US" sz="3200" b="1" dirty="0"/>
          </a:p>
          <a:p>
            <a:pPr algn="just">
              <a:defRPr/>
            </a:pPr>
            <a:endParaRPr lang="en-US" sz="3200" b="1" dirty="0" smtClean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A6225A19-4F16-4182-8B5D-441B5236F091}" type="slidenum">
              <a:rPr lang="en-US" altLang="en-US" smtClean="0">
                <a:solidFill>
                  <a:srgbClr val="4A566A"/>
                </a:solidFill>
              </a:rPr>
              <a:pPr/>
              <a:t>6</a:t>
            </a:fld>
            <a:endParaRPr lang="en-US" altLang="en-US" smtClean="0">
              <a:solidFill>
                <a:srgbClr val="4A566A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25" y="2514600"/>
            <a:ext cx="7853363" cy="2817813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Full-wave rectifier: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Font typeface="Wingdings 2" panose="05020102010507070707" pitchFamily="18" charset="2"/>
              <a:buNone/>
              <a:defRPr/>
            </a:pPr>
            <a:r>
              <a:rPr lang="en-US" sz="3200" b="1" dirty="0" smtClean="0"/>
              <a:t>Center-Tap Full-Wave Rectifier: (Peak inverse voltage)</a:t>
            </a:r>
          </a:p>
          <a:p>
            <a:pPr marL="0" indent="0" algn="just">
              <a:buFont typeface="Wingdings 2" panose="05020102010507070707" pitchFamily="18" charset="2"/>
              <a:buNone/>
              <a:defRPr/>
            </a:pPr>
            <a:endParaRPr lang="en-US" sz="3200" dirty="0" smtClean="0"/>
          </a:p>
          <a:p>
            <a:pPr marL="0" indent="0" algn="just">
              <a:buFont typeface="Wingdings 2" panose="05020102010507070707" pitchFamily="18" charset="2"/>
              <a:buNone/>
              <a:defRPr/>
            </a:pPr>
            <a:endParaRPr lang="en-US" sz="3200" dirty="0"/>
          </a:p>
          <a:p>
            <a:pPr marL="0" indent="0" algn="just">
              <a:buFont typeface="Wingdings 2" panose="05020102010507070707" pitchFamily="18" charset="2"/>
              <a:buNone/>
              <a:defRPr/>
            </a:pPr>
            <a:r>
              <a:rPr lang="en-US" sz="3200" dirty="0" smtClean="0"/>
              <a:t>	</a:t>
            </a:r>
          </a:p>
          <a:p>
            <a:pPr marL="0" indent="0" algn="just">
              <a:buFont typeface="Wingdings 2" panose="05020102010507070707" pitchFamily="18" charset="2"/>
              <a:buNone/>
              <a:defRPr/>
            </a:pPr>
            <a:r>
              <a:rPr lang="en-US" sz="3200" b="1" dirty="0"/>
              <a:t>	</a:t>
            </a:r>
            <a:r>
              <a:rPr lang="en-US" sz="3200" b="1" dirty="0" smtClean="0"/>
              <a:t>PIV = 2Vm</a:t>
            </a:r>
          </a:p>
          <a:p>
            <a:pPr marL="0" indent="0" algn="just">
              <a:buFont typeface="Wingdings 2" panose="05020102010507070707" pitchFamily="18" charset="2"/>
              <a:buNone/>
              <a:defRPr/>
            </a:pPr>
            <a:endParaRPr lang="en-US" sz="3200" b="1" dirty="0"/>
          </a:p>
          <a:p>
            <a:pPr algn="just">
              <a:defRPr/>
            </a:pPr>
            <a:endParaRPr lang="en-US" sz="3200" b="1" dirty="0" smtClean="0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A516655C-D4B4-4970-BB72-BDB7AFD4FC16}" type="slidenum">
              <a:rPr lang="en-US" altLang="en-US" smtClean="0">
                <a:solidFill>
                  <a:srgbClr val="4A566A"/>
                </a:solidFill>
              </a:rPr>
              <a:pPr/>
              <a:t>7</a:t>
            </a:fld>
            <a:endParaRPr lang="en-US" altLang="en-US" smtClean="0">
              <a:solidFill>
                <a:srgbClr val="4A566A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2514600"/>
            <a:ext cx="4478338" cy="3224213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Full-wave rectifier: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Font typeface="Wingdings 2" panose="05020102010507070707" pitchFamily="18" charset="2"/>
              <a:buNone/>
              <a:defRPr/>
            </a:pPr>
            <a:r>
              <a:rPr lang="en-US" sz="3200" b="1" dirty="0" smtClean="0"/>
              <a:t>Center-Tap Full-Wave Rectifier: </a:t>
            </a:r>
          </a:p>
          <a:p>
            <a:pPr marL="0" indent="0" algn="just">
              <a:buFont typeface="Wingdings 2" panose="05020102010507070707" pitchFamily="18" charset="2"/>
              <a:buNone/>
              <a:defRPr/>
            </a:pPr>
            <a:r>
              <a:rPr lang="en-US" sz="3200" b="1" dirty="0" smtClean="0"/>
              <a:t>(Advantages)</a:t>
            </a:r>
          </a:p>
          <a:p>
            <a:pPr marL="0" indent="0" algn="just">
              <a:buFont typeface="Wingdings 2" panose="05020102010507070707" pitchFamily="18" charset="2"/>
              <a:buNone/>
              <a:defRPr/>
            </a:pPr>
            <a:endParaRPr lang="en-US" sz="3200" b="1" dirty="0"/>
          </a:p>
          <a:p>
            <a:pPr marL="0" indent="0" algn="just">
              <a:buFont typeface="Wingdings 2" panose="05020102010507070707" pitchFamily="18" charset="2"/>
              <a:buNone/>
              <a:defRPr/>
            </a:pPr>
            <a:endParaRPr lang="en-US" sz="3200" b="1" dirty="0" smtClean="0"/>
          </a:p>
          <a:p>
            <a:pPr marL="0" indent="0" algn="ctr">
              <a:buFont typeface="Wingdings 2" panose="05020102010507070707" pitchFamily="18" charset="2"/>
              <a:buNone/>
              <a:defRPr/>
            </a:pPr>
            <a:r>
              <a:rPr lang="en-US" sz="3200" dirty="0" smtClean="0"/>
              <a:t>Efficiency is high because ac supply delivers power during both the halves</a:t>
            </a:r>
          </a:p>
          <a:p>
            <a:pPr algn="just">
              <a:defRPr/>
            </a:pPr>
            <a:endParaRPr lang="en-US" sz="3200" b="1" dirty="0" smtClean="0"/>
          </a:p>
          <a:p>
            <a:pPr marL="0" indent="0" algn="just">
              <a:buFont typeface="Wingdings 2" panose="05020102010507070707" pitchFamily="18" charset="2"/>
              <a:buNone/>
              <a:defRPr/>
            </a:pPr>
            <a:endParaRPr lang="en-US" sz="3200" b="1" dirty="0"/>
          </a:p>
          <a:p>
            <a:pPr algn="just">
              <a:defRPr/>
            </a:pPr>
            <a:endParaRPr lang="en-US" sz="3200" b="1" dirty="0" smtClean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49F38835-44B1-4239-834E-7157A497080B}" type="slidenum">
              <a:rPr lang="en-US" altLang="en-US" smtClean="0">
                <a:solidFill>
                  <a:srgbClr val="4A566A"/>
                </a:solidFill>
              </a:rPr>
              <a:pPr/>
              <a:t>8</a:t>
            </a:fld>
            <a:endParaRPr lang="en-US" altLang="en-US" smtClean="0">
              <a:solidFill>
                <a:srgbClr val="4A566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Full-wave rectifier: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algn="just">
              <a:buFont typeface="Wingdings 2" panose="05020102010507070707" pitchFamily="18" charset="2"/>
              <a:buNone/>
              <a:defRPr/>
            </a:pPr>
            <a:r>
              <a:rPr lang="en-US" sz="3200" b="1" dirty="0" smtClean="0"/>
              <a:t>Center-Tap Full-Wave Rectifier: </a:t>
            </a:r>
          </a:p>
          <a:p>
            <a:pPr marL="0" indent="0" algn="just">
              <a:buFont typeface="Wingdings 2" panose="05020102010507070707" pitchFamily="18" charset="2"/>
              <a:buNone/>
              <a:defRPr/>
            </a:pPr>
            <a:r>
              <a:rPr lang="en-US" sz="3200" b="1" dirty="0" smtClean="0"/>
              <a:t>(Disadvantages)</a:t>
            </a:r>
          </a:p>
          <a:p>
            <a:pPr algn="just">
              <a:defRPr/>
            </a:pPr>
            <a:r>
              <a:rPr lang="en-US" sz="3200" dirty="0" smtClean="0"/>
              <a:t>It is difficult to locate the center tap on the secondary winding.</a:t>
            </a:r>
          </a:p>
          <a:p>
            <a:pPr algn="just">
              <a:defRPr/>
            </a:pPr>
            <a:endParaRPr lang="en-US" sz="3200" dirty="0" smtClean="0"/>
          </a:p>
          <a:p>
            <a:pPr algn="just">
              <a:defRPr/>
            </a:pPr>
            <a:r>
              <a:rPr lang="en-US" sz="3200" dirty="0" smtClean="0"/>
              <a:t>The </a:t>
            </a:r>
            <a:r>
              <a:rPr lang="en-US" sz="3200" dirty="0" err="1" smtClean="0"/>
              <a:t>d.c.</a:t>
            </a:r>
            <a:r>
              <a:rPr lang="en-US" sz="3200" dirty="0" smtClean="0"/>
              <a:t> output is small as each diode utilizes only one-half of the transformer secondary voltage.</a:t>
            </a:r>
          </a:p>
          <a:p>
            <a:pPr algn="just">
              <a:defRPr/>
            </a:pPr>
            <a:endParaRPr lang="en-US" sz="3200" dirty="0" smtClean="0"/>
          </a:p>
          <a:p>
            <a:pPr algn="just">
              <a:defRPr/>
            </a:pPr>
            <a:r>
              <a:rPr lang="en-US" sz="3200" dirty="0" smtClean="0"/>
              <a:t>The diode used must have peak inverse voltage.</a:t>
            </a:r>
          </a:p>
          <a:p>
            <a:pPr marL="0" indent="0" algn="just">
              <a:buFont typeface="Wingdings 2" panose="05020102010507070707" pitchFamily="18" charset="2"/>
              <a:buNone/>
              <a:defRPr/>
            </a:pPr>
            <a:endParaRPr lang="en-US" sz="3200" b="1" dirty="0" smtClean="0"/>
          </a:p>
          <a:p>
            <a:pPr marL="0" indent="0" algn="just">
              <a:buFont typeface="Wingdings 2" panose="05020102010507070707" pitchFamily="18" charset="2"/>
              <a:buNone/>
              <a:defRPr/>
            </a:pPr>
            <a:endParaRPr lang="en-US" sz="3200" b="1" dirty="0"/>
          </a:p>
          <a:p>
            <a:pPr algn="just">
              <a:defRPr/>
            </a:pPr>
            <a:endParaRPr lang="en-US" sz="3200" b="1" dirty="0" smtClean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0F986333-B2E7-469C-8E21-06BDF608BCDF}" type="slidenum">
              <a:rPr lang="en-US" altLang="en-US" smtClean="0">
                <a:solidFill>
                  <a:srgbClr val="4A566A"/>
                </a:solidFill>
              </a:rPr>
              <a:pPr/>
              <a:t>9</a:t>
            </a:fld>
            <a:endParaRPr lang="en-US" altLang="en-US" smtClean="0">
              <a:solidFill>
                <a:srgbClr val="4A566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Full-wave rectifier: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algn="just">
              <a:buFont typeface="Wingdings 2" panose="05020102010507070707" pitchFamily="18" charset="2"/>
              <a:buNone/>
              <a:defRPr/>
            </a:pPr>
            <a:r>
              <a:rPr lang="en-US" sz="3200" b="1" dirty="0" smtClean="0"/>
              <a:t>Center-Tap Full-Wave Rectifier: </a:t>
            </a:r>
          </a:p>
          <a:p>
            <a:pPr marL="0" indent="0" algn="just">
              <a:buFont typeface="Wingdings 2" panose="05020102010507070707" pitchFamily="18" charset="2"/>
              <a:buNone/>
              <a:defRPr/>
            </a:pPr>
            <a:r>
              <a:rPr lang="en-US" sz="3200" b="1" dirty="0" smtClean="0"/>
              <a:t>(Applications)</a:t>
            </a:r>
          </a:p>
          <a:p>
            <a:pPr algn="just">
              <a:defRPr/>
            </a:pPr>
            <a:r>
              <a:rPr lang="en-US" sz="3200" dirty="0" smtClean="0"/>
              <a:t>This </a:t>
            </a:r>
            <a:r>
              <a:rPr lang="en-US" sz="3200" dirty="0"/>
              <a:t>type of rectifier circuits only used where the center tapped transformer is used. Generally, in earlier days, full wave rectifier using center tapped transformer is used for the battery charger </a:t>
            </a:r>
            <a:r>
              <a:rPr lang="en-US" sz="3200" dirty="0" smtClean="0"/>
              <a:t>circuits.</a:t>
            </a:r>
          </a:p>
          <a:p>
            <a:pPr algn="just">
              <a:defRPr/>
            </a:pPr>
            <a:endParaRPr lang="en-US" sz="3200" dirty="0"/>
          </a:p>
          <a:p>
            <a:pPr algn="just">
              <a:defRPr/>
            </a:pPr>
            <a:r>
              <a:rPr lang="en-US" sz="3200" dirty="0" smtClean="0"/>
              <a:t>For </a:t>
            </a:r>
            <a:r>
              <a:rPr lang="en-US" sz="3200" dirty="0"/>
              <a:t>high power applications, center tapped full wave rectifier is used to eliminate large voltage drop across the diodes. The high power diodes also costly. There is a chance of frequent damage of diodes in high power applications</a:t>
            </a:r>
            <a:r>
              <a:rPr lang="en-US" sz="3200" dirty="0" smtClean="0"/>
              <a:t>.</a:t>
            </a:r>
          </a:p>
          <a:p>
            <a:pPr algn="just">
              <a:defRPr/>
            </a:pPr>
            <a:endParaRPr lang="en-US" sz="3200" dirty="0"/>
          </a:p>
          <a:p>
            <a:pPr algn="just">
              <a:defRPr/>
            </a:pPr>
            <a:r>
              <a:rPr lang="en-US" sz="3200" dirty="0" smtClean="0"/>
              <a:t>In </a:t>
            </a:r>
            <a:r>
              <a:rPr lang="en-US" sz="3200" dirty="0"/>
              <a:t>earlier Transistor Radios, center tapped full wave rectifier is used because in those days the cost of silicon rectifier diodes was very high.</a:t>
            </a:r>
          </a:p>
          <a:p>
            <a:pPr marL="0" indent="0" algn="just">
              <a:buFont typeface="Wingdings 2" panose="05020102010507070707" pitchFamily="18" charset="2"/>
              <a:buNone/>
              <a:defRPr/>
            </a:pPr>
            <a:endParaRPr lang="en-US" sz="3200" b="1" dirty="0" smtClean="0"/>
          </a:p>
          <a:p>
            <a:pPr marL="0" indent="0" algn="just">
              <a:buFont typeface="Wingdings 2" panose="05020102010507070707" pitchFamily="18" charset="2"/>
              <a:buNone/>
              <a:defRPr/>
            </a:pPr>
            <a:endParaRPr lang="en-US" sz="3200" b="1" dirty="0"/>
          </a:p>
          <a:p>
            <a:pPr algn="just">
              <a:defRPr/>
            </a:pPr>
            <a:endParaRPr lang="en-US" sz="3200" b="1" dirty="0" smtClean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B88E7E73-3562-42C3-A490-11DAE9FB2AA6}" type="slidenum">
              <a:rPr lang="en-US" altLang="en-US" smtClean="0">
                <a:solidFill>
                  <a:srgbClr val="4A566A"/>
                </a:solidFill>
              </a:rPr>
              <a:pPr/>
              <a:t>10</a:t>
            </a:fld>
            <a:endParaRPr lang="en-US" altLang="en-US" smtClean="0">
              <a:solidFill>
                <a:srgbClr val="4A566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Full-wave rectifier: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b="1" dirty="0" smtClean="0"/>
              <a:t>Full-Wave Bridge Rectifier:</a:t>
            </a:r>
          </a:p>
          <a:p>
            <a:pPr algn="just">
              <a:defRPr/>
            </a:pPr>
            <a:r>
              <a:rPr lang="en-US" dirty="0"/>
              <a:t>Full wave bridge rectifier four diodes are arranged in the form of a bridge</a:t>
            </a:r>
            <a:r>
              <a:rPr lang="en-US" dirty="0" smtClean="0"/>
              <a:t>.</a:t>
            </a:r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 smtClean="0"/>
              <a:t>This </a:t>
            </a:r>
            <a:r>
              <a:rPr lang="en-US" dirty="0"/>
              <a:t>configuration provides same polarity output with either polarity</a:t>
            </a:r>
            <a:r>
              <a:rPr lang="en-US" dirty="0" smtClean="0"/>
              <a:t>.</a:t>
            </a:r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 smtClean="0"/>
              <a:t>The </a:t>
            </a:r>
            <a:r>
              <a:rPr lang="en-US" dirty="0"/>
              <a:t>main advantage of this bridge circuit is that it does not require a special </a:t>
            </a:r>
            <a:r>
              <a:rPr lang="en-US" dirty="0" smtClean="0"/>
              <a:t>Centre </a:t>
            </a:r>
            <a:r>
              <a:rPr lang="en-US" dirty="0"/>
              <a:t>tapped transformer</a:t>
            </a:r>
            <a:r>
              <a:rPr lang="en-US" dirty="0" smtClean="0"/>
              <a:t>.</a:t>
            </a:r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 smtClean="0"/>
              <a:t>The </a:t>
            </a:r>
            <a:r>
              <a:rPr lang="en-US" dirty="0"/>
              <a:t>single secondary winding is connected to one side of the diode bridge network and the load to the other side</a:t>
            </a: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dirty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B886137A-7FE0-49C9-A219-D1BFF8F8BADC}" type="slidenum">
              <a:rPr lang="en-US" altLang="en-US" smtClean="0">
                <a:solidFill>
                  <a:srgbClr val="4A566A"/>
                </a:solidFill>
              </a:rPr>
              <a:pPr/>
              <a:t>11</a:t>
            </a:fld>
            <a:endParaRPr lang="en-US" altLang="en-US" smtClean="0">
              <a:solidFill>
                <a:srgbClr val="4A566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Full-wave rectifier: (cont.)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 2" panose="05020102010507070707" pitchFamily="18" charset="2"/>
              <a:buNone/>
            </a:pPr>
            <a:r>
              <a:rPr lang="en-US" altLang="en-US" b="1" smtClean="0"/>
              <a:t>Full-Wave Bridge Rectifier: (cont.)</a:t>
            </a:r>
          </a:p>
          <a:p>
            <a:pPr marL="0" indent="0">
              <a:buFont typeface="Wingdings 2" panose="05020102010507070707" pitchFamily="18" charset="2"/>
              <a:buNone/>
            </a:pPr>
            <a:endParaRPr lang="en-US" altLang="en-US" smtClean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5417CBEF-153A-463F-9379-2B4EE3C3F731}" type="slidenum">
              <a:rPr lang="en-US" altLang="en-US" smtClean="0">
                <a:solidFill>
                  <a:srgbClr val="4A566A"/>
                </a:solidFill>
              </a:rPr>
              <a:pPr/>
              <a:t>12</a:t>
            </a:fld>
            <a:endParaRPr lang="en-US" altLang="en-US" smtClean="0">
              <a:solidFill>
                <a:srgbClr val="4A566A"/>
              </a:solidFill>
            </a:endParaRPr>
          </a:p>
        </p:txBody>
      </p:sp>
      <p:graphicFrame>
        <p:nvGraphicFramePr>
          <p:cNvPr id="18437" name="Object 8"/>
          <p:cNvGraphicFramePr>
            <a:graphicFrameLocks noChangeAspect="1"/>
          </p:cNvGraphicFramePr>
          <p:nvPr/>
        </p:nvGraphicFramePr>
        <p:xfrm>
          <a:off x="381000" y="2562225"/>
          <a:ext cx="5440363" cy="223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9" name="Multisim 7" r:id="rId3" imgW="5000625" imgH="2057400" progId="Multisim.Document">
                  <p:embed/>
                </p:oleObj>
              </mc:Choice>
              <mc:Fallback>
                <p:oleObj name="Multisim 7" r:id="rId3" imgW="5000625" imgH="2057400" progId="Multisim.Document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562225"/>
                        <a:ext cx="5440363" cy="2238375"/>
                      </a:xfrm>
                      <a:prstGeom prst="rect">
                        <a:avLst/>
                      </a:prstGeom>
                      <a:noFill/>
                      <a:ln w="57150">
                        <a:solidFill>
                          <a:srgbClr val="5FA326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0420" name="Picture 4" descr="https://circuitglobe.com/wp-content/uploads/2015/12/FULL-WAVE-BRIDGE-RECTIFIER-FIG-2-compressor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324600" y="1981200"/>
            <a:ext cx="2438400" cy="3736975"/>
          </a:xfrm>
          <a:prstGeom prst="rect">
            <a:avLst/>
          </a:prstGeom>
          <a:ln w="57150" cap="sq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Full-wave rectifier: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b="1" dirty="0" smtClean="0"/>
              <a:t>Full-Wave Bridge Rectifier: </a:t>
            </a:r>
          </a:p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sz="3200" b="1" dirty="0" smtClean="0"/>
              <a:t>(</a:t>
            </a:r>
            <a:r>
              <a:rPr lang="en-US" sz="3200" b="1" dirty="0"/>
              <a:t>Circuit details and working mechanism</a:t>
            </a:r>
            <a:r>
              <a:rPr lang="en-US" sz="3200" b="1" dirty="0" smtClean="0"/>
              <a:t>)</a:t>
            </a:r>
          </a:p>
          <a:p>
            <a:pPr algn="just">
              <a:defRPr/>
            </a:pPr>
            <a:r>
              <a:rPr lang="en-US" sz="3200" dirty="0"/>
              <a:t>The four diodes labelled D1 to D4 are arranged in series pairs with only two diodes conducting current during each half cycle duration</a:t>
            </a:r>
            <a:r>
              <a:rPr lang="en-US" sz="3200" dirty="0" smtClean="0"/>
              <a:t>.</a:t>
            </a:r>
          </a:p>
          <a:p>
            <a:pPr algn="just">
              <a:defRPr/>
            </a:pPr>
            <a:endParaRPr lang="en-US" sz="3200" dirty="0"/>
          </a:p>
          <a:p>
            <a:pPr algn="just">
              <a:defRPr/>
            </a:pPr>
            <a:r>
              <a:rPr lang="en-US" sz="3200" dirty="0" smtClean="0"/>
              <a:t>When </a:t>
            </a:r>
            <a:r>
              <a:rPr lang="en-US" sz="3200" dirty="0"/>
              <a:t>the positive half cycle of the supply goes, D1, D2 diodes conduct in a series</a:t>
            </a:r>
            <a:r>
              <a:rPr lang="en-US" sz="3200" dirty="0" smtClean="0"/>
              <a:t>.</a:t>
            </a:r>
          </a:p>
          <a:p>
            <a:pPr algn="just">
              <a:defRPr/>
            </a:pPr>
            <a:endParaRPr lang="en-US" sz="3200" dirty="0"/>
          </a:p>
          <a:p>
            <a:pPr algn="just">
              <a:defRPr/>
            </a:pPr>
            <a:r>
              <a:rPr lang="en-US" sz="3200" dirty="0" smtClean="0"/>
              <a:t>Diodes </a:t>
            </a:r>
            <a:r>
              <a:rPr lang="en-US" sz="3200" dirty="0"/>
              <a:t>D3 and D4 are reverse biased and the current flows through the load</a:t>
            </a:r>
            <a:r>
              <a:rPr lang="en-US" sz="3200" dirty="0" smtClean="0"/>
              <a:t>.</a:t>
            </a:r>
          </a:p>
          <a:p>
            <a:pPr algn="just">
              <a:defRPr/>
            </a:pPr>
            <a:endParaRPr lang="en-US" sz="3200" dirty="0"/>
          </a:p>
          <a:p>
            <a:pPr algn="just">
              <a:defRPr/>
            </a:pPr>
            <a:r>
              <a:rPr lang="en-US" sz="3200" dirty="0" smtClean="0"/>
              <a:t>During </a:t>
            </a:r>
            <a:r>
              <a:rPr lang="en-US" sz="3200" dirty="0"/>
              <a:t>the negative half cycle, D3 and D4 diodes conduct in a series</a:t>
            </a:r>
            <a:r>
              <a:rPr lang="en-US" sz="3200" dirty="0" smtClean="0"/>
              <a:t>.</a:t>
            </a:r>
          </a:p>
          <a:p>
            <a:pPr algn="just">
              <a:defRPr/>
            </a:pPr>
            <a:endParaRPr lang="en-US" sz="3200" dirty="0"/>
          </a:p>
          <a:p>
            <a:pPr algn="just">
              <a:defRPr/>
            </a:pPr>
            <a:r>
              <a:rPr lang="en-US" sz="3200" dirty="0" smtClean="0"/>
              <a:t>Diodes </a:t>
            </a:r>
            <a:r>
              <a:rPr lang="en-US" sz="3200" dirty="0"/>
              <a:t>D1 and D2 switch off as they are now reverse biased configuration.</a:t>
            </a:r>
            <a:endParaRPr lang="en-US" sz="3200" b="1" dirty="0" smtClean="0"/>
          </a:p>
          <a:p>
            <a:pPr>
              <a:defRPr/>
            </a:pPr>
            <a:endParaRPr lang="en-US" dirty="0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FC55B2FA-72FD-4D28-B481-B61283484618}" type="slidenum">
              <a:rPr lang="en-US" altLang="en-US" smtClean="0">
                <a:solidFill>
                  <a:srgbClr val="4A566A"/>
                </a:solidFill>
              </a:rPr>
              <a:pPr/>
              <a:t>13</a:t>
            </a:fld>
            <a:endParaRPr lang="en-US" altLang="en-US" smtClean="0">
              <a:solidFill>
                <a:srgbClr val="4A566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Full-wave rectifier: (cont.)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 2" panose="05020102010507070707" pitchFamily="18" charset="2"/>
              <a:buNone/>
            </a:pPr>
            <a:r>
              <a:rPr lang="en-US" altLang="en-US" b="1" smtClean="0"/>
              <a:t>Full-Wave Bridge Rectifier: 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en-US" sz="3200" b="1" smtClean="0"/>
              <a:t>(Circuit details and working mechanism)</a:t>
            </a: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D43C76CF-8C2D-4F4A-8224-7B520ADFDE26}" type="slidenum">
              <a:rPr lang="en-US" altLang="en-US" smtClean="0">
                <a:solidFill>
                  <a:srgbClr val="4A566A"/>
                </a:solidFill>
              </a:rPr>
              <a:pPr/>
              <a:t>14</a:t>
            </a:fld>
            <a:endParaRPr lang="en-US" altLang="en-US" smtClean="0">
              <a:solidFill>
                <a:srgbClr val="4A566A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38" y="2819400"/>
            <a:ext cx="8645525" cy="2097088"/>
          </a:xfrm>
          <a:prstGeom prst="rect">
            <a:avLst/>
          </a:prstGeom>
          <a:ln w="38100" cap="sq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Full-wave rectifier: (cont.)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 2" panose="05020102010507070707" pitchFamily="18" charset="2"/>
              <a:buNone/>
            </a:pPr>
            <a:r>
              <a:rPr lang="en-US" altLang="en-US" b="1" smtClean="0"/>
              <a:t>Full-Wave Bridge Rectifier: 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en-US" sz="2800" b="1" smtClean="0"/>
              <a:t>(Working mechanism for positive half cycle)</a:t>
            </a:r>
          </a:p>
          <a:p>
            <a:pPr marL="0" indent="0">
              <a:buFont typeface="Wingdings 2" panose="05020102010507070707" pitchFamily="18" charset="2"/>
              <a:buNone/>
            </a:pPr>
            <a:endParaRPr lang="en-US" altLang="en-US" sz="3200" b="1" smtClean="0"/>
          </a:p>
          <a:p>
            <a:pPr marL="0" indent="0" algn="ctr">
              <a:buFont typeface="Wingdings 2" panose="05020102010507070707" pitchFamily="18" charset="2"/>
              <a:buNone/>
            </a:pPr>
            <a:endParaRPr lang="en-US" altLang="en-US" sz="2400" b="1" smtClean="0"/>
          </a:p>
          <a:p>
            <a:pPr marL="0" indent="0" algn="ctr">
              <a:buFont typeface="Wingdings 2" panose="05020102010507070707" pitchFamily="18" charset="2"/>
              <a:buNone/>
            </a:pPr>
            <a:endParaRPr lang="en-US" altLang="en-US" sz="2400" b="1" smtClean="0"/>
          </a:p>
          <a:p>
            <a:pPr marL="0" indent="0">
              <a:buFont typeface="Wingdings 2" panose="05020102010507070707" pitchFamily="18" charset="2"/>
              <a:buNone/>
            </a:pPr>
            <a:endParaRPr lang="en-US" altLang="en-US" sz="3200" b="1" smtClean="0"/>
          </a:p>
          <a:p>
            <a:pPr marL="0" indent="0">
              <a:buFont typeface="Wingdings 2" panose="05020102010507070707" pitchFamily="18" charset="2"/>
              <a:buNone/>
            </a:pPr>
            <a:endParaRPr lang="en-US" altLang="en-US" sz="3200" b="1" smtClean="0"/>
          </a:p>
          <a:p>
            <a:pPr marL="0" indent="0">
              <a:buFont typeface="Wingdings 2" panose="05020102010507070707" pitchFamily="18" charset="2"/>
              <a:buNone/>
            </a:pPr>
            <a:endParaRPr lang="en-US" altLang="en-US" sz="3200" b="1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F0B55B4C-96ED-4E25-B957-57DD00B5A96E}" type="slidenum">
              <a:rPr lang="en-US" altLang="en-US" smtClean="0">
                <a:solidFill>
                  <a:srgbClr val="4A566A"/>
                </a:solidFill>
              </a:rPr>
              <a:pPr/>
              <a:t>15</a:t>
            </a:fld>
            <a:endParaRPr lang="en-US" altLang="en-US" smtClean="0">
              <a:solidFill>
                <a:srgbClr val="4A566A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2286000"/>
            <a:ext cx="6934200" cy="3765550"/>
          </a:xfrm>
          <a:prstGeom prst="rect">
            <a:avLst/>
          </a:prstGeom>
          <a:ln w="38100" cap="sq">
            <a:solidFill>
              <a:schemeClr val="tx1">
                <a:lumMod val="7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Full-wave rectifier: (cont.)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 2" panose="05020102010507070707" pitchFamily="18" charset="2"/>
              <a:buNone/>
            </a:pPr>
            <a:r>
              <a:rPr lang="en-US" altLang="en-US" b="1" smtClean="0"/>
              <a:t>Full-Wave Bridge Rectifier: </a:t>
            </a:r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en-US" sz="2800" b="1" smtClean="0"/>
              <a:t>(Working mechanism for negative half cycle)</a:t>
            </a:r>
          </a:p>
          <a:p>
            <a:pPr marL="0" indent="0">
              <a:buFont typeface="Wingdings 2" panose="05020102010507070707" pitchFamily="18" charset="2"/>
              <a:buNone/>
            </a:pPr>
            <a:endParaRPr lang="en-US" altLang="en-US" sz="3200" b="1" smtClean="0"/>
          </a:p>
          <a:p>
            <a:pPr marL="0" indent="0" algn="ctr">
              <a:buFont typeface="Wingdings 2" panose="05020102010507070707" pitchFamily="18" charset="2"/>
              <a:buNone/>
            </a:pPr>
            <a:endParaRPr lang="en-US" altLang="en-US" sz="2400" b="1" smtClean="0"/>
          </a:p>
          <a:p>
            <a:pPr marL="0" indent="0" algn="ctr">
              <a:buFont typeface="Wingdings 2" panose="05020102010507070707" pitchFamily="18" charset="2"/>
              <a:buNone/>
            </a:pPr>
            <a:endParaRPr lang="en-US" altLang="en-US" sz="2400" b="1" smtClean="0"/>
          </a:p>
          <a:p>
            <a:pPr marL="0" indent="0">
              <a:buFont typeface="Wingdings 2" panose="05020102010507070707" pitchFamily="18" charset="2"/>
              <a:buNone/>
            </a:pPr>
            <a:endParaRPr lang="en-US" altLang="en-US" sz="3200" b="1" smtClean="0"/>
          </a:p>
          <a:p>
            <a:pPr marL="0" indent="0">
              <a:buFont typeface="Wingdings 2" panose="05020102010507070707" pitchFamily="18" charset="2"/>
              <a:buNone/>
            </a:pPr>
            <a:endParaRPr lang="en-US" altLang="en-US" sz="3200" b="1" smtClean="0"/>
          </a:p>
          <a:p>
            <a:pPr marL="0" indent="0">
              <a:buFont typeface="Wingdings 2" panose="05020102010507070707" pitchFamily="18" charset="2"/>
              <a:buNone/>
            </a:pPr>
            <a:endParaRPr lang="en-US" altLang="en-US" sz="3200" b="1" smtClean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A0E07110-B91E-4384-BE00-8775E424B88A}" type="slidenum">
              <a:rPr lang="en-US" altLang="en-US" smtClean="0">
                <a:solidFill>
                  <a:srgbClr val="4A566A"/>
                </a:solidFill>
              </a:rPr>
              <a:pPr/>
              <a:t>16</a:t>
            </a:fld>
            <a:endParaRPr lang="en-US" altLang="en-US" smtClean="0">
              <a:solidFill>
                <a:srgbClr val="4A566A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2362200"/>
            <a:ext cx="6553200" cy="3413125"/>
          </a:xfrm>
          <a:prstGeom prst="rect">
            <a:avLst/>
          </a:prstGeom>
          <a:ln w="38100" cap="sq">
            <a:solidFill>
              <a:schemeClr val="tx1">
                <a:lumMod val="7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Full-wave rectifier: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b="1" dirty="0" smtClean="0"/>
              <a:t>Full-Wave Bridge Rectifier: </a:t>
            </a:r>
          </a:p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sz="3200" b="1" dirty="0" smtClean="0"/>
              <a:t>(</a:t>
            </a:r>
            <a:r>
              <a:rPr lang="en-US" sz="3200" b="1" dirty="0"/>
              <a:t>Circuit details and working mechanism</a:t>
            </a:r>
            <a:r>
              <a:rPr lang="en-US" sz="3200" b="1" dirty="0" smtClean="0"/>
              <a:t>)</a:t>
            </a:r>
          </a:p>
          <a:p>
            <a:pPr algn="just">
              <a:defRPr/>
            </a:pPr>
            <a:r>
              <a:rPr lang="en-US" dirty="0"/>
              <a:t>Current flowing through the load is unidirectional mode</a:t>
            </a:r>
            <a:r>
              <a:rPr lang="en-US" dirty="0" smtClean="0"/>
              <a:t>.</a:t>
            </a:r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 smtClean="0"/>
              <a:t>The </a:t>
            </a:r>
            <a:r>
              <a:rPr lang="en-US" dirty="0"/>
              <a:t>voltage developed across the load is also unidirectional voltage</a:t>
            </a:r>
            <a:r>
              <a:rPr lang="en-US" dirty="0" smtClean="0"/>
              <a:t>.</a:t>
            </a:r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 smtClean="0"/>
              <a:t>Same </a:t>
            </a:r>
            <a:r>
              <a:rPr lang="en-US" dirty="0"/>
              <a:t>as for the previous two diode full-wave rectifier model</a:t>
            </a:r>
            <a:r>
              <a:rPr lang="en-US" dirty="0" smtClean="0"/>
              <a:t>.</a:t>
            </a:r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 smtClean="0"/>
              <a:t>During </a:t>
            </a:r>
            <a:r>
              <a:rPr lang="en-US" dirty="0"/>
              <a:t>each half cycle the current flows through two diodes instead of just one diode.</a:t>
            </a: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43F98CAF-469C-45C4-A153-050B952DCFBF}" type="slidenum">
              <a:rPr lang="en-US" altLang="en-US" smtClean="0">
                <a:solidFill>
                  <a:srgbClr val="4A566A"/>
                </a:solidFill>
              </a:rPr>
              <a:pPr/>
              <a:t>17</a:t>
            </a:fld>
            <a:endParaRPr lang="en-US" altLang="en-US" smtClean="0">
              <a:solidFill>
                <a:srgbClr val="4A566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Full-wave rectifier: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b="1" dirty="0" smtClean="0"/>
              <a:t>Full-Wave Bridge Rectifier: </a:t>
            </a:r>
          </a:p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sz="3200" b="1" dirty="0" smtClean="0"/>
              <a:t>(Advantages)</a:t>
            </a:r>
          </a:p>
          <a:p>
            <a:pPr algn="just">
              <a:defRPr/>
            </a:pPr>
            <a:r>
              <a:rPr lang="en-US" sz="2800" dirty="0" smtClean="0"/>
              <a:t>The need of center-tapped transformer is eliminated.</a:t>
            </a:r>
          </a:p>
          <a:p>
            <a:pPr algn="just">
              <a:defRPr/>
            </a:pPr>
            <a:endParaRPr lang="en-US" sz="2800" dirty="0" smtClean="0"/>
          </a:p>
          <a:p>
            <a:pPr algn="just">
              <a:defRPr/>
            </a:pPr>
            <a:r>
              <a:rPr lang="en-US" sz="2800" dirty="0" smtClean="0"/>
              <a:t>The output is twice that of the center tap circuit for the same secondary voltage.</a:t>
            </a:r>
          </a:p>
          <a:p>
            <a:pPr algn="just">
              <a:defRPr/>
            </a:pPr>
            <a:endParaRPr lang="en-US" sz="2800" dirty="0" smtClean="0"/>
          </a:p>
          <a:p>
            <a:pPr algn="just">
              <a:defRPr/>
            </a:pPr>
            <a:r>
              <a:rPr lang="en-US" sz="2800" dirty="0" smtClean="0"/>
              <a:t>The PIV is one half that of the center-tap circuit.</a:t>
            </a:r>
          </a:p>
          <a:p>
            <a:pPr algn="just">
              <a:defRPr/>
            </a:pPr>
            <a:endParaRPr lang="en-US" sz="2800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sz="3200" b="1" dirty="0"/>
          </a:p>
          <a:p>
            <a:pPr>
              <a:defRPr/>
            </a:pPr>
            <a:endParaRPr lang="en-US" sz="3200" b="1" dirty="0" smtClean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DDA832A7-A610-4320-941A-0D3EB56C8D57}" type="slidenum">
              <a:rPr lang="en-US" altLang="en-US" smtClean="0">
                <a:solidFill>
                  <a:srgbClr val="4A566A"/>
                </a:solidFill>
              </a:rPr>
              <a:pPr/>
              <a:t>18</a:t>
            </a:fld>
            <a:endParaRPr lang="en-US" altLang="en-US" smtClean="0">
              <a:solidFill>
                <a:srgbClr val="4A566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Full-wave rectifier: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b="1" dirty="0" smtClean="0"/>
              <a:t>Full-Wave Bridge Rectifier: </a:t>
            </a:r>
          </a:p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sz="3200" b="1" dirty="0" smtClean="0"/>
              <a:t>(Disadvantages)</a:t>
            </a:r>
          </a:p>
          <a:p>
            <a:pPr marL="0" indent="0" algn="just">
              <a:buFont typeface="Wingdings 2" panose="05020102010507070707" pitchFamily="18" charset="2"/>
              <a:buNone/>
              <a:defRPr/>
            </a:pPr>
            <a:endParaRPr lang="en-US" sz="3200" dirty="0" smtClean="0"/>
          </a:p>
          <a:p>
            <a:pPr marL="0" indent="0" algn="just">
              <a:buFont typeface="Wingdings 2" panose="05020102010507070707" pitchFamily="18" charset="2"/>
              <a:buNone/>
              <a:defRPr/>
            </a:pPr>
            <a:r>
              <a:rPr lang="en-US" sz="3200" dirty="0" smtClean="0"/>
              <a:t>	</a:t>
            </a:r>
            <a:r>
              <a:rPr lang="en-US" sz="2800" dirty="0" smtClean="0"/>
              <a:t>It </a:t>
            </a:r>
            <a:r>
              <a:rPr lang="en-US" sz="2800" dirty="0"/>
              <a:t>needs four diodes, two of which conduct in alternate half-cycles. Because of this the total voltage drop in diodes becomes double of that in case of </a:t>
            </a:r>
            <a:r>
              <a:rPr lang="en-US" sz="2800" dirty="0" smtClean="0"/>
              <a:t>center-tap </a:t>
            </a:r>
            <a:r>
              <a:rPr lang="en-US" sz="2800" dirty="0"/>
              <a:t>rectifier, losses are increased and rectification efficiency is somewhat reduced. This poses a problem when low voltages are required.</a:t>
            </a:r>
            <a:endParaRPr lang="en-US" sz="2800" b="1" dirty="0"/>
          </a:p>
          <a:p>
            <a:pPr>
              <a:defRPr/>
            </a:pPr>
            <a:endParaRPr lang="en-US" sz="3200" b="1" dirty="0" smtClean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FF71D474-06F5-4AE1-A5C1-26D366E21284}" type="slidenum">
              <a:rPr lang="en-US" altLang="en-US" smtClean="0">
                <a:solidFill>
                  <a:srgbClr val="4A566A"/>
                </a:solidFill>
              </a:rPr>
              <a:pPr/>
              <a:t>19</a:t>
            </a:fld>
            <a:endParaRPr lang="en-US" altLang="en-US" smtClean="0">
              <a:solidFill>
                <a:srgbClr val="4A566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Full-wave rectifier: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b="1" dirty="0" smtClean="0"/>
              <a:t>Full-Wave Bridge Rectifier: </a:t>
            </a:r>
          </a:p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sz="3200" b="1" dirty="0" smtClean="0"/>
              <a:t>(Applications)</a:t>
            </a:r>
          </a:p>
          <a:p>
            <a:pPr algn="just">
              <a:defRPr/>
            </a:pPr>
            <a:r>
              <a:rPr lang="en-US" sz="3200" dirty="0"/>
              <a:t>Full Wave Bridge Rectifier is used to detect the amplitude of the </a:t>
            </a:r>
            <a:r>
              <a:rPr lang="en-US" sz="3200" dirty="0" smtClean="0"/>
              <a:t>modulating radio signal.</a:t>
            </a:r>
            <a:r>
              <a:rPr lang="en-US" sz="3200" dirty="0"/>
              <a:t> </a:t>
            </a:r>
            <a:endParaRPr lang="en-US" sz="3200" dirty="0" smtClean="0"/>
          </a:p>
          <a:p>
            <a:pPr algn="just">
              <a:defRPr/>
            </a:pPr>
            <a:endParaRPr lang="en-US" sz="3200" dirty="0"/>
          </a:p>
          <a:p>
            <a:pPr algn="just">
              <a:defRPr/>
            </a:pPr>
            <a:r>
              <a:rPr lang="en-US" sz="3200" dirty="0" smtClean="0"/>
              <a:t>Bridge </a:t>
            </a:r>
            <a:r>
              <a:rPr lang="en-US" sz="3200" dirty="0"/>
              <a:t>rectifier circuits are also used to supply steady and polarized </a:t>
            </a:r>
            <a:r>
              <a:rPr lang="en-US" sz="3200" dirty="0" err="1" smtClean="0"/>
              <a:t>d.c.</a:t>
            </a:r>
            <a:r>
              <a:rPr lang="en-US" sz="3200" dirty="0" smtClean="0"/>
              <a:t> </a:t>
            </a:r>
            <a:r>
              <a:rPr lang="en-US" sz="3200" dirty="0"/>
              <a:t>voltage in electric welding</a:t>
            </a:r>
            <a:r>
              <a:rPr lang="en-US" sz="3200" dirty="0" smtClean="0"/>
              <a:t>.</a:t>
            </a:r>
          </a:p>
          <a:p>
            <a:pPr algn="just">
              <a:defRPr/>
            </a:pPr>
            <a:endParaRPr lang="en-US" sz="3200" dirty="0"/>
          </a:p>
          <a:p>
            <a:pPr algn="just">
              <a:defRPr/>
            </a:pPr>
            <a:r>
              <a:rPr lang="en-US" sz="3200" dirty="0"/>
              <a:t>The Bridge Rectifier circuits are widely used in power supply for various appliances, as they are capable of converting the High AC voltage into Low DC voltage</a:t>
            </a:r>
            <a:r>
              <a:rPr lang="en-US" sz="3200" dirty="0" smtClean="0"/>
              <a:t>.</a:t>
            </a:r>
          </a:p>
          <a:p>
            <a:pPr algn="just">
              <a:defRPr/>
            </a:pPr>
            <a:endParaRPr lang="en-US" sz="3200" dirty="0"/>
          </a:p>
          <a:p>
            <a:pPr algn="just">
              <a:defRPr/>
            </a:pPr>
            <a:r>
              <a:rPr lang="en-US" sz="3200" dirty="0"/>
              <a:t>Full-wave rectifiers are also used for powering up the devices which work on DC voltage like motor and </a:t>
            </a:r>
            <a:r>
              <a:rPr lang="en-US" sz="3200" dirty="0" smtClean="0"/>
              <a:t>led.</a:t>
            </a:r>
            <a:endParaRPr lang="en-US" sz="3200" dirty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sz="3200" b="1" dirty="0" smtClean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D957469B-5C6D-4C54-BC16-76B4AC6D7FDF}" type="slidenum">
              <a:rPr lang="en-US" altLang="en-US" smtClean="0">
                <a:solidFill>
                  <a:srgbClr val="4A566A"/>
                </a:solidFill>
              </a:rPr>
              <a:pPr/>
              <a:t>20</a:t>
            </a:fld>
            <a:endParaRPr lang="en-US" altLang="en-US" smtClean="0">
              <a:solidFill>
                <a:srgbClr val="4A566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Full-wave rectifier: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b="1" dirty="0" smtClean="0"/>
              <a:t>Output Frequency: </a:t>
            </a:r>
          </a:p>
          <a:p>
            <a:pPr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sz="3200" b="1" dirty="0" smtClean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07B6239A-0477-4B69-BDEC-5827C04383A5}" type="slidenum">
              <a:rPr lang="en-US" altLang="en-US" smtClean="0">
                <a:solidFill>
                  <a:srgbClr val="4A566A"/>
                </a:solidFill>
              </a:rPr>
              <a:pPr/>
              <a:t>21</a:t>
            </a:fld>
            <a:endParaRPr lang="en-US" altLang="en-US" smtClean="0">
              <a:solidFill>
                <a:srgbClr val="4A566A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38" y="2971800"/>
            <a:ext cx="8086725" cy="2643188"/>
          </a:xfrm>
          <a:prstGeom prst="rect">
            <a:avLst/>
          </a:prstGeom>
          <a:ln w="38100" cap="sq">
            <a:solidFill>
              <a:schemeClr val="tx1">
                <a:lumMod val="7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1676400"/>
            <a:ext cx="2520950" cy="890588"/>
          </a:xfrm>
          <a:prstGeom prst="rect">
            <a:avLst/>
          </a:prstGeom>
          <a:ln w="38100" cap="sq">
            <a:solidFill>
              <a:schemeClr val="tx1">
                <a:lumMod val="7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Full-wave rectifier: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b="1" dirty="0" smtClean="0"/>
              <a:t>Efficiency:</a:t>
            </a:r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/>
          </a:p>
          <a:p>
            <a:pPr marL="0" indent="0" algn="ctr">
              <a:buFont typeface="Wingdings 2" panose="05020102010507070707" pitchFamily="18" charset="2"/>
              <a:buNone/>
              <a:defRPr/>
            </a:pPr>
            <a:r>
              <a:rPr lang="en-US" sz="3200" dirty="0" smtClean="0"/>
              <a:t>Consider </a:t>
            </a:r>
            <a:r>
              <a:rPr lang="en-US" sz="3200" i="1" dirty="0" err="1" smtClean="0"/>
              <a:t>r</a:t>
            </a:r>
            <a:r>
              <a:rPr lang="en-US" sz="3200" i="1" baseline="-25000" dirty="0" err="1" smtClean="0"/>
              <a:t>f</a:t>
            </a:r>
            <a:r>
              <a:rPr lang="en-US" sz="3200" baseline="-25000" dirty="0" smtClean="0"/>
              <a:t> </a:t>
            </a:r>
            <a:r>
              <a:rPr lang="en-US" sz="3200" baseline="30000" dirty="0" smtClean="0"/>
              <a:t> </a:t>
            </a:r>
            <a:r>
              <a:rPr lang="en-US" sz="3200" dirty="0" smtClean="0"/>
              <a:t>is negligible as compare to </a:t>
            </a:r>
            <a:r>
              <a:rPr lang="en-US" sz="3200" i="1" dirty="0" smtClean="0"/>
              <a:t>R</a:t>
            </a:r>
            <a:r>
              <a:rPr lang="en-US" sz="3200" i="1" baseline="-25000" dirty="0" smtClean="0"/>
              <a:t>L</a:t>
            </a:r>
          </a:p>
          <a:p>
            <a:pPr marL="0" indent="0" algn="ctr">
              <a:buFont typeface="Wingdings 2" panose="05020102010507070707" pitchFamily="18" charset="2"/>
              <a:buNone/>
              <a:defRPr/>
            </a:pPr>
            <a:r>
              <a:rPr lang="en-US" dirty="0" smtClean="0"/>
              <a:t>Max. efficiency = 81.2% </a:t>
            </a:r>
          </a:p>
          <a:p>
            <a:pPr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sz="3200" b="1" dirty="0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17E968BF-65F3-49B8-8AB3-F122F01A370E}" type="slidenum">
              <a:rPr lang="en-US" altLang="en-US" smtClean="0">
                <a:solidFill>
                  <a:srgbClr val="4A566A"/>
                </a:solidFill>
              </a:rPr>
              <a:pPr/>
              <a:t>22</a:t>
            </a:fld>
            <a:endParaRPr lang="en-US" altLang="en-US" smtClean="0">
              <a:solidFill>
                <a:srgbClr val="4A566A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138" y="1676400"/>
            <a:ext cx="6867525" cy="2886075"/>
          </a:xfrm>
          <a:prstGeom prst="rect">
            <a:avLst/>
          </a:prstGeom>
          <a:ln w="38100" cap="sq">
            <a:solidFill>
              <a:schemeClr val="tx1">
                <a:lumMod val="7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Font typeface="Wingdings 2" panose="05020102010507070707" pitchFamily="18" charset="2"/>
              <a:buNone/>
            </a:pPr>
            <a:r>
              <a:rPr lang="en-US" altLang="en-US" sz="4000" b="1" smtClean="0"/>
              <a:t>Nature of Rectifier Output: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dirty="0" smtClean="0"/>
              <a:t>(</a:t>
            </a:r>
            <a:r>
              <a:rPr lang="en-US" dirty="0" err="1" smtClean="0"/>
              <a:t>i</a:t>
            </a:r>
            <a:r>
              <a:rPr lang="en-US" dirty="0" smtClean="0"/>
              <a:t>) </a:t>
            </a:r>
            <a:r>
              <a:rPr lang="en-US" dirty="0" err="1" smtClean="0"/>
              <a:t>d.c.</a:t>
            </a:r>
            <a:r>
              <a:rPr lang="en-US" dirty="0" smtClean="0"/>
              <a:t> component    </a:t>
            </a:r>
          </a:p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dirty="0" smtClean="0"/>
              <a:t>(ii) </a:t>
            </a:r>
            <a:r>
              <a:rPr lang="en-US" dirty="0" err="1" smtClean="0"/>
              <a:t>a.c</a:t>
            </a:r>
            <a:r>
              <a:rPr lang="en-US" dirty="0" smtClean="0"/>
              <a:t>. component</a:t>
            </a:r>
          </a:p>
          <a:p>
            <a:pPr marL="0" indent="0">
              <a:buFont typeface="Wingdings 2" panose="05020102010507070707" pitchFamily="18" charset="2"/>
              <a:buNone/>
              <a:defRPr/>
            </a:pPr>
            <a:r>
              <a:rPr lang="en-US" dirty="0" smtClean="0"/>
              <a:t>(iii) Resultant wave of (</a:t>
            </a:r>
            <a:r>
              <a:rPr lang="en-US" dirty="0" err="1" smtClean="0"/>
              <a:t>i</a:t>
            </a:r>
            <a:r>
              <a:rPr lang="en-US" dirty="0" smtClean="0"/>
              <a:t>) &amp; (ii)</a:t>
            </a:r>
            <a:endParaRPr lang="en-US" sz="3200" dirty="0" smtClean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1C27AA13-A108-464C-BF56-E6B961D7D1FE}" type="slidenum">
              <a:rPr lang="en-US" altLang="en-US" smtClean="0">
                <a:solidFill>
                  <a:srgbClr val="4A566A"/>
                </a:solidFill>
              </a:rPr>
              <a:pPr/>
              <a:t>23</a:t>
            </a:fld>
            <a:endParaRPr lang="en-US" altLang="en-US" smtClean="0">
              <a:solidFill>
                <a:srgbClr val="4A566A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975" y="1425575"/>
            <a:ext cx="8196263" cy="3276600"/>
          </a:xfrm>
          <a:prstGeom prst="rect">
            <a:avLst/>
          </a:prstGeom>
          <a:ln w="38100" cap="sq">
            <a:solidFill>
              <a:schemeClr val="tx1">
                <a:lumMod val="7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Font typeface="Wingdings 2" panose="05020102010507070707" pitchFamily="18" charset="2"/>
              <a:buNone/>
            </a:pPr>
            <a:r>
              <a:rPr lang="en-US" altLang="en-US" b="1" smtClean="0"/>
              <a:t>Ripple Factor: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defRPr/>
            </a:pPr>
            <a:r>
              <a:rPr lang="en-US" dirty="0" smtClean="0"/>
              <a:t>The </a:t>
            </a:r>
            <a:r>
              <a:rPr lang="en-US" dirty="0"/>
              <a:t>output of rectifier consists of D.C component and A.C component </a:t>
            </a:r>
            <a:r>
              <a:rPr lang="en-US" dirty="0" smtClean="0"/>
              <a:t>also known as ripple</a:t>
            </a:r>
            <a:r>
              <a:rPr lang="en-US" dirty="0"/>
              <a:t>. </a:t>
            </a:r>
            <a:endParaRPr lang="en-US" dirty="0" smtClean="0"/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 smtClean="0"/>
              <a:t>This </a:t>
            </a:r>
            <a:r>
              <a:rPr lang="en-US" dirty="0"/>
              <a:t>A.C component in output is undesirable and accounts for the pulsations in the rectifier output</a:t>
            </a:r>
            <a:r>
              <a:rPr lang="en-US" dirty="0" smtClean="0"/>
              <a:t>.</a:t>
            </a:r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 smtClean="0"/>
              <a:t> </a:t>
            </a:r>
            <a:r>
              <a:rPr lang="en-US" dirty="0"/>
              <a:t>AC component in rectifier output voltage is called ripple voltage and AC component in output current called ripple current.</a:t>
            </a:r>
          </a:p>
          <a:p>
            <a:pPr marL="0" indent="0" algn="just">
              <a:buFont typeface="Wingdings 2" panose="05020102010507070707" pitchFamily="18" charset="2"/>
              <a:buNone/>
              <a:defRPr/>
            </a:pPr>
            <a:endParaRPr lang="en-US" b="1" dirty="0" smtClean="0"/>
          </a:p>
          <a:p>
            <a:pPr marL="0" indent="0" algn="just">
              <a:buFont typeface="Wingdings 2" panose="05020102010507070707" pitchFamily="18" charset="2"/>
              <a:buNone/>
              <a:defRPr/>
            </a:pPr>
            <a:r>
              <a:rPr lang="en-US" b="1" dirty="0"/>
              <a:t>	</a:t>
            </a:r>
            <a:r>
              <a:rPr lang="en-US" b="1" i="1" dirty="0" smtClean="0">
                <a:solidFill>
                  <a:schemeClr val="bg2">
                    <a:lumMod val="50000"/>
                  </a:schemeClr>
                </a:solidFill>
              </a:rPr>
              <a:t>“</a:t>
            </a:r>
            <a:r>
              <a:rPr lang="en-US" i="1" dirty="0" smtClean="0">
                <a:solidFill>
                  <a:schemeClr val="bg2">
                    <a:lumMod val="50000"/>
                  </a:schemeClr>
                </a:solidFill>
              </a:rPr>
              <a:t>The </a:t>
            </a:r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ratio of </a:t>
            </a:r>
            <a:r>
              <a:rPr lang="en-US" i="1" dirty="0" err="1">
                <a:solidFill>
                  <a:schemeClr val="bg2">
                    <a:lumMod val="50000"/>
                  </a:schemeClr>
                </a:solidFill>
              </a:rPr>
              <a:t>r.m.s</a:t>
            </a:r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. value of </a:t>
            </a:r>
            <a:r>
              <a:rPr lang="en-US" i="1" dirty="0" err="1">
                <a:solidFill>
                  <a:schemeClr val="bg2">
                    <a:lumMod val="50000"/>
                  </a:schemeClr>
                </a:solidFill>
              </a:rPr>
              <a:t>a.c</a:t>
            </a:r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. component to the </a:t>
            </a:r>
            <a:r>
              <a:rPr lang="en-US" i="1" dirty="0" err="1">
                <a:solidFill>
                  <a:schemeClr val="bg2">
                    <a:lumMod val="50000"/>
                  </a:schemeClr>
                </a:solidFill>
              </a:rPr>
              <a:t>d.c.</a:t>
            </a:r>
            <a:r>
              <a:rPr lang="en-US" i="1" dirty="0">
                <a:solidFill>
                  <a:schemeClr val="bg2">
                    <a:lumMod val="50000"/>
                  </a:schemeClr>
                </a:solidFill>
              </a:rPr>
              <a:t> component in the rectifier output is known as the ripple factor</a:t>
            </a:r>
            <a:r>
              <a:rPr lang="en-US" b="1" i="1" dirty="0" smtClean="0">
                <a:solidFill>
                  <a:schemeClr val="bg2">
                    <a:lumMod val="50000"/>
                  </a:schemeClr>
                </a:solidFill>
              </a:rPr>
              <a:t>.”</a:t>
            </a:r>
            <a:endParaRPr lang="en-US" b="1" i="1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/>
          </a:p>
          <a:p>
            <a:pPr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sz="3200" b="1" dirty="0" smtClean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A3B2044E-2823-443A-BE1E-075713BFB3D9}" type="slidenum">
              <a:rPr lang="en-US" altLang="en-US" smtClean="0">
                <a:solidFill>
                  <a:srgbClr val="4A566A"/>
                </a:solidFill>
              </a:rPr>
              <a:pPr/>
              <a:t>24</a:t>
            </a:fld>
            <a:endParaRPr lang="en-US" altLang="en-US" smtClean="0">
              <a:solidFill>
                <a:srgbClr val="4A566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Font typeface="Wingdings 2" panose="05020102010507070707" pitchFamily="18" charset="2"/>
              <a:buNone/>
            </a:pPr>
            <a:r>
              <a:rPr lang="en-US" altLang="en-US" b="1" smtClean="0"/>
              <a:t>Ripple Factor: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/>
          </a:p>
          <a:p>
            <a:pPr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sz="3200" b="1" dirty="0" smtClean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058AA717-DA0D-44F6-93A1-3CF6985C50CE}" type="slidenum">
              <a:rPr lang="en-US" altLang="en-US" smtClean="0">
                <a:solidFill>
                  <a:srgbClr val="4A566A"/>
                </a:solidFill>
              </a:rPr>
              <a:pPr/>
              <a:t>25</a:t>
            </a:fld>
            <a:endParaRPr lang="en-US" altLang="en-US" smtClean="0">
              <a:solidFill>
                <a:srgbClr val="4A566A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1709738"/>
            <a:ext cx="7772400" cy="1228725"/>
          </a:xfrm>
          <a:prstGeom prst="rect">
            <a:avLst/>
          </a:prstGeom>
          <a:ln w="38100" cap="sq">
            <a:solidFill>
              <a:schemeClr val="tx1">
                <a:lumMod val="7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3171825"/>
            <a:ext cx="5434013" cy="2938463"/>
          </a:xfrm>
          <a:prstGeom prst="rect">
            <a:avLst/>
          </a:prstGeom>
          <a:ln w="38100" cap="sq">
            <a:solidFill>
              <a:schemeClr val="tx1">
                <a:lumMod val="7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Font typeface="Wingdings 2" panose="05020102010507070707" pitchFamily="18" charset="2"/>
              <a:buNone/>
            </a:pPr>
            <a:r>
              <a:rPr lang="en-US" altLang="en-US" b="1" smtClean="0"/>
              <a:t>Ripple Factor: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defRPr/>
            </a:pPr>
            <a:r>
              <a:rPr lang="en-US" dirty="0" smtClean="0"/>
              <a:t>Ripple </a:t>
            </a:r>
            <a:r>
              <a:rPr lang="en-US" dirty="0"/>
              <a:t>Factor is very important in deciding the effectiveness of rectifier output. </a:t>
            </a:r>
            <a:endParaRPr lang="en-US" dirty="0" smtClean="0"/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 smtClean="0"/>
              <a:t>The </a:t>
            </a:r>
            <a:r>
              <a:rPr lang="en-US" dirty="0"/>
              <a:t>smaller ripple factor describes the more effectiveness of that rectifier. </a:t>
            </a:r>
            <a:endParaRPr lang="en-US" dirty="0" smtClean="0"/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 smtClean="0"/>
              <a:t>The </a:t>
            </a:r>
            <a:r>
              <a:rPr lang="en-US" dirty="0"/>
              <a:t>more ripple factor means more fluctuating ac components are present in the rectified output</a:t>
            </a:r>
            <a:r>
              <a:rPr lang="en-US" dirty="0" smtClean="0"/>
              <a:t>.</a:t>
            </a:r>
          </a:p>
          <a:p>
            <a:pPr algn="just">
              <a:defRPr/>
            </a:pPr>
            <a:endParaRPr lang="en-US" dirty="0"/>
          </a:p>
          <a:p>
            <a:pPr algn="just">
              <a:defRPr/>
            </a:pPr>
            <a:r>
              <a:rPr lang="en-US" dirty="0"/>
              <a:t>This is basically a measurement of ripple which denotes the purity of rectified output. </a:t>
            </a:r>
            <a:endParaRPr lang="en-US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b="1" dirty="0"/>
          </a:p>
          <a:p>
            <a:pPr>
              <a:defRPr/>
            </a:pPr>
            <a:endParaRPr lang="en-US" b="1" dirty="0" smtClean="0"/>
          </a:p>
          <a:p>
            <a:pPr marL="0" indent="0">
              <a:buFont typeface="Wingdings 2" panose="05020102010507070707" pitchFamily="18" charset="2"/>
              <a:buNone/>
              <a:defRPr/>
            </a:pPr>
            <a:endParaRPr lang="en-US" sz="3200" b="1" dirty="0" smtClean="0"/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4B8FAB17-6D00-4076-92F9-AB9A64A220A0}" type="slidenum">
              <a:rPr lang="en-US" altLang="en-US" smtClean="0">
                <a:solidFill>
                  <a:srgbClr val="4A566A"/>
                </a:solidFill>
              </a:rPr>
              <a:pPr/>
              <a:t>26</a:t>
            </a:fld>
            <a:endParaRPr lang="en-US" altLang="en-US" smtClean="0">
              <a:solidFill>
                <a:srgbClr val="4A566A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Font typeface="Wingdings 2" panose="05020102010507070707" pitchFamily="18" charset="2"/>
              <a:buNone/>
            </a:pPr>
            <a:r>
              <a:rPr lang="en-US" altLang="en-US" b="1" smtClean="0"/>
              <a:t>Ripple Factor: (cont.)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 2" panose="05020102010507070707" pitchFamily="18" charset="2"/>
              <a:buNone/>
            </a:pPr>
            <a:r>
              <a:rPr lang="en-US" altLang="en-US" sz="3200" b="1" smtClean="0"/>
              <a:t>Mathematical analysis:</a:t>
            </a:r>
          </a:p>
          <a:p>
            <a:pPr marL="0" indent="0">
              <a:buFont typeface="Wingdings 2" panose="05020102010507070707" pitchFamily="18" charset="2"/>
              <a:buNone/>
            </a:pPr>
            <a:endParaRPr lang="en-US" altLang="en-US" sz="3200" b="1" smtClean="0"/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en-US" sz="3200" b="1" smtClean="0"/>
              <a:t>For Half wave rectification:</a:t>
            </a:r>
          </a:p>
          <a:p>
            <a:pPr marL="0" indent="0">
              <a:buFont typeface="Wingdings 2" panose="05020102010507070707" pitchFamily="18" charset="2"/>
              <a:buNone/>
            </a:pPr>
            <a:endParaRPr lang="en-US" altLang="en-US" sz="3200" b="1" smtClean="0"/>
          </a:p>
          <a:p>
            <a:pPr marL="0" indent="0">
              <a:buFont typeface="Wingdings 2" panose="05020102010507070707" pitchFamily="18" charset="2"/>
              <a:buNone/>
            </a:pPr>
            <a:endParaRPr lang="en-US" altLang="en-US" sz="3200" b="1" smtClean="0"/>
          </a:p>
          <a:p>
            <a:pPr marL="0" indent="0">
              <a:buFont typeface="Wingdings 2" panose="05020102010507070707" pitchFamily="18" charset="2"/>
              <a:buNone/>
            </a:pPr>
            <a:r>
              <a:rPr lang="en-US" altLang="en-US" sz="3200" b="1" smtClean="0"/>
              <a:t>For Full wave rectification:</a:t>
            </a:r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FE3097BE-DBB0-4601-9332-3FBA73C25274}" type="slidenum">
              <a:rPr lang="en-US" altLang="en-US" smtClean="0">
                <a:solidFill>
                  <a:srgbClr val="4A566A"/>
                </a:solidFill>
              </a:rPr>
              <a:pPr/>
              <a:t>27</a:t>
            </a:fld>
            <a:endParaRPr lang="en-US" altLang="en-US" smtClean="0">
              <a:solidFill>
                <a:srgbClr val="4A566A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2667000"/>
            <a:ext cx="4538663" cy="1025525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463" y="4613275"/>
            <a:ext cx="4495800" cy="1101725"/>
          </a:xfrm>
          <a:prstGeom prst="rect">
            <a:avLst/>
          </a:prstGeom>
          <a:ln w="38100" cap="sq">
            <a:solidFill>
              <a:schemeClr val="accent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mtClean="0"/>
              <a:t>Comparison of rectifiers: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863" y="1981200"/>
            <a:ext cx="8763000" cy="2670175"/>
          </a:xfrm>
          <a:ln w="38100" cap="sq">
            <a:solidFill>
              <a:schemeClr val="accent1"/>
            </a:solidFill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4820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2C1FBD27-0936-461E-BA56-F34A40BF27F2}" type="slidenum">
              <a:rPr lang="en-US" altLang="en-US" smtClean="0">
                <a:solidFill>
                  <a:srgbClr val="4A566A"/>
                </a:solidFill>
              </a:rPr>
              <a:pPr/>
              <a:t>28</a:t>
            </a:fld>
            <a:endParaRPr lang="en-US" altLang="en-US" smtClean="0">
              <a:solidFill>
                <a:srgbClr val="4A566A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en-US" sz="4400" smtClean="0"/>
              <a:t>Comparison of rectifiers:  (cont.)</a:t>
            </a:r>
          </a:p>
        </p:txBody>
      </p:sp>
      <p:sp>
        <p:nvSpPr>
          <p:cNvPr id="35843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eorgia" panose="02040502050405020303" pitchFamily="18" charset="0"/>
                <a:cs typeface="Arial" panose="020B0604020202020204" pitchFamily="34" charset="0"/>
              </a:defRPr>
            </a:lvl9pPr>
          </a:lstStyle>
          <a:p>
            <a:fld id="{0695DB2D-F910-4092-B559-75DF14939D0A}" type="slidenum">
              <a:rPr lang="en-US" altLang="en-US" smtClean="0">
                <a:solidFill>
                  <a:srgbClr val="4A566A"/>
                </a:solidFill>
              </a:rPr>
              <a:pPr/>
              <a:t>29</a:t>
            </a:fld>
            <a:endParaRPr lang="en-US" altLang="en-US" smtClean="0">
              <a:solidFill>
                <a:srgbClr val="4A566A"/>
              </a:solidFill>
            </a:endParaRPr>
          </a:p>
        </p:txBody>
      </p:sp>
      <p:pic>
        <p:nvPicPr>
          <p:cNvPr id="35844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905000"/>
            <a:ext cx="80772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altLang="en-US" smtClean="0"/>
          </a:p>
          <a:p>
            <a:endParaRPr lang="en-GB" altLang="en-US" smtClean="0"/>
          </a:p>
          <a:p>
            <a:endParaRPr lang="en-GB" altLang="en-US" smtClean="0"/>
          </a:p>
          <a:p>
            <a:pPr algn="ctr">
              <a:buFont typeface="Wingdings 2" panose="05020102010507070707" pitchFamily="18" charset="2"/>
              <a:buNone/>
            </a:pPr>
            <a:r>
              <a:rPr lang="en-GB" altLang="en-US" smtClean="0"/>
              <a:t>Any Questions   ????????</a:t>
            </a:r>
          </a:p>
        </p:txBody>
      </p:sp>
      <p:sp>
        <p:nvSpPr>
          <p:cNvPr id="36867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EB80A"/>
              </a:buClr>
              <a:buSzPct val="9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Georgia" panose="02040502050405020303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Georgia" panose="02040502050405020303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B80A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00ADDC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ADDC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ADDC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ADDC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ADDC"/>
              </a:buClr>
              <a:buSzPct val="6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Georgia" panose="02040502050405020303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E05E337-0131-4845-97C5-8BB24AA7C372}" type="slidenum">
              <a:rPr lang="en-US" altLang="en-US" sz="1200" smtClean="0">
                <a:solidFill>
                  <a:srgbClr val="4A566A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en-US" sz="1200" smtClean="0">
              <a:solidFill>
                <a:srgbClr val="4A566A"/>
              </a:solidFill>
            </a:endParaRPr>
          </a:p>
        </p:txBody>
      </p:sp>
      <p:pic>
        <p:nvPicPr>
          <p:cNvPr id="36868" name="Picture 4" descr="download (9)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962400"/>
            <a:ext cx="214312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Custom 1">
      <a:dk1>
        <a:srgbClr val="FCB95D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ustom 1">
    <a:dk1>
      <a:srgbClr val="FCB95D"/>
    </a:dk1>
    <a:lt1>
      <a:sysClr val="window" lastClr="FFFFFF"/>
    </a:lt1>
    <a:dk2>
      <a:srgbClr val="4E5B6F"/>
    </a:dk2>
    <a:lt2>
      <a:srgbClr val="D6ECFF"/>
    </a:lt2>
    <a:accent1>
      <a:srgbClr val="7FD13B"/>
    </a:accent1>
    <a:accent2>
      <a:srgbClr val="EA157A"/>
    </a:accent2>
    <a:accent3>
      <a:srgbClr val="FEB80A"/>
    </a:accent3>
    <a:accent4>
      <a:srgbClr val="00ADDC"/>
    </a:accent4>
    <a:accent5>
      <a:srgbClr val="738AC8"/>
    </a:accent5>
    <a:accent6>
      <a:srgbClr val="1AB39F"/>
    </a:accent6>
    <a:hlink>
      <a:srgbClr val="EB8803"/>
    </a:hlink>
    <a:folHlink>
      <a:srgbClr val="5F7791"/>
    </a:folHlink>
  </a:clrScheme>
</a:themeOverride>
</file>

<file path=ppt/theme/themeOverride2.xml><?xml version="1.0" encoding="utf-8"?>
<a:themeOverride xmlns:a="http://schemas.openxmlformats.org/drawingml/2006/main">
  <a:clrScheme name="Custom 1">
    <a:dk1>
      <a:srgbClr val="FCB95D"/>
    </a:dk1>
    <a:lt1>
      <a:sysClr val="window" lastClr="FFFFFF"/>
    </a:lt1>
    <a:dk2>
      <a:srgbClr val="4E5B6F"/>
    </a:dk2>
    <a:lt2>
      <a:srgbClr val="D6ECFF"/>
    </a:lt2>
    <a:accent1>
      <a:srgbClr val="7FD13B"/>
    </a:accent1>
    <a:accent2>
      <a:srgbClr val="EA157A"/>
    </a:accent2>
    <a:accent3>
      <a:srgbClr val="FEB80A"/>
    </a:accent3>
    <a:accent4>
      <a:srgbClr val="00ADDC"/>
    </a:accent4>
    <a:accent5>
      <a:srgbClr val="738AC8"/>
    </a:accent5>
    <a:accent6>
      <a:srgbClr val="1AB39F"/>
    </a:accent6>
    <a:hlink>
      <a:srgbClr val="EB8803"/>
    </a:hlink>
    <a:folHlink>
      <a:srgbClr val="5F7791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25837</TotalTime>
  <Words>1059</Words>
  <Application>Microsoft Office PowerPoint</Application>
  <PresentationFormat>On-screen Show (4:3)</PresentationFormat>
  <Paragraphs>244</Paragraphs>
  <Slides>30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Georgia</vt:lpstr>
      <vt:lpstr>Arial</vt:lpstr>
      <vt:lpstr>Wingdings 2</vt:lpstr>
      <vt:lpstr>Calibri</vt:lpstr>
      <vt:lpstr>Flow</vt:lpstr>
      <vt:lpstr>Multisim 7 Document</vt:lpstr>
      <vt:lpstr>Electronic Devices and Circuits</vt:lpstr>
      <vt:lpstr>Contents</vt:lpstr>
      <vt:lpstr>Full-wave rectifier:</vt:lpstr>
      <vt:lpstr>Full-wave rectifier: (cont.)</vt:lpstr>
      <vt:lpstr>Full-wave rectifier: (cont.)</vt:lpstr>
      <vt:lpstr>Full-wave rectifier: (cont.)</vt:lpstr>
      <vt:lpstr>Full-wave rectifier: (cont.)</vt:lpstr>
      <vt:lpstr>Full-wave rectifier: (cont.)</vt:lpstr>
      <vt:lpstr>Full-wave rectifier: (cont.)</vt:lpstr>
      <vt:lpstr>Full-wave rectifier: (cont.)</vt:lpstr>
      <vt:lpstr>Full-wave rectifier: (cont.)</vt:lpstr>
      <vt:lpstr>Full-wave rectifier: (cont.)</vt:lpstr>
      <vt:lpstr>Full-wave rectifier: (cont.)</vt:lpstr>
      <vt:lpstr>Full-wave rectifier: (cont.)</vt:lpstr>
      <vt:lpstr>Full-wave rectifier: (cont.)</vt:lpstr>
      <vt:lpstr>Full-wave rectifier: (cont.)</vt:lpstr>
      <vt:lpstr>Full-wave rectifier: (cont.)</vt:lpstr>
      <vt:lpstr>Full-wave rectifier: (cont.)</vt:lpstr>
      <vt:lpstr>Full-wave rectifier: (cont.)</vt:lpstr>
      <vt:lpstr>Full-wave rectifier: (cont.)</vt:lpstr>
      <vt:lpstr>Full-wave rectifier: (cont.)</vt:lpstr>
      <vt:lpstr>Full-wave rectifier: (cont.)</vt:lpstr>
      <vt:lpstr>Nature of Rectifier Output:</vt:lpstr>
      <vt:lpstr>Ripple Factor:</vt:lpstr>
      <vt:lpstr>Ripple Factor: (cont.)</vt:lpstr>
      <vt:lpstr>Ripple Factor: (cont.)</vt:lpstr>
      <vt:lpstr>Ripple Factor: (cont.)</vt:lpstr>
      <vt:lpstr>Comparison of rectifiers:</vt:lpstr>
      <vt:lpstr>Comparison of rectifiers:  (cont.)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Applied Physics</dc:title>
  <dc:creator>aziz</dc:creator>
  <cp:lastModifiedBy>Dr. Junaid Ahmed</cp:lastModifiedBy>
  <cp:revision>1676</cp:revision>
  <dcterms:created xsi:type="dcterms:W3CDTF">2006-08-16T00:00:00Z</dcterms:created>
  <dcterms:modified xsi:type="dcterms:W3CDTF">2024-01-16T05:24:04Z</dcterms:modified>
</cp:coreProperties>
</file>
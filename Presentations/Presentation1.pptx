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sldIdLst>
    <p:sldId id="266" r:id="rId2"/>
    <p:sldId id="257" r:id="rId3"/>
    <p:sldId id="258" r:id="rId4"/>
    <p:sldId id="260" r:id="rId5"/>
    <p:sldId id="261" r:id="rId6"/>
    <p:sldId id="259" r:id="rId7"/>
    <p:sldId id="262" r:id="rId8"/>
    <p:sldId id="268" r:id="rId9"/>
    <p:sldId id="263" r:id="rId10"/>
    <p:sldId id="267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00A9-048B-4429-995B-8DF2C4C164F6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143E51F-87D0-41C2-9EBE-07D796EFAD9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677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00A9-048B-4429-995B-8DF2C4C164F6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E51F-87D0-41C2-9EBE-07D796EFAD9C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11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00A9-048B-4429-995B-8DF2C4C164F6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E51F-87D0-41C2-9EBE-07D796EFAD9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413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00A9-048B-4429-995B-8DF2C4C164F6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E51F-87D0-41C2-9EBE-07D796EFAD9C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185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00A9-048B-4429-995B-8DF2C4C164F6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E51F-87D0-41C2-9EBE-07D796EFAD9C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33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00A9-048B-4429-995B-8DF2C4C164F6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E51F-87D0-41C2-9EBE-07D796EFAD9C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43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00A9-048B-4429-995B-8DF2C4C164F6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E51F-87D0-41C2-9EBE-07D796EFA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9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00A9-048B-4429-995B-8DF2C4C164F6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E51F-87D0-41C2-9EBE-07D796EFAD9C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85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FE200A9-048B-4429-995B-8DF2C4C164F6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E51F-87D0-41C2-9EBE-07D796EFAD9C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61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00A9-048B-4429-995B-8DF2C4C164F6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E51F-87D0-41C2-9EBE-07D796EFAD9C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44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200A9-048B-4429-995B-8DF2C4C164F6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3E51F-87D0-41C2-9EBE-07D796EFAD9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035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200A9-048B-4429-995B-8DF2C4C164F6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143E51F-87D0-41C2-9EBE-07D796EFAD9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099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byjus.com/jee/semiconductors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D0D66A-50C4-46F7-8778-7C2CBAF5ADF5}"/>
              </a:ext>
            </a:extLst>
          </p:cNvPr>
          <p:cNvSpPr txBox="1"/>
          <p:nvPr/>
        </p:nvSpPr>
        <p:spPr>
          <a:xfrm>
            <a:off x="1226126" y="2514600"/>
            <a:ext cx="2736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4000" dirty="0"/>
              <a:t>Insulator</a:t>
            </a:r>
            <a:r>
              <a:rPr lang="en-US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3E487D-F907-4D32-916D-12EB99DEEF6F}"/>
              </a:ext>
            </a:extLst>
          </p:cNvPr>
          <p:cNvSpPr txBox="1"/>
          <p:nvPr/>
        </p:nvSpPr>
        <p:spPr>
          <a:xfrm>
            <a:off x="1226126" y="3122897"/>
            <a:ext cx="87214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 </a:t>
            </a:r>
            <a:r>
              <a:rPr lang="en-US" sz="3200" b="0" i="0" dirty="0">
                <a:solidFill>
                  <a:srgbClr val="040C28"/>
                </a:solidFill>
                <a:effectLst/>
                <a:latin typeface="Google Sans"/>
              </a:rPr>
              <a:t>A material or an object that does not easily allow heat, electricity, light, or sound to pass through it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Google Sans"/>
              </a:rPr>
              <a:t>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99A613-CEBA-4F25-8E91-8D9B3C0D414A}"/>
              </a:ext>
            </a:extLst>
          </p:cNvPr>
          <p:cNvSpPr txBox="1"/>
          <p:nvPr/>
        </p:nvSpPr>
        <p:spPr>
          <a:xfrm>
            <a:off x="1087582" y="637629"/>
            <a:ext cx="3997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600" dirty="0"/>
              <a:t>Conductor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A7516-61F7-42E8-AD31-B32E7FA1EE0C}"/>
              </a:ext>
            </a:extLst>
          </p:cNvPr>
          <p:cNvSpPr txBox="1"/>
          <p:nvPr/>
        </p:nvSpPr>
        <p:spPr>
          <a:xfrm>
            <a:off x="1433946" y="1283960"/>
            <a:ext cx="90816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conductor is an object or type of material that allows the flow of charge(electric current)in one or more directions</a:t>
            </a:r>
          </a:p>
        </p:txBody>
      </p:sp>
    </p:spTree>
    <p:extLst>
      <p:ext uri="{BB962C8B-B14F-4D97-AF65-F5344CB8AC3E}">
        <p14:creationId xmlns:p14="http://schemas.microsoft.com/office/powerpoint/2010/main" val="289361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C6E3E0-08E7-4BFA-8097-90C9764B086E}"/>
              </a:ext>
            </a:extLst>
          </p:cNvPr>
          <p:cNvSpPr txBox="1"/>
          <p:nvPr/>
        </p:nvSpPr>
        <p:spPr>
          <a:xfrm>
            <a:off x="470646" y="443753"/>
            <a:ext cx="9305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b="1" i="0" dirty="0">
                <a:solidFill>
                  <a:schemeClr val="accent3">
                    <a:lumMod val="50000"/>
                  </a:schemeClr>
                </a:solidFill>
                <a:effectLst/>
                <a:latin typeface="Poppins" panose="00000500000000000000" pitchFamily="2" charset="0"/>
              </a:rPr>
              <a:t>What Is a Diode?</a:t>
            </a:r>
          </a:p>
          <a:p>
            <a:pPr algn="l"/>
            <a:r>
              <a:rPr lang="en-US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Diodes are used to protect circuits by limiting the voltage and to also transform AC into DC.</a:t>
            </a:r>
            <a:r>
              <a:rPr lang="en-US" b="0" i="0" u="none" strike="noStrike" dirty="0">
                <a:solidFill>
                  <a:srgbClr val="FA2B5C"/>
                </a:solidFill>
                <a:effectLst/>
                <a:latin typeface="Poppins" panose="000005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  <a:r>
              <a:rPr lang="en-US" b="0" i="0" u="none" strike="noStrike" dirty="0">
                <a:effectLst/>
                <a:latin typeface="Poppins" panose="000005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Semiconductors</a:t>
            </a:r>
            <a:r>
              <a:rPr lang="en-US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 like silicon and germanium are used to make the most of the diodes. Even though they transmit current in a single direction, the way with which they transmit differs.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258B20-911D-403F-9C33-A2FEF2886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577" y="2453558"/>
            <a:ext cx="6697010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76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A1284A-16A0-4505-A73E-7CB380DFB91C}"/>
              </a:ext>
            </a:extLst>
          </p:cNvPr>
          <p:cNvSpPr txBox="1"/>
          <p:nvPr/>
        </p:nvSpPr>
        <p:spPr>
          <a:xfrm>
            <a:off x="981635" y="566678"/>
            <a:ext cx="52443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1" i="0" dirty="0">
                <a:solidFill>
                  <a:srgbClr val="800080"/>
                </a:solidFill>
                <a:effectLst/>
                <a:latin typeface="Poppins" panose="00000500000000000000" pitchFamily="2" charset="0"/>
              </a:rPr>
              <a:t>Types of Diodes</a:t>
            </a:r>
            <a:endParaRPr lang="en-US" sz="3600" b="1" i="0" dirty="0">
              <a:solidFill>
                <a:srgbClr val="444444"/>
              </a:solidFill>
              <a:effectLst/>
              <a:latin typeface="Poppins" panose="00000500000000000000" pitchFamily="2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Light Emitting Diode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Laser diode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Avalanche diode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Zener diode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Schottky diode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Photodiode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PN junction diode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3517C5-2919-4257-9742-36B06E786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683" y="1264023"/>
            <a:ext cx="5542681" cy="380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55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8BE9CD-309B-4145-915C-80B7C8D66144}"/>
              </a:ext>
            </a:extLst>
          </p:cNvPr>
          <p:cNvSpPr txBox="1"/>
          <p:nvPr/>
        </p:nvSpPr>
        <p:spPr>
          <a:xfrm>
            <a:off x="188258" y="833777"/>
            <a:ext cx="61453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P-N Junction Diode:</a:t>
            </a:r>
            <a:endParaRPr lang="en-US" sz="3600" b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FB3C7-F01C-4DDD-A3D6-41C176BDB395}"/>
              </a:ext>
            </a:extLst>
          </p:cNvPr>
          <p:cNvSpPr txBox="1"/>
          <p:nvPr/>
        </p:nvSpPr>
        <p:spPr>
          <a:xfrm>
            <a:off x="188258" y="1678142"/>
            <a:ext cx="47737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40C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</a:t>
            </a:r>
            <a:r>
              <a:rPr lang="en-GB" sz="2400" b="1" i="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semiconductor with n and p type materials that are chemically combined, forms a junction that allows conduction in one direction only</a:t>
            </a:r>
            <a:r>
              <a:rPr lang="en-GB" sz="2400" b="1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71AF73-727D-42B0-9FD1-814744285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981" y="943127"/>
            <a:ext cx="5410955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834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953B79-369F-4759-A936-DC7D1DFAB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761" y="2327575"/>
            <a:ext cx="5363323" cy="23911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E3A030-8AE2-4AAA-878B-80E41792C332}"/>
              </a:ext>
            </a:extLst>
          </p:cNvPr>
          <p:cNvSpPr txBox="1"/>
          <p:nvPr/>
        </p:nvSpPr>
        <p:spPr>
          <a:xfrm>
            <a:off x="4303057" y="459604"/>
            <a:ext cx="4531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3">
                    <a:lumMod val="50000"/>
                  </a:schemeClr>
                </a:solidFill>
              </a:rPr>
              <a:t>Depletion region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6D622B-1600-40C7-838A-3B4D25FA9B30}"/>
              </a:ext>
            </a:extLst>
          </p:cNvPr>
          <p:cNvCxnSpPr/>
          <p:nvPr/>
        </p:nvCxnSpPr>
        <p:spPr>
          <a:xfrm>
            <a:off x="5988422" y="1167490"/>
            <a:ext cx="0" cy="1010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766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BE68A4-5228-4A8C-AC4B-16EBCC0532A2}"/>
              </a:ext>
            </a:extLst>
          </p:cNvPr>
          <p:cNvSpPr txBox="1"/>
          <p:nvPr/>
        </p:nvSpPr>
        <p:spPr>
          <a:xfrm>
            <a:off x="430306" y="605118"/>
            <a:ext cx="613185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1" i="0" dirty="0">
                <a:solidFill>
                  <a:schemeClr val="accent3">
                    <a:lumMod val="50000"/>
                  </a:schemeClr>
                </a:solidFill>
                <a:effectLst/>
                <a:latin typeface="Poppins" panose="00000500000000000000" pitchFamily="2" charset="0"/>
              </a:rPr>
              <a:t>Characteristics of Diode</a:t>
            </a:r>
          </a:p>
          <a:p>
            <a:pPr algn="l"/>
            <a:r>
              <a:rPr lang="en-US" sz="2800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The following are the characteristics of the diode: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Forward-biased diode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Reverse-biased diode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444444"/>
                </a:solidFill>
                <a:effectLst/>
                <a:latin typeface="Poppins" panose="00000500000000000000" pitchFamily="2" charset="0"/>
              </a:rPr>
              <a:t>Zero biased diode</a:t>
            </a:r>
          </a:p>
        </p:txBody>
      </p:sp>
    </p:spTree>
    <p:extLst>
      <p:ext uri="{BB962C8B-B14F-4D97-AF65-F5344CB8AC3E}">
        <p14:creationId xmlns:p14="http://schemas.microsoft.com/office/powerpoint/2010/main" val="1183840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A9DE9D-7E83-44AB-8A3B-30DF1BE6E36D}"/>
              </a:ext>
            </a:extLst>
          </p:cNvPr>
          <p:cNvSpPr txBox="1"/>
          <p:nvPr/>
        </p:nvSpPr>
        <p:spPr>
          <a:xfrm>
            <a:off x="1452281" y="423581"/>
            <a:ext cx="4531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3">
                    <a:lumMod val="50000"/>
                  </a:schemeClr>
                </a:solidFill>
              </a:rPr>
              <a:t>Forward biased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F57DA-D58D-4DA5-844D-E5A40F0356D0}"/>
              </a:ext>
            </a:extLst>
          </p:cNvPr>
          <p:cNvSpPr txBox="1"/>
          <p:nvPr/>
        </p:nvSpPr>
        <p:spPr>
          <a:xfrm>
            <a:off x="1250574" y="1539687"/>
            <a:ext cx="62663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Forward bias meaning is that </a:t>
            </a:r>
            <a:r>
              <a:rPr lang="en-US" sz="2400" b="0" i="0" dirty="0">
                <a:solidFill>
                  <a:srgbClr val="040C28"/>
                </a:solidFill>
                <a:effectLst/>
                <a:latin typeface="Google Sans"/>
              </a:rPr>
              <a:t>the current flows in the forward direction due to the voltage applied in the forward direction</a:t>
            </a:r>
            <a:r>
              <a:rPr lang="en-US" sz="2400" b="0" i="0" dirty="0">
                <a:solidFill>
                  <a:srgbClr val="1F1F1F"/>
                </a:solidFill>
                <a:effectLst/>
                <a:latin typeface="Google Sans"/>
              </a:rPr>
              <a:t>. In forward bias, the p-type(anode) of the semiconductor is connected to the positive end, and the n-type(cathode) is connected to the negative end of the battery.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FF14B2-2EB1-4AE9-9511-80C40BE7C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905" y="1790611"/>
            <a:ext cx="4138748" cy="271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16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1187E2-E164-44D6-8886-24366515C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028" y="734291"/>
            <a:ext cx="9043735" cy="508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282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677907-BDCD-47FF-9F65-B9AA8FD37C14}"/>
              </a:ext>
            </a:extLst>
          </p:cNvPr>
          <p:cNvSpPr txBox="1"/>
          <p:nvPr/>
        </p:nvSpPr>
        <p:spPr>
          <a:xfrm>
            <a:off x="1196786" y="477370"/>
            <a:ext cx="3697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accent3">
                    <a:lumMod val="50000"/>
                  </a:schemeClr>
                </a:solidFill>
              </a:rPr>
              <a:t>Reverse bias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D55AA7-68DB-4483-A510-B080ABC6405B}"/>
              </a:ext>
            </a:extLst>
          </p:cNvPr>
          <p:cNvSpPr txBox="1"/>
          <p:nvPr/>
        </p:nvSpPr>
        <p:spPr>
          <a:xfrm>
            <a:off x="1021974" y="1633816"/>
            <a:ext cx="65487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i="0" dirty="0">
                <a:solidFill>
                  <a:srgbClr val="1F1F1F"/>
                </a:solidFill>
                <a:effectLst/>
                <a:latin typeface="Google Sans"/>
              </a:rPr>
              <a:t>Reverse bias refers to the application of an external voltage across a semiconductor diode so that the positive terminal of the battery is linked to the n-side and the negative terminal is attached to the p-side of the diode.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13E1D6-FB92-4F33-916E-0BD3CC907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296" y="1400700"/>
            <a:ext cx="4185571" cy="307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87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8FC77A-0F28-40C8-9980-F1DCBC0BB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530032"/>
            <a:ext cx="9601200" cy="539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00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06E227-E0F4-4878-8176-AA22ABD124CF}"/>
              </a:ext>
            </a:extLst>
          </p:cNvPr>
          <p:cNvSpPr txBox="1"/>
          <p:nvPr/>
        </p:nvSpPr>
        <p:spPr>
          <a:xfrm>
            <a:off x="1976717" y="746311"/>
            <a:ext cx="2581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3">
                    <a:lumMod val="50000"/>
                  </a:schemeClr>
                </a:solidFill>
              </a:rPr>
              <a:t>Zero bias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3D894-208E-4904-863A-0BA006557255}"/>
              </a:ext>
            </a:extLst>
          </p:cNvPr>
          <p:cNvSpPr txBox="1"/>
          <p:nvPr/>
        </p:nvSpPr>
        <p:spPr>
          <a:xfrm>
            <a:off x="833717" y="1768287"/>
            <a:ext cx="60377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solidFill>
                  <a:srgbClr val="1F1F1F"/>
                </a:solidFill>
                <a:effectLst/>
                <a:latin typeface="Google Sans"/>
              </a:rPr>
              <a:t>Zero bias: </a:t>
            </a:r>
            <a:r>
              <a:rPr lang="en-US" sz="2800" b="0" i="0" dirty="0">
                <a:solidFill>
                  <a:srgbClr val="040C28"/>
                </a:solidFill>
                <a:effectLst/>
                <a:latin typeface="Google Sans"/>
              </a:rPr>
              <a:t>No external voltage is applied to the P-N junction diode there is no external voltage is applied and this means that the potential barrier at the junction does not allow the flow of current.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08493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2A65B4-93F8-4408-8EF2-2DDA82A828F2}"/>
              </a:ext>
            </a:extLst>
          </p:cNvPr>
          <p:cNvSpPr txBox="1"/>
          <p:nvPr/>
        </p:nvSpPr>
        <p:spPr>
          <a:xfrm flipH="1">
            <a:off x="1292627" y="748146"/>
            <a:ext cx="7795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3">
                    <a:lumMod val="50000"/>
                  </a:schemeClr>
                </a:solidFill>
              </a:rPr>
              <a:t>Applications of p-n junction diode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72A06B-C4A3-4323-933F-5DCC117FED77}"/>
              </a:ext>
            </a:extLst>
          </p:cNvPr>
          <p:cNvSpPr txBox="1"/>
          <p:nvPr/>
        </p:nvSpPr>
        <p:spPr>
          <a:xfrm>
            <a:off x="1420089" y="1690254"/>
            <a:ext cx="66294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DC power supply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Rectifier circuit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It can be used as solar cell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It can be used as rectifier in many electric circuit and as voltage controlled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When the diode is in forward biased , it can be used in led lightning application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9114334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131</TotalTime>
  <Words>363</Words>
  <Application>Microsoft Office PowerPoint</Application>
  <PresentationFormat>Widescreen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Gill Sans MT</vt:lpstr>
      <vt:lpstr>Google Sans</vt:lpstr>
      <vt:lpstr>Poppins</vt:lpstr>
      <vt:lpstr>Times New Roman</vt:lpstr>
      <vt:lpstr>Wingdings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Gk</dc:creator>
  <cp:lastModifiedBy>Gk</cp:lastModifiedBy>
  <cp:revision>3</cp:revision>
  <dcterms:created xsi:type="dcterms:W3CDTF">2024-04-23T11:01:19Z</dcterms:created>
  <dcterms:modified xsi:type="dcterms:W3CDTF">2024-04-23T21:50:51Z</dcterms:modified>
</cp:coreProperties>
</file>
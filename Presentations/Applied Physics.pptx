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80" r:id="rId2"/>
    <p:sldId id="259" r:id="rId3"/>
    <p:sldId id="267" r:id="rId4"/>
    <p:sldId id="273" r:id="rId5"/>
    <p:sldId id="295" r:id="rId6"/>
    <p:sldId id="274" r:id="rId7"/>
    <p:sldId id="294" r:id="rId8"/>
    <p:sldId id="313" r:id="rId9"/>
    <p:sldId id="282" r:id="rId10"/>
    <p:sldId id="283" r:id="rId11"/>
    <p:sldId id="284" r:id="rId12"/>
    <p:sldId id="285" r:id="rId13"/>
    <p:sldId id="314" r:id="rId14"/>
    <p:sldId id="315" r:id="rId15"/>
    <p:sldId id="298" r:id="rId16"/>
    <p:sldId id="300" r:id="rId17"/>
    <p:sldId id="269" r:id="rId18"/>
    <p:sldId id="270" r:id="rId19"/>
    <p:sldId id="276" r:id="rId20"/>
    <p:sldId id="310" r:id="rId21"/>
    <p:sldId id="289" r:id="rId22"/>
    <p:sldId id="290" r:id="rId23"/>
    <p:sldId id="291" r:id="rId24"/>
    <p:sldId id="316" r:id="rId25"/>
    <p:sldId id="317" r:id="rId26"/>
    <p:sldId id="304" r:id="rId27"/>
    <p:sldId id="278" r:id="rId28"/>
    <p:sldId id="307" r:id="rId29"/>
    <p:sldId id="308" r:id="rId30"/>
    <p:sldId id="305" r:id="rId31"/>
    <p:sldId id="306" r:id="rId32"/>
    <p:sldId id="309" r:id="rId33"/>
    <p:sldId id="279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99C120-23CE-45A2-B8E5-163CA8752762}" type="datetimeFigureOut">
              <a:rPr lang="en-US" smtClean="0"/>
              <a:t>4/3/2024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A7E340-3197-4F4F-AED0-5CCFE01F0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3345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29FD3-C7B9-4337-90A4-7E4D5D5843F3}" type="datetimeFigureOut">
              <a:rPr lang="en-US" smtClean="0"/>
              <a:t>4/3/2024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6CF41-FE29-47DC-999A-01E36EF22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986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29FD3-C7B9-4337-90A4-7E4D5D5843F3}" type="datetimeFigureOut">
              <a:rPr lang="en-US" smtClean="0"/>
              <a:t>4/3/2024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6CF41-FE29-47DC-999A-01E36EF22616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5"/>
          <p:cNvSpPr txBox="1">
            <a:spLocks/>
          </p:cNvSpPr>
          <p:nvPr userDrawn="1"/>
        </p:nvSpPr>
        <p:spPr>
          <a:xfrm>
            <a:off x="1801504" y="375373"/>
            <a:ext cx="9962865" cy="4462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Straight Connector 7"/>
          <p:cNvCxnSpPr/>
          <p:nvPr userDrawn="1"/>
        </p:nvCxnSpPr>
        <p:spPr>
          <a:xfrm flipV="1">
            <a:off x="0" y="6380139"/>
            <a:ext cx="12192000" cy="13648"/>
          </a:xfrm>
          <a:prstGeom prst="line">
            <a:avLst/>
          </a:prstGeom>
          <a:ln w="76200" cmpd="thickThin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 14"/>
          <p:cNvSpPr txBox="1">
            <a:spLocks/>
          </p:cNvSpPr>
          <p:nvPr userDrawn="1"/>
        </p:nvSpPr>
        <p:spPr>
          <a:xfrm>
            <a:off x="6972869" y="6380139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600" i="1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Applied Physics</a:t>
            </a:r>
            <a:endParaRPr lang="en-US" sz="1600" i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15"/>
          <p:cNvSpPr txBox="1">
            <a:spLocks/>
          </p:cNvSpPr>
          <p:nvPr userDrawn="1"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13F66FA-1D38-4225-99EF-DA3E159AA04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/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3549" y="0"/>
            <a:ext cx="1660501" cy="1196990"/>
          </a:xfrm>
          <a:prstGeom prst="rect">
            <a:avLst/>
          </a:prstGeom>
        </p:spPr>
      </p:pic>
      <p:pic>
        <p:nvPicPr>
          <p:cNvPr id="15" name="Picture 14"/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783" y="0"/>
            <a:ext cx="1660501" cy="1196990"/>
          </a:xfrm>
          <a:prstGeom prst="rect">
            <a:avLst/>
          </a:prstGeom>
        </p:spPr>
      </p:pic>
      <p:cxnSp>
        <p:nvCxnSpPr>
          <p:cNvPr id="16" name="Straight Connector 15"/>
          <p:cNvCxnSpPr/>
          <p:nvPr userDrawn="1"/>
        </p:nvCxnSpPr>
        <p:spPr>
          <a:xfrm flipV="1">
            <a:off x="0" y="1196990"/>
            <a:ext cx="12192000" cy="13648"/>
          </a:xfrm>
          <a:prstGeom prst="line">
            <a:avLst/>
          </a:prstGeom>
          <a:ln w="76200" cmpd="thickThin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Footer Placeholder 14"/>
          <p:cNvSpPr txBox="1">
            <a:spLocks/>
          </p:cNvSpPr>
          <p:nvPr userDrawn="1"/>
        </p:nvSpPr>
        <p:spPr>
          <a:xfrm>
            <a:off x="4253470" y="6410941"/>
            <a:ext cx="29870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i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Instructor : Engr. Asif Ali</a:t>
            </a:r>
            <a:endParaRPr lang="en-US" sz="1600" i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Footer Placeholder 14"/>
          <p:cNvSpPr txBox="1">
            <a:spLocks/>
          </p:cNvSpPr>
          <p:nvPr userDrawn="1"/>
        </p:nvSpPr>
        <p:spPr>
          <a:xfrm>
            <a:off x="120009" y="6410941"/>
            <a:ext cx="14204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600" i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1</a:t>
            </a:r>
            <a:endParaRPr lang="en-US" sz="1600" i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2380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29FD3-C7B9-4337-90A4-7E4D5D5843F3}" type="datetimeFigureOut">
              <a:rPr lang="en-US" smtClean="0"/>
              <a:t>4/3/2024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6CF41-FE29-47DC-999A-01E36EF22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760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29FD3-C7B9-4337-90A4-7E4D5D5843F3}" type="datetimeFigureOut">
              <a:rPr lang="en-US" smtClean="0"/>
              <a:t>4/3/2024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6CF41-FE29-47DC-999A-01E36EF22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8930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29FD3-C7B9-4337-90A4-7E4D5D5843F3}" type="datetimeFigureOut">
              <a:rPr lang="en-US" smtClean="0"/>
              <a:t>4/3/2024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6CF41-FE29-47DC-999A-01E36EF22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4093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29FD3-C7B9-4337-90A4-7E4D5D5843F3}" type="datetimeFigureOut">
              <a:rPr lang="en-US" smtClean="0"/>
              <a:t>4/3/2024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6CF41-FE29-47DC-999A-01E36EF22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463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29FD3-C7B9-4337-90A4-7E4D5D5843F3}" type="datetimeFigureOut">
              <a:rPr lang="en-US" smtClean="0"/>
              <a:t>4/3/2024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6CF41-FE29-47DC-999A-01E36EF22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709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29FD3-C7B9-4337-90A4-7E4D5D5843F3}" type="datetimeFigureOut">
              <a:rPr lang="en-US" smtClean="0"/>
              <a:t>4/3/2024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6CF41-FE29-47DC-999A-01E36EF22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903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29FD3-C7B9-4337-90A4-7E4D5D5843F3}" type="datetimeFigureOut">
              <a:rPr lang="en-US" smtClean="0"/>
              <a:t>4/3/2024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6CF41-FE29-47DC-999A-01E36EF22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5905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29FD3-C7B9-4337-90A4-7E4D5D5843F3}" type="datetimeFigureOut">
              <a:rPr lang="en-US" smtClean="0"/>
              <a:t>4/3/2024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6CF41-FE29-47DC-999A-01E36EF22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4763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29FD3-C7B9-4337-90A4-7E4D5D5843F3}" type="datetimeFigureOut">
              <a:rPr lang="en-US" smtClean="0"/>
              <a:t>4/3/2024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6CF41-FE29-47DC-999A-01E36EF22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219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829FD3-C7B9-4337-90A4-7E4D5D5843F3}" type="datetimeFigureOut">
              <a:rPr lang="en-US" smtClean="0"/>
              <a:t>4/3/2024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56CF41-FE29-47DC-999A-01E36EF22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72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5"/>
          <p:cNvSpPr>
            <a:spLocks noGrp="1"/>
          </p:cNvSpPr>
          <p:nvPr>
            <p:ph type="title" idx="4294967295"/>
          </p:nvPr>
        </p:nvSpPr>
        <p:spPr>
          <a:xfrm>
            <a:off x="1801504" y="375373"/>
            <a:ext cx="9962865" cy="446244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0" y="6380139"/>
            <a:ext cx="12192000" cy="13648"/>
          </a:xfrm>
          <a:prstGeom prst="line">
            <a:avLst/>
          </a:prstGeom>
          <a:ln w="76200" cmpd="thickThin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14"/>
          <p:cNvSpPr>
            <a:spLocks noGrp="1"/>
          </p:cNvSpPr>
          <p:nvPr>
            <p:ph type="ftr" sz="quarter" idx="11"/>
          </p:nvPr>
        </p:nvSpPr>
        <p:spPr>
          <a:xfrm>
            <a:off x="6972869" y="6380139"/>
            <a:ext cx="4114800" cy="365125"/>
          </a:xfrm>
        </p:spPr>
        <p:txBody>
          <a:bodyPr/>
          <a:lstStyle/>
          <a:p>
            <a:pPr algn="r"/>
            <a:r>
              <a:rPr lang="en-US" sz="1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Applied Physics</a:t>
            </a:r>
          </a:p>
        </p:txBody>
      </p:sp>
      <p:sp>
        <p:nvSpPr>
          <p:cNvPr id="7" name="Slide Number Placeholder 1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13F66FA-1D38-4225-99EF-DA3E159AA041}" type="slidenum">
              <a:rPr lang="en-US" smtClean="0"/>
              <a:t>1</a:t>
            </a:fld>
            <a:endParaRPr lang="en-US" dirty="0"/>
          </a:p>
        </p:txBody>
      </p:sp>
      <p:pic>
        <p:nvPicPr>
          <p:cNvPr id="8" name="Picture 7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3549" y="0"/>
            <a:ext cx="1660501" cy="1196990"/>
          </a:xfrm>
          <a:prstGeom prst="rect">
            <a:avLst/>
          </a:prstGeom>
        </p:spPr>
      </p:pic>
      <p:sp>
        <p:nvSpPr>
          <p:cNvPr id="9" name="Title 1"/>
          <p:cNvSpPr txBox="1">
            <a:spLocks/>
          </p:cNvSpPr>
          <p:nvPr/>
        </p:nvSpPr>
        <p:spPr>
          <a:xfrm>
            <a:off x="507466" y="1538352"/>
            <a:ext cx="6048470" cy="18251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Rectifier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Half Wave Rectifier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Full Wave Rectifier</a:t>
            </a:r>
            <a:endParaRPr lang="en-US" sz="40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ubtitle 2"/>
          <p:cNvSpPr txBox="1">
            <a:spLocks/>
          </p:cNvSpPr>
          <p:nvPr/>
        </p:nvSpPr>
        <p:spPr>
          <a:xfrm>
            <a:off x="3722941" y="4307970"/>
            <a:ext cx="9128394" cy="1886509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By:     Mushtaque Ali </a:t>
            </a:r>
          </a:p>
          <a:p>
            <a:pPr marL="0" indent="0" algn="ctr">
              <a:buNone/>
            </a:pPr>
            <a:r>
              <a:rPr lang="en-US" sz="3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&amp;</a:t>
            </a:r>
          </a:p>
          <a:p>
            <a:pPr marL="0" indent="0" algn="ctr">
              <a:buNone/>
            </a:pPr>
            <a:r>
              <a:rPr lang="en-US" sz="3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Saqib Hussain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itle 1"/>
          <p:cNvSpPr txBox="1">
            <a:spLocks/>
          </p:cNvSpPr>
          <p:nvPr/>
        </p:nvSpPr>
        <p:spPr>
          <a:xfrm>
            <a:off x="2847509" y="223210"/>
            <a:ext cx="6489031" cy="7505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Physics</a:t>
            </a:r>
          </a:p>
          <a:p>
            <a:pPr algn="ctr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(Computer Science Department)</a:t>
            </a:r>
          </a:p>
        </p:txBody>
      </p:sp>
      <p:pic>
        <p:nvPicPr>
          <p:cNvPr id="12" name="Picture 11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783" y="0"/>
            <a:ext cx="1660501" cy="1196990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 flipV="1">
            <a:off x="0" y="1196990"/>
            <a:ext cx="12192000" cy="13648"/>
          </a:xfrm>
          <a:prstGeom prst="line">
            <a:avLst/>
          </a:prstGeom>
          <a:ln w="76200" cmpd="thickThin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14"/>
          <p:cNvSpPr txBox="1">
            <a:spLocks/>
          </p:cNvSpPr>
          <p:nvPr/>
        </p:nvSpPr>
        <p:spPr>
          <a:xfrm>
            <a:off x="120009" y="6410941"/>
            <a:ext cx="14204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sz="1600" i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998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838200" y="-118200"/>
            <a:ext cx="10515600" cy="1325563"/>
          </a:xfrm>
        </p:spPr>
        <p:txBody>
          <a:bodyPr/>
          <a:lstStyle/>
          <a:p>
            <a:pPr algn="ctr"/>
            <a:r>
              <a:rPr lang="en-US" sz="4800" b="1" dirty="0" smtClean="0">
                <a:solidFill>
                  <a:schemeClr val="accent1">
                    <a:lumMod val="50000"/>
                  </a:schemeClr>
                </a:solidFill>
              </a:rPr>
              <a:t>Rectifier</a:t>
            </a:r>
            <a:endParaRPr lang="en-US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4294967295"/>
          </p:nvPr>
        </p:nvSpPr>
        <p:spPr>
          <a:xfrm>
            <a:off x="838200" y="2230574"/>
            <a:ext cx="10515600" cy="245899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3000" b="1" dirty="0" smtClean="0">
                <a:solidFill>
                  <a:schemeClr val="accent1">
                    <a:lumMod val="50000"/>
                  </a:schemeClr>
                </a:solidFill>
              </a:rPr>
              <a:t>Rectifier</a:t>
            </a:r>
          </a:p>
          <a:p>
            <a:r>
              <a:rPr lang="en-US" dirty="0" smtClean="0"/>
              <a:t>A rectifier is an electronic device used to convert alternating current (AC) into direct current (DC).</a:t>
            </a:r>
          </a:p>
          <a:p>
            <a:r>
              <a:rPr lang="en-US" dirty="0" smtClean="0"/>
              <a:t>This process is known as rectification.</a:t>
            </a:r>
            <a:endParaRPr lang="en-US" dirty="0"/>
          </a:p>
          <a:p>
            <a:r>
              <a:rPr lang="en-US" dirty="0"/>
              <a:t>A rectifier, </a:t>
            </a:r>
            <a:r>
              <a:rPr lang="en-US" dirty="0" smtClean="0"/>
              <a:t>consists </a:t>
            </a:r>
            <a:r>
              <a:rPr lang="en-US" dirty="0"/>
              <a:t>of a transformer, a diode, and a filter circuit. All of these collectively convert AC to </a:t>
            </a:r>
            <a:r>
              <a:rPr lang="en-US" dirty="0" smtClean="0"/>
              <a:t>DC.</a:t>
            </a:r>
          </a:p>
        </p:txBody>
      </p:sp>
    </p:spTree>
    <p:extLst>
      <p:ext uri="{BB962C8B-B14F-4D97-AF65-F5344CB8AC3E}">
        <p14:creationId xmlns:p14="http://schemas.microsoft.com/office/powerpoint/2010/main" val="1650546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32-diode-3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154" y="1254034"/>
            <a:ext cx="10332720" cy="4937760"/>
          </a:xfrm>
          <a:prstGeom prst="rect">
            <a:avLst/>
          </a:prstGeom>
        </p:spPr>
      </p:pic>
      <p:sp>
        <p:nvSpPr>
          <p:cNvPr id="4" name="Title 1"/>
          <p:cNvSpPr txBox="1">
            <a:spLocks/>
          </p:cNvSpPr>
          <p:nvPr/>
        </p:nvSpPr>
        <p:spPr>
          <a:xfrm>
            <a:off x="2847509" y="223210"/>
            <a:ext cx="6489031" cy="7505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Physics</a:t>
            </a:r>
          </a:p>
          <a:p>
            <a:pPr algn="ctr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(Computer Science Department)</a:t>
            </a:r>
          </a:p>
        </p:txBody>
      </p:sp>
    </p:spTree>
    <p:extLst>
      <p:ext uri="{BB962C8B-B14F-4D97-AF65-F5344CB8AC3E}">
        <p14:creationId xmlns:p14="http://schemas.microsoft.com/office/powerpoint/2010/main" val="3608958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38200" y="38558"/>
            <a:ext cx="10515600" cy="1228544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Half-wave rectifier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838200" y="2113009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</a:rPr>
              <a:t>Half-wave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rectifier</a:t>
            </a:r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</a:rPr>
              <a:t>:</a:t>
            </a:r>
          </a:p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dirty="0"/>
              <a:t>A rectifier that converts alternating current (AC) into direct current (DC) by allowing current flow in only one direction during half of the AC cycle, using a single diode.</a:t>
            </a:r>
          </a:p>
          <a:p>
            <a:r>
              <a:rPr lang="en-US" dirty="0" smtClean="0"/>
              <a:t>In Half wave rectification, the rectifier conducts current during positive half cycle of input AC signal only.</a:t>
            </a:r>
          </a:p>
          <a:p>
            <a:r>
              <a:rPr lang="en-US" dirty="0" smtClean="0"/>
              <a:t>Negative half cycle is suppressed.</a:t>
            </a:r>
          </a:p>
        </p:txBody>
      </p:sp>
    </p:spTree>
    <p:extLst>
      <p:ext uri="{BB962C8B-B14F-4D97-AF65-F5344CB8AC3E}">
        <p14:creationId xmlns:p14="http://schemas.microsoft.com/office/powerpoint/2010/main" val="2432762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 txBox="1">
            <a:spLocks/>
          </p:cNvSpPr>
          <p:nvPr/>
        </p:nvSpPr>
        <p:spPr>
          <a:xfrm>
            <a:off x="1314994" y="1451036"/>
            <a:ext cx="8782594" cy="4735289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Wingdings 2" panose="05020102010507070707" pitchFamily="18" charset="2"/>
              <a:buNone/>
              <a:defRPr/>
            </a:pP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>Circuit details and working mechanism:</a:t>
            </a:r>
          </a:p>
          <a:p>
            <a:pPr marL="0" indent="0" algn="just">
              <a:buFont typeface="Wingdings 2" panose="05020102010507070707" pitchFamily="18" charset="2"/>
              <a:buNone/>
              <a:defRPr/>
            </a:pPr>
            <a:endParaRPr lang="en-US" dirty="0" smtClean="0"/>
          </a:p>
          <a:p>
            <a:pPr marL="0" indent="0" algn="just">
              <a:buFont typeface="Wingdings 2" panose="05020102010507070707" pitchFamily="18" charset="2"/>
              <a:buNone/>
              <a:defRPr/>
            </a:pPr>
            <a:endParaRPr lang="en-US" dirty="0" smtClean="0"/>
          </a:p>
          <a:p>
            <a:pPr marL="0" indent="0" algn="just">
              <a:buFont typeface="Wingdings 2" panose="05020102010507070707" pitchFamily="18" charset="2"/>
              <a:buNone/>
              <a:defRPr/>
            </a:pPr>
            <a:endParaRPr lang="en-US" dirty="0" smtClean="0"/>
          </a:p>
          <a:p>
            <a:pPr marL="0" indent="0" algn="just">
              <a:buFont typeface="Wingdings 2" panose="05020102010507070707" pitchFamily="18" charset="2"/>
              <a:buNone/>
              <a:defRPr/>
            </a:pPr>
            <a:endParaRPr lang="en-US" dirty="0" smtClean="0"/>
          </a:p>
          <a:p>
            <a:pPr marL="0" indent="0" algn="just">
              <a:buFont typeface="Wingdings 2" panose="05020102010507070707" pitchFamily="18" charset="2"/>
              <a:buNone/>
              <a:defRPr/>
            </a:pPr>
            <a:endParaRPr lang="en-US" dirty="0" smtClean="0"/>
          </a:p>
          <a:p>
            <a:pPr marL="0" indent="0" algn="just">
              <a:buFont typeface="Wingdings 2" panose="05020102010507070707" pitchFamily="18" charset="2"/>
              <a:buNone/>
              <a:defRPr/>
            </a:pPr>
            <a:endParaRPr lang="en-US" dirty="0" smtClean="0"/>
          </a:p>
          <a:p>
            <a:pPr algn="just">
              <a:defRPr/>
            </a:pPr>
            <a:r>
              <a:rPr lang="en-US" dirty="0" smtClean="0"/>
              <a:t>The output across the load is pulsating </a:t>
            </a:r>
            <a:r>
              <a:rPr lang="en-US" dirty="0" err="1" smtClean="0"/>
              <a:t>d.c.</a:t>
            </a:r>
            <a:endParaRPr lang="en-US" dirty="0" smtClean="0"/>
          </a:p>
          <a:p>
            <a:pPr marL="0" indent="0" algn="just">
              <a:buFont typeface="Wingdings 2" panose="05020102010507070707" pitchFamily="18" charset="2"/>
              <a:buNone/>
              <a:defRPr/>
            </a:pPr>
            <a:endParaRPr lang="en-US" dirty="0" smtClean="0"/>
          </a:p>
          <a:p>
            <a:pPr marL="0" indent="0" algn="just">
              <a:buFont typeface="Wingdings 2" panose="05020102010507070707" pitchFamily="18" charset="2"/>
              <a:buNone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8290560" y="7633790"/>
            <a:ext cx="763704" cy="30253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fld id="{2DF89BCA-1904-4351-B211-0A792029E1F1}" type="slidenum">
              <a:rPr lang="en-US" altLang="en-US" smtClean="0">
                <a:solidFill>
                  <a:srgbClr val="4A566A"/>
                </a:solidFill>
              </a:rPr>
              <a:pPr/>
              <a:t>5</a:t>
            </a:fld>
            <a:endParaRPr lang="en-US" altLang="en-US" smtClean="0">
              <a:solidFill>
                <a:srgbClr val="4A566A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0679" y="2002973"/>
            <a:ext cx="8416653" cy="2455760"/>
          </a:xfrm>
          <a:prstGeom prst="rect">
            <a:avLst/>
          </a:prstGeom>
          <a:ln w="38100" cap="sq">
            <a:solidFill>
              <a:schemeClr val="accent1">
                <a:lumMod val="50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3313612" y="311272"/>
            <a:ext cx="6731726" cy="69450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b="1" dirty="0" smtClean="0">
                <a:solidFill>
                  <a:schemeClr val="accent1">
                    <a:lumMod val="75000"/>
                  </a:schemeClr>
                </a:solidFill>
              </a:rPr>
              <a:t>Half-wave rectifier </a:t>
            </a:r>
          </a:p>
        </p:txBody>
      </p:sp>
    </p:spTree>
    <p:extLst>
      <p:ext uri="{BB962C8B-B14F-4D97-AF65-F5344CB8AC3E}">
        <p14:creationId xmlns:p14="http://schemas.microsoft.com/office/powerpoint/2010/main" val="2329429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06-half-wave-rectifier-full-wave-rectifier-with-their-descriptions-6-638.jpg"/>
          <p:cNvPicPr>
            <a:picLocks noChangeAspect="1"/>
          </p:cNvPicPr>
          <p:nvPr/>
        </p:nvPicPr>
        <p:blipFill rotWithShape="1">
          <a:blip r:embed="rId2"/>
          <a:srcRect t="19676"/>
          <a:stretch/>
        </p:blipFill>
        <p:spPr>
          <a:xfrm>
            <a:off x="1502229" y="1959427"/>
            <a:ext cx="9183188" cy="3892732"/>
          </a:xfrm>
          <a:prstGeom prst="rect">
            <a:avLst/>
          </a:prstGeom>
        </p:spPr>
      </p:pic>
      <p:sp>
        <p:nvSpPr>
          <p:cNvPr id="4" name="Title 1"/>
          <p:cNvSpPr txBox="1">
            <a:spLocks/>
          </p:cNvSpPr>
          <p:nvPr/>
        </p:nvSpPr>
        <p:spPr>
          <a:xfrm>
            <a:off x="2847509" y="223210"/>
            <a:ext cx="6489031" cy="7505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Operation</a:t>
            </a:r>
            <a:endParaRPr lang="en-US" sz="18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9323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1928948" y="418011"/>
            <a:ext cx="8763000" cy="838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600" b="1" dirty="0" smtClean="0">
                <a:solidFill>
                  <a:schemeClr val="accent1">
                    <a:lumMod val="75000"/>
                  </a:schemeClr>
                </a:solidFill>
              </a:rPr>
              <a:t>Output frequency of half-wave rectifier:</a:t>
            </a: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1090748" y="1469570"/>
            <a:ext cx="4419600" cy="425631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altLang="en-US" sz="2400" dirty="0" smtClean="0">
                <a:solidFill>
                  <a:schemeClr val="accent1">
                    <a:lumMod val="75000"/>
                  </a:schemeClr>
                </a:solidFill>
              </a:rPr>
              <a:t>Frequency:</a:t>
            </a:r>
          </a:p>
          <a:p>
            <a:pPr marL="0" indent="0" algn="just">
              <a:buNone/>
            </a:pPr>
            <a:r>
              <a:rPr lang="en-US" altLang="en-US" sz="2400" i="1" dirty="0" smtClean="0"/>
              <a:t>The number of waves that pass a given point in one second.</a:t>
            </a:r>
            <a:r>
              <a:rPr lang="en-US" altLang="en-US" sz="24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  <a:p>
            <a:pPr marL="0" indent="0" algn="just">
              <a:buNone/>
            </a:pPr>
            <a:endParaRPr lang="en-US" altLang="en-US" sz="2400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algn="just"/>
            <a:r>
              <a:rPr lang="en-US" altLang="en-US" sz="2400" dirty="0" smtClean="0"/>
              <a:t>The output frequency of half-wave rectifier is equal to the input </a:t>
            </a:r>
            <a:r>
              <a:rPr lang="en-US" altLang="en-US" sz="2400" smtClean="0"/>
              <a:t>frequency .</a:t>
            </a:r>
            <a:endParaRPr lang="en-US" altLang="en-US" sz="2400" dirty="0" smtClean="0"/>
          </a:p>
          <a:p>
            <a:pPr algn="just"/>
            <a:endParaRPr lang="en-US" altLang="en-US" sz="2400" dirty="0" smtClean="0"/>
          </a:p>
          <a:p>
            <a:pPr algn="just"/>
            <a:endParaRPr lang="en-US" altLang="en-US" sz="24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9701348" y="6774361"/>
            <a:ext cx="7620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fld id="{5E2E0DF4-0D4B-40A7-A013-3424799ACFBF}" type="slidenum">
              <a:rPr lang="en-US" altLang="en-US" smtClean="0">
                <a:solidFill>
                  <a:srgbClr val="4A566A"/>
                </a:solidFill>
              </a:rPr>
              <a:pPr/>
              <a:t>7</a:t>
            </a:fld>
            <a:endParaRPr lang="en-US" altLang="en-US" smtClean="0">
              <a:solidFill>
                <a:srgbClr val="4A566A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1773" y="1521823"/>
            <a:ext cx="3711575" cy="4295503"/>
          </a:xfrm>
          <a:prstGeom prst="rect">
            <a:avLst/>
          </a:prstGeom>
          <a:ln w="38100" cap="sq">
            <a:solidFill>
              <a:schemeClr val="accent1">
                <a:lumMod val="50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5148" y="4345168"/>
            <a:ext cx="2590800" cy="858838"/>
          </a:xfrm>
          <a:prstGeom prst="rect">
            <a:avLst/>
          </a:prstGeom>
          <a:ln w="38100" cap="sq">
            <a:solidFill>
              <a:schemeClr val="accent1">
                <a:lumMod val="50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05336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45920" y="2521131"/>
            <a:ext cx="813816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000" b="1" dirty="0">
                <a:solidFill>
                  <a:schemeClr val="accent1">
                    <a:lumMod val="50000"/>
                  </a:schemeClr>
                </a:solidFill>
              </a:rPr>
              <a:t>Half Wave Rectifier Circuit Analysis</a:t>
            </a:r>
            <a:endParaRPr lang="en-US" sz="6000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82851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91736" y="187875"/>
            <a:ext cx="98432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accent1">
                    <a:lumMod val="50000"/>
                  </a:schemeClr>
                </a:solidFill>
              </a:rPr>
              <a:t>Half Wave Rectifier Circuit Analysis</a:t>
            </a:r>
            <a:endParaRPr lang="en-US" sz="40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9588" y="1916014"/>
            <a:ext cx="10031506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US" sz="2400" b="1" dirty="0" smtClean="0">
                <a:solidFill>
                  <a:schemeClr val="accent5">
                    <a:lumMod val="50000"/>
                  </a:schemeClr>
                </a:solidFill>
              </a:rPr>
              <a:t>Peak Inverse Voltage (PIV)</a:t>
            </a:r>
          </a:p>
          <a:p>
            <a:pPr marL="457200" indent="-457200">
              <a:buAutoNum type="arabicPeriod"/>
            </a:pPr>
            <a:endParaRPr lang="en-US" sz="2400" b="1" dirty="0" smtClean="0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en-US" sz="2800" b="1" dirty="0" smtClean="0">
                <a:solidFill>
                  <a:schemeClr val="accent5">
                    <a:lumMod val="50000"/>
                  </a:schemeClr>
                </a:solidFill>
              </a:rPr>
              <a:t>	</a:t>
            </a:r>
            <a:r>
              <a:rPr lang="en-US" sz="2800" dirty="0" smtClean="0"/>
              <a:t>The peak inverse voltage is either the specified maximum voltage that a diode rectifier can block, or, alternatively, the maximum voltage that a rectifier needs to block in a given circuit.</a:t>
            </a:r>
          </a:p>
          <a:p>
            <a:endParaRPr lang="en-US" sz="2800" b="1" dirty="0"/>
          </a:p>
          <a:p>
            <a:r>
              <a:rPr lang="en-US" sz="2400" b="1" dirty="0" smtClean="0"/>
              <a:t>				</a:t>
            </a:r>
            <a:r>
              <a:rPr lang="en-US" sz="2800" b="1" dirty="0" smtClean="0"/>
              <a:t>PIV=Vs</a:t>
            </a:r>
            <a:r>
              <a:rPr lang="en-US" sz="2800" b="1" baseline="-25000" dirty="0" smtClean="0"/>
              <a:t>(max)</a:t>
            </a:r>
            <a:r>
              <a:rPr lang="en-US" sz="2800" b="1" dirty="0" smtClean="0"/>
              <a:t> </a:t>
            </a:r>
            <a:endParaRPr lang="en-US" sz="2300" b="1" dirty="0"/>
          </a:p>
        </p:txBody>
      </p:sp>
    </p:spTree>
    <p:extLst>
      <p:ext uri="{BB962C8B-B14F-4D97-AF65-F5344CB8AC3E}">
        <p14:creationId xmlns:p14="http://schemas.microsoft.com/office/powerpoint/2010/main" val="1864483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30923" y="253189"/>
            <a:ext cx="98432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accent1">
                    <a:lumMod val="50000"/>
                  </a:schemeClr>
                </a:solidFill>
              </a:rPr>
              <a:t>Half Wave Rectifier Circuit Analysis</a:t>
            </a:r>
            <a:endParaRPr lang="en-US" sz="40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1078840" y="2007838"/>
                <a:ext cx="10031506" cy="2958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AutoNum type="arabicPeriod" startAt="2"/>
                </a:pPr>
                <a:r>
                  <a:rPr lang="en-US" sz="2400" b="1" dirty="0" smtClean="0">
                    <a:solidFill>
                      <a:schemeClr val="accent5">
                        <a:lumMod val="50000"/>
                      </a:schemeClr>
                    </a:solidFill>
                  </a:rPr>
                  <a:t>Average and Peak Current in the diode </a:t>
                </a:r>
                <a:r>
                  <a:rPr lang="en-US" sz="2400" b="1" dirty="0" smtClean="0">
                    <a:solidFill>
                      <a:schemeClr val="accent1">
                        <a:lumMod val="75000"/>
                      </a:schemeClr>
                    </a:solidFill>
                  </a:rPr>
                  <a:t>( I</a:t>
                </a:r>
                <a:r>
                  <a:rPr lang="en-US" sz="2400" b="1" baseline="-25000" dirty="0" smtClean="0">
                    <a:solidFill>
                      <a:schemeClr val="accent1">
                        <a:lumMod val="75000"/>
                      </a:schemeClr>
                    </a:solidFill>
                  </a:rPr>
                  <a:t>max </a:t>
                </a:r>
                <a:r>
                  <a:rPr lang="en-US" sz="2400" b="1" dirty="0" smtClean="0">
                    <a:solidFill>
                      <a:schemeClr val="accent1">
                        <a:lumMod val="75000"/>
                      </a:schemeClr>
                    </a:solidFill>
                  </a:rPr>
                  <a:t>)</a:t>
                </a:r>
              </a:p>
              <a:p>
                <a:pPr marL="457200" indent="-457200">
                  <a:buAutoNum type="arabicPeriod" startAt="2"/>
                </a:pPr>
                <a:endParaRPr lang="en-US" sz="2400" b="1" dirty="0" smtClean="0">
                  <a:solidFill>
                    <a:schemeClr val="accent1">
                      <a:lumMod val="75000"/>
                    </a:schemeClr>
                  </a:solidFill>
                </a:endParaRPr>
              </a:p>
              <a:p>
                <a:r>
                  <a:rPr lang="en-US" sz="2400" b="1" dirty="0" smtClean="0">
                    <a:solidFill>
                      <a:schemeClr val="accent5">
                        <a:lumMod val="50000"/>
                      </a:schemeClr>
                    </a:solidFill>
                  </a:rPr>
                  <a:t>	</a:t>
                </a:r>
                <a:r>
                  <a:rPr lang="en-US" sz="2400" dirty="0" smtClean="0"/>
                  <a:t>The maximum current flowing through the diode </a:t>
                </a:r>
              </a:p>
              <a:p>
                <a:endParaRPr lang="en-US" sz="2400" b="1" dirty="0"/>
              </a:p>
              <a:p>
                <a:r>
                  <a:rPr lang="en-US" sz="2400" b="1" dirty="0" smtClean="0"/>
                  <a:t>				</a:t>
                </a:r>
                <a:r>
                  <a:rPr lang="en-US" sz="2800" b="1" dirty="0"/>
                  <a:t>I</a:t>
                </a:r>
                <a:r>
                  <a:rPr lang="en-US" sz="2800" b="1" baseline="-25000" dirty="0" smtClean="0"/>
                  <a:t>(max)</a:t>
                </a:r>
                <a:r>
                  <a:rPr lang="en-US" sz="2800" b="1" dirty="0" smtClean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800" b="1" dirty="0"/>
                          <m:t>Vs</m:t>
                        </m:r>
                        <m:r>
                          <m:rPr>
                            <m:nor/>
                          </m:rPr>
                          <a:rPr lang="en-US" sz="2800" b="1" baseline="-25000" dirty="0"/>
                          <m:t>(</m:t>
                        </m:r>
                        <m:r>
                          <m:rPr>
                            <m:nor/>
                          </m:rPr>
                          <a:rPr lang="en-US" sz="2800" b="1" baseline="-25000" dirty="0"/>
                          <m:t>max</m:t>
                        </m:r>
                        <m:r>
                          <m:rPr>
                            <m:nor/>
                          </m:rPr>
                          <a:rPr lang="en-US" sz="2800" b="1" baseline="-25000" dirty="0"/>
                          <m:t>)</m:t>
                        </m:r>
                      </m:num>
                      <m:den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𝑹</m:t>
                        </m:r>
                        <m:r>
                          <a:rPr lang="en-US" sz="2800" b="1" i="1" baseline="-25000" dirty="0" smtClean="0">
                            <a:latin typeface="Cambria Math" panose="02040503050406030204" pitchFamily="18" charset="0"/>
                          </a:rPr>
                          <m:t>𝑭</m:t>
                        </m:r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𝑹𝑳</m:t>
                        </m:r>
                      </m:den>
                    </m:f>
                  </m:oMath>
                </a14:m>
                <a:endParaRPr lang="en-US" sz="2300" b="1" dirty="0" smtClean="0"/>
              </a:p>
              <a:p>
                <a:endParaRPr lang="en-US" sz="2300" dirty="0"/>
              </a:p>
              <a:p>
                <a:r>
                  <a:rPr lang="en-US" sz="2300" dirty="0" smtClean="0"/>
                  <a:t>Where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sz="2400" b="1" i="1" baseline="-25000" dirty="0" smtClean="0">
                        <a:latin typeface="Cambria Math" panose="02040503050406030204" pitchFamily="18" charset="0"/>
                      </a:rPr>
                      <m:t>𝑭</m:t>
                    </m:r>
                  </m:oMath>
                </a14:m>
                <a:r>
                  <a:rPr lang="en-US" sz="2300" dirty="0" smtClean="0"/>
                  <a:t> is forward resistance of diode and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</a:rPr>
                      <m:t>𝑹</m:t>
                    </m:r>
                    <m:r>
                      <m:rPr>
                        <m:nor/>
                      </m:rPr>
                      <a:rPr lang="en-US" sz="2400" b="1" i="0" baseline="-25000" dirty="0" smtClean="0"/>
                      <m:t>L</m:t>
                    </m:r>
                  </m:oMath>
                </a14:m>
                <a:r>
                  <a:rPr lang="en-US" sz="2300" dirty="0" smtClean="0"/>
                  <a:t> is load resistance</a:t>
                </a:r>
                <a:endParaRPr lang="en-US" sz="23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8840" y="2007838"/>
                <a:ext cx="10031506" cy="2958054"/>
              </a:xfrm>
              <a:prstGeom prst="rect">
                <a:avLst/>
              </a:prstGeom>
              <a:blipFill>
                <a:blip r:embed="rId2"/>
                <a:stretch>
                  <a:fillRect l="-972" t="-1852" b="-34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8557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2366" y="305437"/>
            <a:ext cx="98432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accent1">
                    <a:lumMod val="50000"/>
                  </a:schemeClr>
                </a:solidFill>
              </a:rPr>
              <a:t>Half Wave Rectifier Circuit Analysis</a:t>
            </a:r>
            <a:endParaRPr lang="en-US" sz="40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3342" y="2160169"/>
            <a:ext cx="10058400" cy="41255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34954" y="1582526"/>
            <a:ext cx="9119551" cy="1554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5">
                    <a:lumMod val="50000"/>
                  </a:schemeClr>
                </a:solidFill>
              </a:rPr>
              <a:t>3</a:t>
            </a:r>
            <a:r>
              <a:rPr lang="en-US" sz="2400" b="1" dirty="0" smtClean="0">
                <a:solidFill>
                  <a:schemeClr val="accent5">
                    <a:lumMod val="50000"/>
                  </a:schemeClr>
                </a:solidFill>
              </a:rPr>
              <a:t>.     </a:t>
            </a:r>
            <a:r>
              <a:rPr lang="en-US" sz="2400" b="1" dirty="0" smtClean="0">
                <a:solidFill>
                  <a:schemeClr val="accent5">
                    <a:lumMod val="50000"/>
                  </a:schemeClr>
                </a:solidFill>
              </a:rPr>
              <a:t>DC output Current </a:t>
            </a:r>
            <a:r>
              <a:rPr lang="en-US" sz="2400" b="1" dirty="0" smtClean="0">
                <a:solidFill>
                  <a:schemeClr val="accent1">
                    <a:lumMod val="75000"/>
                  </a:schemeClr>
                </a:solidFill>
              </a:rPr>
              <a:t>( I</a:t>
            </a:r>
            <a:r>
              <a:rPr lang="en-US" sz="2400" b="1" baseline="-25000" dirty="0" smtClean="0">
                <a:solidFill>
                  <a:schemeClr val="accent1">
                    <a:lumMod val="75000"/>
                  </a:schemeClr>
                </a:solidFill>
              </a:rPr>
              <a:t>DC </a:t>
            </a:r>
            <a:r>
              <a:rPr lang="en-US" sz="2400" b="1" dirty="0" smtClean="0">
                <a:solidFill>
                  <a:schemeClr val="accent1">
                    <a:lumMod val="75000"/>
                  </a:schemeClr>
                </a:solidFill>
              </a:rPr>
              <a:t>)</a:t>
            </a:r>
          </a:p>
          <a:p>
            <a:r>
              <a:rPr lang="en-US" sz="2400" b="1" dirty="0" smtClean="0">
                <a:solidFill>
                  <a:schemeClr val="accent5">
                    <a:lumMod val="50000"/>
                  </a:schemeClr>
                </a:solidFill>
              </a:rPr>
              <a:t>   </a:t>
            </a:r>
            <a:r>
              <a:rPr lang="en-US" sz="2400" dirty="0" smtClean="0"/>
              <a:t>The DC output Current is given as  </a:t>
            </a:r>
            <a:endParaRPr lang="en-US" sz="2400" b="1" dirty="0"/>
          </a:p>
          <a:p>
            <a:r>
              <a:rPr lang="en-US" sz="2400" b="1" dirty="0" smtClean="0"/>
              <a:t>			</a:t>
            </a:r>
            <a:endParaRPr lang="en-US" sz="2300" b="1" dirty="0" smtClean="0"/>
          </a:p>
          <a:p>
            <a:endParaRPr lang="en-US" sz="2300" dirty="0"/>
          </a:p>
        </p:txBody>
      </p:sp>
    </p:spTree>
    <p:extLst>
      <p:ext uri="{BB962C8B-B14F-4D97-AF65-F5344CB8AC3E}">
        <p14:creationId xmlns:p14="http://schemas.microsoft.com/office/powerpoint/2010/main" val="576584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30923" y="331566"/>
            <a:ext cx="98432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accent1">
                    <a:lumMod val="50000"/>
                  </a:schemeClr>
                </a:solidFill>
              </a:rPr>
              <a:t>Half Wave Rectifier Circuit Analysis</a:t>
            </a:r>
            <a:endParaRPr lang="en-US" sz="40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00" y="2254297"/>
            <a:ext cx="7924800" cy="407926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55581" y="1697425"/>
            <a:ext cx="6096000" cy="172354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4</a:t>
            </a:r>
            <a:r>
              <a:rPr lang="en-US" sz="2800" b="1" dirty="0" smtClean="0">
                <a:solidFill>
                  <a:schemeClr val="accent5">
                    <a:lumMod val="50000"/>
                  </a:schemeClr>
                </a:solidFill>
              </a:rPr>
              <a:t>.</a:t>
            </a:r>
            <a:r>
              <a:rPr lang="en-US" b="1" dirty="0" smtClean="0">
                <a:solidFill>
                  <a:schemeClr val="accent5">
                    <a:lumMod val="50000"/>
                  </a:schemeClr>
                </a:solidFill>
              </a:rPr>
              <a:t>    </a:t>
            </a:r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DC output Voltage </a:t>
            </a: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</a:rPr>
              <a:t>( V</a:t>
            </a:r>
            <a:r>
              <a:rPr lang="en-US" sz="2800" b="1" baseline="-25000" dirty="0">
                <a:solidFill>
                  <a:schemeClr val="accent1">
                    <a:lumMod val="75000"/>
                  </a:schemeClr>
                </a:solidFill>
              </a:rPr>
              <a:t>DC </a:t>
            </a: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</a:rPr>
              <a:t>)</a:t>
            </a:r>
          </a:p>
          <a:p>
            <a:pPr marL="457200" indent="-457200">
              <a:buAutoNum type="arabicPeriod" startAt="2"/>
            </a:pP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	</a:t>
            </a:r>
            <a:r>
              <a:rPr lang="en-US" sz="2400" dirty="0"/>
              <a:t>The DC output Voltage is given as</a:t>
            </a:r>
            <a:r>
              <a:rPr lang="en-US" dirty="0"/>
              <a:t> 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1633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39484" y="266250"/>
            <a:ext cx="98432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accent1">
                    <a:lumMod val="50000"/>
                  </a:schemeClr>
                </a:solidFill>
              </a:rPr>
              <a:t>Half Wave Rectifier Circuit Analysis</a:t>
            </a:r>
            <a:endParaRPr lang="en-US" sz="40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1183339" y="1837637"/>
                <a:ext cx="10031506" cy="43111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chemeClr val="accent5">
                        <a:lumMod val="50000"/>
                      </a:schemeClr>
                    </a:solidFill>
                  </a:rPr>
                  <a:t>5</a:t>
                </a:r>
                <a:r>
                  <a:rPr lang="en-US" sz="2400" b="1" dirty="0" smtClean="0">
                    <a:solidFill>
                      <a:schemeClr val="accent5">
                        <a:lumMod val="50000"/>
                      </a:schemeClr>
                    </a:solidFill>
                  </a:rPr>
                  <a:t>.    </a:t>
                </a:r>
                <a:r>
                  <a:rPr lang="en-US" sz="2400" b="1" dirty="0" smtClean="0">
                    <a:solidFill>
                      <a:schemeClr val="accent5">
                        <a:lumMod val="50000"/>
                      </a:schemeClr>
                    </a:solidFill>
                  </a:rPr>
                  <a:t>Root Mean Square Value of AC Current </a:t>
                </a:r>
                <a:r>
                  <a:rPr lang="en-US" sz="2400" b="1" dirty="0" smtClean="0">
                    <a:solidFill>
                      <a:schemeClr val="accent1">
                        <a:lumMod val="75000"/>
                      </a:schemeClr>
                    </a:solidFill>
                  </a:rPr>
                  <a:t>( I </a:t>
                </a:r>
                <a:r>
                  <a:rPr lang="en-US" sz="2400" b="1" baseline="-25000" dirty="0" err="1" smtClean="0">
                    <a:solidFill>
                      <a:schemeClr val="accent1">
                        <a:lumMod val="75000"/>
                      </a:schemeClr>
                    </a:solidFill>
                  </a:rPr>
                  <a:t>rms</a:t>
                </a:r>
                <a:r>
                  <a:rPr lang="en-US" sz="2400" b="1" baseline="-25000" dirty="0" smtClean="0">
                    <a:solidFill>
                      <a:schemeClr val="accent1">
                        <a:lumMod val="75000"/>
                      </a:schemeClr>
                    </a:solidFill>
                  </a:rPr>
                  <a:t> </a:t>
                </a:r>
                <a:r>
                  <a:rPr lang="en-US" sz="2400" b="1" dirty="0" smtClean="0">
                    <a:solidFill>
                      <a:schemeClr val="accent1">
                        <a:lumMod val="75000"/>
                      </a:schemeClr>
                    </a:solidFill>
                  </a:rPr>
                  <a:t>)</a:t>
                </a:r>
              </a:p>
              <a:p>
                <a:pPr marL="457200" indent="-457200">
                  <a:buAutoNum type="arabicPeriod" startAt="5"/>
                </a:pPr>
                <a:endParaRPr lang="en-US" sz="2400" b="1" dirty="0" smtClean="0">
                  <a:solidFill>
                    <a:schemeClr val="accent1">
                      <a:lumMod val="75000"/>
                    </a:schemeClr>
                  </a:solidFill>
                </a:endParaRPr>
              </a:p>
              <a:p>
                <a:pPr lvl="1"/>
                <a:endParaRPr lang="en-US" sz="2400" b="1" dirty="0" smtClean="0">
                  <a:solidFill>
                    <a:schemeClr val="accent1">
                      <a:lumMod val="75000"/>
                    </a:schemeClr>
                  </a:solidFill>
                </a:endParaRPr>
              </a:p>
              <a:p>
                <a:r>
                  <a:rPr lang="en-US" sz="2400" b="1" dirty="0" smtClean="0">
                    <a:solidFill>
                      <a:schemeClr val="accent5">
                        <a:lumMod val="50000"/>
                      </a:schemeClr>
                    </a:solidFill>
                  </a:rPr>
                  <a:t>	</a:t>
                </a:r>
                <a:r>
                  <a:rPr lang="en-US" sz="2400" dirty="0" smtClean="0"/>
                  <a:t>The root mean square value of Current is given as  </a:t>
                </a:r>
              </a:p>
              <a:p>
                <a:endParaRPr lang="en-US" sz="2400" b="1" dirty="0"/>
              </a:p>
              <a:p>
                <a:r>
                  <a:rPr lang="en-US" sz="2400" b="1" dirty="0" smtClean="0"/>
                  <a:t>				</a:t>
                </a:r>
                <a:r>
                  <a:rPr lang="en-US" sz="2800" b="1" dirty="0" smtClean="0"/>
                  <a:t>I </a:t>
                </a:r>
                <a:r>
                  <a:rPr lang="en-US" sz="2800" b="1" baseline="-25000" dirty="0" err="1" smtClean="0"/>
                  <a:t>rms</a:t>
                </a:r>
                <a:r>
                  <a:rPr lang="en-US" sz="2800" b="1" dirty="0" smtClean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800" b="1" i="0" smtClean="0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en-US" sz="2800" b="1" baseline="-25000" dirty="0"/>
                          <m:t>(</m:t>
                        </m:r>
                        <m:r>
                          <m:rPr>
                            <m:nor/>
                          </m:rPr>
                          <a:rPr lang="en-US" sz="2800" b="1" baseline="-25000" dirty="0"/>
                          <m:t>max</m:t>
                        </m:r>
                        <m:r>
                          <m:rPr>
                            <m:nor/>
                          </m:rPr>
                          <a:rPr lang="en-US" sz="2800" b="1" baseline="-25000" dirty="0"/>
                          <m:t>)</m:t>
                        </m:r>
                      </m:num>
                      <m:den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sz="2300" b="1" dirty="0" smtClean="0"/>
                  <a:t>      (</a:t>
                </a:r>
                <a:r>
                  <a:rPr lang="en-US" sz="2300" dirty="0" smtClean="0"/>
                  <a:t>substitute value of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b="1"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nor/>
                      </m:rPr>
                      <a:rPr lang="en-US" sz="2400" b="1" baseline="-25000" dirty="0"/>
                      <m:t>(</m:t>
                    </m:r>
                    <m:r>
                      <m:rPr>
                        <m:nor/>
                      </m:rPr>
                      <a:rPr lang="en-US" sz="2400" b="1" baseline="-25000" dirty="0"/>
                      <m:t>max</m:t>
                    </m:r>
                    <m:r>
                      <m:rPr>
                        <m:nor/>
                      </m:rPr>
                      <a:rPr lang="en-US" sz="2400" b="1" baseline="-25000" dirty="0"/>
                      <m:t>)</m:t>
                    </m:r>
                  </m:oMath>
                </a14:m>
                <a:r>
                  <a:rPr lang="en-US" sz="2300" dirty="0" smtClean="0"/>
                  <a:t>)</a:t>
                </a:r>
              </a:p>
              <a:p>
                <a:endParaRPr lang="en-US" sz="2300" dirty="0"/>
              </a:p>
              <a:p>
                <a:r>
                  <a:rPr lang="en-US" sz="2300" dirty="0" smtClean="0"/>
                  <a:t>				</a:t>
                </a:r>
                <a:r>
                  <a:rPr lang="en-US" sz="2400" b="1" dirty="0"/>
                  <a:t> I </a:t>
                </a:r>
                <a:r>
                  <a:rPr lang="en-US" sz="2400" b="1" baseline="-25000" dirty="0" err="1" smtClean="0"/>
                  <a:t>rms</a:t>
                </a:r>
                <a:r>
                  <a:rPr lang="en-US" sz="2400" b="1" baseline="-25000" dirty="0" smtClean="0"/>
                  <a:t> </a:t>
                </a:r>
                <a:r>
                  <a:rPr lang="en-US" sz="2300" dirty="0" smtClean="0"/>
                  <a:t>=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Vs</m:t>
                        </m:r>
                        <m:r>
                          <m:rPr>
                            <m:nor/>
                          </m:rPr>
                          <a:rPr lang="en-US" sz="2400" b="1" baseline="-25000" dirty="0"/>
                          <m:t>(</m:t>
                        </m:r>
                        <m:r>
                          <m:rPr>
                            <m:nor/>
                          </m:rPr>
                          <a:rPr lang="en-US" sz="2400" b="1" baseline="-25000" dirty="0"/>
                          <m:t>max</m:t>
                        </m:r>
                        <m:r>
                          <m:rPr>
                            <m:nor/>
                          </m:rPr>
                          <a:rPr lang="en-US" sz="2400" b="1" baseline="-25000" dirty="0"/>
                          <m:t>)</m:t>
                        </m:r>
                      </m:num>
                      <m:den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𝑹</m:t>
                        </m:r>
                        <m:r>
                          <a:rPr lang="en-US" sz="2400" b="1" i="1" baseline="-25000" dirty="0">
                            <a:latin typeface="Cambria Math" panose="02040503050406030204" pitchFamily="18" charset="0"/>
                          </a:rPr>
                          <m:t>𝑭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𝑹𝑳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US" sz="2300" dirty="0" smtClean="0"/>
              </a:p>
              <a:p>
                <a:endParaRPr lang="en-US" sz="2300" dirty="0"/>
              </a:p>
              <a:p>
                <a:endParaRPr lang="en-US" sz="2300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3339" y="1837637"/>
                <a:ext cx="10031506" cy="4311180"/>
              </a:xfrm>
              <a:prstGeom prst="rect">
                <a:avLst/>
              </a:prstGeom>
              <a:blipFill>
                <a:blip r:embed="rId2"/>
                <a:stretch>
                  <a:fillRect l="-911" t="-11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0949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0472" y="1833189"/>
            <a:ext cx="10058400" cy="40199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58455" y="268699"/>
            <a:ext cx="611372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200" b="1" dirty="0">
                <a:solidFill>
                  <a:schemeClr val="accent1">
                    <a:lumMod val="50000"/>
                  </a:schemeClr>
                </a:solidFill>
              </a:rPr>
              <a:t>Half Wave Rectifier Circuit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5836" y="1597127"/>
            <a:ext cx="4445981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5">
                    <a:lumMod val="50000"/>
                  </a:schemeClr>
                </a:solidFill>
              </a:rPr>
              <a:t>6</a:t>
            </a:r>
            <a:r>
              <a:rPr lang="en-US" sz="2400" b="1" dirty="0" smtClean="0">
                <a:solidFill>
                  <a:schemeClr val="accent5">
                    <a:lumMod val="50000"/>
                  </a:schemeClr>
                </a:solidFill>
              </a:rPr>
              <a:t>.   </a:t>
            </a:r>
            <a:r>
              <a:rPr lang="en-US" sz="2400" b="1" dirty="0" smtClean="0">
                <a:solidFill>
                  <a:schemeClr val="accent5">
                    <a:lumMod val="50000"/>
                  </a:schemeClr>
                </a:solidFill>
              </a:rPr>
              <a:t>Root </a:t>
            </a:r>
            <a:r>
              <a:rPr lang="en-US" sz="2400" b="1" dirty="0">
                <a:solidFill>
                  <a:schemeClr val="accent5">
                    <a:lumMod val="50000"/>
                  </a:schemeClr>
                </a:solidFill>
              </a:rPr>
              <a:t>Mean Square Value of </a:t>
            </a:r>
            <a:r>
              <a:rPr lang="en-US" sz="2400" b="1" dirty="0" smtClean="0">
                <a:solidFill>
                  <a:schemeClr val="accent5">
                    <a:lumMod val="50000"/>
                  </a:schemeClr>
                </a:solidFill>
              </a:rPr>
              <a:t>Voltage across Load </a:t>
            </a:r>
            <a:r>
              <a:rPr lang="en-US" sz="2400" b="1" dirty="0" smtClean="0">
                <a:solidFill>
                  <a:schemeClr val="accent1">
                    <a:lumMod val="75000"/>
                  </a:schemeClr>
                </a:solidFill>
              </a:rPr>
              <a:t>(</a:t>
            </a:r>
            <a:r>
              <a:rPr lang="en-US" sz="2800" b="1" dirty="0" smtClean="0">
                <a:solidFill>
                  <a:schemeClr val="accent1">
                    <a:lumMod val="75000"/>
                  </a:schemeClr>
                </a:solidFill>
              </a:rPr>
              <a:t>V</a:t>
            </a:r>
            <a:r>
              <a:rPr lang="en-US" sz="3200" b="1" baseline="-25000" dirty="0" smtClean="0">
                <a:solidFill>
                  <a:schemeClr val="accent1">
                    <a:lumMod val="75000"/>
                  </a:schemeClr>
                </a:solidFill>
              </a:rPr>
              <a:t>L(</a:t>
            </a:r>
            <a:r>
              <a:rPr lang="en-US" sz="3200" b="1" baseline="-25000" dirty="0" err="1" smtClean="0">
                <a:solidFill>
                  <a:schemeClr val="accent1">
                    <a:lumMod val="75000"/>
                  </a:schemeClr>
                </a:solidFill>
              </a:rPr>
              <a:t>rms</a:t>
            </a:r>
            <a:r>
              <a:rPr lang="en-US" sz="3200" b="1" baseline="-25000" dirty="0" smtClean="0">
                <a:solidFill>
                  <a:schemeClr val="accent1">
                    <a:lumMod val="75000"/>
                  </a:schemeClr>
                </a:solidFill>
              </a:rPr>
              <a:t>)</a:t>
            </a:r>
            <a:r>
              <a:rPr lang="en-US" sz="2400" b="1" baseline="-250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2400" b="1" dirty="0" smtClean="0">
                <a:solidFill>
                  <a:schemeClr val="accent1">
                    <a:lumMod val="75000"/>
                  </a:schemeClr>
                </a:solidFill>
              </a:rPr>
              <a:t>)</a:t>
            </a:r>
            <a:r>
              <a:rPr lang="en-US" sz="2400" dirty="0" smtClean="0"/>
              <a:t>  </a:t>
            </a:r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0743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2247900" y="226423"/>
            <a:ext cx="8763000" cy="838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b="1" dirty="0" smtClean="0">
                <a:solidFill>
                  <a:schemeClr val="accent1">
                    <a:lumMod val="75000"/>
                  </a:schemeClr>
                </a:solidFill>
              </a:rPr>
              <a:t>Efficiency of half-wave rectifier</a:t>
            </a: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613954" y="1567543"/>
            <a:ext cx="8732520" cy="501926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endParaRPr lang="en-US" altLang="en-US" dirty="0" smtClean="0"/>
          </a:p>
          <a:p>
            <a:pPr marL="0" indent="0" algn="just">
              <a:buNone/>
            </a:pPr>
            <a:r>
              <a:rPr lang="en-US" altLang="en-US" b="1" dirty="0" smtClean="0">
                <a:solidFill>
                  <a:schemeClr val="accent1">
                    <a:lumMod val="75000"/>
                  </a:schemeClr>
                </a:solidFill>
              </a:rPr>
              <a:t> Efficiency</a:t>
            </a:r>
            <a:endParaRPr lang="en-US" altLang="en-US" b="1" dirty="0">
              <a:solidFill>
                <a:schemeClr val="accent1">
                  <a:lumMod val="75000"/>
                </a:schemeClr>
              </a:solidFill>
            </a:endParaRPr>
          </a:p>
          <a:p>
            <a:pPr algn="just"/>
            <a:r>
              <a:rPr lang="en-US" altLang="en-US" dirty="0" smtClean="0"/>
              <a:t>The ratio of DC power output to the applied input AC power is known as rectifier efficiency </a:t>
            </a:r>
            <a:r>
              <a:rPr lang="en-US" altLang="en-US" b="1" i="1" dirty="0" smtClean="0"/>
              <a:t>i.e.</a:t>
            </a:r>
          </a:p>
          <a:p>
            <a:pPr algn="just"/>
            <a:endParaRPr lang="en-US" altLang="en-US" b="1" i="1" dirty="0" smtClean="0"/>
          </a:p>
          <a:p>
            <a:pPr algn="just"/>
            <a:endParaRPr lang="en-US" altLang="en-US" b="1" i="1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7924800" y="6356350"/>
            <a:ext cx="7620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fld id="{10D15FD3-408B-4B8A-8B2D-AAAF8FC0445F}" type="slidenum">
              <a:rPr lang="en-US" altLang="en-US" smtClean="0">
                <a:solidFill>
                  <a:srgbClr val="4A566A"/>
                </a:solidFill>
              </a:rPr>
              <a:pPr/>
              <a:t>15</a:t>
            </a:fld>
            <a:endParaRPr lang="en-US" altLang="en-US" smtClean="0">
              <a:solidFill>
                <a:srgbClr val="4A566A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7223" y="4064113"/>
            <a:ext cx="4648200" cy="679450"/>
          </a:xfrm>
          <a:prstGeom prst="rect">
            <a:avLst/>
          </a:prstGeom>
          <a:ln w="38100" cap="sq">
            <a:solidFill>
              <a:schemeClr val="accent1">
                <a:lumMod val="50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4669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1811384" y="195945"/>
            <a:ext cx="8763000" cy="838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4000" dirty="0" smtClean="0">
                <a:solidFill>
                  <a:schemeClr val="accent1">
                    <a:lumMod val="75000"/>
                  </a:schemeClr>
                </a:solidFill>
              </a:rPr>
              <a:t>        Efficiency of half-wave rectifier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9583784" y="6552295"/>
            <a:ext cx="7620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fld id="{DDC00339-8C23-4807-821A-5CFDD2D28C45}" type="slidenum">
              <a:rPr lang="en-US" altLang="en-US" smtClean="0">
                <a:solidFill>
                  <a:srgbClr val="4A566A"/>
                </a:solidFill>
              </a:rPr>
              <a:pPr/>
              <a:t>16</a:t>
            </a:fld>
            <a:endParaRPr lang="en-US" altLang="en-US" smtClean="0">
              <a:solidFill>
                <a:srgbClr val="4A566A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1384" y="2272938"/>
            <a:ext cx="8758238" cy="39260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311"/>
          <a:stretch/>
        </p:blipFill>
        <p:spPr bwMode="auto">
          <a:xfrm>
            <a:off x="2586445" y="1389657"/>
            <a:ext cx="7532915" cy="8854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31151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838200" y="1319346"/>
            <a:ext cx="10683240" cy="49900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smtClean="0">
                <a:solidFill>
                  <a:schemeClr val="accent1">
                    <a:lumMod val="50000"/>
                  </a:schemeClr>
                </a:solidFill>
              </a:rPr>
              <a:t>    Full-wave </a:t>
            </a: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rectifier:</a:t>
            </a:r>
            <a:r>
              <a:rPr lang="en-US" sz="2000" dirty="0"/>
              <a:t> A rectifier that converts alternating current (AC) into direct current (DC) by allowing current </a:t>
            </a:r>
            <a:r>
              <a:rPr lang="en-US" sz="2000" dirty="0" smtClean="0"/>
              <a:t>flow through load </a:t>
            </a:r>
            <a:r>
              <a:rPr lang="en-US" sz="2000" dirty="0"/>
              <a:t>in only one direction during both halves of the AC </a:t>
            </a:r>
            <a:r>
              <a:rPr lang="en-US" sz="2000" dirty="0" smtClean="0"/>
              <a:t>cycle.</a:t>
            </a:r>
          </a:p>
          <a:p>
            <a:r>
              <a:rPr lang="en-US" sz="2000" dirty="0" smtClean="0"/>
              <a:t>It </a:t>
            </a:r>
            <a:r>
              <a:rPr lang="en-US" sz="2000" dirty="0"/>
              <a:t>can be </a:t>
            </a:r>
            <a:r>
              <a:rPr lang="en-US" sz="2000" dirty="0" smtClean="0"/>
              <a:t>achieved with two diodes working alternatively, </a:t>
            </a:r>
            <a:r>
              <a:rPr lang="en-US" sz="2000" dirty="0"/>
              <a:t>or a bridge rectifier, which uses four diodes arranged in a bridge configuration</a:t>
            </a:r>
            <a:r>
              <a:rPr lang="en-US" sz="2000" dirty="0" smtClean="0"/>
              <a:t>.</a:t>
            </a:r>
          </a:p>
          <a:p>
            <a:pPr algn="just">
              <a:defRPr/>
            </a:pPr>
            <a:r>
              <a:rPr lang="en-US" sz="2000" dirty="0"/>
              <a:t>In full-wave rectifier, current flow towards load in the same direction for the both half cycles of input </a:t>
            </a:r>
            <a:r>
              <a:rPr lang="en-US" sz="2000" dirty="0" err="1"/>
              <a:t>a.c</a:t>
            </a:r>
            <a:r>
              <a:rPr lang="en-US" sz="2000" dirty="0"/>
              <a:t>. </a:t>
            </a:r>
            <a:r>
              <a:rPr lang="en-US" sz="2000" dirty="0" smtClean="0"/>
              <a:t>voltage</a:t>
            </a:r>
            <a:endParaRPr lang="en-US" sz="2000" dirty="0"/>
          </a:p>
          <a:p>
            <a:pPr algn="just">
              <a:defRPr/>
            </a:pPr>
            <a:r>
              <a:rPr lang="en-US" sz="2000" dirty="0"/>
              <a:t>For positive half-cycle, one diode supplies current to load, for negative half cycle, second diode supplies current to load</a:t>
            </a:r>
            <a:r>
              <a:rPr lang="en-US" sz="2000" dirty="0" smtClean="0"/>
              <a:t>.</a:t>
            </a:r>
          </a:p>
          <a:p>
            <a:pPr algn="just">
              <a:defRPr/>
            </a:pPr>
            <a:endParaRPr lang="en-US" sz="2000" dirty="0"/>
          </a:p>
          <a:p>
            <a:endParaRPr lang="en-US" sz="2000" dirty="0"/>
          </a:p>
          <a:p>
            <a:endParaRPr lang="en-US" sz="2000" dirty="0" smtClean="0"/>
          </a:p>
          <a:p>
            <a:endParaRPr lang="en-US" sz="2000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733697" y="0"/>
            <a:ext cx="10515600" cy="1254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smtClean="0">
                <a:solidFill>
                  <a:schemeClr val="accent1">
                    <a:lumMod val="50000"/>
                  </a:schemeClr>
                </a:solidFill>
              </a:rPr>
              <a:t>Full-wave rectifier</a:t>
            </a:r>
            <a:endParaRPr lang="en-US" dirty="0"/>
          </a:p>
        </p:txBody>
      </p:sp>
      <p:pic>
        <p:nvPicPr>
          <p:cNvPr id="4" name="Content Placeholder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88606" y="4252503"/>
            <a:ext cx="6972300" cy="184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901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38200" y="340535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</a:rPr>
              <a:t>Two Diodes Full-wave rectifier (OR)</a:t>
            </a:r>
            <a:br>
              <a:rPr lang="en-US" b="1" dirty="0" smtClean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Center-Tap Full-Wave </a:t>
            </a: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>Rectifier</a:t>
            </a:r>
            <a:r>
              <a:rPr lang="en-US" b="1" dirty="0"/>
              <a:t/>
            </a:r>
            <a:br>
              <a:rPr lang="en-US" b="1" dirty="0"/>
            </a:br>
            <a:endParaRPr lang="en-US" dirty="0"/>
          </a:p>
        </p:txBody>
      </p:sp>
      <p:sp>
        <p:nvSpPr>
          <p:cNvPr id="10" name="Content Placeholder 9"/>
          <p:cNvSpPr>
            <a:spLocks noGrp="1"/>
          </p:cNvSpPr>
          <p:nvPr>
            <p:ph idx="4294967295"/>
          </p:nvPr>
        </p:nvSpPr>
        <p:spPr>
          <a:xfrm>
            <a:off x="838200" y="2191387"/>
            <a:ext cx="10515600" cy="4351338"/>
          </a:xfrm>
        </p:spPr>
        <p:txBody>
          <a:bodyPr/>
          <a:lstStyle/>
          <a:p>
            <a:r>
              <a:rPr lang="en-US" dirty="0" smtClean="0"/>
              <a:t>Circuit has two diodes D1, D2 and a center tap transformer.</a:t>
            </a:r>
          </a:p>
          <a:p>
            <a:r>
              <a:rPr lang="en-US" dirty="0" smtClean="0"/>
              <a:t>During positive half cycle, Diode D1 conducts and during negative half cycle, Diode D2 conducts.</a:t>
            </a:r>
          </a:p>
          <a:p>
            <a:r>
              <a:rPr lang="en-US" dirty="0" smtClean="0"/>
              <a:t>It can be seen that current through load RL is in the same direction for the both cycles.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5415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38200" y="-17045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chemeClr val="accent1">
                    <a:lumMod val="50000"/>
                  </a:schemeClr>
                </a:solidFill>
              </a:rPr>
              <a:t>Two Diodes Full-wave </a:t>
            </a:r>
            <a:r>
              <a:rPr lang="en-US" sz="3200" b="1" dirty="0" smtClean="0">
                <a:solidFill>
                  <a:schemeClr val="accent1">
                    <a:lumMod val="50000"/>
                  </a:schemeClr>
                </a:solidFill>
              </a:rPr>
              <a:t>rectifier Working Mechanism</a:t>
            </a:r>
            <a:endParaRPr lang="en-US" sz="32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4151" y="2526711"/>
            <a:ext cx="7853363" cy="2817813"/>
          </a:xfrm>
          <a:prstGeom prst="rect">
            <a:avLst/>
          </a:prstGeom>
          <a:ln w="38100" cap="sq">
            <a:solidFill>
              <a:schemeClr val="accent1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43267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 txBox="1">
            <a:spLocks/>
          </p:cNvSpPr>
          <p:nvPr/>
        </p:nvSpPr>
        <p:spPr>
          <a:xfrm>
            <a:off x="862149" y="1578612"/>
            <a:ext cx="10221688" cy="487661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Wingdings 2" panose="05020102010507070707" pitchFamily="18" charset="2"/>
              <a:buNone/>
              <a:defRPr/>
            </a:pPr>
            <a:endParaRPr lang="en-US" sz="3200" b="1" dirty="0" smtClean="0"/>
          </a:p>
          <a:p>
            <a:pPr marL="514350" indent="-514350" algn="just">
              <a:buFont typeface="Wingdings 2" panose="05020102010507070707" pitchFamily="18" charset="2"/>
              <a:buAutoNum type="arabicPeriod"/>
              <a:defRPr/>
            </a:pPr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</a:rPr>
              <a:t>Peak inverse voltage of center</a:t>
            </a:r>
          </a:p>
          <a:p>
            <a:pPr marL="0" indent="0" algn="just">
              <a:buNone/>
              <a:defRPr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</a:rPr>
              <a:t>     tap rectifier  (PIV)</a:t>
            </a:r>
            <a:endParaRPr lang="en-US" sz="3200" b="1" dirty="0" smtClean="0">
              <a:solidFill>
                <a:schemeClr val="accent1">
                  <a:lumMod val="50000"/>
                </a:schemeClr>
              </a:solidFill>
            </a:endParaRPr>
          </a:p>
          <a:p>
            <a:pPr marL="0" indent="0" algn="just">
              <a:buFont typeface="Wingdings 2" panose="05020102010507070707" pitchFamily="18" charset="2"/>
              <a:buNone/>
              <a:defRPr/>
            </a:pPr>
            <a:endParaRPr lang="en-US" sz="3200" dirty="0" smtClean="0"/>
          </a:p>
          <a:p>
            <a:pPr marL="0" indent="0" algn="just">
              <a:buFont typeface="Wingdings 2" panose="05020102010507070707" pitchFamily="18" charset="2"/>
              <a:buNone/>
              <a:defRPr/>
            </a:pPr>
            <a:r>
              <a:rPr lang="en-US" sz="3200" b="1" dirty="0" smtClean="0"/>
              <a:t>	</a:t>
            </a:r>
            <a:r>
              <a:rPr lang="en-US" sz="3200" b="1" dirty="0"/>
              <a:t> </a:t>
            </a:r>
            <a:r>
              <a:rPr lang="en-US" sz="3200" b="1" dirty="0" smtClean="0"/>
              <a:t>PIV=2Vs</a:t>
            </a:r>
            <a:r>
              <a:rPr lang="en-US" sz="3200" b="1" baseline="-25000" dirty="0" smtClean="0"/>
              <a:t>(max</a:t>
            </a:r>
            <a:r>
              <a:rPr lang="en-US" sz="3200" b="1" baseline="-25000" dirty="0"/>
              <a:t>)</a:t>
            </a:r>
            <a:endParaRPr lang="en-US" sz="3200" b="1" dirty="0" smtClean="0"/>
          </a:p>
          <a:p>
            <a:pPr marL="0" indent="0" algn="just">
              <a:buFont typeface="Wingdings 2" panose="05020102010507070707" pitchFamily="18" charset="2"/>
              <a:buNone/>
              <a:defRPr/>
            </a:pPr>
            <a:endParaRPr lang="en-US" sz="3200" b="1" dirty="0" smtClean="0"/>
          </a:p>
          <a:p>
            <a:pPr algn="just">
              <a:defRPr/>
            </a:pPr>
            <a:endParaRPr lang="en-US" sz="3200" b="1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10093237" y="6486980"/>
            <a:ext cx="7620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fld id="{A516655C-D4B4-4970-BB72-BDB7AFD4FC16}" type="slidenum">
              <a:rPr lang="en-US" altLang="en-US" smtClean="0">
                <a:solidFill>
                  <a:srgbClr val="4A566A"/>
                </a:solidFill>
              </a:rPr>
              <a:pPr/>
              <a:t>20</a:t>
            </a:fld>
            <a:endParaRPr lang="en-US" altLang="en-US" smtClean="0">
              <a:solidFill>
                <a:srgbClr val="4A566A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0837" y="2645230"/>
            <a:ext cx="4478338" cy="3224213"/>
          </a:xfrm>
          <a:prstGeom prst="rect">
            <a:avLst/>
          </a:prstGeom>
          <a:ln w="38100" cap="sq">
            <a:solidFill>
              <a:schemeClr val="accent1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TextBox 5"/>
          <p:cNvSpPr txBox="1"/>
          <p:nvPr/>
        </p:nvSpPr>
        <p:spPr>
          <a:xfrm>
            <a:off x="930923" y="253189"/>
            <a:ext cx="98432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accent1">
                    <a:lumMod val="50000"/>
                  </a:schemeClr>
                </a:solidFill>
              </a:rPr>
              <a:t>Full Wave Rectifier Circuit Analysis</a:t>
            </a:r>
            <a:endParaRPr lang="en-US" sz="4000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6593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30923" y="253189"/>
            <a:ext cx="98432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accent1">
                    <a:lumMod val="50000"/>
                  </a:schemeClr>
                </a:solidFill>
              </a:rPr>
              <a:t>Full Wave Rectifier Circuit Analysis</a:t>
            </a:r>
            <a:endParaRPr lang="en-US" sz="40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726141" y="2098893"/>
                <a:ext cx="10031506" cy="2942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AutoNum type="arabicPeriod" startAt="2"/>
                </a:pPr>
                <a:r>
                  <a:rPr lang="en-US" sz="2400" b="1" dirty="0" smtClean="0">
                    <a:solidFill>
                      <a:schemeClr val="accent5">
                        <a:lumMod val="50000"/>
                      </a:schemeClr>
                    </a:solidFill>
                  </a:rPr>
                  <a:t>Average and Peak Current in the diode </a:t>
                </a:r>
                <a:r>
                  <a:rPr lang="en-US" sz="2400" b="1" dirty="0" smtClean="0">
                    <a:solidFill>
                      <a:schemeClr val="accent1">
                        <a:lumMod val="75000"/>
                      </a:schemeClr>
                    </a:solidFill>
                  </a:rPr>
                  <a:t>( I</a:t>
                </a:r>
                <a:r>
                  <a:rPr lang="en-US" sz="2400" b="1" baseline="-25000" dirty="0" smtClean="0">
                    <a:solidFill>
                      <a:schemeClr val="accent1">
                        <a:lumMod val="75000"/>
                      </a:schemeClr>
                    </a:solidFill>
                  </a:rPr>
                  <a:t>max </a:t>
                </a:r>
                <a:r>
                  <a:rPr lang="en-US" sz="2400" b="1" dirty="0" smtClean="0">
                    <a:solidFill>
                      <a:schemeClr val="accent1">
                        <a:lumMod val="75000"/>
                      </a:schemeClr>
                    </a:solidFill>
                  </a:rPr>
                  <a:t>)</a:t>
                </a:r>
              </a:p>
              <a:p>
                <a:pPr marL="457200" indent="-457200">
                  <a:buAutoNum type="arabicPeriod" startAt="2"/>
                </a:pPr>
                <a:endParaRPr lang="en-US" sz="2400" b="1" dirty="0" smtClean="0">
                  <a:solidFill>
                    <a:schemeClr val="accent1">
                      <a:lumMod val="75000"/>
                    </a:schemeClr>
                  </a:solidFill>
                </a:endParaRPr>
              </a:p>
              <a:p>
                <a:r>
                  <a:rPr lang="en-US" sz="2400" b="1" dirty="0" smtClean="0">
                    <a:solidFill>
                      <a:schemeClr val="accent5">
                        <a:lumMod val="50000"/>
                      </a:schemeClr>
                    </a:solidFill>
                  </a:rPr>
                  <a:t>	</a:t>
                </a:r>
                <a:r>
                  <a:rPr lang="en-US" sz="2400" dirty="0" smtClean="0"/>
                  <a:t>The maximum current flowing through the diode </a:t>
                </a:r>
                <a:endParaRPr lang="en-US" sz="2400" b="1" dirty="0"/>
              </a:p>
              <a:p>
                <a:r>
                  <a:rPr lang="en-US" sz="2400" b="1" dirty="0" smtClean="0"/>
                  <a:t>				</a:t>
                </a:r>
                <a:r>
                  <a:rPr lang="en-US" sz="2800" b="1" dirty="0"/>
                  <a:t>I</a:t>
                </a:r>
                <a:r>
                  <a:rPr lang="en-US" sz="2800" b="1" baseline="-25000" dirty="0" smtClean="0"/>
                  <a:t>(max)</a:t>
                </a:r>
                <a:r>
                  <a:rPr lang="en-US" sz="2800" b="1" dirty="0" smtClean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800" b="1" dirty="0"/>
                          <m:t>Vs</m:t>
                        </m:r>
                        <m:r>
                          <m:rPr>
                            <m:nor/>
                          </m:rPr>
                          <a:rPr lang="en-US" sz="2800" b="1" baseline="-25000" dirty="0"/>
                          <m:t>(</m:t>
                        </m:r>
                        <m:r>
                          <m:rPr>
                            <m:nor/>
                          </m:rPr>
                          <a:rPr lang="en-US" sz="2800" b="1" baseline="-25000" dirty="0"/>
                          <m:t>max</m:t>
                        </m:r>
                        <m:r>
                          <m:rPr>
                            <m:nor/>
                          </m:rPr>
                          <a:rPr lang="en-US" sz="2800" b="1" baseline="-25000" dirty="0"/>
                          <m:t>)</m:t>
                        </m:r>
                      </m:num>
                      <m:den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𝑹</m:t>
                        </m:r>
                        <m:r>
                          <a:rPr lang="en-US" sz="2800" b="1" i="1" baseline="-25000" dirty="0" smtClean="0">
                            <a:latin typeface="Cambria Math" panose="02040503050406030204" pitchFamily="18" charset="0"/>
                          </a:rPr>
                          <m:t>𝑭</m:t>
                        </m:r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𝑹𝑳</m:t>
                        </m:r>
                      </m:den>
                    </m:f>
                  </m:oMath>
                </a14:m>
                <a:r>
                  <a:rPr lang="en-US" sz="2300" b="1" dirty="0" smtClean="0"/>
                  <a:t>      (For center-tap rectifier)</a:t>
                </a:r>
              </a:p>
              <a:p>
                <a:endParaRPr lang="en-US" sz="2300" b="1" dirty="0" smtClean="0"/>
              </a:p>
              <a:p>
                <a:endParaRPr lang="en-US" sz="2300" dirty="0"/>
              </a:p>
              <a:p>
                <a:r>
                  <a:rPr lang="en-US" sz="2300" dirty="0" smtClean="0"/>
                  <a:t>Where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sz="2400" b="1" i="1" baseline="-25000" dirty="0" smtClean="0">
                        <a:latin typeface="Cambria Math" panose="02040503050406030204" pitchFamily="18" charset="0"/>
                      </a:rPr>
                      <m:t>𝑭</m:t>
                    </m:r>
                  </m:oMath>
                </a14:m>
                <a:r>
                  <a:rPr lang="en-US" sz="2300" dirty="0" smtClean="0"/>
                  <a:t> is forward resistance of diode and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</a:rPr>
                      <m:t>𝑹</m:t>
                    </m:r>
                    <m:r>
                      <m:rPr>
                        <m:nor/>
                      </m:rPr>
                      <a:rPr lang="en-US" sz="2400" b="1" i="0" baseline="-25000" dirty="0" smtClean="0"/>
                      <m:t>L</m:t>
                    </m:r>
                  </m:oMath>
                </a14:m>
                <a:r>
                  <a:rPr lang="en-US" sz="2300" dirty="0" smtClean="0"/>
                  <a:t> is load resistance</a:t>
                </a:r>
                <a:endParaRPr lang="en-US" sz="23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141" y="2098893"/>
                <a:ext cx="10031506" cy="2942665"/>
              </a:xfrm>
              <a:prstGeom prst="rect">
                <a:avLst/>
              </a:prstGeom>
              <a:blipFill>
                <a:blip r:embed="rId2"/>
                <a:stretch>
                  <a:fillRect l="-972" t="-1863" b="-3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65215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5609" y="187876"/>
            <a:ext cx="98432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accent1">
                    <a:lumMod val="50000"/>
                  </a:schemeClr>
                </a:solidFill>
              </a:rPr>
              <a:t>Full Wave Rectifier Circuit Analysis</a:t>
            </a:r>
            <a:endParaRPr lang="en-US" sz="40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1488782" y="2327110"/>
                <a:ext cx="9024199" cy="38914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 smtClean="0">
                    <a:solidFill>
                      <a:schemeClr val="accent5">
                        <a:lumMod val="50000"/>
                      </a:schemeClr>
                    </a:solidFill>
                  </a:rPr>
                  <a:t>3</a:t>
                </a:r>
                <a:r>
                  <a:rPr lang="en-US" sz="2800" b="1" dirty="0" smtClean="0">
                    <a:solidFill>
                      <a:schemeClr val="accent5">
                        <a:lumMod val="50000"/>
                      </a:schemeClr>
                    </a:solidFill>
                  </a:rPr>
                  <a:t>.          </a:t>
                </a:r>
                <a:r>
                  <a:rPr lang="en-US" sz="2800" b="1" dirty="0" smtClean="0">
                    <a:solidFill>
                      <a:schemeClr val="accent5">
                        <a:lumMod val="50000"/>
                      </a:schemeClr>
                    </a:solidFill>
                  </a:rPr>
                  <a:t>DC output Current </a:t>
                </a:r>
                <a:r>
                  <a:rPr lang="en-US" sz="2800" b="1" dirty="0" smtClean="0">
                    <a:solidFill>
                      <a:schemeClr val="accent1">
                        <a:lumMod val="75000"/>
                      </a:schemeClr>
                    </a:solidFill>
                  </a:rPr>
                  <a:t>( I</a:t>
                </a:r>
                <a:r>
                  <a:rPr lang="en-US" sz="2800" b="1" baseline="-25000" dirty="0" smtClean="0">
                    <a:solidFill>
                      <a:schemeClr val="accent1">
                        <a:lumMod val="75000"/>
                      </a:schemeClr>
                    </a:solidFill>
                  </a:rPr>
                  <a:t>DC </a:t>
                </a:r>
                <a:r>
                  <a:rPr lang="en-US" sz="2800" b="1" dirty="0" smtClean="0">
                    <a:solidFill>
                      <a:schemeClr val="accent1">
                        <a:lumMod val="75000"/>
                      </a:schemeClr>
                    </a:solidFill>
                  </a:rPr>
                  <a:t>)</a:t>
                </a:r>
                <a:endParaRPr lang="en-US" sz="2400" b="1" dirty="0" smtClean="0">
                  <a:solidFill>
                    <a:schemeClr val="accent1">
                      <a:lumMod val="75000"/>
                    </a:schemeClr>
                  </a:solidFill>
                </a:endParaRPr>
              </a:p>
              <a:p>
                <a:pPr marL="457200" indent="-457200">
                  <a:buAutoNum type="arabicPeriod" startAt="3"/>
                </a:pPr>
                <a:endParaRPr lang="en-US" sz="2400" b="1" dirty="0" smtClean="0">
                  <a:solidFill>
                    <a:schemeClr val="accent1">
                      <a:lumMod val="75000"/>
                    </a:schemeClr>
                  </a:solidFill>
                </a:endParaRPr>
              </a:p>
              <a:p>
                <a:r>
                  <a:rPr lang="en-US" sz="2400" b="1" dirty="0" smtClean="0">
                    <a:solidFill>
                      <a:schemeClr val="accent5">
                        <a:lumMod val="50000"/>
                      </a:schemeClr>
                    </a:solidFill>
                  </a:rPr>
                  <a:t>   		</a:t>
                </a:r>
                <a:r>
                  <a:rPr lang="en-US" sz="2400" dirty="0" smtClean="0"/>
                  <a:t>The DC output Current is given as</a:t>
                </a:r>
              </a:p>
              <a:p>
                <a:r>
                  <a:rPr lang="en-US" sz="2400" dirty="0"/>
                  <a:t>	</a:t>
                </a:r>
                <a:r>
                  <a:rPr lang="en-US" sz="2400" dirty="0" smtClean="0"/>
                  <a:t>		</a:t>
                </a:r>
              </a:p>
              <a:p>
                <a:r>
                  <a:rPr lang="en-US" sz="2400" dirty="0"/>
                  <a:t>	</a:t>
                </a:r>
                <a:r>
                  <a:rPr lang="en-US" sz="2400" dirty="0" smtClean="0"/>
                  <a:t>		  </a:t>
                </a:r>
                <a:r>
                  <a:rPr lang="en-US" sz="2400" b="1" dirty="0" smtClean="0"/>
                  <a:t>	</a:t>
                </a:r>
                <a:endParaRPr lang="en-US" sz="2300" b="1" dirty="0" smtClean="0"/>
              </a:p>
              <a:p>
                <a:r>
                  <a:rPr lang="en-US" sz="2400" b="1" dirty="0" smtClean="0"/>
                  <a:t>				</a:t>
                </a:r>
                <a:r>
                  <a:rPr lang="en-US" sz="3200" b="1" dirty="0" smtClean="0"/>
                  <a:t>I</a:t>
                </a:r>
                <a:r>
                  <a:rPr lang="en-US" sz="2400" b="1" baseline="-25000" dirty="0" smtClean="0"/>
                  <a:t>(Dc)</a:t>
                </a:r>
                <a:r>
                  <a:rPr lang="en-US" sz="2400" b="1" dirty="0" smtClean="0"/>
                  <a:t> =</a:t>
                </a:r>
                <a14:m>
                  <m:oMath xmlns:m="http://schemas.openxmlformats.org/officeDocument/2006/math"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  </m:t>
                    </m:r>
                    <m:f>
                      <m:f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b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nor/>
                          </m:rPr>
                          <a:rPr lang="en-US" sz="2400" b="1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400" b="1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en-US" sz="2400" b="1" baseline="-25000" dirty="0"/>
                          <m:t>(</m:t>
                        </m:r>
                        <m:r>
                          <m:rPr>
                            <m:nor/>
                          </m:rPr>
                          <a:rPr lang="en-US" sz="2400" b="1" baseline="-25000" dirty="0"/>
                          <m:t>max</m:t>
                        </m:r>
                        <m:r>
                          <m:rPr>
                            <m:nor/>
                          </m:rPr>
                          <a:rPr lang="en-US" sz="2400" b="1" baseline="-25000" dirty="0"/>
                          <m:t>)</m:t>
                        </m:r>
                      </m:num>
                      <m:den>
                        <m:r>
                          <a:rPr lang="el-GR" sz="2400" b="1" i="1" smtClean="0">
                            <a:latin typeface="Cambria Math" panose="02040503050406030204" pitchFamily="18" charset="0"/>
                          </a:rPr>
                          <m:t>𝝅</m:t>
                        </m:r>
                      </m:den>
                    </m:f>
                  </m:oMath>
                </a14:m>
                <a:endParaRPr lang="en-US" sz="2300" dirty="0" smtClean="0"/>
              </a:p>
              <a:p>
                <a:endParaRPr lang="en-US" sz="2300" dirty="0"/>
              </a:p>
              <a:p>
                <a:r>
                  <a:rPr lang="en-US" sz="2300" dirty="0" smtClean="0"/>
                  <a:t>				</a:t>
                </a:r>
                <a:r>
                  <a:rPr lang="en-US" sz="2800" b="1" dirty="0"/>
                  <a:t>I</a:t>
                </a:r>
                <a:r>
                  <a:rPr lang="en-US" sz="2000" b="1" baseline="-25000" dirty="0"/>
                  <a:t>(Dc)</a:t>
                </a:r>
                <a:r>
                  <a:rPr lang="en-US" sz="2000" b="1" dirty="0"/>
                  <a:t> =</a:t>
                </a:r>
                <a14:m>
                  <m:oMath xmlns:m="http://schemas.openxmlformats.org/officeDocument/2006/math">
                    <m:r>
                      <a:rPr lang="en-US" sz="2000" b="1">
                        <a:latin typeface="Cambria Math" panose="02040503050406030204" pitchFamily="18" charset="0"/>
                      </a:rPr>
                      <m:t>  </m:t>
                    </m:r>
                    <m:f>
                      <m:fPr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000" b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nor/>
                          </m:rPr>
                          <a:rPr lang="en-US" sz="2000" b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000" b="1" i="0" smtClean="0">
                            <a:latin typeface="Cambria Math" panose="02040503050406030204" pitchFamily="18" charset="0"/>
                          </a:rPr>
                          <m:t>V</m:t>
                        </m:r>
                        <m:r>
                          <m:rPr>
                            <m:nor/>
                          </m:rPr>
                          <a:rPr lang="en-US" sz="2000" b="1" baseline="-25000" dirty="0"/>
                          <m:t>(</m:t>
                        </m:r>
                        <m:r>
                          <m:rPr>
                            <m:nor/>
                          </m:rPr>
                          <a:rPr lang="en-US" sz="2000" b="1" baseline="-25000" dirty="0"/>
                          <m:t>max</m:t>
                        </m:r>
                        <m:r>
                          <m:rPr>
                            <m:nor/>
                          </m:rPr>
                          <a:rPr lang="en-US" sz="2000" b="1" baseline="-25000" dirty="0"/>
                          <m:t>)</m:t>
                        </m:r>
                      </m:num>
                      <m:den>
                        <m:r>
                          <a:rPr lang="el-GR" sz="2000" b="1" i="1">
                            <a:latin typeface="Cambria Math" panose="02040503050406030204" pitchFamily="18" charset="0"/>
                          </a:rPr>
                          <m:t>𝝅</m:t>
                        </m:r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𝑹</m:t>
                        </m:r>
                        <m:r>
                          <a:rPr lang="en-US" sz="2000" b="1" i="1" baseline="-25000" dirty="0">
                            <a:latin typeface="Cambria Math" panose="02040503050406030204" pitchFamily="18" charset="0"/>
                          </a:rPr>
                          <m:t>𝑭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𝑹𝑳</m:t>
                        </m:r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US" sz="2300" dirty="0" smtClean="0"/>
              </a:p>
              <a:p>
                <a:endParaRPr lang="en-US" sz="2300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8782" y="2327110"/>
                <a:ext cx="9024199" cy="3891450"/>
              </a:xfrm>
              <a:prstGeom prst="rect">
                <a:avLst/>
              </a:prstGeom>
              <a:blipFill>
                <a:blip r:embed="rId2"/>
                <a:stretch>
                  <a:fillRect l="-1350" t="-15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7177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83174" y="227062"/>
            <a:ext cx="98432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accent1">
                    <a:lumMod val="50000"/>
                  </a:schemeClr>
                </a:solidFill>
              </a:rPr>
              <a:t>Full Wave Rectifier Circuit Analysis</a:t>
            </a:r>
            <a:endParaRPr lang="en-US" sz="40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/>
              <p:cNvSpPr/>
              <p:nvPr/>
            </p:nvSpPr>
            <p:spPr>
              <a:xfrm>
                <a:off x="1544240" y="2281794"/>
                <a:ext cx="9444312" cy="416844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800" b="1" dirty="0">
                    <a:solidFill>
                      <a:schemeClr val="accent5">
                        <a:lumMod val="50000"/>
                      </a:schemeClr>
                    </a:solidFill>
                  </a:rPr>
                  <a:t>4</a:t>
                </a:r>
                <a:r>
                  <a:rPr lang="en-US" sz="2800" b="1" dirty="0" smtClean="0">
                    <a:solidFill>
                      <a:schemeClr val="accent5">
                        <a:lumMod val="50000"/>
                      </a:schemeClr>
                    </a:solidFill>
                  </a:rPr>
                  <a:t>.     </a:t>
                </a:r>
                <a:r>
                  <a:rPr lang="en-US" b="1" dirty="0" smtClean="0">
                    <a:solidFill>
                      <a:schemeClr val="accent5">
                        <a:lumMod val="50000"/>
                      </a:schemeClr>
                    </a:solidFill>
                  </a:rPr>
                  <a:t> </a:t>
                </a:r>
                <a:r>
                  <a:rPr lang="en-US" sz="2800" b="1" dirty="0">
                    <a:solidFill>
                      <a:schemeClr val="accent5">
                        <a:lumMod val="50000"/>
                      </a:schemeClr>
                    </a:solidFill>
                  </a:rPr>
                  <a:t>DC output Voltage </a:t>
                </a:r>
                <a:r>
                  <a:rPr lang="en-US" sz="2800" b="1" dirty="0">
                    <a:solidFill>
                      <a:schemeClr val="accent1">
                        <a:lumMod val="75000"/>
                      </a:schemeClr>
                    </a:solidFill>
                  </a:rPr>
                  <a:t>( V</a:t>
                </a:r>
                <a:r>
                  <a:rPr lang="en-US" sz="2800" b="1" baseline="-25000" dirty="0">
                    <a:solidFill>
                      <a:schemeClr val="accent1">
                        <a:lumMod val="75000"/>
                      </a:schemeClr>
                    </a:solidFill>
                  </a:rPr>
                  <a:t>DC </a:t>
                </a:r>
                <a:r>
                  <a:rPr lang="en-US" sz="2800" b="1" dirty="0">
                    <a:solidFill>
                      <a:schemeClr val="accent1">
                        <a:lumMod val="75000"/>
                      </a:schemeClr>
                    </a:solidFill>
                  </a:rPr>
                  <a:t>)</a:t>
                </a:r>
              </a:p>
              <a:p>
                <a:pPr marL="457200" indent="-457200">
                  <a:buAutoNum type="arabicPeriod" startAt="2"/>
                </a:pPr>
                <a:endParaRPr lang="en-US" b="1" dirty="0">
                  <a:solidFill>
                    <a:schemeClr val="accent1">
                      <a:lumMod val="75000"/>
                    </a:schemeClr>
                  </a:solidFill>
                </a:endParaRPr>
              </a:p>
              <a:p>
                <a:r>
                  <a:rPr lang="en-US" b="1" dirty="0">
                    <a:solidFill>
                      <a:schemeClr val="accent5">
                        <a:lumMod val="50000"/>
                      </a:schemeClr>
                    </a:solidFill>
                  </a:rPr>
                  <a:t>	</a:t>
                </a:r>
                <a:r>
                  <a:rPr lang="en-US" sz="2400" dirty="0"/>
                  <a:t>The DC </a:t>
                </a:r>
                <a:r>
                  <a:rPr lang="en-US" sz="2400" dirty="0" smtClean="0"/>
                  <a:t>value of  </a:t>
                </a:r>
                <a:r>
                  <a:rPr lang="en-US" sz="2400" dirty="0"/>
                  <a:t>Voltage </a:t>
                </a:r>
                <a:r>
                  <a:rPr lang="en-US" sz="2400" dirty="0" smtClean="0"/>
                  <a:t>across the load is </a:t>
                </a:r>
                <a:r>
                  <a:rPr lang="en-US" sz="2400" dirty="0"/>
                  <a:t>given </a:t>
                </a:r>
                <a:r>
                  <a:rPr lang="en-US" sz="2400" dirty="0" smtClean="0"/>
                  <a:t>by:</a:t>
                </a:r>
              </a:p>
              <a:p>
                <a:endParaRPr lang="en-US" sz="2400" dirty="0"/>
              </a:p>
              <a:p>
                <a:r>
                  <a:rPr lang="en-US" sz="2400" dirty="0" smtClean="0"/>
                  <a:t>			</a:t>
                </a:r>
                <a:r>
                  <a:rPr lang="en-US" sz="2800" dirty="0"/>
                  <a:t> </a:t>
                </a:r>
                <a:r>
                  <a:rPr lang="en-US" sz="3600" b="1" dirty="0" smtClean="0"/>
                  <a:t>V</a:t>
                </a:r>
                <a:r>
                  <a:rPr lang="en-US" sz="2400" b="1" baseline="-25000" dirty="0" smtClean="0"/>
                  <a:t>(Dc</a:t>
                </a:r>
                <a:r>
                  <a:rPr lang="en-US" sz="2400" b="1" baseline="-25000" dirty="0"/>
                  <a:t>)</a:t>
                </a:r>
                <a:r>
                  <a:rPr lang="en-US" sz="2400" b="1" dirty="0"/>
                  <a:t> </a:t>
                </a:r>
                <a:r>
                  <a:rPr lang="en-US" sz="2400" b="1" dirty="0" smtClean="0"/>
                  <a:t>=</a:t>
                </a:r>
                <a:r>
                  <a:rPr lang="en-US" sz="2800" dirty="0"/>
                  <a:t> </a:t>
                </a:r>
                <a:r>
                  <a:rPr lang="en-US" sz="3600" b="1" dirty="0" smtClean="0"/>
                  <a:t>I</a:t>
                </a:r>
                <a:r>
                  <a:rPr lang="en-US" sz="2400" b="1" baseline="-25000" dirty="0" smtClean="0"/>
                  <a:t>(Dc)</a:t>
                </a:r>
                <a:r>
                  <a:rPr lang="en-US" sz="2800" dirty="0"/>
                  <a:t> </a:t>
                </a:r>
                <a:r>
                  <a:rPr lang="en-US" sz="3600" b="1" dirty="0" smtClean="0"/>
                  <a:t>R</a:t>
                </a:r>
                <a:r>
                  <a:rPr lang="en-US" sz="2400" b="1" baseline="-25000" dirty="0" smtClean="0"/>
                  <a:t>L</a:t>
                </a:r>
                <a:r>
                  <a:rPr lang="en-US" sz="2400" b="1" dirty="0" smtClean="0"/>
                  <a:t> </a:t>
                </a:r>
                <a:endParaRPr lang="en-US" sz="2400" dirty="0" smtClean="0"/>
              </a:p>
              <a:p>
                <a:endParaRPr lang="en-US" sz="2400" dirty="0"/>
              </a:p>
              <a:p>
                <a:r>
                  <a:rPr lang="en-US" sz="2400" dirty="0" smtClean="0"/>
                  <a:t>			</a:t>
                </a:r>
                <a:r>
                  <a:rPr lang="en-US" sz="2800" dirty="0" smtClean="0"/>
                  <a:t>  </a:t>
                </a:r>
                <a:r>
                  <a:rPr lang="en-US" sz="3600" b="1" dirty="0"/>
                  <a:t>V</a:t>
                </a:r>
                <a:r>
                  <a:rPr lang="en-US" sz="2400" b="1" baseline="-25000" dirty="0" smtClean="0"/>
                  <a:t>(Dc</a:t>
                </a:r>
                <a:r>
                  <a:rPr lang="en-US" sz="2400" b="1" baseline="-25000" dirty="0"/>
                  <a:t>)</a:t>
                </a:r>
                <a:r>
                  <a:rPr lang="en-US" sz="2400" b="1" dirty="0"/>
                  <a:t>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b="1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l-GR" sz="2400" b="1" i="1">
                            <a:latin typeface="Cambria Math" panose="02040503050406030204" pitchFamily="18" charset="0"/>
                          </a:rPr>
                          <m:t>𝝅</m:t>
                        </m:r>
                      </m:den>
                    </m:f>
                  </m:oMath>
                </a14:m>
                <a:r>
                  <a:rPr lang="en-US" sz="2400" b="1" dirty="0" smtClean="0"/>
                  <a:t>  I</a:t>
                </a:r>
                <a:r>
                  <a:rPr lang="en-US" sz="2400" b="1" baseline="-25000" dirty="0" smtClean="0"/>
                  <a:t>(max)</a:t>
                </a:r>
                <a:r>
                  <a:rPr lang="en-US" sz="2400" b="1" dirty="0" smtClean="0"/>
                  <a:t> </a:t>
                </a:r>
                <a:r>
                  <a:rPr lang="en-US" sz="2400" b="1" dirty="0" smtClean="0"/>
                  <a:t>R</a:t>
                </a:r>
                <a:r>
                  <a:rPr lang="en-US" sz="2400" b="1" baseline="-25000" dirty="0" smtClean="0"/>
                  <a:t>L</a:t>
                </a:r>
              </a:p>
              <a:p>
                <a:r>
                  <a:rPr lang="en-US" sz="2400" b="1" baseline="-25000" dirty="0"/>
                  <a:t>	</a:t>
                </a:r>
                <a:r>
                  <a:rPr lang="en-US" sz="2400" b="1" baseline="-25000" dirty="0" smtClean="0"/>
                  <a:t>	</a:t>
                </a:r>
              </a:p>
              <a:p>
                <a:r>
                  <a:rPr lang="en-US" sz="2400" b="1" baseline="-25000" dirty="0"/>
                  <a:t>	</a:t>
                </a:r>
                <a:r>
                  <a:rPr lang="en-US" sz="2400" b="1" baseline="-25000" dirty="0" smtClean="0"/>
                  <a:t>	</a:t>
                </a:r>
                <a:r>
                  <a:rPr lang="en-US" sz="2400" b="1" baseline="-25000" dirty="0"/>
                  <a:t>	</a:t>
                </a:r>
                <a:r>
                  <a:rPr lang="en-US" sz="3600" b="1" dirty="0" smtClean="0"/>
                  <a:t>V</a:t>
                </a:r>
                <a:r>
                  <a:rPr lang="en-US" sz="2400" b="1" baseline="-25000" dirty="0" smtClean="0"/>
                  <a:t>(Dc</a:t>
                </a:r>
                <a:r>
                  <a:rPr lang="en-US" sz="2400" b="1" baseline="-25000" dirty="0"/>
                  <a:t>)</a:t>
                </a:r>
                <a:r>
                  <a:rPr lang="en-US" sz="2400" b="1" dirty="0"/>
                  <a:t>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b="1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l-GR" sz="2400" b="1" i="1">
                            <a:latin typeface="Cambria Math" panose="02040503050406030204" pitchFamily="18" charset="0"/>
                          </a:rPr>
                          <m:t>𝝅</m:t>
                        </m:r>
                      </m:den>
                    </m:f>
                  </m:oMath>
                </a14:m>
                <a:r>
                  <a:rPr lang="en-US" sz="2400" b="1" dirty="0"/>
                  <a:t>  </a:t>
                </a:r>
                <a:r>
                  <a:rPr lang="en-US" sz="2400" b="1" dirty="0" smtClean="0"/>
                  <a:t>V</a:t>
                </a:r>
                <a:r>
                  <a:rPr lang="en-US" sz="2400" b="1" baseline="-25000" dirty="0" smtClean="0"/>
                  <a:t>(max)</a:t>
                </a:r>
                <a:endParaRPr lang="en-US" sz="2400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4240" y="2281794"/>
                <a:ext cx="9444312" cy="4168449"/>
              </a:xfrm>
              <a:prstGeom prst="rect">
                <a:avLst/>
              </a:prstGeom>
              <a:blipFill>
                <a:blip r:embed="rId2"/>
                <a:stretch>
                  <a:fillRect l="-1290" t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24628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13802" y="227063"/>
            <a:ext cx="98432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accent1">
                    <a:lumMod val="50000"/>
                  </a:schemeClr>
                </a:solidFill>
              </a:rPr>
              <a:t>Full Wave Rectifier Circuit Analysis</a:t>
            </a:r>
            <a:endParaRPr lang="en-US" sz="40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/>
              <p:cNvSpPr/>
              <p:nvPr/>
            </p:nvSpPr>
            <p:spPr>
              <a:xfrm>
                <a:off x="708217" y="2360172"/>
                <a:ext cx="9444312" cy="28602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800" b="1" dirty="0">
                    <a:solidFill>
                      <a:schemeClr val="accent5">
                        <a:lumMod val="50000"/>
                      </a:schemeClr>
                    </a:solidFill>
                  </a:rPr>
                  <a:t>5</a:t>
                </a:r>
                <a:r>
                  <a:rPr lang="en-US" sz="2800" b="1" dirty="0" smtClean="0">
                    <a:solidFill>
                      <a:schemeClr val="accent5">
                        <a:lumMod val="50000"/>
                      </a:schemeClr>
                    </a:solidFill>
                  </a:rPr>
                  <a:t>. </a:t>
                </a:r>
                <a:r>
                  <a:rPr lang="en-US" b="1" dirty="0" smtClean="0">
                    <a:solidFill>
                      <a:schemeClr val="accent5">
                        <a:lumMod val="50000"/>
                      </a:schemeClr>
                    </a:solidFill>
                  </a:rPr>
                  <a:t>   </a:t>
                </a:r>
                <a:r>
                  <a:rPr lang="en-US" sz="2800" b="1" dirty="0" smtClean="0">
                    <a:solidFill>
                      <a:schemeClr val="accent5">
                        <a:lumMod val="50000"/>
                      </a:schemeClr>
                    </a:solidFill>
                  </a:rPr>
                  <a:t>The Root Mean Square value of Output Current </a:t>
                </a:r>
                <a:r>
                  <a:rPr lang="en-US" sz="2800" b="1" dirty="0">
                    <a:solidFill>
                      <a:schemeClr val="accent1">
                        <a:lumMod val="75000"/>
                      </a:schemeClr>
                    </a:solidFill>
                  </a:rPr>
                  <a:t>( </a:t>
                </a:r>
                <a:r>
                  <a:rPr lang="en-US" sz="2800" b="1" dirty="0" err="1" smtClean="0">
                    <a:solidFill>
                      <a:schemeClr val="accent1">
                        <a:lumMod val="75000"/>
                      </a:schemeClr>
                    </a:solidFill>
                  </a:rPr>
                  <a:t>I</a:t>
                </a:r>
                <a:r>
                  <a:rPr lang="en-US" sz="2800" b="1" baseline="-25000" dirty="0" err="1" smtClean="0">
                    <a:solidFill>
                      <a:schemeClr val="accent1">
                        <a:lumMod val="75000"/>
                      </a:schemeClr>
                    </a:solidFill>
                  </a:rPr>
                  <a:t>rms</a:t>
                </a:r>
                <a:r>
                  <a:rPr lang="en-US" sz="2800" b="1" baseline="-25000" dirty="0" smtClean="0">
                    <a:solidFill>
                      <a:schemeClr val="accent1">
                        <a:lumMod val="75000"/>
                      </a:schemeClr>
                    </a:solidFill>
                  </a:rPr>
                  <a:t> </a:t>
                </a:r>
                <a:r>
                  <a:rPr lang="en-US" sz="2800" b="1" dirty="0" smtClean="0">
                    <a:solidFill>
                      <a:schemeClr val="accent1">
                        <a:lumMod val="75000"/>
                      </a:schemeClr>
                    </a:solidFill>
                  </a:rPr>
                  <a:t>)</a:t>
                </a:r>
                <a:endParaRPr lang="en-US" sz="2800" b="1" dirty="0">
                  <a:solidFill>
                    <a:schemeClr val="accent1">
                      <a:lumMod val="75000"/>
                    </a:schemeClr>
                  </a:solidFill>
                </a:endParaRPr>
              </a:p>
              <a:p>
                <a:pPr marL="457200" indent="-457200">
                  <a:buAutoNum type="arabicPeriod" startAt="2"/>
                </a:pPr>
                <a:endParaRPr lang="en-US" b="1" dirty="0">
                  <a:solidFill>
                    <a:schemeClr val="accent1">
                      <a:lumMod val="75000"/>
                    </a:schemeClr>
                  </a:solidFill>
                </a:endParaRPr>
              </a:p>
              <a:p>
                <a:r>
                  <a:rPr lang="en-US" b="1" dirty="0">
                    <a:solidFill>
                      <a:schemeClr val="accent5">
                        <a:lumMod val="50000"/>
                      </a:schemeClr>
                    </a:solidFill>
                  </a:rPr>
                  <a:t>	</a:t>
                </a:r>
                <a:r>
                  <a:rPr lang="en-US" sz="2400" dirty="0" smtClean="0"/>
                  <a:t>The RMS value of current through load resistance is </a:t>
                </a:r>
                <a:r>
                  <a:rPr lang="en-US" sz="2400" dirty="0"/>
                  <a:t>given </a:t>
                </a:r>
                <a:r>
                  <a:rPr lang="en-US" sz="2400" dirty="0" smtClean="0"/>
                  <a:t>by:</a:t>
                </a:r>
              </a:p>
              <a:p>
                <a:endParaRPr lang="en-US" sz="2400" dirty="0"/>
              </a:p>
              <a:p>
                <a:r>
                  <a:rPr lang="en-US" sz="2400" dirty="0" smtClean="0"/>
                  <a:t>			</a:t>
                </a:r>
                <a:r>
                  <a:rPr lang="en-US" sz="2800" dirty="0"/>
                  <a:t> </a:t>
                </a:r>
                <a:r>
                  <a:rPr lang="en-US" sz="4800" b="1" dirty="0" smtClean="0"/>
                  <a:t>I</a:t>
                </a:r>
                <a:r>
                  <a:rPr lang="en-US" sz="3600" b="1" baseline="-25000" dirty="0" smtClean="0"/>
                  <a:t>(</a:t>
                </a:r>
                <a:r>
                  <a:rPr lang="en-US" sz="3600" b="1" baseline="-25000" dirty="0" err="1" smtClean="0"/>
                  <a:t>rms</a:t>
                </a:r>
                <a:r>
                  <a:rPr lang="en-US" sz="3600" b="1" baseline="-25000" dirty="0" smtClean="0"/>
                  <a:t>)</a:t>
                </a:r>
                <a:r>
                  <a:rPr lang="en-US" sz="3600" b="1" dirty="0" smtClean="0"/>
                  <a:t> =</a:t>
                </a:r>
                <a:r>
                  <a:rPr lang="en-US" sz="40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6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3600" b="1" dirty="0"/>
                          <m:t>I</m:t>
                        </m:r>
                        <m:r>
                          <m:rPr>
                            <m:nor/>
                          </m:rPr>
                          <a:rPr lang="en-US" sz="3600" b="1" baseline="-25000" dirty="0"/>
                          <m:t>(</m:t>
                        </m:r>
                        <m:r>
                          <m:rPr>
                            <m:nor/>
                          </m:rPr>
                          <a:rPr lang="en-US" sz="3600" b="1" i="0" baseline="-25000" dirty="0" smtClean="0"/>
                          <m:t>max</m:t>
                        </m:r>
                        <m:r>
                          <m:rPr>
                            <m:nor/>
                          </m:rPr>
                          <a:rPr lang="en-US" sz="3600" b="1" baseline="-25000" dirty="0"/>
                          <m:t>)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3600" b="1" i="1" dirty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3600" b="1" i="1" dirty="0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</m:rad>
                      </m:den>
                    </m:f>
                  </m:oMath>
                </a14:m>
                <a:endParaRPr lang="en-US" sz="3600" dirty="0"/>
              </a:p>
              <a:p>
                <a:endParaRPr lang="en-US" sz="2800" dirty="0"/>
              </a:p>
            </p:txBody>
          </p:sp>
        </mc:Choice>
        <mc:Fallback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217" y="2360172"/>
                <a:ext cx="9444312" cy="2860270"/>
              </a:xfrm>
              <a:prstGeom prst="rect">
                <a:avLst/>
              </a:prstGeom>
              <a:blipFill>
                <a:blip r:embed="rId2"/>
                <a:stretch>
                  <a:fillRect l="-1291" t="-19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59019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8672" y="227060"/>
            <a:ext cx="98432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accent1">
                    <a:lumMod val="50000"/>
                  </a:schemeClr>
                </a:solidFill>
              </a:rPr>
              <a:t>Full Wave Rectifier Circuit Analysis</a:t>
            </a:r>
            <a:endParaRPr lang="en-US" sz="40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/>
              <p:cNvSpPr/>
              <p:nvPr/>
            </p:nvSpPr>
            <p:spPr>
              <a:xfrm>
                <a:off x="708217" y="2007477"/>
                <a:ext cx="9444312" cy="332398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3200" b="1" dirty="0">
                    <a:solidFill>
                      <a:schemeClr val="accent5">
                        <a:lumMod val="50000"/>
                      </a:schemeClr>
                    </a:solidFill>
                  </a:rPr>
                  <a:t>6</a:t>
                </a:r>
                <a:r>
                  <a:rPr lang="en-US" sz="3200" b="1" dirty="0" smtClean="0">
                    <a:solidFill>
                      <a:schemeClr val="accent5">
                        <a:lumMod val="50000"/>
                      </a:schemeClr>
                    </a:solidFill>
                  </a:rPr>
                  <a:t>.</a:t>
                </a:r>
                <a:r>
                  <a:rPr lang="en-US" b="1" dirty="0" smtClean="0">
                    <a:solidFill>
                      <a:schemeClr val="accent5">
                        <a:lumMod val="50000"/>
                      </a:schemeClr>
                    </a:solidFill>
                  </a:rPr>
                  <a:t>    </a:t>
                </a:r>
                <a:r>
                  <a:rPr lang="en-US" sz="2800" b="1" dirty="0" smtClean="0">
                    <a:solidFill>
                      <a:schemeClr val="accent5">
                        <a:lumMod val="50000"/>
                      </a:schemeClr>
                    </a:solidFill>
                  </a:rPr>
                  <a:t>The Root Mean Square value of Output Voltage </a:t>
                </a:r>
                <a:r>
                  <a:rPr lang="en-US" sz="2800" b="1" dirty="0">
                    <a:solidFill>
                      <a:schemeClr val="accent1">
                        <a:lumMod val="75000"/>
                      </a:schemeClr>
                    </a:solidFill>
                  </a:rPr>
                  <a:t>( </a:t>
                </a:r>
                <a:r>
                  <a:rPr lang="en-US" sz="2800" b="1" dirty="0" err="1" smtClean="0">
                    <a:solidFill>
                      <a:schemeClr val="accent1">
                        <a:lumMod val="75000"/>
                      </a:schemeClr>
                    </a:solidFill>
                  </a:rPr>
                  <a:t>V</a:t>
                </a:r>
                <a:r>
                  <a:rPr lang="en-US" sz="2800" b="1" baseline="-25000" dirty="0" err="1" smtClean="0">
                    <a:solidFill>
                      <a:schemeClr val="accent1">
                        <a:lumMod val="75000"/>
                      </a:schemeClr>
                    </a:solidFill>
                  </a:rPr>
                  <a:t>rms</a:t>
                </a:r>
                <a:r>
                  <a:rPr lang="en-US" sz="2800" b="1" baseline="-25000" dirty="0" smtClean="0">
                    <a:solidFill>
                      <a:schemeClr val="accent1">
                        <a:lumMod val="75000"/>
                      </a:schemeClr>
                    </a:solidFill>
                  </a:rPr>
                  <a:t> </a:t>
                </a:r>
                <a:r>
                  <a:rPr lang="en-US" sz="2800" b="1" dirty="0" smtClean="0">
                    <a:solidFill>
                      <a:schemeClr val="accent1">
                        <a:lumMod val="75000"/>
                      </a:schemeClr>
                    </a:solidFill>
                  </a:rPr>
                  <a:t>)</a:t>
                </a:r>
                <a:endParaRPr lang="en-US" sz="2800" b="1" dirty="0">
                  <a:solidFill>
                    <a:schemeClr val="accent1">
                      <a:lumMod val="75000"/>
                    </a:schemeClr>
                  </a:solidFill>
                </a:endParaRPr>
              </a:p>
              <a:p>
                <a:pPr marL="457200" indent="-457200">
                  <a:buAutoNum type="arabicPeriod" startAt="2"/>
                </a:pPr>
                <a:endParaRPr lang="en-US" b="1" dirty="0">
                  <a:solidFill>
                    <a:schemeClr val="accent1">
                      <a:lumMod val="75000"/>
                    </a:schemeClr>
                  </a:solidFill>
                </a:endParaRPr>
              </a:p>
              <a:p>
                <a:r>
                  <a:rPr lang="en-US" b="1" dirty="0">
                    <a:solidFill>
                      <a:schemeClr val="accent5">
                        <a:lumMod val="50000"/>
                      </a:schemeClr>
                    </a:solidFill>
                  </a:rPr>
                  <a:t>	</a:t>
                </a:r>
                <a:r>
                  <a:rPr lang="en-US" sz="2400" dirty="0" smtClean="0"/>
                  <a:t>The RMS value of Voltage </a:t>
                </a:r>
                <a:r>
                  <a:rPr lang="en-US" sz="2400" dirty="0"/>
                  <a:t>given </a:t>
                </a:r>
                <a:r>
                  <a:rPr lang="en-US" sz="2400" dirty="0" smtClean="0"/>
                  <a:t>by:</a:t>
                </a:r>
              </a:p>
              <a:p>
                <a:endParaRPr lang="en-US" sz="3600" b="1" baseline="-25000" dirty="0" smtClean="0"/>
              </a:p>
              <a:p>
                <a:endParaRPr lang="en-US" sz="3600" b="1" baseline="-25000" dirty="0"/>
              </a:p>
              <a:p>
                <a:r>
                  <a:rPr lang="en-US" sz="3600" b="1" baseline="-25000" dirty="0" smtClean="0"/>
                  <a:t>			</a:t>
                </a:r>
                <a:r>
                  <a:rPr lang="en-US" sz="6000" b="1" dirty="0"/>
                  <a:t> </a:t>
                </a:r>
                <a:r>
                  <a:rPr lang="en-US" sz="5400" b="1" dirty="0" err="1" smtClean="0"/>
                  <a:t>V</a:t>
                </a:r>
                <a:r>
                  <a:rPr lang="en-US" sz="4000" b="1" baseline="-25000" dirty="0" err="1" smtClean="0"/>
                  <a:t>rms</a:t>
                </a:r>
                <a:r>
                  <a:rPr lang="en-US" sz="2800" b="1" dirty="0" smtClean="0"/>
                  <a:t> </a:t>
                </a:r>
                <a:r>
                  <a:rPr lang="en-US" sz="2800" b="1" dirty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800" b="1" i="0" smtClean="0">
                            <a:latin typeface="Cambria Math" panose="02040503050406030204" pitchFamily="18" charset="0"/>
                          </a:rPr>
                          <m:t>V</m:t>
                        </m:r>
                        <m:r>
                          <m:rPr>
                            <m:nor/>
                          </m:rPr>
                          <a:rPr lang="en-US" sz="2800" b="1" baseline="-25000" dirty="0"/>
                          <m:t>(</m:t>
                        </m:r>
                        <m:r>
                          <m:rPr>
                            <m:nor/>
                          </m:rPr>
                          <a:rPr lang="en-US" sz="2800" b="1" baseline="-25000" dirty="0"/>
                          <m:t>MAX</m:t>
                        </m:r>
                        <m:r>
                          <m:rPr>
                            <m:nor/>
                          </m:rPr>
                          <a:rPr lang="en-US" sz="2800" b="1" baseline="-25000" dirty="0"/>
                          <m:t>)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800" b="1" i="1" dirty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800" b="1" i="1" dirty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</m:rad>
                      </m:den>
                    </m:f>
                  </m:oMath>
                </a14:m>
                <a:r>
                  <a:rPr lang="en-US" sz="2800" b="1" dirty="0"/>
                  <a:t> </a:t>
                </a:r>
                <a:endParaRPr lang="en-US" sz="2800" dirty="0"/>
              </a:p>
              <a:p>
                <a:endParaRPr lang="en-US" sz="2800" dirty="0"/>
              </a:p>
            </p:txBody>
          </p:sp>
        </mc:Choice>
        <mc:Fallback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217" y="2007477"/>
                <a:ext cx="9444312" cy="3323987"/>
              </a:xfrm>
              <a:prstGeom prst="rect">
                <a:avLst/>
              </a:prstGeom>
              <a:blipFill>
                <a:blip r:embed="rId2"/>
                <a:stretch>
                  <a:fillRect l="-1614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5918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1772197" y="209008"/>
            <a:ext cx="8763000" cy="838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dirty="0" smtClean="0">
                <a:solidFill>
                  <a:schemeClr val="accent1">
                    <a:lumMod val="75000"/>
                  </a:schemeClr>
                </a:solidFill>
              </a:rPr>
              <a:t>		Full-wave rectifier</a:t>
            </a: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1772197" y="1047208"/>
            <a:ext cx="8763000" cy="54864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  <a:defRPr/>
            </a:pPr>
            <a:endParaRPr lang="en-US" b="1" dirty="0" smtClean="0"/>
          </a:p>
          <a:p>
            <a:pPr marL="0" indent="0">
              <a:buFont typeface="Wingdings 2" panose="05020102010507070707" pitchFamily="18" charset="2"/>
              <a:buNone/>
              <a:defRPr/>
            </a:pP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>Efficiency:</a:t>
            </a:r>
          </a:p>
          <a:p>
            <a:pPr marL="0" indent="0">
              <a:buFont typeface="Wingdings 2" panose="05020102010507070707" pitchFamily="18" charset="2"/>
              <a:buNone/>
              <a:defRPr/>
            </a:pPr>
            <a:endParaRPr lang="en-US" b="1" dirty="0" smtClean="0"/>
          </a:p>
          <a:p>
            <a:pPr marL="0" indent="0">
              <a:buFont typeface="Wingdings 2" panose="05020102010507070707" pitchFamily="18" charset="2"/>
              <a:buNone/>
              <a:defRPr/>
            </a:pPr>
            <a:endParaRPr lang="en-US" b="1" dirty="0" smtClean="0"/>
          </a:p>
          <a:p>
            <a:pPr marL="0" indent="0">
              <a:buFont typeface="Wingdings 2" panose="05020102010507070707" pitchFamily="18" charset="2"/>
              <a:buNone/>
              <a:defRPr/>
            </a:pPr>
            <a:endParaRPr lang="en-US" b="1" dirty="0" smtClean="0"/>
          </a:p>
          <a:p>
            <a:pPr marL="0" indent="0">
              <a:buFont typeface="Wingdings 2" panose="05020102010507070707" pitchFamily="18" charset="2"/>
              <a:buNone/>
              <a:defRPr/>
            </a:pPr>
            <a:endParaRPr lang="en-US" b="1" dirty="0" smtClean="0"/>
          </a:p>
          <a:p>
            <a:pPr marL="0" indent="0">
              <a:buFont typeface="Wingdings 2" panose="05020102010507070707" pitchFamily="18" charset="2"/>
              <a:buNone/>
              <a:defRPr/>
            </a:pPr>
            <a:endParaRPr lang="en-US" b="1" dirty="0" smtClean="0"/>
          </a:p>
          <a:p>
            <a:pPr marL="0" indent="0" algn="ctr">
              <a:buFont typeface="Wingdings 2" panose="05020102010507070707" pitchFamily="18" charset="2"/>
              <a:buNone/>
              <a:defRPr/>
            </a:pPr>
            <a:endParaRPr lang="en-US" sz="3200" dirty="0" smtClean="0"/>
          </a:p>
          <a:p>
            <a:pPr marL="0" indent="0" algn="ctr">
              <a:buFont typeface="Wingdings 2" panose="05020102010507070707" pitchFamily="18" charset="2"/>
              <a:buNone/>
              <a:defRPr/>
            </a:pPr>
            <a:r>
              <a:rPr lang="en-US" sz="3200" dirty="0" smtClean="0"/>
              <a:t>Consider </a:t>
            </a:r>
            <a:r>
              <a:rPr lang="en-US" sz="3200" i="1" dirty="0" err="1" smtClean="0"/>
              <a:t>r</a:t>
            </a:r>
            <a:r>
              <a:rPr lang="en-US" sz="3200" i="1" baseline="-25000" dirty="0" err="1" smtClean="0"/>
              <a:t>f</a:t>
            </a:r>
            <a:r>
              <a:rPr lang="en-US" sz="3200" baseline="-25000" dirty="0" smtClean="0"/>
              <a:t> </a:t>
            </a:r>
            <a:r>
              <a:rPr lang="en-US" sz="3200" baseline="30000" dirty="0" smtClean="0"/>
              <a:t> </a:t>
            </a:r>
            <a:r>
              <a:rPr lang="en-US" sz="3200" dirty="0" smtClean="0"/>
              <a:t>is negligible as compare to </a:t>
            </a:r>
            <a:r>
              <a:rPr lang="en-US" sz="3200" i="1" dirty="0" smtClean="0"/>
              <a:t>R</a:t>
            </a:r>
            <a:r>
              <a:rPr lang="en-US" sz="3200" i="1" baseline="-25000" dirty="0" smtClean="0"/>
              <a:t>L</a:t>
            </a:r>
          </a:p>
          <a:p>
            <a:pPr marL="0" indent="0" algn="ctr">
              <a:buFont typeface="Wingdings 2" panose="05020102010507070707" pitchFamily="18" charset="2"/>
              <a:buNone/>
              <a:defRPr/>
            </a:pP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Max. efficiency = 81.2% </a:t>
            </a:r>
          </a:p>
          <a:p>
            <a:pPr>
              <a:defRPr/>
            </a:pPr>
            <a:endParaRPr lang="en-US" b="1" dirty="0" smtClean="0"/>
          </a:p>
          <a:p>
            <a:pPr marL="0" indent="0">
              <a:buFont typeface="Wingdings 2" panose="05020102010507070707" pitchFamily="18" charset="2"/>
              <a:buNone/>
              <a:defRPr/>
            </a:pPr>
            <a:endParaRPr lang="en-US" sz="3200" b="1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9544597" y="6565358"/>
            <a:ext cx="7620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fld id="{17E968BF-65F3-49B8-8AB3-F122F01A370E}" type="slidenum">
              <a:rPr lang="en-US" altLang="en-US" smtClean="0">
                <a:solidFill>
                  <a:srgbClr val="4A566A"/>
                </a:solidFill>
              </a:rPr>
              <a:pPr/>
              <a:t>26</a:t>
            </a:fld>
            <a:endParaRPr lang="en-US" altLang="en-US" smtClean="0">
              <a:solidFill>
                <a:srgbClr val="4A566A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8072" y="2120540"/>
            <a:ext cx="6867525" cy="2886075"/>
          </a:xfrm>
          <a:prstGeom prst="rect">
            <a:avLst/>
          </a:prstGeom>
          <a:ln w="38100" cap="sq">
            <a:solidFill>
              <a:schemeClr val="tx1">
                <a:lumMod val="75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51892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14-half-wave-rectifier-full-wave-rectifier-with-their-descriptions-14-638.jpg"/>
          <p:cNvPicPr>
            <a:picLocks noChangeAspect="1"/>
          </p:cNvPicPr>
          <p:nvPr/>
        </p:nvPicPr>
        <p:blipFill rotWithShape="1">
          <a:blip r:embed="rId2"/>
          <a:srcRect t="22976"/>
          <a:stretch/>
        </p:blipFill>
        <p:spPr>
          <a:xfrm>
            <a:off x="940526" y="1776548"/>
            <a:ext cx="9353005" cy="3853542"/>
          </a:xfrm>
          <a:prstGeom prst="rect">
            <a:avLst/>
          </a:prstGeom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1772197" y="209008"/>
            <a:ext cx="8763000" cy="838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4000" dirty="0" smtClean="0">
                <a:solidFill>
                  <a:schemeClr val="accent1">
                    <a:lumMod val="75000"/>
                  </a:schemeClr>
                </a:solidFill>
              </a:rPr>
              <a:t>Output frequency of Full wave rectifier</a:t>
            </a:r>
          </a:p>
        </p:txBody>
      </p:sp>
    </p:spTree>
    <p:extLst>
      <p:ext uri="{BB962C8B-B14F-4D97-AF65-F5344CB8AC3E}">
        <p14:creationId xmlns:p14="http://schemas.microsoft.com/office/powerpoint/2010/main" val="1947984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38200" y="42861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Bridge Diode Full-wave rectifier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653143" y="1368424"/>
            <a:ext cx="10700657" cy="565762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In Bridge rectifier, four diodes are arranged in the form of a bridge.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 The main advantage of this bridge circuit is that it does not require a special center tapped transformer.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The single secondary winding is connected to one side of the diode bridge network and the load to the other side.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This configuration provides same polarity output with either polarity</a:t>
            </a:r>
            <a:r>
              <a:rPr lang="en-US" dirty="0" smtClean="0"/>
              <a:t>.</a:t>
            </a:r>
            <a:endParaRPr lang="en-US" dirty="0"/>
          </a:p>
          <a:p>
            <a:pPr algn="just">
              <a:buFont typeface="Wingdings" panose="05000000000000000000" pitchFamily="2" charset="2"/>
              <a:buChar char="Ø"/>
              <a:defRPr/>
            </a:pPr>
            <a:r>
              <a:rPr lang="en-US" dirty="0"/>
              <a:t>The output is twice that of the center tap circuit for the same secondary voltage</a:t>
            </a:r>
            <a:r>
              <a:rPr lang="en-US" dirty="0" smtClean="0"/>
              <a:t>.</a:t>
            </a:r>
            <a:endParaRPr lang="en-US" dirty="0"/>
          </a:p>
          <a:p>
            <a:pPr algn="just">
              <a:buFont typeface="Wingdings" panose="05000000000000000000" pitchFamily="2" charset="2"/>
              <a:buChar char="Ø"/>
              <a:defRPr/>
            </a:pPr>
            <a:r>
              <a:rPr lang="en-US" dirty="0"/>
              <a:t>The PIV is one half that of the center-tap circuit.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5181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38200" y="-26761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Bridge </a:t>
            </a:r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</a:rPr>
              <a:t>Diode Full-wave rectifier</a:t>
            </a:r>
            <a:endParaRPr lang="en-US" dirty="0"/>
          </a:p>
        </p:txBody>
      </p:sp>
      <p:pic>
        <p:nvPicPr>
          <p:cNvPr id="6" name="Content Placeholder 5" descr="13-half-wave-rectifier-full-wave-rectifier-with-their-descriptions-13-638.jpg"/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1688123" y="2116183"/>
            <a:ext cx="8335107" cy="3827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130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 txBox="1">
            <a:spLocks/>
          </p:cNvSpPr>
          <p:nvPr/>
        </p:nvSpPr>
        <p:spPr>
          <a:xfrm>
            <a:off x="822960" y="838200"/>
            <a:ext cx="10195563" cy="54864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  <a:defRPr/>
            </a:pPr>
            <a:endParaRPr lang="en-US" altLang="en-US" sz="4000" b="1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algn="just">
              <a:defRPr/>
            </a:pPr>
            <a:r>
              <a:rPr lang="en-US" altLang="en-US" sz="3200" b="1" dirty="0" smtClean="0">
                <a:solidFill>
                  <a:schemeClr val="accent1">
                    <a:lumMod val="75000"/>
                  </a:schemeClr>
                </a:solidFill>
              </a:rPr>
              <a:t>Ripple Factor</a:t>
            </a:r>
          </a:p>
          <a:p>
            <a:pPr marL="914400" lvl="2" indent="0" algn="just">
              <a:buNone/>
              <a:defRPr/>
            </a:pPr>
            <a:r>
              <a:rPr lang="en-US" altLang="en-US" sz="2400" b="1" dirty="0" smtClean="0"/>
              <a:t>The output current contains both AC and DC components . The ripple factor measures the percentage of AC component in the rectified output.</a:t>
            </a:r>
          </a:p>
          <a:p>
            <a:pPr marL="914400" lvl="2" indent="0" algn="just">
              <a:buNone/>
              <a:defRPr/>
            </a:pPr>
            <a:endParaRPr lang="en-US" altLang="en-US" sz="2400" b="1" dirty="0" smtClean="0"/>
          </a:p>
          <a:p>
            <a:pPr marL="0" indent="0" algn="just">
              <a:buFont typeface="Wingdings 2" panose="05020102010507070707" pitchFamily="18" charset="2"/>
              <a:buNone/>
              <a:defRPr/>
            </a:pPr>
            <a:r>
              <a:rPr lang="en-US" b="1" i="1" dirty="0" smtClean="0"/>
              <a:t>“</a:t>
            </a:r>
            <a:r>
              <a:rPr lang="en-US" i="1" dirty="0" smtClean="0"/>
              <a:t>The ratio of </a:t>
            </a:r>
            <a:r>
              <a:rPr lang="en-US" i="1" dirty="0" err="1" smtClean="0"/>
              <a:t>r.m.s</a:t>
            </a:r>
            <a:r>
              <a:rPr lang="en-US" i="1" dirty="0" smtClean="0"/>
              <a:t>. value of </a:t>
            </a:r>
            <a:r>
              <a:rPr lang="en-US" i="1" dirty="0" err="1" smtClean="0"/>
              <a:t>a.c</a:t>
            </a:r>
            <a:r>
              <a:rPr lang="en-US" i="1" dirty="0" smtClean="0"/>
              <a:t>. component to the </a:t>
            </a:r>
            <a:r>
              <a:rPr lang="en-US" i="1" dirty="0" err="1" smtClean="0"/>
              <a:t>d.c.</a:t>
            </a:r>
            <a:r>
              <a:rPr lang="en-US" i="1" dirty="0" smtClean="0"/>
              <a:t> component in the rectifier output is known as the ripple factor</a:t>
            </a:r>
            <a:r>
              <a:rPr lang="en-US" b="1" i="1" dirty="0" smtClean="0"/>
              <a:t>.”</a:t>
            </a:r>
          </a:p>
          <a:p>
            <a:pPr marL="0" indent="0">
              <a:buFont typeface="Wingdings 2" panose="05020102010507070707" pitchFamily="18" charset="2"/>
              <a:buNone/>
              <a:defRPr/>
            </a:pPr>
            <a:endParaRPr lang="en-US" b="1" dirty="0" smtClean="0"/>
          </a:p>
          <a:p>
            <a:pPr marL="0" indent="0">
              <a:buFont typeface="Wingdings 2" panose="05020102010507070707" pitchFamily="18" charset="2"/>
              <a:buNone/>
              <a:defRPr/>
            </a:pPr>
            <a:endParaRPr lang="en-US" b="1" dirty="0" smtClean="0"/>
          </a:p>
          <a:p>
            <a:pPr marL="0" indent="0">
              <a:buFont typeface="Wingdings 2" panose="05020102010507070707" pitchFamily="18" charset="2"/>
              <a:buNone/>
              <a:defRPr/>
            </a:pPr>
            <a:endParaRPr lang="en-US" b="1" dirty="0" smtClean="0"/>
          </a:p>
          <a:p>
            <a:pPr marL="0" indent="0">
              <a:buFont typeface="Wingdings 2" panose="05020102010507070707" pitchFamily="18" charset="2"/>
              <a:buNone/>
              <a:defRPr/>
            </a:pPr>
            <a:endParaRPr lang="en-US" b="1" dirty="0" smtClean="0"/>
          </a:p>
          <a:p>
            <a:pPr marL="0" indent="0">
              <a:buFont typeface="Wingdings 2" panose="05020102010507070707" pitchFamily="18" charset="2"/>
              <a:buNone/>
              <a:defRPr/>
            </a:pPr>
            <a:endParaRPr lang="en-US" b="1" dirty="0" smtClean="0"/>
          </a:p>
          <a:p>
            <a:pPr marL="0" indent="0">
              <a:buFont typeface="Wingdings 2" panose="05020102010507070707" pitchFamily="18" charset="2"/>
              <a:buNone/>
              <a:defRPr/>
            </a:pPr>
            <a:endParaRPr lang="en-US" b="1" dirty="0" smtClean="0"/>
          </a:p>
          <a:p>
            <a:pPr>
              <a:defRPr/>
            </a:pPr>
            <a:endParaRPr lang="en-US" b="1" dirty="0" smtClean="0"/>
          </a:p>
          <a:p>
            <a:pPr marL="0" indent="0">
              <a:buFont typeface="Wingdings 2" panose="05020102010507070707" pitchFamily="18" charset="2"/>
              <a:buNone/>
              <a:defRPr/>
            </a:pPr>
            <a:endParaRPr lang="en-US" sz="3200" b="1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10027923" y="6356350"/>
            <a:ext cx="7620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fld id="{A3B2044E-2823-443A-BE1E-075713BFB3D9}" type="slidenum">
              <a:rPr lang="en-US" altLang="en-US" smtClean="0">
                <a:solidFill>
                  <a:srgbClr val="4A566A"/>
                </a:solidFill>
              </a:rPr>
              <a:pPr/>
              <a:t>30</a:t>
            </a:fld>
            <a:endParaRPr lang="en-US" altLang="en-US" smtClean="0">
              <a:solidFill>
                <a:srgbClr val="4A566A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6604" y="4664851"/>
            <a:ext cx="7772400" cy="1228725"/>
          </a:xfrm>
          <a:prstGeom prst="rect">
            <a:avLst/>
          </a:prstGeom>
          <a:ln w="38100" cap="sq">
            <a:solidFill>
              <a:schemeClr val="tx1">
                <a:lumMod val="75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2333898" y="261260"/>
            <a:ext cx="8763000" cy="838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Font typeface="Wingdings 2" panose="05020102010507070707" pitchFamily="18" charset="2"/>
              <a:buNone/>
            </a:pPr>
            <a:r>
              <a:rPr lang="en-US" altLang="en-US" b="1" dirty="0" smtClean="0">
                <a:solidFill>
                  <a:schemeClr val="accent1">
                    <a:lumMod val="75000"/>
                  </a:schemeClr>
                </a:solidFill>
              </a:rPr>
              <a:t>          Ripple Factor</a:t>
            </a:r>
          </a:p>
        </p:txBody>
      </p:sp>
    </p:spTree>
    <p:extLst>
      <p:ext uri="{BB962C8B-B14F-4D97-AF65-F5344CB8AC3E}">
        <p14:creationId xmlns:p14="http://schemas.microsoft.com/office/powerpoint/2010/main" val="2691567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2333898" y="261260"/>
            <a:ext cx="8763000" cy="838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Font typeface="Wingdings 2" panose="05020102010507070707" pitchFamily="18" charset="2"/>
              <a:buNone/>
            </a:pPr>
            <a:r>
              <a:rPr lang="en-US" altLang="en-US" b="1" dirty="0" smtClean="0">
                <a:solidFill>
                  <a:schemeClr val="accent1">
                    <a:lumMod val="75000"/>
                  </a:schemeClr>
                </a:solidFill>
              </a:rPr>
              <a:t>          Ripple Factor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18011" y="1099460"/>
            <a:ext cx="10678887" cy="504008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endParaRPr lang="en-US" altLang="en-US" sz="3200" b="1" dirty="0" smtClean="0"/>
          </a:p>
          <a:p>
            <a:pPr marL="0" indent="0">
              <a:buFont typeface="Wingdings 2" panose="05020102010507070707" pitchFamily="18" charset="2"/>
              <a:buNone/>
            </a:pPr>
            <a:r>
              <a:rPr lang="en-US" altLang="en-US" sz="3200" b="1" dirty="0" smtClean="0"/>
              <a:t>Mathematical analysis:</a:t>
            </a:r>
          </a:p>
          <a:p>
            <a:pPr marL="0" indent="0">
              <a:buFont typeface="Wingdings 2" panose="05020102010507070707" pitchFamily="18" charset="2"/>
              <a:buNone/>
            </a:pPr>
            <a:endParaRPr lang="en-US" altLang="en-US" sz="3200" b="1" dirty="0" smtClean="0"/>
          </a:p>
          <a:p>
            <a:pPr marL="0" indent="0">
              <a:buFont typeface="Wingdings 2" panose="05020102010507070707" pitchFamily="18" charset="2"/>
              <a:buNone/>
            </a:pPr>
            <a:r>
              <a:rPr lang="en-US" altLang="en-US" sz="3200" b="1" dirty="0" smtClean="0"/>
              <a:t>For Half wave rectification:</a:t>
            </a:r>
          </a:p>
          <a:p>
            <a:pPr marL="0" indent="0">
              <a:buFont typeface="Wingdings 2" panose="05020102010507070707" pitchFamily="18" charset="2"/>
              <a:buNone/>
            </a:pPr>
            <a:endParaRPr lang="en-US" altLang="en-US" sz="3200" b="1" dirty="0" smtClean="0"/>
          </a:p>
          <a:p>
            <a:pPr marL="0" indent="0">
              <a:buFont typeface="Wingdings 2" panose="05020102010507070707" pitchFamily="18" charset="2"/>
              <a:buNone/>
            </a:pPr>
            <a:endParaRPr lang="en-US" altLang="en-US" sz="3200" b="1" dirty="0" smtClean="0"/>
          </a:p>
          <a:p>
            <a:pPr marL="0" indent="0">
              <a:buFont typeface="Wingdings 2" panose="05020102010507070707" pitchFamily="18" charset="2"/>
              <a:buNone/>
            </a:pPr>
            <a:r>
              <a:rPr lang="en-US" altLang="en-US" sz="3200" b="1" dirty="0" smtClean="0"/>
              <a:t>For Full wave rectification: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10106298" y="6617610"/>
            <a:ext cx="7620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fld id="{FE3097BE-DBB0-4601-9332-3FBA73C25274}" type="slidenum">
              <a:rPr lang="en-US" altLang="en-US" smtClean="0">
                <a:solidFill>
                  <a:srgbClr val="4A566A"/>
                </a:solidFill>
              </a:rPr>
              <a:pPr/>
              <a:t>31</a:t>
            </a:fld>
            <a:endParaRPr lang="en-US" altLang="en-US" smtClean="0">
              <a:solidFill>
                <a:srgbClr val="4A566A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4666" y="3384006"/>
            <a:ext cx="4538663" cy="1025525"/>
          </a:xfrm>
          <a:prstGeom prst="rect">
            <a:avLst/>
          </a:prstGeom>
          <a:ln w="38100" cap="sq">
            <a:solidFill>
              <a:schemeClr val="accent1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6098" y="5107444"/>
            <a:ext cx="4495800" cy="1101725"/>
          </a:xfrm>
          <a:prstGeom prst="rect">
            <a:avLst/>
          </a:prstGeom>
          <a:ln w="38100" cap="sq">
            <a:solidFill>
              <a:schemeClr val="accent1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90286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177" y="2114003"/>
            <a:ext cx="8077200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2072640" y="300445"/>
            <a:ext cx="8763000" cy="838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b="1" dirty="0" smtClean="0">
                <a:solidFill>
                  <a:schemeClr val="accent1">
                    <a:lumMod val="75000"/>
                  </a:schemeClr>
                </a:solidFill>
              </a:rPr>
              <a:t>Comparison of rectifiers</a:t>
            </a:r>
          </a:p>
        </p:txBody>
      </p:sp>
    </p:spTree>
    <p:extLst>
      <p:ext uri="{BB962C8B-B14F-4D97-AF65-F5344CB8AC3E}">
        <p14:creationId xmlns:p14="http://schemas.microsoft.com/office/powerpoint/2010/main" val="2218859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14-halfwave-and-full-wave-rectificaton-14-638.jpg"/>
          <p:cNvPicPr>
            <a:picLocks noGrp="1" noChangeAspect="1"/>
          </p:cNvPicPr>
          <p:nvPr>
            <p:ph idx="4294967295"/>
          </p:nvPr>
        </p:nvPicPr>
        <p:blipFill rotWithShape="1">
          <a:blip r:embed="rId2"/>
          <a:srcRect t="21037"/>
          <a:stretch/>
        </p:blipFill>
        <p:spPr>
          <a:xfrm>
            <a:off x="7274116" y="2541220"/>
            <a:ext cx="4917884" cy="3324003"/>
          </a:xfrm>
          <a:prstGeom prst="rect">
            <a:avLst/>
          </a:prstGeom>
        </p:spPr>
      </p:pic>
      <p:pic>
        <p:nvPicPr>
          <p:cNvPr id="6" name="Picture 5" descr="17-half-wave-rectifier-full-wave-rectifier-with-their-descriptions-17-63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71600"/>
            <a:ext cx="6594231" cy="488551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087101" y="1402247"/>
            <a:ext cx="5052647" cy="110799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6600" b="1" dirty="0" smtClean="0"/>
              <a:t>Any Question</a:t>
            </a:r>
            <a:endParaRPr lang="en-US" sz="6600" b="1" dirty="0"/>
          </a:p>
        </p:txBody>
      </p:sp>
    </p:spTree>
    <p:extLst>
      <p:ext uri="{BB962C8B-B14F-4D97-AF65-F5344CB8AC3E}">
        <p14:creationId xmlns:p14="http://schemas.microsoft.com/office/powerpoint/2010/main" val="3348827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962</TotalTime>
  <Words>800</Words>
  <Application>Microsoft Office PowerPoint</Application>
  <PresentationFormat>Widescreen</PresentationFormat>
  <Paragraphs>186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2" baseType="lpstr">
      <vt:lpstr>Arial</vt:lpstr>
      <vt:lpstr>Calibri</vt:lpstr>
      <vt:lpstr>Calibri Light</vt:lpstr>
      <vt:lpstr>Cambria Math</vt:lpstr>
      <vt:lpstr>Georgia</vt:lpstr>
      <vt:lpstr>Times New Roman</vt:lpstr>
      <vt:lpstr>Wingdings</vt:lpstr>
      <vt:lpstr>Wingdings 2</vt:lpstr>
      <vt:lpstr>Office Theme</vt:lpstr>
      <vt:lpstr> </vt:lpstr>
      <vt:lpstr>Rectifier</vt:lpstr>
      <vt:lpstr>PowerPoint Presentation</vt:lpstr>
      <vt:lpstr>Half-wave rectifier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Two Diodes Full-wave rectifier (OR) Center-Tap Full-Wave Rectifier </vt:lpstr>
      <vt:lpstr>Two Diodes Full-wave rectifier Working Mechanism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Bridge Diode Full-wave rectifier</vt:lpstr>
      <vt:lpstr>Bridge Diode Full-wave rectifier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Mushtaque Ali</dc:creator>
  <cp:lastModifiedBy>Mushtaque Ali</cp:lastModifiedBy>
  <cp:revision>213</cp:revision>
  <dcterms:created xsi:type="dcterms:W3CDTF">2024-03-29T15:23:40Z</dcterms:created>
  <dcterms:modified xsi:type="dcterms:W3CDTF">2024-04-03T05:51:00Z</dcterms:modified>
</cp:coreProperties>
</file>
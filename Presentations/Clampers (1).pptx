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54902E-452B-4288-8A2A-BA0BC738AFF9}" v="18" dt="2024-04-16T13:24:47.5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8754902E-452B-4288-8A2A-BA0BC738AFF9}"/>
    <pc:docChg chg="modSld">
      <pc:chgData name="" userId="" providerId="" clId="Web-{8754902E-452B-4288-8A2A-BA0BC738AFF9}" dt="2024-04-16T13:24:47.586" v="17"/>
      <pc:docMkLst>
        <pc:docMk/>
      </pc:docMkLst>
      <pc:sldChg chg="addSp delSp modSp">
        <pc:chgData name="" userId="" providerId="" clId="Web-{8754902E-452B-4288-8A2A-BA0BC738AFF9}" dt="2024-04-16T13:23:57.991" v="7" actId="20577"/>
        <pc:sldMkLst>
          <pc:docMk/>
          <pc:sldMk cId="0" sldId="256"/>
        </pc:sldMkLst>
        <pc:spChg chg="mod">
          <ac:chgData name="" userId="" providerId="" clId="Web-{8754902E-452B-4288-8A2A-BA0BC738AFF9}" dt="2024-04-16T13:23:41.084" v="5" actId="20577"/>
          <ac:spMkLst>
            <pc:docMk/>
            <pc:sldMk cId="0" sldId="256"/>
            <ac:spMk id="5" creationId="{00000000-0000-0000-0000-000000000000}"/>
          </ac:spMkLst>
        </pc:spChg>
        <pc:spChg chg="mod">
          <ac:chgData name="" userId="" providerId="" clId="Web-{8754902E-452B-4288-8A2A-BA0BC738AFF9}" dt="2024-04-16T13:23:57.991" v="7" actId="20577"/>
          <ac:spMkLst>
            <pc:docMk/>
            <pc:sldMk cId="0" sldId="256"/>
            <ac:spMk id="6" creationId="{00000000-0000-0000-0000-000000000000}"/>
          </ac:spMkLst>
        </pc:spChg>
        <pc:picChg chg="del">
          <ac:chgData name="" userId="" providerId="" clId="Web-{8754902E-452B-4288-8A2A-BA0BC738AFF9}" dt="2024-04-16T13:23:31.880" v="4"/>
          <ac:picMkLst>
            <pc:docMk/>
            <pc:sldMk cId="0" sldId="256"/>
            <ac:picMk id="7" creationId="{00000000-0000-0000-0000-000000000000}"/>
          </ac:picMkLst>
        </pc:picChg>
        <pc:picChg chg="add del mod">
          <ac:chgData name="" userId="" providerId="" clId="Web-{8754902E-452B-4288-8A2A-BA0BC738AFF9}" dt="2024-04-16T13:23:29.349" v="3"/>
          <ac:picMkLst>
            <pc:docMk/>
            <pc:sldMk cId="0" sldId="256"/>
            <ac:picMk id="8" creationId="{0B16856C-FF64-BDBF-E797-D690E716B6B2}"/>
          </ac:picMkLst>
        </pc:picChg>
      </pc:sldChg>
      <pc:sldChg chg="delSp">
        <pc:chgData name="" userId="" providerId="" clId="Web-{8754902E-452B-4288-8A2A-BA0BC738AFF9}" dt="2024-04-16T13:24:05.335" v="8"/>
        <pc:sldMkLst>
          <pc:docMk/>
          <pc:sldMk cId="0" sldId="257"/>
        </pc:sldMkLst>
        <pc:picChg chg="del">
          <ac:chgData name="" userId="" providerId="" clId="Web-{8754902E-452B-4288-8A2A-BA0BC738AFF9}" dt="2024-04-16T13:24:05.335" v="8"/>
          <ac:picMkLst>
            <pc:docMk/>
            <pc:sldMk cId="0" sldId="257"/>
            <ac:picMk id="7" creationId="{00000000-0000-0000-0000-000000000000}"/>
          </ac:picMkLst>
        </pc:picChg>
      </pc:sldChg>
      <pc:sldChg chg="delSp">
        <pc:chgData name="" userId="" providerId="" clId="Web-{8754902E-452B-4288-8A2A-BA0BC738AFF9}" dt="2024-04-16T13:24:09.523" v="9"/>
        <pc:sldMkLst>
          <pc:docMk/>
          <pc:sldMk cId="0" sldId="258"/>
        </pc:sldMkLst>
        <pc:picChg chg="del">
          <ac:chgData name="" userId="" providerId="" clId="Web-{8754902E-452B-4288-8A2A-BA0BC738AFF9}" dt="2024-04-16T13:24:09.523" v="9"/>
          <ac:picMkLst>
            <pc:docMk/>
            <pc:sldMk cId="0" sldId="258"/>
            <ac:picMk id="9" creationId="{00000000-0000-0000-0000-000000000000}"/>
          </ac:picMkLst>
        </pc:picChg>
      </pc:sldChg>
      <pc:sldChg chg="delSp">
        <pc:chgData name="" userId="" providerId="" clId="Web-{8754902E-452B-4288-8A2A-BA0BC738AFF9}" dt="2024-04-16T13:24:13.663" v="10"/>
        <pc:sldMkLst>
          <pc:docMk/>
          <pc:sldMk cId="0" sldId="259"/>
        </pc:sldMkLst>
        <pc:picChg chg="del">
          <ac:chgData name="" userId="" providerId="" clId="Web-{8754902E-452B-4288-8A2A-BA0BC738AFF9}" dt="2024-04-16T13:24:13.663" v="10"/>
          <ac:picMkLst>
            <pc:docMk/>
            <pc:sldMk cId="0" sldId="259"/>
            <ac:picMk id="18" creationId="{00000000-0000-0000-0000-000000000000}"/>
          </ac:picMkLst>
        </pc:picChg>
      </pc:sldChg>
      <pc:sldChg chg="delSp modSp">
        <pc:chgData name="" userId="" providerId="" clId="Web-{8754902E-452B-4288-8A2A-BA0BC738AFF9}" dt="2024-04-16T13:24:41.586" v="15" actId="1076"/>
        <pc:sldMkLst>
          <pc:docMk/>
          <pc:sldMk cId="0" sldId="260"/>
        </pc:sldMkLst>
        <pc:picChg chg="mod">
          <ac:chgData name="" userId="" providerId="" clId="Web-{8754902E-452B-4288-8A2A-BA0BC738AFF9}" dt="2024-04-16T13:24:41.586" v="15" actId="1076"/>
          <ac:picMkLst>
            <pc:docMk/>
            <pc:sldMk cId="0" sldId="260"/>
            <ac:picMk id="4" creationId="{00000000-0000-0000-0000-000000000000}"/>
          </ac:picMkLst>
        </pc:picChg>
        <pc:picChg chg="del">
          <ac:chgData name="" userId="" providerId="" clId="Web-{8754902E-452B-4288-8A2A-BA0BC738AFF9}" dt="2024-04-16T13:24:20.429" v="11"/>
          <ac:picMkLst>
            <pc:docMk/>
            <pc:sldMk cId="0" sldId="260"/>
            <ac:picMk id="15" creationId="{00000000-0000-0000-0000-000000000000}"/>
          </ac:picMkLst>
        </pc:picChg>
      </pc:sldChg>
      <pc:sldChg chg="delSp">
        <pc:chgData name="" userId="" providerId="" clId="Web-{8754902E-452B-4288-8A2A-BA0BC738AFF9}" dt="2024-04-16T13:24:24.367" v="12"/>
        <pc:sldMkLst>
          <pc:docMk/>
          <pc:sldMk cId="0" sldId="261"/>
        </pc:sldMkLst>
        <pc:picChg chg="del">
          <ac:chgData name="" userId="" providerId="" clId="Web-{8754902E-452B-4288-8A2A-BA0BC738AFF9}" dt="2024-04-16T13:24:24.367" v="12"/>
          <ac:picMkLst>
            <pc:docMk/>
            <pc:sldMk cId="0" sldId="261"/>
            <ac:picMk id="14" creationId="{00000000-0000-0000-0000-000000000000}"/>
          </ac:picMkLst>
        </pc:picChg>
      </pc:sldChg>
      <pc:sldChg chg="addSp delSp">
        <pc:chgData name="" userId="" providerId="" clId="Web-{8754902E-452B-4288-8A2A-BA0BC738AFF9}" dt="2024-04-16T13:24:47.586" v="17"/>
        <pc:sldMkLst>
          <pc:docMk/>
          <pc:sldMk cId="0" sldId="262"/>
        </pc:sldMkLst>
        <pc:picChg chg="add del">
          <ac:chgData name="" userId="" providerId="" clId="Web-{8754902E-452B-4288-8A2A-BA0BC738AFF9}" dt="2024-04-16T13:24:47.586" v="17"/>
          <ac:picMkLst>
            <pc:docMk/>
            <pc:sldMk cId="0" sldId="262"/>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C0E3246A-6EF7-45EA-A7CA-4A022E8F04C4}" type="datetimeFigureOut">
              <a:t>4/16/2024</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D28CDCFD-89AE-4C2D-A3C3-E7F99402ADDB}" type="slidenum">
              <a:t>‹#›</a:t>
            </a:fld>
            <a:endParaRPr lang="en-US"/>
          </a:p>
        </p:txBody>
      </p:sp>
    </p:spTree>
    <p:extLst>
      <p:ext uri="{BB962C8B-B14F-4D97-AF65-F5344CB8AC3E}">
        <p14:creationId xmlns:p14="http://schemas.microsoft.com/office/powerpoint/2010/main" val="350524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5" name="Text 2"/>
          <p:cNvSpPr/>
          <p:nvPr/>
        </p:nvSpPr>
        <p:spPr>
          <a:xfrm>
            <a:off x="4490799" y="3291364"/>
            <a:ext cx="7665839" cy="958215"/>
          </a:xfrm>
          <a:prstGeom prst="rect">
            <a:avLst/>
          </a:prstGeom>
          <a:noFill/>
          <a:ln/>
        </p:spPr>
        <p:txBody>
          <a:bodyPr wrap="none" lIns="91440" tIns="45720" rIns="91440" bIns="45720" rtlCol="0" anchor="t"/>
          <a:lstStyle/>
          <a:p>
            <a:pPr marL="0" indent="0">
              <a:lnSpc>
                <a:spcPts val="7545"/>
              </a:lnSpc>
              <a:buNone/>
            </a:pPr>
            <a:r>
              <a:rPr lang="en-US" sz="8000" b="1" dirty="0">
                <a:solidFill>
                  <a:srgbClr val="FFD9BE"/>
                </a:solidFill>
                <a:latin typeface="Quattrocento"/>
                <a:ea typeface="Quattrocento" pitchFamily="34" charset="-122"/>
                <a:cs typeface="Quattrocento" pitchFamily="34" charset="-120"/>
              </a:rPr>
              <a:t>Clampers</a:t>
            </a:r>
            <a:endParaRPr lang="en-US" sz="8000" dirty="0">
              <a:latin typeface="Quattrocento"/>
            </a:endParaRPr>
          </a:p>
        </p:txBody>
      </p:sp>
      <p:sp>
        <p:nvSpPr>
          <p:cNvPr id="6" name="Text 3"/>
          <p:cNvSpPr/>
          <p:nvPr/>
        </p:nvSpPr>
        <p:spPr>
          <a:xfrm>
            <a:off x="4490799" y="4582835"/>
            <a:ext cx="9306401" cy="355402"/>
          </a:xfrm>
          <a:prstGeom prst="rect">
            <a:avLst/>
          </a:prstGeom>
          <a:noFill/>
          <a:ln/>
        </p:spPr>
        <p:txBody>
          <a:bodyPr wrap="none" lIns="91440" tIns="45720" rIns="91440" bIns="45720" rtlCol="0" anchor="t"/>
          <a:lstStyle/>
          <a:p>
            <a:pPr>
              <a:lnSpc>
                <a:spcPts val="2799"/>
              </a:lnSpc>
            </a:pPr>
            <a:r>
              <a:rPr lang="en-US" sz="1750" i="1" dirty="0">
                <a:solidFill>
                  <a:srgbClr val="F9EEE7"/>
                </a:solidFill>
                <a:latin typeface="Quattrocento"/>
                <a:ea typeface="Quattrocento" pitchFamily="34" charset="-122"/>
                <a:cs typeface="Quattrocento" pitchFamily="34" charset="-120"/>
              </a:rPr>
              <a:t> presented by:</a:t>
            </a:r>
            <a:r>
              <a:rPr lang="en-US" sz="2000" i="1" dirty="0">
                <a:solidFill>
                  <a:srgbClr val="F9EEE7"/>
                </a:solidFill>
                <a:latin typeface="Quattrocento"/>
                <a:ea typeface="Quattrocento" pitchFamily="34" charset="-122"/>
                <a:cs typeface="Quattrocento" pitchFamily="34" charset="-120"/>
              </a:rPr>
              <a:t> Fatima Abbas Laghari</a:t>
            </a:r>
            <a:endParaRPr lang="en-US" sz="2000" dirty="0">
              <a:latin typeface="Quattrocen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319599" y="2456855"/>
            <a:ext cx="7477601" cy="1916430"/>
          </a:xfrm>
          <a:prstGeom prst="rect">
            <a:avLst/>
          </a:prstGeom>
          <a:noFill/>
          <a:ln/>
        </p:spPr>
        <p:txBody>
          <a:bodyPr wrap="square" rtlCol="0" anchor="t"/>
          <a:lstStyle/>
          <a:p>
            <a:pPr marL="0" indent="0">
              <a:lnSpc>
                <a:spcPts val="7545"/>
              </a:lnSpc>
              <a:buNone/>
            </a:pPr>
            <a:r>
              <a:rPr lang="en-US" sz="6036" dirty="0">
                <a:solidFill>
                  <a:srgbClr val="FFD9BE"/>
                </a:solidFill>
                <a:latin typeface="Quattrocento" pitchFamily="34" charset="0"/>
                <a:ea typeface="Quattrocento" pitchFamily="34" charset="-122"/>
                <a:cs typeface="Quattrocento" pitchFamily="34" charset="-120"/>
              </a:rPr>
              <a:t>Introduction to Clampers</a:t>
            </a:r>
            <a:endParaRPr lang="en-US" sz="6036" dirty="0"/>
          </a:p>
        </p:txBody>
      </p:sp>
      <p:sp>
        <p:nvSpPr>
          <p:cNvPr id="6" name="Text 3"/>
          <p:cNvSpPr/>
          <p:nvPr/>
        </p:nvSpPr>
        <p:spPr>
          <a:xfrm>
            <a:off x="6319599" y="4706541"/>
            <a:ext cx="7477601"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 Clamper circuits, also known as </a:t>
            </a:r>
            <a:r>
              <a:rPr lang="en-US" sz="1750" b="1" dirty="0">
                <a:solidFill>
                  <a:srgbClr val="F9EEE7"/>
                </a:solidFill>
                <a:latin typeface="Quattrocento" pitchFamily="34" charset="0"/>
                <a:ea typeface="Quattrocento" pitchFamily="34" charset="-122"/>
                <a:cs typeface="Quattrocento" pitchFamily="34" charset="-120"/>
              </a:rPr>
              <a:t>DC restorer circuits,</a:t>
            </a:r>
            <a:r>
              <a:rPr lang="en-US" sz="1750" dirty="0">
                <a:solidFill>
                  <a:srgbClr val="F9EEE7"/>
                </a:solidFill>
                <a:latin typeface="Quattrocento" pitchFamily="34" charset="0"/>
                <a:ea typeface="Quattrocento" pitchFamily="34" charset="-122"/>
                <a:cs typeface="Quattrocento" pitchFamily="34" charset="-120"/>
              </a:rPr>
              <a:t> are electronic circuits used to shift the DC level or average voltage of a waveform without affecting its shape.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
        <p:nvSpPr>
          <p:cNvPr id="4" name="Text 2"/>
          <p:cNvSpPr/>
          <p:nvPr/>
        </p:nvSpPr>
        <p:spPr>
          <a:xfrm>
            <a:off x="2348389" y="2572107"/>
            <a:ext cx="5554980" cy="694373"/>
          </a:xfrm>
          <a:prstGeom prst="rect">
            <a:avLst/>
          </a:prstGeom>
          <a:noFill/>
          <a:ln/>
        </p:spPr>
        <p:txBody>
          <a:bodyPr wrap="none" rtlCol="0" anchor="t"/>
          <a:lstStyle/>
          <a:p>
            <a:pPr marL="0" indent="0">
              <a:lnSpc>
                <a:spcPts val="5468"/>
              </a:lnSpc>
              <a:buNone/>
            </a:pPr>
            <a:r>
              <a:rPr lang="en-US" sz="4374" dirty="0">
                <a:solidFill>
                  <a:srgbClr val="FFD9BE"/>
                </a:solidFill>
                <a:latin typeface="Quattrocento" pitchFamily="34" charset="0"/>
                <a:ea typeface="Quattrocento" pitchFamily="34" charset="-122"/>
                <a:cs typeface="Quattrocento" pitchFamily="34" charset="-120"/>
              </a:rPr>
              <a:t>Types of Clampers</a:t>
            </a:r>
            <a:endParaRPr lang="en-US" sz="4374" dirty="0"/>
          </a:p>
        </p:txBody>
      </p:sp>
      <p:sp>
        <p:nvSpPr>
          <p:cNvPr id="5" name="Text 3"/>
          <p:cNvSpPr/>
          <p:nvPr/>
        </p:nvSpPr>
        <p:spPr>
          <a:xfrm>
            <a:off x="2348389" y="3821906"/>
            <a:ext cx="2777490" cy="347186"/>
          </a:xfrm>
          <a:prstGeom prst="rect">
            <a:avLst/>
          </a:prstGeom>
          <a:noFill/>
          <a:ln/>
        </p:spPr>
        <p:txBody>
          <a:bodyPr wrap="none" rtlCol="0" anchor="t"/>
          <a:lstStyle/>
          <a:p>
            <a:pPr marL="0" indent="0">
              <a:lnSpc>
                <a:spcPts val="2734"/>
              </a:lnSpc>
              <a:buNone/>
            </a:pPr>
            <a:r>
              <a:rPr lang="en-US" sz="2187" dirty="0">
                <a:solidFill>
                  <a:srgbClr val="FFD9BE"/>
                </a:solidFill>
                <a:latin typeface="Quattrocento" pitchFamily="34" charset="0"/>
                <a:ea typeface="Quattrocento" pitchFamily="34" charset="-122"/>
                <a:cs typeface="Quattrocento" pitchFamily="34" charset="-120"/>
              </a:rPr>
              <a:t>Positive Clampers</a:t>
            </a:r>
            <a:endParaRPr lang="en-US" sz="2187" dirty="0"/>
          </a:p>
        </p:txBody>
      </p:sp>
      <p:sp>
        <p:nvSpPr>
          <p:cNvPr id="6" name="Text 4"/>
          <p:cNvSpPr/>
          <p:nvPr/>
        </p:nvSpPr>
        <p:spPr>
          <a:xfrm>
            <a:off x="2348389" y="4391263"/>
            <a:ext cx="4695706"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Positive clampers shift the signal to a positive reference level, ensuring the signal does not fall below a certain voltage.</a:t>
            </a:r>
            <a:endParaRPr lang="en-US" sz="1750" dirty="0"/>
          </a:p>
        </p:txBody>
      </p:sp>
      <p:sp>
        <p:nvSpPr>
          <p:cNvPr id="7" name="Text 5"/>
          <p:cNvSpPr/>
          <p:nvPr/>
        </p:nvSpPr>
        <p:spPr>
          <a:xfrm>
            <a:off x="7593687" y="3821906"/>
            <a:ext cx="2777490" cy="347186"/>
          </a:xfrm>
          <a:prstGeom prst="rect">
            <a:avLst/>
          </a:prstGeom>
          <a:noFill/>
          <a:ln/>
        </p:spPr>
        <p:txBody>
          <a:bodyPr wrap="none" rtlCol="0" anchor="t"/>
          <a:lstStyle/>
          <a:p>
            <a:pPr marL="0" indent="0">
              <a:lnSpc>
                <a:spcPts val="2734"/>
              </a:lnSpc>
              <a:buNone/>
            </a:pPr>
            <a:r>
              <a:rPr lang="en-US" sz="2187" dirty="0">
                <a:solidFill>
                  <a:srgbClr val="FFD9BE"/>
                </a:solidFill>
                <a:latin typeface="Quattrocento" pitchFamily="34" charset="0"/>
                <a:ea typeface="Quattrocento" pitchFamily="34" charset="-122"/>
                <a:cs typeface="Quattrocento" pitchFamily="34" charset="-120"/>
              </a:rPr>
              <a:t>Negative Clampers</a:t>
            </a:r>
            <a:endParaRPr lang="en-US" sz="2187" dirty="0"/>
          </a:p>
        </p:txBody>
      </p:sp>
      <p:sp>
        <p:nvSpPr>
          <p:cNvPr id="8" name="Text 6"/>
          <p:cNvSpPr/>
          <p:nvPr/>
        </p:nvSpPr>
        <p:spPr>
          <a:xfrm>
            <a:off x="7593687" y="4391263"/>
            <a:ext cx="4695706"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Negative clampers shift the signal to a negative reference level, ensuring the signal does not rise above a certain voltage.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5" name="Text 2"/>
          <p:cNvSpPr/>
          <p:nvPr/>
        </p:nvSpPr>
        <p:spPr>
          <a:xfrm>
            <a:off x="833199" y="1871067"/>
            <a:ext cx="5554980" cy="694373"/>
          </a:xfrm>
          <a:prstGeom prst="rect">
            <a:avLst/>
          </a:prstGeom>
          <a:noFill/>
          <a:ln/>
        </p:spPr>
        <p:txBody>
          <a:bodyPr wrap="none" rtlCol="0" anchor="t"/>
          <a:lstStyle/>
          <a:p>
            <a:pPr marL="0" indent="0">
              <a:lnSpc>
                <a:spcPts val="5468"/>
              </a:lnSpc>
              <a:buNone/>
            </a:pPr>
            <a:r>
              <a:rPr lang="en-US" sz="4374" dirty="0">
                <a:solidFill>
                  <a:srgbClr val="FFD9BE"/>
                </a:solidFill>
                <a:latin typeface="Quattrocento" pitchFamily="34" charset="0"/>
                <a:ea typeface="Quattrocento" pitchFamily="34" charset="-122"/>
                <a:cs typeface="Quattrocento" pitchFamily="34" charset="-120"/>
              </a:rPr>
              <a:t>Negative Clampers</a:t>
            </a:r>
            <a:endParaRPr lang="en-US" sz="4374" dirty="0"/>
          </a:p>
        </p:txBody>
      </p:sp>
      <p:sp>
        <p:nvSpPr>
          <p:cNvPr id="6" name="Shape 3"/>
          <p:cNvSpPr/>
          <p:nvPr/>
        </p:nvSpPr>
        <p:spPr>
          <a:xfrm>
            <a:off x="833199" y="3072289"/>
            <a:ext cx="499943" cy="499943"/>
          </a:xfrm>
          <a:prstGeom prst="roundRect">
            <a:avLst>
              <a:gd name="adj" fmla="val 13333"/>
            </a:avLst>
          </a:prstGeom>
          <a:solidFill>
            <a:srgbClr val="234A49"/>
          </a:solidFill>
          <a:ln/>
        </p:spPr>
      </p:sp>
      <p:sp>
        <p:nvSpPr>
          <p:cNvPr id="7" name="Text 4"/>
          <p:cNvSpPr/>
          <p:nvPr/>
        </p:nvSpPr>
        <p:spPr>
          <a:xfrm>
            <a:off x="1024176" y="3113961"/>
            <a:ext cx="117991"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1</a:t>
            </a:r>
            <a:endParaRPr lang="en-US" sz="2624" dirty="0"/>
          </a:p>
        </p:txBody>
      </p:sp>
      <p:sp>
        <p:nvSpPr>
          <p:cNvPr id="8" name="Text 5"/>
          <p:cNvSpPr/>
          <p:nvPr/>
        </p:nvSpPr>
        <p:spPr>
          <a:xfrm>
            <a:off x="1555313" y="3148608"/>
            <a:ext cx="2997875" cy="347186"/>
          </a:xfrm>
          <a:prstGeom prst="rect">
            <a:avLst/>
          </a:prstGeom>
          <a:noFill/>
          <a:ln/>
        </p:spPr>
        <p:txBody>
          <a:bodyPr wrap="none" rtlCol="0" anchor="t"/>
          <a:lstStyle/>
          <a:p>
            <a:pPr marL="0" indent="0">
              <a:lnSpc>
                <a:spcPts val="2734"/>
              </a:lnSpc>
              <a:buNone/>
            </a:pPr>
            <a:r>
              <a:rPr lang="en-US" sz="2187" dirty="0">
                <a:solidFill>
                  <a:srgbClr val="FFD9BE"/>
                </a:solidFill>
                <a:latin typeface="Quattrocento" pitchFamily="34" charset="0"/>
                <a:ea typeface="Quattrocento" pitchFamily="34" charset="-122"/>
                <a:cs typeface="Quattrocento" pitchFamily="34" charset="-120"/>
              </a:rPr>
              <a:t>Fundamental Operation</a:t>
            </a:r>
            <a:endParaRPr lang="en-US" sz="2187" dirty="0"/>
          </a:p>
        </p:txBody>
      </p:sp>
      <p:sp>
        <p:nvSpPr>
          <p:cNvPr id="9" name="Text 6"/>
          <p:cNvSpPr/>
          <p:nvPr/>
        </p:nvSpPr>
        <p:spPr>
          <a:xfrm>
            <a:off x="1555313" y="3629025"/>
            <a:ext cx="3820001"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Negative clampers use a diode and a capacitor to shift the signal's average value to a negative reference level.</a:t>
            </a:r>
            <a:endParaRPr lang="en-US" sz="1750" dirty="0"/>
          </a:p>
        </p:txBody>
      </p:sp>
      <p:sp>
        <p:nvSpPr>
          <p:cNvPr id="10" name="Shape 7"/>
          <p:cNvSpPr/>
          <p:nvPr/>
        </p:nvSpPr>
        <p:spPr>
          <a:xfrm>
            <a:off x="5597485" y="3072289"/>
            <a:ext cx="499943" cy="499943"/>
          </a:xfrm>
          <a:prstGeom prst="roundRect">
            <a:avLst>
              <a:gd name="adj" fmla="val 13333"/>
            </a:avLst>
          </a:prstGeom>
          <a:solidFill>
            <a:srgbClr val="234A49"/>
          </a:solidFill>
          <a:ln/>
        </p:spPr>
      </p:sp>
      <p:sp>
        <p:nvSpPr>
          <p:cNvPr id="11" name="Text 8"/>
          <p:cNvSpPr/>
          <p:nvPr/>
        </p:nvSpPr>
        <p:spPr>
          <a:xfrm>
            <a:off x="5758101" y="3113961"/>
            <a:ext cx="178713"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2</a:t>
            </a:r>
            <a:endParaRPr lang="en-US" sz="2624" dirty="0"/>
          </a:p>
        </p:txBody>
      </p:sp>
      <p:sp>
        <p:nvSpPr>
          <p:cNvPr id="12" name="Text 9"/>
          <p:cNvSpPr/>
          <p:nvPr/>
        </p:nvSpPr>
        <p:spPr>
          <a:xfrm>
            <a:off x="6319599" y="3148608"/>
            <a:ext cx="2777490" cy="347186"/>
          </a:xfrm>
          <a:prstGeom prst="rect">
            <a:avLst/>
          </a:prstGeom>
          <a:noFill/>
          <a:ln/>
        </p:spPr>
        <p:txBody>
          <a:bodyPr wrap="none" rtlCol="0" anchor="t"/>
          <a:lstStyle/>
          <a:p>
            <a:pPr marL="0" indent="0">
              <a:lnSpc>
                <a:spcPts val="2734"/>
              </a:lnSpc>
              <a:buNone/>
            </a:pPr>
            <a:r>
              <a:rPr lang="en-US" sz="2187" dirty="0">
                <a:solidFill>
                  <a:srgbClr val="FFD9BE"/>
                </a:solidFill>
                <a:latin typeface="Quattrocento" pitchFamily="34" charset="0"/>
                <a:ea typeface="Quattrocento" pitchFamily="34" charset="-122"/>
                <a:cs typeface="Quattrocento" pitchFamily="34" charset="-120"/>
              </a:rPr>
              <a:t>Noise Reduction</a:t>
            </a:r>
            <a:endParaRPr lang="en-US" sz="2187" dirty="0"/>
          </a:p>
        </p:txBody>
      </p:sp>
      <p:sp>
        <p:nvSpPr>
          <p:cNvPr id="13" name="Text 10"/>
          <p:cNvSpPr/>
          <p:nvPr/>
        </p:nvSpPr>
        <p:spPr>
          <a:xfrm>
            <a:off x="6319599" y="3629025"/>
            <a:ext cx="3820001"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Negative clampers can help remove unwanted positive noise components from the signal.</a:t>
            </a:r>
            <a:endParaRPr lang="en-US" sz="1750" dirty="0"/>
          </a:p>
        </p:txBody>
      </p:sp>
      <p:sp>
        <p:nvSpPr>
          <p:cNvPr id="14" name="Shape 11"/>
          <p:cNvSpPr/>
          <p:nvPr/>
        </p:nvSpPr>
        <p:spPr>
          <a:xfrm>
            <a:off x="833199" y="5090993"/>
            <a:ext cx="499943" cy="499943"/>
          </a:xfrm>
          <a:prstGeom prst="roundRect">
            <a:avLst>
              <a:gd name="adj" fmla="val 13333"/>
            </a:avLst>
          </a:prstGeom>
          <a:solidFill>
            <a:srgbClr val="234A49"/>
          </a:solidFill>
          <a:ln/>
        </p:spPr>
      </p:sp>
      <p:sp>
        <p:nvSpPr>
          <p:cNvPr id="15" name="Text 12"/>
          <p:cNvSpPr/>
          <p:nvPr/>
        </p:nvSpPr>
        <p:spPr>
          <a:xfrm>
            <a:off x="992505" y="5132665"/>
            <a:ext cx="181332" cy="416481"/>
          </a:xfrm>
          <a:prstGeom prst="rect">
            <a:avLst/>
          </a:prstGeom>
          <a:noFill/>
          <a:ln/>
        </p:spPr>
        <p:txBody>
          <a:bodyPr wrap="none" rtlCol="0" anchor="t"/>
          <a:lstStyle/>
          <a:p>
            <a:pPr marL="0" indent="0" algn="ctr">
              <a:lnSpc>
                <a:spcPts val="3281"/>
              </a:lnSpc>
              <a:buNone/>
            </a:pPr>
            <a:r>
              <a:rPr lang="en-US" sz="2624" dirty="0">
                <a:solidFill>
                  <a:srgbClr val="FFD9BE"/>
                </a:solidFill>
                <a:latin typeface="Quattrocento" pitchFamily="34" charset="0"/>
                <a:ea typeface="Quattrocento" pitchFamily="34" charset="-122"/>
                <a:cs typeface="Quattrocento" pitchFamily="34" charset="-120"/>
              </a:rPr>
              <a:t>3</a:t>
            </a:r>
            <a:endParaRPr lang="en-US" sz="2624" dirty="0"/>
          </a:p>
        </p:txBody>
      </p:sp>
      <p:sp>
        <p:nvSpPr>
          <p:cNvPr id="16" name="Text 13"/>
          <p:cNvSpPr/>
          <p:nvPr/>
        </p:nvSpPr>
        <p:spPr>
          <a:xfrm>
            <a:off x="1555313" y="5167313"/>
            <a:ext cx="2777490" cy="347186"/>
          </a:xfrm>
          <a:prstGeom prst="rect">
            <a:avLst/>
          </a:prstGeom>
          <a:noFill/>
          <a:ln/>
        </p:spPr>
        <p:txBody>
          <a:bodyPr wrap="none" rtlCol="0" anchor="t"/>
          <a:lstStyle/>
          <a:p>
            <a:pPr marL="0" indent="0">
              <a:lnSpc>
                <a:spcPts val="2734"/>
              </a:lnSpc>
              <a:buNone/>
            </a:pPr>
            <a:r>
              <a:rPr lang="en-US" sz="2187" dirty="0">
                <a:solidFill>
                  <a:srgbClr val="FFD9BE"/>
                </a:solidFill>
                <a:latin typeface="Quattrocento" pitchFamily="34" charset="0"/>
                <a:ea typeface="Quattrocento" pitchFamily="34" charset="-122"/>
                <a:cs typeface="Quattrocento" pitchFamily="34" charset="-120"/>
              </a:rPr>
              <a:t>Voltage Limiting</a:t>
            </a:r>
            <a:endParaRPr lang="en-US" sz="2187" dirty="0"/>
          </a:p>
        </p:txBody>
      </p:sp>
      <p:sp>
        <p:nvSpPr>
          <p:cNvPr id="17" name="Text 14"/>
          <p:cNvSpPr/>
          <p:nvPr/>
        </p:nvSpPr>
        <p:spPr>
          <a:xfrm>
            <a:off x="1555313" y="5647730"/>
            <a:ext cx="8584287" cy="710803"/>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Negative clampers ensure the signal does not exceed a certain negative voltage, protecting sensitive components.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5" name="Text 2"/>
          <p:cNvSpPr/>
          <p:nvPr/>
        </p:nvSpPr>
        <p:spPr>
          <a:xfrm>
            <a:off x="4490799" y="934760"/>
            <a:ext cx="5554980" cy="694373"/>
          </a:xfrm>
          <a:prstGeom prst="rect">
            <a:avLst/>
          </a:prstGeom>
          <a:noFill/>
          <a:ln/>
        </p:spPr>
        <p:txBody>
          <a:bodyPr wrap="none" rtlCol="0" anchor="t"/>
          <a:lstStyle/>
          <a:p>
            <a:pPr marL="0" indent="0">
              <a:lnSpc>
                <a:spcPts val="5468"/>
              </a:lnSpc>
              <a:buNone/>
            </a:pPr>
            <a:r>
              <a:rPr lang="en-US" sz="4374" dirty="0">
                <a:solidFill>
                  <a:srgbClr val="FFD9BE"/>
                </a:solidFill>
                <a:latin typeface="Quattrocento" pitchFamily="34" charset="0"/>
                <a:ea typeface="Quattrocento" pitchFamily="34" charset="-122"/>
                <a:cs typeface="Quattrocento" pitchFamily="34" charset="-120"/>
              </a:rPr>
              <a:t>Positive Clampers</a:t>
            </a:r>
            <a:endParaRPr lang="en-US" sz="4374" dirty="0"/>
          </a:p>
        </p:txBody>
      </p:sp>
      <p:pic>
        <p:nvPicPr>
          <p:cNvPr id="6" name="Image 1" descr="preencoded.png"/>
          <p:cNvPicPr>
            <a:picLocks noChangeAspect="1"/>
          </p:cNvPicPr>
          <p:nvPr/>
        </p:nvPicPr>
        <p:blipFill>
          <a:blip r:embed="rId4"/>
          <a:stretch>
            <a:fillRect/>
          </a:stretch>
        </p:blipFill>
        <p:spPr>
          <a:xfrm>
            <a:off x="4490799" y="1962388"/>
            <a:ext cx="1110972" cy="1777484"/>
          </a:xfrm>
          <a:prstGeom prst="rect">
            <a:avLst/>
          </a:prstGeom>
        </p:spPr>
      </p:pic>
      <p:sp>
        <p:nvSpPr>
          <p:cNvPr id="7" name="Text 3"/>
          <p:cNvSpPr/>
          <p:nvPr/>
        </p:nvSpPr>
        <p:spPr>
          <a:xfrm>
            <a:off x="5935028" y="2184559"/>
            <a:ext cx="2777490" cy="347186"/>
          </a:xfrm>
          <a:prstGeom prst="rect">
            <a:avLst/>
          </a:prstGeom>
          <a:noFill/>
          <a:ln/>
        </p:spPr>
        <p:txBody>
          <a:bodyPr wrap="none" rtlCol="0" anchor="t"/>
          <a:lstStyle/>
          <a:p>
            <a:pPr marL="0" indent="0" algn="l">
              <a:lnSpc>
                <a:spcPts val="2734"/>
              </a:lnSpc>
              <a:buNone/>
            </a:pPr>
            <a:r>
              <a:rPr lang="en-US" sz="2187" dirty="0">
                <a:solidFill>
                  <a:srgbClr val="FFD9BE"/>
                </a:solidFill>
                <a:latin typeface="Quattrocento" pitchFamily="34" charset="0"/>
                <a:ea typeface="Quattrocento" pitchFamily="34" charset="-122"/>
                <a:cs typeface="Quattrocento" pitchFamily="34" charset="-120"/>
              </a:rPr>
              <a:t>Input Signal</a:t>
            </a:r>
            <a:endParaRPr lang="en-US" sz="2187" dirty="0"/>
          </a:p>
        </p:txBody>
      </p:sp>
      <p:sp>
        <p:nvSpPr>
          <p:cNvPr id="8" name="Text 4"/>
          <p:cNvSpPr/>
          <p:nvPr/>
        </p:nvSpPr>
        <p:spPr>
          <a:xfrm>
            <a:off x="5935028" y="2664976"/>
            <a:ext cx="7862173" cy="355402"/>
          </a:xfrm>
          <a:prstGeom prst="rect">
            <a:avLst/>
          </a:prstGeom>
          <a:noFill/>
          <a:ln/>
        </p:spPr>
        <p:txBody>
          <a:bodyPr wrap="none" rtlCol="0" anchor="t"/>
          <a:lstStyle/>
          <a:p>
            <a:pPr marL="0" indent="0" algn="l">
              <a:lnSpc>
                <a:spcPts val="2799"/>
              </a:lnSpc>
              <a:buNone/>
            </a:pPr>
            <a:r>
              <a:rPr lang="en-US" sz="1750" dirty="0">
                <a:solidFill>
                  <a:srgbClr val="F9EEE7"/>
                </a:solidFill>
                <a:latin typeface="Quattrocento" pitchFamily="34" charset="0"/>
                <a:ea typeface="Quattrocento" pitchFamily="34" charset="-122"/>
                <a:cs typeface="Quattrocento" pitchFamily="34" charset="-120"/>
              </a:rPr>
              <a:t>The input signal is a varying waveform with an unwanted DC offset.</a:t>
            </a:r>
            <a:endParaRPr lang="en-US" sz="1750" dirty="0"/>
          </a:p>
        </p:txBody>
      </p:sp>
      <p:pic>
        <p:nvPicPr>
          <p:cNvPr id="9" name="Image 2" descr="preencoded.png"/>
          <p:cNvPicPr>
            <a:picLocks noChangeAspect="1"/>
          </p:cNvPicPr>
          <p:nvPr/>
        </p:nvPicPr>
        <p:blipFill>
          <a:blip r:embed="rId5"/>
          <a:stretch>
            <a:fillRect/>
          </a:stretch>
        </p:blipFill>
        <p:spPr>
          <a:xfrm>
            <a:off x="4490799" y="3739872"/>
            <a:ext cx="1110972" cy="1777484"/>
          </a:xfrm>
          <a:prstGeom prst="rect">
            <a:avLst/>
          </a:prstGeom>
        </p:spPr>
      </p:pic>
      <p:sp>
        <p:nvSpPr>
          <p:cNvPr id="10" name="Text 5"/>
          <p:cNvSpPr/>
          <p:nvPr/>
        </p:nvSpPr>
        <p:spPr>
          <a:xfrm>
            <a:off x="5935028" y="3962043"/>
            <a:ext cx="2777490" cy="347186"/>
          </a:xfrm>
          <a:prstGeom prst="rect">
            <a:avLst/>
          </a:prstGeom>
          <a:noFill/>
          <a:ln/>
        </p:spPr>
        <p:txBody>
          <a:bodyPr wrap="none" rtlCol="0" anchor="t"/>
          <a:lstStyle/>
          <a:p>
            <a:pPr marL="0" indent="0" algn="l">
              <a:lnSpc>
                <a:spcPts val="2734"/>
              </a:lnSpc>
              <a:buNone/>
            </a:pPr>
            <a:r>
              <a:rPr lang="en-US" sz="2187" dirty="0">
                <a:solidFill>
                  <a:srgbClr val="FFD9BE"/>
                </a:solidFill>
                <a:latin typeface="Quattrocento" pitchFamily="34" charset="0"/>
                <a:ea typeface="Quattrocento" pitchFamily="34" charset="-122"/>
                <a:cs typeface="Quattrocento" pitchFamily="34" charset="-120"/>
              </a:rPr>
              <a:t>Clamping Action</a:t>
            </a:r>
            <a:endParaRPr lang="en-US" sz="2187" dirty="0"/>
          </a:p>
        </p:txBody>
      </p:sp>
      <p:sp>
        <p:nvSpPr>
          <p:cNvPr id="11" name="Text 6"/>
          <p:cNvSpPr/>
          <p:nvPr/>
        </p:nvSpPr>
        <p:spPr>
          <a:xfrm>
            <a:off x="5935028" y="4442460"/>
            <a:ext cx="7862173" cy="710803"/>
          </a:xfrm>
          <a:prstGeom prst="rect">
            <a:avLst/>
          </a:prstGeom>
          <a:noFill/>
          <a:ln/>
        </p:spPr>
        <p:txBody>
          <a:bodyPr wrap="square" rtlCol="0" anchor="t"/>
          <a:lstStyle/>
          <a:p>
            <a:pPr marL="0" indent="0" algn="l">
              <a:lnSpc>
                <a:spcPts val="2799"/>
              </a:lnSpc>
              <a:buNone/>
            </a:pPr>
            <a:r>
              <a:rPr lang="en-US" sz="1750" dirty="0">
                <a:solidFill>
                  <a:srgbClr val="F9EEE7"/>
                </a:solidFill>
                <a:latin typeface="Quattrocento" pitchFamily="34" charset="0"/>
                <a:ea typeface="Quattrocento" pitchFamily="34" charset="-122"/>
                <a:cs typeface="Quattrocento" pitchFamily="34" charset="-120"/>
              </a:rPr>
              <a:t>The positive clamper circuit shifts the signal's average value to a positive reference level.</a:t>
            </a:r>
            <a:endParaRPr lang="en-US" sz="1750" dirty="0"/>
          </a:p>
        </p:txBody>
      </p:sp>
      <p:pic>
        <p:nvPicPr>
          <p:cNvPr id="12" name="Image 3" descr="preencoded.png"/>
          <p:cNvPicPr>
            <a:picLocks noChangeAspect="1"/>
          </p:cNvPicPr>
          <p:nvPr/>
        </p:nvPicPr>
        <p:blipFill>
          <a:blip r:embed="rId6"/>
          <a:stretch>
            <a:fillRect/>
          </a:stretch>
        </p:blipFill>
        <p:spPr>
          <a:xfrm>
            <a:off x="4490799" y="5517356"/>
            <a:ext cx="1110972" cy="1777484"/>
          </a:xfrm>
          <a:prstGeom prst="rect">
            <a:avLst/>
          </a:prstGeom>
        </p:spPr>
      </p:pic>
      <p:sp>
        <p:nvSpPr>
          <p:cNvPr id="13" name="Text 7"/>
          <p:cNvSpPr/>
          <p:nvPr/>
        </p:nvSpPr>
        <p:spPr>
          <a:xfrm>
            <a:off x="5935028" y="5739527"/>
            <a:ext cx="2777490" cy="347186"/>
          </a:xfrm>
          <a:prstGeom prst="rect">
            <a:avLst/>
          </a:prstGeom>
          <a:noFill/>
          <a:ln/>
        </p:spPr>
        <p:txBody>
          <a:bodyPr wrap="none" rtlCol="0" anchor="t"/>
          <a:lstStyle/>
          <a:p>
            <a:pPr marL="0" indent="0" algn="l">
              <a:lnSpc>
                <a:spcPts val="2734"/>
              </a:lnSpc>
              <a:buNone/>
            </a:pPr>
            <a:r>
              <a:rPr lang="en-US" sz="2187" dirty="0">
                <a:solidFill>
                  <a:srgbClr val="FFD9BE"/>
                </a:solidFill>
                <a:latin typeface="Quattrocento" pitchFamily="34" charset="0"/>
                <a:ea typeface="Quattrocento" pitchFamily="34" charset="-122"/>
                <a:cs typeface="Quattrocento" pitchFamily="34" charset="-120"/>
              </a:rPr>
              <a:t>Stabilized Output</a:t>
            </a:r>
            <a:endParaRPr lang="en-US" sz="2187" dirty="0"/>
          </a:p>
        </p:txBody>
      </p:sp>
      <p:sp>
        <p:nvSpPr>
          <p:cNvPr id="14" name="Text 8"/>
          <p:cNvSpPr/>
          <p:nvPr/>
        </p:nvSpPr>
        <p:spPr>
          <a:xfrm>
            <a:off x="5935028" y="6219944"/>
            <a:ext cx="7862173" cy="355402"/>
          </a:xfrm>
          <a:prstGeom prst="rect">
            <a:avLst/>
          </a:prstGeom>
          <a:noFill/>
          <a:ln/>
        </p:spPr>
        <p:txBody>
          <a:bodyPr wrap="none" rtlCol="0" anchor="t"/>
          <a:lstStyle/>
          <a:p>
            <a:pPr marL="0" indent="0" algn="l">
              <a:lnSpc>
                <a:spcPts val="2799"/>
              </a:lnSpc>
              <a:buNone/>
            </a:pPr>
            <a:r>
              <a:rPr lang="en-US" sz="1750" dirty="0">
                <a:solidFill>
                  <a:srgbClr val="F9EEE7"/>
                </a:solidFill>
                <a:latin typeface="Quattrocento" pitchFamily="34" charset="0"/>
                <a:ea typeface="Quattrocento" pitchFamily="34" charset="-122"/>
                <a:cs typeface="Quattrocento" pitchFamily="34" charset="-120"/>
              </a:rPr>
              <a:t>The output signal is now centered around the desired positive reference level.</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
        <p:nvSpPr>
          <p:cNvPr id="4" name="Text 2"/>
          <p:cNvSpPr/>
          <p:nvPr/>
        </p:nvSpPr>
        <p:spPr>
          <a:xfrm>
            <a:off x="2348389" y="1265634"/>
            <a:ext cx="6310193" cy="694373"/>
          </a:xfrm>
          <a:prstGeom prst="rect">
            <a:avLst/>
          </a:prstGeom>
          <a:noFill/>
          <a:ln/>
        </p:spPr>
        <p:txBody>
          <a:bodyPr wrap="none" rtlCol="0" anchor="t"/>
          <a:lstStyle/>
          <a:p>
            <a:pPr marL="0" indent="0">
              <a:lnSpc>
                <a:spcPts val="5468"/>
              </a:lnSpc>
              <a:buNone/>
            </a:pPr>
            <a:r>
              <a:rPr lang="en-US" sz="4374" dirty="0">
                <a:solidFill>
                  <a:srgbClr val="FFD9BE"/>
                </a:solidFill>
                <a:latin typeface="Quattrocento" pitchFamily="34" charset="0"/>
                <a:ea typeface="Quattrocento" pitchFamily="34" charset="-122"/>
                <a:cs typeface="Quattrocento" pitchFamily="34" charset="-120"/>
              </a:rPr>
              <a:t>Applications of Clampers</a:t>
            </a:r>
            <a:endParaRPr lang="en-US" sz="4374" dirty="0"/>
          </a:p>
        </p:txBody>
      </p:sp>
      <p:sp>
        <p:nvSpPr>
          <p:cNvPr id="5" name="Shape 3"/>
          <p:cNvSpPr/>
          <p:nvPr/>
        </p:nvSpPr>
        <p:spPr>
          <a:xfrm>
            <a:off x="2348389" y="2404348"/>
            <a:ext cx="4855726" cy="2346365"/>
          </a:xfrm>
          <a:prstGeom prst="roundRect">
            <a:avLst>
              <a:gd name="adj" fmla="val 2841"/>
            </a:avLst>
          </a:prstGeom>
          <a:solidFill>
            <a:srgbClr val="234A49"/>
          </a:solidFill>
          <a:ln/>
        </p:spPr>
      </p:sp>
      <p:sp>
        <p:nvSpPr>
          <p:cNvPr id="6" name="Text 4"/>
          <p:cNvSpPr/>
          <p:nvPr/>
        </p:nvSpPr>
        <p:spPr>
          <a:xfrm>
            <a:off x="2570559" y="2626519"/>
            <a:ext cx="2777490" cy="347186"/>
          </a:xfrm>
          <a:prstGeom prst="rect">
            <a:avLst/>
          </a:prstGeom>
          <a:noFill/>
          <a:ln/>
        </p:spPr>
        <p:txBody>
          <a:bodyPr wrap="none" rtlCol="0" anchor="t"/>
          <a:lstStyle/>
          <a:p>
            <a:pPr marL="0" indent="0">
              <a:lnSpc>
                <a:spcPts val="2734"/>
              </a:lnSpc>
              <a:buNone/>
            </a:pPr>
            <a:r>
              <a:rPr lang="en-US" sz="2187" b="1" dirty="0">
                <a:solidFill>
                  <a:srgbClr val="FFD9BE"/>
                </a:solidFill>
                <a:latin typeface="Quattrocento" pitchFamily="34" charset="0"/>
                <a:ea typeface="Quattrocento" pitchFamily="34" charset="-122"/>
                <a:cs typeface="Quattrocento" pitchFamily="34" charset="-120"/>
              </a:rPr>
              <a:t>Audio amplification:</a:t>
            </a:r>
            <a:endParaRPr lang="en-US" sz="2187" dirty="0"/>
          </a:p>
        </p:txBody>
      </p:sp>
      <p:sp>
        <p:nvSpPr>
          <p:cNvPr id="7" name="Text 5"/>
          <p:cNvSpPr/>
          <p:nvPr/>
        </p:nvSpPr>
        <p:spPr>
          <a:xfrm>
            <a:off x="2570559" y="3106936"/>
            <a:ext cx="4411385" cy="1421606"/>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Process of converting weak electrical signals into stronger signals. Clampers increase the power of the signal without changing its original sound.</a:t>
            </a:r>
            <a:endParaRPr lang="en-US" sz="1750" dirty="0"/>
          </a:p>
        </p:txBody>
      </p:sp>
      <p:sp>
        <p:nvSpPr>
          <p:cNvPr id="8" name="Shape 6"/>
          <p:cNvSpPr/>
          <p:nvPr/>
        </p:nvSpPr>
        <p:spPr>
          <a:xfrm>
            <a:off x="7426285" y="2404348"/>
            <a:ext cx="4855726" cy="2346365"/>
          </a:xfrm>
          <a:prstGeom prst="roundRect">
            <a:avLst>
              <a:gd name="adj" fmla="val 2841"/>
            </a:avLst>
          </a:prstGeom>
          <a:solidFill>
            <a:srgbClr val="234A49"/>
          </a:solidFill>
          <a:ln/>
        </p:spPr>
      </p:sp>
      <p:sp>
        <p:nvSpPr>
          <p:cNvPr id="9" name="Text 7"/>
          <p:cNvSpPr/>
          <p:nvPr/>
        </p:nvSpPr>
        <p:spPr>
          <a:xfrm>
            <a:off x="7648456" y="2626519"/>
            <a:ext cx="2777490" cy="347186"/>
          </a:xfrm>
          <a:prstGeom prst="rect">
            <a:avLst/>
          </a:prstGeom>
          <a:noFill/>
          <a:ln/>
        </p:spPr>
        <p:txBody>
          <a:bodyPr wrap="none" rtlCol="0" anchor="t"/>
          <a:lstStyle/>
          <a:p>
            <a:pPr marL="0" indent="0">
              <a:lnSpc>
                <a:spcPts val="2734"/>
              </a:lnSpc>
              <a:buNone/>
            </a:pPr>
            <a:r>
              <a:rPr lang="en-US" sz="2187" b="1" dirty="0">
                <a:solidFill>
                  <a:srgbClr val="FFD9BE"/>
                </a:solidFill>
                <a:latin typeface="Quattrocento" pitchFamily="34" charset="0"/>
                <a:ea typeface="Quattrocento" pitchFamily="34" charset="-122"/>
                <a:cs typeface="Quattrocento" pitchFamily="34" charset="-120"/>
              </a:rPr>
              <a:t>Signal display:</a:t>
            </a:r>
            <a:endParaRPr lang="en-US" sz="2187" dirty="0"/>
          </a:p>
        </p:txBody>
      </p:sp>
      <p:sp>
        <p:nvSpPr>
          <p:cNvPr id="10" name="Text 8"/>
          <p:cNvSpPr/>
          <p:nvPr/>
        </p:nvSpPr>
        <p:spPr>
          <a:xfrm>
            <a:off x="7648456" y="3106936"/>
            <a:ext cx="4411385" cy="1421606"/>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Clamper circuits help ensure that the signal you see on a display device, like an oscilloscope, is properly centered and scaled for easy viewing and analysis.</a:t>
            </a:r>
            <a:endParaRPr lang="en-US" sz="1750" dirty="0"/>
          </a:p>
        </p:txBody>
      </p:sp>
      <p:sp>
        <p:nvSpPr>
          <p:cNvPr id="11" name="Shape 9"/>
          <p:cNvSpPr/>
          <p:nvPr/>
        </p:nvSpPr>
        <p:spPr>
          <a:xfrm>
            <a:off x="2348389" y="4972883"/>
            <a:ext cx="9933503" cy="1990963"/>
          </a:xfrm>
          <a:prstGeom prst="roundRect">
            <a:avLst>
              <a:gd name="adj" fmla="val 3348"/>
            </a:avLst>
          </a:prstGeom>
          <a:solidFill>
            <a:srgbClr val="234A49"/>
          </a:solidFill>
          <a:ln/>
        </p:spPr>
      </p:sp>
      <p:sp>
        <p:nvSpPr>
          <p:cNvPr id="12" name="Text 10"/>
          <p:cNvSpPr/>
          <p:nvPr/>
        </p:nvSpPr>
        <p:spPr>
          <a:xfrm>
            <a:off x="2570559" y="5195054"/>
            <a:ext cx="2777490" cy="347186"/>
          </a:xfrm>
          <a:prstGeom prst="rect">
            <a:avLst/>
          </a:prstGeom>
          <a:noFill/>
          <a:ln/>
        </p:spPr>
        <p:txBody>
          <a:bodyPr wrap="none" rtlCol="0" anchor="t"/>
          <a:lstStyle/>
          <a:p>
            <a:pPr marL="0" indent="0">
              <a:lnSpc>
                <a:spcPts val="2734"/>
              </a:lnSpc>
              <a:buNone/>
            </a:pPr>
            <a:r>
              <a:rPr lang="en-US" sz="2187" b="1" dirty="0">
                <a:solidFill>
                  <a:srgbClr val="FFD9BE"/>
                </a:solidFill>
                <a:latin typeface="Quattrocento" pitchFamily="34" charset="0"/>
                <a:ea typeface="Quattrocento" pitchFamily="34" charset="-122"/>
                <a:cs typeface="Quattrocento" pitchFamily="34" charset="-120"/>
              </a:rPr>
              <a:t>Data Transmission:</a:t>
            </a:r>
            <a:endParaRPr lang="en-US" sz="2187" dirty="0"/>
          </a:p>
        </p:txBody>
      </p:sp>
      <p:sp>
        <p:nvSpPr>
          <p:cNvPr id="13" name="Text 11"/>
          <p:cNvSpPr/>
          <p:nvPr/>
        </p:nvSpPr>
        <p:spPr>
          <a:xfrm>
            <a:off x="2570559" y="5675471"/>
            <a:ext cx="9489162" cy="1066205"/>
          </a:xfrm>
          <a:prstGeom prst="rect">
            <a:avLst/>
          </a:prstGeom>
          <a:noFill/>
          <a:ln/>
        </p:spPr>
        <p:txBody>
          <a:bodyPr wrap="square" rtlCol="0" anchor="t"/>
          <a:lstStyle/>
          <a:p>
            <a:pPr marL="0" indent="0">
              <a:lnSpc>
                <a:spcPts val="2799"/>
              </a:lnSpc>
              <a:buNone/>
            </a:pPr>
            <a:r>
              <a:rPr lang="en-US" sz="1750" dirty="0">
                <a:solidFill>
                  <a:srgbClr val="F9EEE7"/>
                </a:solidFill>
                <a:latin typeface="Quattrocento" pitchFamily="34" charset="0"/>
                <a:ea typeface="Quattrocento" pitchFamily="34" charset="-122"/>
                <a:cs typeface="Quattrocento" pitchFamily="34" charset="-120"/>
              </a:rPr>
              <a:t>In data transmission, clamper circuits make sure the signal being sent is just right. They adjust the signal's strength to keep it within the right range so that the data can be received correctly on the other end.</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5" name="Text 2"/>
          <p:cNvSpPr/>
          <p:nvPr/>
        </p:nvSpPr>
        <p:spPr>
          <a:xfrm>
            <a:off x="4490799" y="3291364"/>
            <a:ext cx="7665839" cy="958215"/>
          </a:xfrm>
          <a:prstGeom prst="rect">
            <a:avLst/>
          </a:prstGeom>
          <a:noFill/>
          <a:ln/>
        </p:spPr>
        <p:txBody>
          <a:bodyPr wrap="none" rtlCol="0" anchor="t"/>
          <a:lstStyle/>
          <a:p>
            <a:pPr marL="0" indent="0">
              <a:lnSpc>
                <a:spcPts val="7545"/>
              </a:lnSpc>
              <a:buNone/>
            </a:pPr>
            <a:r>
              <a:rPr lang="en-US" sz="6036" b="1" dirty="0">
                <a:solidFill>
                  <a:srgbClr val="FFD9BE"/>
                </a:solidFill>
                <a:latin typeface="Quattrocento" pitchFamily="34" charset="0"/>
                <a:ea typeface="Quattrocento" pitchFamily="34" charset="-122"/>
                <a:cs typeface="Quattrocento" pitchFamily="34" charset="-120"/>
              </a:rPr>
              <a:t>THANK YOU!</a:t>
            </a:r>
            <a:endParaRPr lang="en-US" sz="6036" dirty="0"/>
          </a:p>
        </p:txBody>
      </p:sp>
      <p:sp>
        <p:nvSpPr>
          <p:cNvPr id="6" name="Text 3"/>
          <p:cNvSpPr/>
          <p:nvPr/>
        </p:nvSpPr>
        <p:spPr>
          <a:xfrm>
            <a:off x="4490799" y="4582835"/>
            <a:ext cx="9306401" cy="355402"/>
          </a:xfrm>
          <a:prstGeom prst="rect">
            <a:avLst/>
          </a:prstGeom>
          <a:noFill/>
          <a:ln/>
        </p:spPr>
        <p:txBody>
          <a:bodyPr wrap="none" rtlCol="0" anchor="t"/>
          <a:lstStyle/>
          <a:p>
            <a:pPr marL="0" indent="0">
              <a:lnSpc>
                <a:spcPts val="2799"/>
              </a:lnSpc>
              <a:buNone/>
            </a:pPr>
            <a:r>
              <a:rPr lang="en-US" sz="1750" i="1" dirty="0">
                <a:solidFill>
                  <a:srgbClr val="F9EEE7"/>
                </a:solidFill>
                <a:latin typeface="Quattrocento" pitchFamily="34" charset="0"/>
                <a:ea typeface="Quattrocento" pitchFamily="34" charset="-122"/>
                <a:cs typeface="Quattrocento" pitchFamily="34" charset="-120"/>
              </a:rPr>
              <a:t> </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12</cp:revision>
  <dcterms:created xsi:type="dcterms:W3CDTF">2024-04-16T10:47:02Z</dcterms:created>
  <dcterms:modified xsi:type="dcterms:W3CDTF">2024-04-16T13:24:54Z</dcterms:modified>
</cp:coreProperties>
</file>
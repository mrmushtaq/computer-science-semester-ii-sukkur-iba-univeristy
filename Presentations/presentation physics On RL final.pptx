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4" r:id="rId10"/>
    <p:sldId id="268" r:id="rId11"/>
    <p:sldId id="265" r:id="rId12"/>
    <p:sldId id="266" r:id="rId13"/>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8" autoAdjust="0"/>
    <p:restoredTop sz="94610"/>
  </p:normalViewPr>
  <p:slideViewPr>
    <p:cSldViewPr snapToGrid="0" snapToObjects="1">
      <p:cViewPr>
        <p:scale>
          <a:sx n="50" d="100"/>
          <a:sy n="50" d="100"/>
        </p:scale>
        <p:origin x="-944" y="-260"/>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8C07B94B-E346-45B7-B8EB-27591C0F8E66}" type="datetimeFigureOut">
              <a:rPr lang="en-US" smtClean="0"/>
              <a:t>4/30/2024</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4E218299-F358-4B2C-BA81-889377F4BEF1}" type="slidenum">
              <a:rPr lang="en-US" smtClean="0"/>
              <a:t>‹#›</a:t>
            </a:fld>
            <a:endParaRPr lang="en-US"/>
          </a:p>
        </p:txBody>
      </p:sp>
    </p:spTree>
    <p:extLst>
      <p:ext uri="{BB962C8B-B14F-4D97-AF65-F5344CB8AC3E}">
        <p14:creationId xmlns:p14="http://schemas.microsoft.com/office/powerpoint/2010/main" val="3549417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0.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83320" y="-552005"/>
            <a:ext cx="15558654" cy="9257689"/>
          </a:xfrm>
          <a:prstGeom prst="rect">
            <a:avLst/>
          </a:prstGeom>
          <a:solidFill>
            <a:srgbClr val="F2E4CF"/>
          </a:solidFill>
          <a:ln/>
        </p:spPr>
        <p:txBody>
          <a:bodyPr/>
          <a:lstStyle/>
          <a:p>
            <a:endParaRPr lang="en-US" dirty="0"/>
          </a:p>
        </p:txBody>
      </p:sp>
      <p:sp>
        <p:nvSpPr>
          <p:cNvPr id="5" name="Text 2"/>
          <p:cNvSpPr/>
          <p:nvPr/>
        </p:nvSpPr>
        <p:spPr>
          <a:xfrm>
            <a:off x="1844581" y="3428663"/>
            <a:ext cx="8512507" cy="3337379"/>
          </a:xfrm>
          <a:prstGeom prst="rect">
            <a:avLst/>
          </a:prstGeom>
          <a:noFill/>
          <a:ln/>
        </p:spPr>
        <p:txBody>
          <a:bodyPr wrap="square" rtlCol="0" anchor="t"/>
          <a:lstStyle/>
          <a:p>
            <a:pPr marL="0" indent="0" algn="ctr">
              <a:lnSpc>
                <a:spcPts val="5468"/>
              </a:lnSpc>
              <a:buNone/>
            </a:pPr>
            <a:r>
              <a:rPr lang="en-US" sz="5400" b="1" i="1" u="sng" dirty="0">
                <a:solidFill>
                  <a:srgbClr val="38512F"/>
                </a:solidFill>
                <a:latin typeface="Segoe UI Semibold" panose="020B0702040204020203" pitchFamily="34" charset="0"/>
                <a:ea typeface="Lora" pitchFamily="34" charset="-122"/>
                <a:cs typeface="Segoe UI Semibold" panose="020B0702040204020203" pitchFamily="34" charset="0"/>
              </a:rPr>
              <a:t>Understanding RL Circuits: Theory and  Numerical </a:t>
            </a:r>
            <a:r>
              <a:rPr lang="en-US" sz="5400" b="1" i="1" u="sng" dirty="0" smtClean="0">
                <a:solidFill>
                  <a:srgbClr val="38512F"/>
                </a:solidFill>
                <a:latin typeface="Segoe UI Semibold" panose="020B0702040204020203" pitchFamily="34" charset="0"/>
                <a:ea typeface="Lora" pitchFamily="34" charset="-122"/>
                <a:cs typeface="Segoe UI Semibold" panose="020B0702040204020203" pitchFamily="34" charset="0"/>
              </a:rPr>
              <a:t>Analysis</a:t>
            </a:r>
            <a:endParaRPr lang="en-US" sz="5400" b="1" i="1" u="sng" dirty="0">
              <a:latin typeface="Segoe UI Semibold" panose="020B0702040204020203" pitchFamily="34" charset="0"/>
              <a:cs typeface="Segoe UI Semibold" panose="020B0702040204020203" pitchFamily="34" charset="0"/>
            </a:endParaRPr>
          </a:p>
        </p:txBody>
      </p:sp>
      <p:sp>
        <p:nvSpPr>
          <p:cNvPr id="7" name="Text 4"/>
          <p:cNvSpPr/>
          <p:nvPr/>
        </p:nvSpPr>
        <p:spPr>
          <a:xfrm>
            <a:off x="7296007" y="7331028"/>
            <a:ext cx="6936360" cy="823268"/>
          </a:xfrm>
          <a:prstGeom prst="rect">
            <a:avLst/>
          </a:prstGeom>
          <a:noFill/>
          <a:ln/>
        </p:spPr>
        <p:txBody>
          <a:bodyPr wrap="none" rtlCol="0" anchor="t"/>
          <a:lstStyle/>
          <a:p>
            <a:pPr marL="0" indent="0">
              <a:lnSpc>
                <a:spcPts val="2799"/>
              </a:lnSpc>
              <a:buNone/>
            </a:pPr>
            <a:r>
              <a:rPr lang="en-US" sz="3600" b="1" dirty="0">
                <a:solidFill>
                  <a:srgbClr val="3A3630"/>
                </a:solidFill>
                <a:latin typeface="Segoe UI Semibold" panose="020B0702040204020203" pitchFamily="34" charset="0"/>
                <a:ea typeface="Source Sans Pro" pitchFamily="34" charset="-122"/>
                <a:cs typeface="Segoe UI Semibold" panose="020B0702040204020203" pitchFamily="34" charset="0"/>
              </a:rPr>
              <a:t>Presented by: </a:t>
            </a:r>
            <a:r>
              <a:rPr lang="en-US" sz="3600" b="1"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Tehreem Zahoor</a:t>
            </a:r>
          </a:p>
          <a:p>
            <a:pPr marL="0" indent="0">
              <a:lnSpc>
                <a:spcPts val="2799"/>
              </a:lnSpc>
              <a:buNone/>
            </a:pPr>
            <a:r>
              <a:rPr lang="en-US" sz="3600" b="1" dirty="0">
                <a:solidFill>
                  <a:srgbClr val="3A3630"/>
                </a:solidFill>
                <a:latin typeface="Segoe UI Semibold" panose="020B0702040204020203" pitchFamily="34" charset="0"/>
                <a:ea typeface="Source Sans Pro" pitchFamily="34" charset="-122"/>
                <a:cs typeface="Segoe UI Semibold" panose="020B0702040204020203" pitchFamily="34" charset="0"/>
              </a:rPr>
              <a:t> </a:t>
            </a:r>
            <a:r>
              <a:rPr lang="en-US" sz="3600" b="1"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                      </a:t>
            </a:r>
            <a:r>
              <a:rPr lang="en-US" sz="3600" b="1" dirty="0">
                <a:solidFill>
                  <a:srgbClr val="3A3630"/>
                </a:solidFill>
                <a:latin typeface="Segoe UI Semibold" panose="020B0702040204020203" pitchFamily="34" charset="0"/>
                <a:ea typeface="Source Sans Pro" pitchFamily="34" charset="-122"/>
                <a:cs typeface="Segoe UI Semibold" panose="020B0702040204020203" pitchFamily="34" charset="0"/>
              </a:rPr>
              <a:t> </a:t>
            </a:r>
            <a:r>
              <a:rPr lang="en-US" sz="3600" b="1"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  Zoha Sheikh</a:t>
            </a:r>
            <a:endParaRPr lang="en-US" sz="3600" b="1" dirty="0">
              <a:solidFill>
                <a:srgbClr val="3A3630"/>
              </a:solidFill>
              <a:latin typeface="Segoe UI Semibold" panose="020B0702040204020203" pitchFamily="34" charset="0"/>
              <a:ea typeface="Source Sans Pro" pitchFamily="34" charset="-122"/>
              <a:cs typeface="Segoe UI Semibold" panose="020B0702040204020203" pitchFamily="34" charset="0"/>
            </a:endParaRPr>
          </a:p>
          <a:p>
            <a:pPr marL="0" indent="0">
              <a:lnSpc>
                <a:spcPts val="2799"/>
              </a:lnSpc>
              <a:buNone/>
            </a:pPr>
            <a:r>
              <a:rPr lang="en-US" sz="3600" b="1" dirty="0">
                <a:solidFill>
                  <a:srgbClr val="3A3630"/>
                </a:solidFill>
                <a:latin typeface="Source Sans Pro" pitchFamily="34" charset="0"/>
                <a:ea typeface="Source Sans Pro" pitchFamily="34" charset="-122"/>
                <a:cs typeface="Source Sans Pro" pitchFamily="34" charset="-120"/>
              </a:rPr>
              <a:t>                                                 </a:t>
            </a:r>
            <a:r>
              <a:rPr lang="en-US" sz="3600" b="1" dirty="0">
                <a:solidFill>
                  <a:srgbClr val="38512F"/>
                </a:solidFill>
                <a:latin typeface="Source Sans Pro" pitchFamily="34" charset="0"/>
                <a:ea typeface="Source Sans Pro" pitchFamily="34" charset="-122"/>
                <a:cs typeface="Source Sans Pro" pitchFamily="34" charset="-120"/>
              </a:rPr>
              <a:t>  </a:t>
            </a:r>
          </a:p>
          <a:p>
            <a:pPr marL="0" indent="0">
              <a:lnSpc>
                <a:spcPts val="2799"/>
              </a:lnSpc>
              <a:buNone/>
            </a:pPr>
            <a:r>
              <a:rPr lang="en-US" sz="3600" dirty="0">
                <a:solidFill>
                  <a:srgbClr val="38512F"/>
                </a:solidFill>
                <a:latin typeface="Source Sans Pro" pitchFamily="34" charset="0"/>
                <a:ea typeface="Source Sans Pro" pitchFamily="34" charset="-122"/>
                <a:cs typeface="Source Sans Pro" pitchFamily="34" charset="-120"/>
              </a:rPr>
              <a:t>  </a:t>
            </a:r>
            <a:endParaRPr lang="en-US" sz="3600" dirty="0"/>
          </a:p>
        </p:txBody>
      </p:sp>
      <p:sp>
        <p:nvSpPr>
          <p:cNvPr id="8" name="Text 5"/>
          <p:cNvSpPr/>
          <p:nvPr/>
        </p:nvSpPr>
        <p:spPr>
          <a:xfrm>
            <a:off x="833199" y="6283643"/>
            <a:ext cx="7477601" cy="355402"/>
          </a:xfrm>
          <a:prstGeom prst="rect">
            <a:avLst/>
          </a:prstGeom>
          <a:noFill/>
          <a:ln/>
        </p:spPr>
        <p:txBody>
          <a:bodyPr wrap="none" rtlCol="0" anchor="t"/>
          <a:lstStyle/>
          <a:p>
            <a:pPr marL="0" indent="0" algn="ctr">
              <a:lnSpc>
                <a:spcPts val="2799"/>
              </a:lnSpc>
              <a:buNone/>
            </a:pPr>
            <a:r>
              <a:rPr lang="en-US" sz="1750" dirty="0">
                <a:solidFill>
                  <a:srgbClr val="38512F"/>
                </a:solidFill>
                <a:latin typeface="Source Sans Pro" pitchFamily="34" charset="0"/>
                <a:ea typeface="Source Sans Pro" pitchFamily="34" charset="-122"/>
                <a:cs typeface="Source Sans Pro" pitchFamily="34" charset="-120"/>
              </a:rPr>
              <a:t> </a:t>
            </a:r>
            <a:endParaRPr lang="en-US" sz="17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9882"/>
            <a:ext cx="14976764" cy="8229600"/>
          </a:xfrm>
          <a:prstGeom prst="rect">
            <a:avLst/>
          </a:prstGeom>
          <a:solidFill>
            <a:srgbClr val="FEF5E7"/>
          </a:solidFill>
          <a:ln/>
        </p:spPr>
        <p:txBody>
          <a:bodyPr/>
          <a:lstStyle/>
          <a:p>
            <a:endParaRPr lang="en-US" dirty="0"/>
          </a:p>
        </p:txBody>
      </p:sp>
      <p:sp>
        <p:nvSpPr>
          <p:cNvPr id="4" name="Text 2"/>
          <p:cNvSpPr/>
          <p:nvPr/>
        </p:nvSpPr>
        <p:spPr>
          <a:xfrm>
            <a:off x="1247819" y="1586753"/>
            <a:ext cx="6655550" cy="852243"/>
          </a:xfrm>
          <a:prstGeom prst="rect">
            <a:avLst/>
          </a:prstGeom>
          <a:noFill/>
          <a:ln/>
        </p:spPr>
        <p:txBody>
          <a:bodyPr wrap="none" rtlCol="0" anchor="t"/>
          <a:lstStyle/>
          <a:p>
            <a:pPr marL="0" indent="0">
              <a:lnSpc>
                <a:spcPts val="5468"/>
              </a:lnSpc>
              <a:buNone/>
            </a:pPr>
            <a:r>
              <a:rPr lang="en-US" sz="4374" b="1" i="1" dirty="0">
                <a:solidFill>
                  <a:srgbClr val="38512F"/>
                </a:solidFill>
                <a:latin typeface="Algerian" panose="04020705040A02060702" pitchFamily="82" charset="0"/>
                <a:ea typeface="Lora" pitchFamily="34" charset="-122"/>
                <a:cs typeface="Lora" pitchFamily="34" charset="-120"/>
              </a:rPr>
              <a:t>CONTENT:</a:t>
            </a:r>
            <a:endParaRPr lang="en-US" sz="4374" b="1" i="1" dirty="0">
              <a:latin typeface="Algerian" panose="04020705040A02060702" pitchFamily="82" charset="0"/>
            </a:endParaRPr>
          </a:p>
        </p:txBody>
      </p:sp>
      <p:sp>
        <p:nvSpPr>
          <p:cNvPr id="5" name="Text 3"/>
          <p:cNvSpPr/>
          <p:nvPr/>
        </p:nvSpPr>
        <p:spPr>
          <a:xfrm>
            <a:off x="1247819" y="2792015"/>
            <a:ext cx="5796275" cy="424459"/>
          </a:xfrm>
          <a:prstGeom prst="rect">
            <a:avLst/>
          </a:prstGeom>
          <a:noFill/>
          <a:ln/>
        </p:spPr>
        <p:txBody>
          <a:bodyPr wrap="none" rtlCol="0" anchor="t"/>
          <a:lstStyle/>
          <a:p>
            <a:pPr marL="457200" indent="-457200" algn="just">
              <a:lnSpc>
                <a:spcPts val="2799"/>
              </a:lnSpc>
              <a:buSzPct val="100000"/>
              <a:buFont typeface="Wingdings" panose="05000000000000000000" pitchFamily="2" charset="2"/>
              <a:buChar char="q"/>
            </a:pPr>
            <a:r>
              <a:rPr lang="en-US" sz="3600" b="1" dirty="0">
                <a:solidFill>
                  <a:srgbClr val="3A3630"/>
                </a:solidFill>
                <a:latin typeface="Garamond" panose="02020404030301010803" pitchFamily="18" charset="0"/>
                <a:ea typeface="Source Sans Pro" pitchFamily="34" charset="-122"/>
                <a:cs typeface="Source Sans Pro" pitchFamily="34" charset="-120"/>
              </a:rPr>
              <a:t>Introduction of RL </a:t>
            </a:r>
            <a:r>
              <a:rPr lang="en-US" sz="3600" b="1" dirty="0" smtClean="0">
                <a:solidFill>
                  <a:srgbClr val="3A3630"/>
                </a:solidFill>
                <a:latin typeface="Garamond" panose="02020404030301010803" pitchFamily="18" charset="0"/>
                <a:ea typeface="Source Sans Pro" pitchFamily="34" charset="-122"/>
                <a:cs typeface="Source Sans Pro" pitchFamily="34" charset="-120"/>
              </a:rPr>
              <a:t>Circuit</a:t>
            </a:r>
          </a:p>
          <a:p>
            <a:pPr algn="just">
              <a:lnSpc>
                <a:spcPts val="2799"/>
              </a:lnSpc>
              <a:buSzPct val="100000"/>
            </a:pPr>
            <a:endParaRPr lang="en-US" sz="3600" b="1" dirty="0">
              <a:solidFill>
                <a:srgbClr val="3A3630"/>
              </a:solidFill>
              <a:latin typeface="Garamond" panose="02020404030301010803" pitchFamily="18" charset="0"/>
              <a:ea typeface="Source Sans Pro" pitchFamily="34" charset="-122"/>
              <a:cs typeface="Source Sans Pro" pitchFamily="34" charset="-120"/>
            </a:endParaRPr>
          </a:p>
          <a:p>
            <a:pPr marL="457200" indent="-457200" algn="just">
              <a:lnSpc>
                <a:spcPts val="2799"/>
              </a:lnSpc>
              <a:buSzPct val="100000"/>
              <a:buFont typeface="Wingdings" panose="05000000000000000000" pitchFamily="2" charset="2"/>
              <a:buChar char="q"/>
            </a:pPr>
            <a:r>
              <a:rPr lang="en-US" sz="3600" b="1" dirty="0">
                <a:solidFill>
                  <a:srgbClr val="3A3630"/>
                </a:solidFill>
                <a:latin typeface="Garamond" panose="02020404030301010803" pitchFamily="18" charset="0"/>
                <a:ea typeface="Source Sans Pro" pitchFamily="34" charset="-122"/>
                <a:cs typeface="Segoe UI Semibold" panose="020B0702040204020203" pitchFamily="34" charset="0"/>
              </a:rPr>
              <a:t>Behavior and </a:t>
            </a:r>
            <a:r>
              <a:rPr lang="en-US" sz="3600" b="1" dirty="0" smtClean="0">
                <a:solidFill>
                  <a:srgbClr val="3A3630"/>
                </a:solidFill>
                <a:latin typeface="Garamond" panose="02020404030301010803" pitchFamily="18" charset="0"/>
                <a:ea typeface="Source Sans Pro" pitchFamily="34" charset="-122"/>
                <a:cs typeface="Segoe UI Semibold" panose="020B0702040204020203" pitchFamily="34" charset="0"/>
              </a:rPr>
              <a:t>characteristics</a:t>
            </a:r>
          </a:p>
          <a:p>
            <a:pPr algn="just">
              <a:lnSpc>
                <a:spcPts val="2799"/>
              </a:lnSpc>
              <a:buSzPct val="100000"/>
            </a:pPr>
            <a:endParaRPr lang="en-US" sz="3600" b="1" u="sng" dirty="0">
              <a:solidFill>
                <a:srgbClr val="3A3630"/>
              </a:solidFill>
              <a:ea typeface="Source Sans Pro" pitchFamily="34" charset="-122"/>
              <a:cs typeface="Source Sans Pro" pitchFamily="34" charset="-120"/>
            </a:endParaRPr>
          </a:p>
          <a:p>
            <a:pPr marL="457200" indent="-457200" algn="just">
              <a:lnSpc>
                <a:spcPts val="2799"/>
              </a:lnSpc>
              <a:buSzPct val="100000"/>
              <a:buFont typeface="Wingdings" panose="05000000000000000000" pitchFamily="2" charset="2"/>
              <a:buChar char="q"/>
            </a:pPr>
            <a:r>
              <a:rPr lang="en-US" sz="3600" b="1" dirty="0">
                <a:solidFill>
                  <a:srgbClr val="3A3630"/>
                </a:solidFill>
                <a:latin typeface="Garamond" panose="02020404030301010803" pitchFamily="18" charset="0"/>
                <a:ea typeface="Source Sans Pro" pitchFamily="34" charset="-122"/>
                <a:cs typeface="Source Sans Pro" pitchFamily="34" charset="-120"/>
              </a:rPr>
              <a:t>Transient </a:t>
            </a:r>
            <a:r>
              <a:rPr lang="en-US" sz="3600" b="1" dirty="0" smtClean="0">
                <a:solidFill>
                  <a:srgbClr val="3A3630"/>
                </a:solidFill>
                <a:latin typeface="Garamond" panose="02020404030301010803" pitchFamily="18" charset="0"/>
                <a:ea typeface="Source Sans Pro" pitchFamily="34" charset="-122"/>
                <a:cs typeface="Source Sans Pro" pitchFamily="34" charset="-120"/>
              </a:rPr>
              <a:t>Analysis</a:t>
            </a:r>
          </a:p>
          <a:p>
            <a:pPr algn="just">
              <a:lnSpc>
                <a:spcPts val="2799"/>
              </a:lnSpc>
              <a:buSzPct val="100000"/>
            </a:pPr>
            <a:endParaRPr lang="en-US" sz="3600" b="1" u="sng" dirty="0">
              <a:solidFill>
                <a:srgbClr val="3A3630"/>
              </a:solidFill>
              <a:ea typeface="Source Sans Pro" pitchFamily="34" charset="-122"/>
              <a:cs typeface="Source Sans Pro" pitchFamily="34" charset="-120"/>
            </a:endParaRPr>
          </a:p>
          <a:p>
            <a:pPr marL="457200" indent="-457200" algn="just">
              <a:lnSpc>
                <a:spcPts val="2799"/>
              </a:lnSpc>
              <a:buSzPct val="100000"/>
              <a:buFont typeface="Wingdings" panose="05000000000000000000" pitchFamily="2" charset="2"/>
              <a:buChar char="q"/>
            </a:pPr>
            <a:r>
              <a:rPr lang="en-US" sz="3600" b="1" dirty="0">
                <a:solidFill>
                  <a:srgbClr val="3A3630"/>
                </a:solidFill>
                <a:latin typeface="Garamond" panose="02020404030301010803" pitchFamily="18" charset="0"/>
                <a:ea typeface="Source Sans Pro" pitchFamily="34" charset="-122"/>
                <a:cs typeface="Source Sans Pro" pitchFamily="34" charset="-120"/>
              </a:rPr>
              <a:t>Steady-state </a:t>
            </a:r>
            <a:r>
              <a:rPr lang="en-US" sz="3600" b="1" dirty="0" smtClean="0">
                <a:solidFill>
                  <a:srgbClr val="3A3630"/>
                </a:solidFill>
                <a:latin typeface="Garamond" panose="02020404030301010803" pitchFamily="18" charset="0"/>
                <a:ea typeface="Source Sans Pro" pitchFamily="34" charset="-122"/>
                <a:cs typeface="Source Sans Pro" pitchFamily="34" charset="-120"/>
              </a:rPr>
              <a:t>Analysis</a:t>
            </a:r>
          </a:p>
          <a:p>
            <a:pPr algn="just">
              <a:lnSpc>
                <a:spcPts val="2799"/>
              </a:lnSpc>
              <a:buSzPct val="100000"/>
            </a:pPr>
            <a:endParaRPr lang="en-US" sz="3600" b="1" dirty="0">
              <a:solidFill>
                <a:srgbClr val="3A3630"/>
              </a:solidFill>
              <a:latin typeface="Garamond" panose="02020404030301010803" pitchFamily="18" charset="0"/>
              <a:ea typeface="Source Sans Pro" pitchFamily="34" charset="-122"/>
              <a:cs typeface="Source Sans Pro" pitchFamily="34" charset="-120"/>
            </a:endParaRPr>
          </a:p>
          <a:p>
            <a:pPr marL="457200" indent="-457200" algn="just">
              <a:lnSpc>
                <a:spcPts val="2799"/>
              </a:lnSpc>
              <a:buSzPct val="100000"/>
              <a:buFont typeface="Wingdings" panose="05000000000000000000" pitchFamily="2" charset="2"/>
              <a:buChar char="q"/>
            </a:pPr>
            <a:r>
              <a:rPr lang="en-US" sz="3600" b="1" dirty="0">
                <a:solidFill>
                  <a:srgbClr val="3A3630"/>
                </a:solidFill>
                <a:latin typeface="Garamond" panose="02020404030301010803" pitchFamily="18" charset="0"/>
                <a:ea typeface="Source Sans Pro" pitchFamily="34" charset="-122"/>
                <a:cs typeface="Source Sans Pro" pitchFamily="34" charset="-120"/>
              </a:rPr>
              <a:t>Numerical </a:t>
            </a:r>
            <a:r>
              <a:rPr lang="en-US" sz="3600" b="1" dirty="0" smtClean="0">
                <a:solidFill>
                  <a:srgbClr val="3A3630"/>
                </a:solidFill>
                <a:latin typeface="Garamond" panose="02020404030301010803" pitchFamily="18" charset="0"/>
                <a:ea typeface="Source Sans Pro" pitchFamily="34" charset="-122"/>
                <a:cs typeface="Source Sans Pro" pitchFamily="34" charset="-120"/>
              </a:rPr>
              <a:t>Analysis</a:t>
            </a:r>
          </a:p>
          <a:p>
            <a:pPr marL="457200" indent="-457200" algn="just">
              <a:lnSpc>
                <a:spcPts val="2799"/>
              </a:lnSpc>
              <a:buSzPct val="100000"/>
              <a:buFont typeface="Wingdings" panose="05000000000000000000" pitchFamily="2" charset="2"/>
              <a:buChar char="q"/>
            </a:pPr>
            <a:endParaRPr lang="en-US" sz="3600" b="1" dirty="0">
              <a:solidFill>
                <a:srgbClr val="3A3630"/>
              </a:solidFill>
              <a:latin typeface="Garamond" panose="02020404030301010803" pitchFamily="18" charset="0"/>
              <a:ea typeface="Source Sans Pro" pitchFamily="34" charset="-122"/>
            </a:endParaRPr>
          </a:p>
          <a:p>
            <a:pPr marL="457200" indent="-457200" algn="just">
              <a:lnSpc>
                <a:spcPts val="2799"/>
              </a:lnSpc>
              <a:buSzPct val="100000"/>
              <a:buFont typeface="Wingdings" panose="05000000000000000000" pitchFamily="2" charset="2"/>
              <a:buChar char="q"/>
            </a:pPr>
            <a:r>
              <a:rPr lang="en-US" sz="3600" b="1" dirty="0" smtClean="0">
                <a:solidFill>
                  <a:srgbClr val="3A3630"/>
                </a:solidFill>
                <a:latin typeface="Garamond" panose="02020404030301010803" pitchFamily="18" charset="0"/>
                <a:ea typeface="Source Sans Pro" pitchFamily="34" charset="-122"/>
              </a:rPr>
              <a:t>Equation of RL circuit</a:t>
            </a:r>
          </a:p>
          <a:p>
            <a:pPr marL="457200" indent="-457200" algn="just">
              <a:lnSpc>
                <a:spcPts val="2799"/>
              </a:lnSpc>
              <a:buSzPct val="100000"/>
              <a:buFont typeface="Wingdings" panose="05000000000000000000" pitchFamily="2" charset="2"/>
              <a:buChar char="q"/>
            </a:pPr>
            <a:endParaRPr lang="en-US" sz="3600" b="1" dirty="0">
              <a:solidFill>
                <a:srgbClr val="3A3630"/>
              </a:solidFill>
              <a:latin typeface="Garamond" panose="02020404030301010803" pitchFamily="18" charset="0"/>
              <a:ea typeface="Source Sans Pro" pitchFamily="34" charset="-122"/>
            </a:endParaRPr>
          </a:p>
          <a:p>
            <a:pPr marL="457200" indent="-457200" algn="just">
              <a:lnSpc>
                <a:spcPts val="2799"/>
              </a:lnSpc>
              <a:buSzPct val="100000"/>
              <a:buFont typeface="Wingdings" panose="05000000000000000000" pitchFamily="2" charset="2"/>
              <a:buChar char="q"/>
            </a:pPr>
            <a:r>
              <a:rPr lang="en-US" sz="3600" b="1" dirty="0" smtClean="0">
                <a:solidFill>
                  <a:srgbClr val="3A3630"/>
                </a:solidFill>
                <a:latin typeface="Garamond" panose="02020404030301010803" pitchFamily="18" charset="0"/>
                <a:ea typeface="Source Sans Pro" pitchFamily="34" charset="-122"/>
              </a:rPr>
              <a:t>Practical Applications </a:t>
            </a:r>
            <a:endParaRPr lang="en-US" sz="3600" b="1" u="sng" dirty="0">
              <a:latin typeface="Franklin Gothic Medium" panose="020B0603020102020204" pitchFamily="34" charset="0"/>
            </a:endParaRPr>
          </a:p>
          <a:p>
            <a:pPr marL="457200" indent="-457200" algn="just">
              <a:lnSpc>
                <a:spcPts val="2799"/>
              </a:lnSpc>
              <a:buSzPct val="100000"/>
              <a:buFont typeface="Wingdings" panose="05000000000000000000" pitchFamily="2" charset="2"/>
              <a:buChar char="q"/>
            </a:pPr>
            <a:endParaRPr lang="en-US" sz="3600" b="1" dirty="0">
              <a:latin typeface="Garamond" panose="02020404030301010803" pitchFamily="18" charset="0"/>
            </a:endParaRPr>
          </a:p>
          <a:p>
            <a:pPr marL="342900" indent="-342900">
              <a:lnSpc>
                <a:spcPts val="2799"/>
              </a:lnSpc>
              <a:buSzPct val="100000"/>
              <a:buFontTx/>
              <a:buChar char="•"/>
            </a:pPr>
            <a:endParaRPr lang="en-US" sz="2800" b="1" dirty="0">
              <a:solidFill>
                <a:srgbClr val="3A3630"/>
              </a:solidFill>
              <a:latin typeface="Source Sans Pro" pitchFamily="34" charset="0"/>
              <a:ea typeface="Source Sans Pro" pitchFamily="34" charset="-122"/>
              <a:cs typeface="Source Sans Pro" pitchFamily="34" charset="-120"/>
            </a:endParaRPr>
          </a:p>
          <a:p>
            <a:pPr marL="342900" indent="-342900">
              <a:lnSpc>
                <a:spcPts val="2799"/>
              </a:lnSpc>
              <a:buSzPct val="100000"/>
              <a:buFontTx/>
              <a:buChar char="•"/>
            </a:pPr>
            <a:endParaRPr lang="en-US" sz="2800" b="1" dirty="0"/>
          </a:p>
          <a:p>
            <a:pPr marL="342900" indent="-342900">
              <a:lnSpc>
                <a:spcPts val="2799"/>
              </a:lnSpc>
              <a:buSzPct val="100000"/>
              <a:buFontTx/>
              <a:buChar char="•"/>
            </a:pPr>
            <a:endParaRPr lang="en-US" sz="2800" b="1" dirty="0"/>
          </a:p>
          <a:p>
            <a:pPr marL="342900" indent="-342900">
              <a:lnSpc>
                <a:spcPts val="2799"/>
              </a:lnSpc>
              <a:buSzPct val="100000"/>
              <a:buFontTx/>
              <a:buChar char="•"/>
            </a:pPr>
            <a:endParaRPr lang="en-US" sz="2800" b="1" dirty="0"/>
          </a:p>
          <a:p>
            <a:pPr marL="342900" indent="-342900">
              <a:lnSpc>
                <a:spcPts val="2799"/>
              </a:lnSpc>
              <a:buSzPct val="100000"/>
              <a:buFontTx/>
              <a:buChar char="•"/>
            </a:pPr>
            <a:endParaRPr lang="en-US" sz="2800" b="1" dirty="0"/>
          </a:p>
          <a:p>
            <a:pPr marL="342900" indent="-342900" algn="l">
              <a:lnSpc>
                <a:spcPts val="2799"/>
              </a:lnSpc>
              <a:buSzPct val="100000"/>
              <a:buChar char="•"/>
            </a:pPr>
            <a:endParaRPr lang="en-US" sz="2800" b="1" dirty="0"/>
          </a:p>
        </p:txBody>
      </p:sp>
      <p:sp>
        <p:nvSpPr>
          <p:cNvPr id="6" name="Text 4"/>
          <p:cNvSpPr/>
          <p:nvPr/>
        </p:nvSpPr>
        <p:spPr>
          <a:xfrm>
            <a:off x="2703790" y="3305294"/>
            <a:ext cx="4340304" cy="355402"/>
          </a:xfrm>
          <a:prstGeom prst="rect">
            <a:avLst/>
          </a:prstGeom>
          <a:noFill/>
          <a:ln/>
        </p:spPr>
        <p:txBody>
          <a:bodyPr wrap="none" rtlCol="0" anchor="t"/>
          <a:lstStyle/>
          <a:p>
            <a:pPr algn="l">
              <a:lnSpc>
                <a:spcPts val="2799"/>
              </a:lnSpc>
              <a:buSzPct val="100000"/>
            </a:pPr>
            <a:endParaRPr lang="en-US" sz="1750" b="1" dirty="0"/>
          </a:p>
        </p:txBody>
      </p:sp>
      <p:sp>
        <p:nvSpPr>
          <p:cNvPr id="7" name="Text 5"/>
          <p:cNvSpPr/>
          <p:nvPr/>
        </p:nvSpPr>
        <p:spPr>
          <a:xfrm>
            <a:off x="2247317" y="3759398"/>
            <a:ext cx="4340304" cy="355402"/>
          </a:xfrm>
          <a:prstGeom prst="rect">
            <a:avLst/>
          </a:prstGeom>
          <a:noFill/>
          <a:ln/>
        </p:spPr>
        <p:txBody>
          <a:bodyPr wrap="none" rtlCol="0" anchor="t"/>
          <a:lstStyle/>
          <a:p>
            <a:pPr marL="342900" indent="-342900" algn="l">
              <a:lnSpc>
                <a:spcPts val="2799"/>
              </a:lnSpc>
              <a:buSzPct val="100000"/>
              <a:buChar char="•"/>
            </a:pPr>
            <a:endParaRPr lang="en-US" sz="1750" b="1" dirty="0"/>
          </a:p>
        </p:txBody>
      </p:sp>
      <p:sp>
        <p:nvSpPr>
          <p:cNvPr id="8" name="Text 6"/>
          <p:cNvSpPr/>
          <p:nvPr/>
        </p:nvSpPr>
        <p:spPr>
          <a:xfrm>
            <a:off x="2703790" y="4193738"/>
            <a:ext cx="4340304" cy="355402"/>
          </a:xfrm>
          <a:prstGeom prst="rect">
            <a:avLst/>
          </a:prstGeom>
          <a:noFill/>
          <a:ln/>
        </p:spPr>
        <p:txBody>
          <a:bodyPr wrap="none" rtlCol="0" anchor="t"/>
          <a:lstStyle/>
          <a:p>
            <a:pPr marL="342900" indent="-342900" algn="l">
              <a:lnSpc>
                <a:spcPts val="2799"/>
              </a:lnSpc>
              <a:buSzPct val="100000"/>
              <a:buChar char="•"/>
            </a:pPr>
            <a:endParaRPr lang="en-US" sz="1750" b="1" dirty="0"/>
          </a:p>
        </p:txBody>
      </p:sp>
      <p:sp>
        <p:nvSpPr>
          <p:cNvPr id="9" name="Text 7"/>
          <p:cNvSpPr/>
          <p:nvPr/>
        </p:nvSpPr>
        <p:spPr>
          <a:xfrm>
            <a:off x="2703790" y="4637961"/>
            <a:ext cx="4340304" cy="355402"/>
          </a:xfrm>
          <a:prstGeom prst="rect">
            <a:avLst/>
          </a:prstGeom>
          <a:noFill/>
          <a:ln/>
        </p:spPr>
        <p:txBody>
          <a:bodyPr wrap="none" rtlCol="0" anchor="t"/>
          <a:lstStyle/>
          <a:p>
            <a:pPr algn="l">
              <a:lnSpc>
                <a:spcPts val="2799"/>
              </a:lnSpc>
              <a:buSzPct val="100000"/>
            </a:pPr>
            <a:endParaRPr lang="en-US" sz="1750" b="1" dirty="0"/>
          </a:p>
        </p:txBody>
      </p:sp>
      <p:sp>
        <p:nvSpPr>
          <p:cNvPr id="10" name="Text 8"/>
          <p:cNvSpPr/>
          <p:nvPr/>
        </p:nvSpPr>
        <p:spPr>
          <a:xfrm>
            <a:off x="2703790" y="5082183"/>
            <a:ext cx="4340304" cy="355402"/>
          </a:xfrm>
          <a:prstGeom prst="rect">
            <a:avLst/>
          </a:prstGeom>
          <a:noFill/>
          <a:ln/>
        </p:spPr>
        <p:txBody>
          <a:bodyPr wrap="none" rtlCol="0" anchor="t"/>
          <a:lstStyle/>
          <a:p>
            <a:pPr algn="l">
              <a:lnSpc>
                <a:spcPts val="2799"/>
              </a:lnSpc>
              <a:buSzPct val="100000"/>
            </a:pPr>
            <a:endParaRPr lang="en-US" sz="1750" b="1" dirty="0"/>
          </a:p>
        </p:txBody>
      </p:sp>
      <p:sp>
        <p:nvSpPr>
          <p:cNvPr id="11" name="Text 9"/>
          <p:cNvSpPr/>
          <p:nvPr/>
        </p:nvSpPr>
        <p:spPr>
          <a:xfrm>
            <a:off x="2703790" y="5526405"/>
            <a:ext cx="4340304" cy="355402"/>
          </a:xfrm>
          <a:prstGeom prst="rect">
            <a:avLst/>
          </a:prstGeom>
          <a:noFill/>
          <a:ln/>
        </p:spPr>
        <p:txBody>
          <a:bodyPr wrap="none" rtlCol="0" anchor="t"/>
          <a:lstStyle/>
          <a:p>
            <a:pPr marL="342900" indent="-342900" algn="l">
              <a:lnSpc>
                <a:spcPts val="2799"/>
              </a:lnSpc>
              <a:buSzPct val="100000"/>
              <a:buChar char="•"/>
            </a:pPr>
            <a:endParaRPr lang="en-US" sz="1750" dirty="0"/>
          </a:p>
        </p:txBody>
      </p:sp>
      <p:pic>
        <p:nvPicPr>
          <p:cNvPr id="12" name="Image 0" descr="preencoded.png"/>
          <p:cNvPicPr>
            <a:picLocks noChangeAspect="1"/>
          </p:cNvPicPr>
          <p:nvPr/>
        </p:nvPicPr>
        <p:blipFill>
          <a:blip r:embed="rId3"/>
          <a:stretch>
            <a:fillRect/>
          </a:stretch>
        </p:blipFill>
        <p:spPr>
          <a:xfrm>
            <a:off x="8788998" y="1011219"/>
            <a:ext cx="5604734" cy="635127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36078" y="-181097"/>
            <a:ext cx="14928157" cy="8423397"/>
          </a:xfrm>
          <a:prstGeom prst="rect">
            <a:avLst/>
          </a:prstGeom>
          <a:solidFill>
            <a:srgbClr val="F2E4CF"/>
          </a:solidFill>
          <a:ln/>
        </p:spPr>
        <p:txBody>
          <a:bodyPr/>
          <a:lstStyle/>
          <a:p>
            <a:endParaRPr lang="en-US" dirty="0"/>
          </a:p>
        </p:txBody>
      </p:sp>
      <p:sp>
        <p:nvSpPr>
          <p:cNvPr id="3" name="Shape 1"/>
          <p:cNvSpPr/>
          <p:nvPr/>
        </p:nvSpPr>
        <p:spPr>
          <a:xfrm flipV="1">
            <a:off x="2348389" y="1979743"/>
            <a:ext cx="15837173" cy="45719"/>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0" y="-165135"/>
            <a:ext cx="14679379" cy="2777490"/>
          </a:xfrm>
          <a:prstGeom prst="rect">
            <a:avLst/>
          </a:prstGeom>
        </p:spPr>
      </p:pic>
      <p:sp>
        <p:nvSpPr>
          <p:cNvPr id="5" name="Text 2"/>
          <p:cNvSpPr/>
          <p:nvPr/>
        </p:nvSpPr>
        <p:spPr>
          <a:xfrm>
            <a:off x="2462689" y="3036032"/>
            <a:ext cx="6972895" cy="694373"/>
          </a:xfrm>
          <a:prstGeom prst="rect">
            <a:avLst/>
          </a:prstGeom>
          <a:noFill/>
          <a:ln/>
        </p:spPr>
        <p:txBody>
          <a:bodyPr wrap="none" rtlCol="0" anchor="t"/>
          <a:lstStyle/>
          <a:p>
            <a:pPr marL="0" indent="0">
              <a:lnSpc>
                <a:spcPts val="5468"/>
              </a:lnSpc>
              <a:buNone/>
            </a:pPr>
            <a:r>
              <a:rPr lang="en-US" sz="5400" b="1" dirty="0">
                <a:solidFill>
                  <a:srgbClr val="38512F"/>
                </a:solidFill>
                <a:latin typeface="Javanese Text" panose="02000000000000000000" pitchFamily="2" charset="0"/>
                <a:ea typeface="Lora" pitchFamily="34" charset="-122"/>
                <a:cs typeface="Lora" pitchFamily="34" charset="-120"/>
              </a:rPr>
              <a:t>Introduction to RL Circuits</a:t>
            </a:r>
            <a:r>
              <a:rPr lang="en-US" sz="4374" b="1" dirty="0">
                <a:solidFill>
                  <a:srgbClr val="38512F"/>
                </a:solidFill>
                <a:latin typeface="Lora" pitchFamily="34" charset="0"/>
                <a:ea typeface="Lora" pitchFamily="34" charset="-122"/>
                <a:cs typeface="Lora" pitchFamily="34" charset="-120"/>
              </a:rPr>
              <a:t>:</a:t>
            </a:r>
            <a:endParaRPr lang="en-US" sz="4374" b="1" dirty="0"/>
          </a:p>
        </p:txBody>
      </p:sp>
      <p:sp>
        <p:nvSpPr>
          <p:cNvPr id="6" name="Text 3"/>
          <p:cNvSpPr/>
          <p:nvPr/>
        </p:nvSpPr>
        <p:spPr>
          <a:xfrm>
            <a:off x="2348389" y="4826198"/>
            <a:ext cx="9933503" cy="1066205"/>
          </a:xfrm>
          <a:prstGeom prst="rect">
            <a:avLst/>
          </a:prstGeom>
          <a:noFill/>
          <a:ln/>
        </p:spPr>
        <p:txBody>
          <a:bodyPr wrap="square" rtlCol="0" anchor="t"/>
          <a:lstStyle/>
          <a:p>
            <a:pPr marL="0" indent="0">
              <a:lnSpc>
                <a:spcPts val="2799"/>
              </a:lnSpc>
              <a:buNone/>
            </a:pPr>
            <a:endParaRPr lang="en-US" sz="1750" b="1" dirty="0"/>
          </a:p>
        </p:txBody>
      </p:sp>
      <p:sp>
        <p:nvSpPr>
          <p:cNvPr id="7" name="Text 4"/>
          <p:cNvSpPr/>
          <p:nvPr/>
        </p:nvSpPr>
        <p:spPr>
          <a:xfrm>
            <a:off x="2348389" y="6142315"/>
            <a:ext cx="9933503" cy="1066205"/>
          </a:xfrm>
          <a:prstGeom prst="rect">
            <a:avLst/>
          </a:prstGeom>
          <a:noFill/>
          <a:ln/>
        </p:spPr>
        <p:txBody>
          <a:bodyPr wrap="square" rtlCol="0" anchor="t"/>
          <a:lstStyle/>
          <a:p>
            <a:pPr>
              <a:lnSpc>
                <a:spcPts val="2799"/>
              </a:lnSpc>
            </a:pPr>
            <a:r>
              <a:rPr lang="en-US" sz="1750" b="1" dirty="0"/>
              <a:t>1</a:t>
            </a:r>
          </a:p>
        </p:txBody>
      </p:sp>
      <p:sp>
        <p:nvSpPr>
          <p:cNvPr id="9" name="Rectangle 2">
            <a:extLst>
              <a:ext uri="{FF2B5EF4-FFF2-40B4-BE49-F238E27FC236}">
                <a16:creationId xmlns:a16="http://schemas.microsoft.com/office/drawing/2014/main" xmlns="" id="{CA4B82F4-595F-4B3A-B139-CC2C27A6D4F0}"/>
              </a:ext>
            </a:extLst>
          </p:cNvPr>
          <p:cNvSpPr>
            <a:spLocks noChangeArrowheads="1"/>
          </p:cNvSpPr>
          <p:nvPr/>
        </p:nvSpPr>
        <p:spPr bwMode="auto">
          <a:xfrm>
            <a:off x="1134953" y="3633936"/>
            <a:ext cx="1171563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1" indent="-342900">
              <a:buFont typeface="Wingdings" panose="05000000000000000000" pitchFamily="2" charset="2"/>
              <a:buChar char="q"/>
            </a:pPr>
            <a:r>
              <a:rPr kumimoji="0" lang="en-US" altLang="en-US" sz="2800" i="0" u="none" strike="noStrike" cap="none" normalizeH="0" baseline="0" dirty="0">
                <a:ln>
                  <a:noFill/>
                </a:ln>
                <a:solidFill>
                  <a:schemeClr val="tx1"/>
                </a:solidFill>
                <a:effectLst/>
                <a:latin typeface="Sitka Text" panose="02000505000000020004" pitchFamily="2" charset="0"/>
              </a:rPr>
              <a:t>RL circuits combine resistors and inductors.</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i="0" u="none" strike="noStrike" cap="none" normalizeH="0" baseline="0" dirty="0">
                <a:ln>
                  <a:noFill/>
                </a:ln>
                <a:solidFill>
                  <a:schemeClr val="tx1"/>
                </a:solidFill>
                <a:effectLst/>
                <a:latin typeface="Sitka Text" panose="02000505000000020004" pitchFamily="2" charset="0"/>
              </a:rPr>
              <a:t>They display transient and steady-state behaviors.</a:t>
            </a:r>
          </a:p>
          <a:p>
            <a:pPr marL="342900" lvl="0" indent="-342900">
              <a:buFont typeface="Wingdings" panose="05000000000000000000" pitchFamily="2" charset="2"/>
              <a:buChar char="q"/>
            </a:pPr>
            <a:r>
              <a:rPr kumimoji="0" lang="en-US" altLang="en-US" sz="2800" i="0" u="none" strike="noStrike" cap="none" normalizeH="0" baseline="0" dirty="0">
                <a:ln>
                  <a:noFill/>
                </a:ln>
                <a:solidFill>
                  <a:schemeClr val="tx1"/>
                </a:solidFill>
                <a:effectLst/>
                <a:latin typeface="Sitka Text" panose="02000505000000020004" pitchFamily="2" charset="0"/>
              </a:rPr>
              <a:t>RL circuits are vital in power electronics, control systems, and </a:t>
            </a:r>
            <a:r>
              <a:rPr lang="en-US" altLang="en-US" sz="2800" dirty="0">
                <a:latin typeface="Sitka Text" panose="02000505000000020004" pitchFamily="2" charset="0"/>
              </a:rPr>
              <a:t>signal processing</a:t>
            </a:r>
            <a:endParaRPr kumimoji="0" lang="en-US" altLang="en-US" sz="2800" i="0" u="none" strike="noStrike" cap="none" normalizeH="0" baseline="0" dirty="0">
              <a:ln>
                <a:noFill/>
              </a:ln>
              <a:solidFill>
                <a:schemeClr val="tx1"/>
              </a:solidFill>
              <a:effectLst/>
              <a:latin typeface="Sitka Text" panose="02000505000000020004" pitchFamily="2" charset="0"/>
            </a:endParaRPr>
          </a:p>
          <a:p>
            <a:pPr marL="342900" indent="-342900">
              <a:lnSpc>
                <a:spcPts val="2799"/>
              </a:lnSpc>
              <a:buFont typeface="Wingdings" panose="05000000000000000000" pitchFamily="2" charset="2"/>
              <a:buChar char="q"/>
            </a:pPr>
            <a:r>
              <a:rPr lang="en-US" sz="2800" dirty="0">
                <a:latin typeface="Sitka Text" panose="02000505000000020004" pitchFamily="2" charset="0"/>
              </a:rPr>
              <a:t>. RL circuits demonstrate energy storage and release through resistance and inductance.</a:t>
            </a:r>
          </a:p>
          <a:p>
            <a:pPr marL="342900" indent="-342900">
              <a:lnSpc>
                <a:spcPts val="2799"/>
              </a:lnSpc>
              <a:buFont typeface="Wingdings" panose="05000000000000000000" pitchFamily="2" charset="2"/>
              <a:buChar char="q"/>
            </a:pPr>
            <a:r>
              <a:rPr lang="en-US" sz="2800" dirty="0">
                <a:latin typeface="Sitka Text" panose="02000505000000020004" pitchFamily="2" charset="0"/>
              </a:rPr>
              <a:t>Understanding theoretical foundations, numerical analysis, and practical applications is crucial.</a:t>
            </a:r>
          </a:p>
          <a:p>
            <a:pPr marL="342900" indent="-342900">
              <a:lnSpc>
                <a:spcPts val="2799"/>
              </a:lnSpc>
              <a:buFont typeface="Wingdings" panose="05000000000000000000" pitchFamily="2" charset="2"/>
              <a:buChar char="q"/>
            </a:pPr>
            <a:r>
              <a:rPr lang="en-US" sz="2800" dirty="0">
                <a:latin typeface="Sitka Text" panose="02000505000000020004" pitchFamily="2" charset="0"/>
              </a:rPr>
              <a:t> Designing and optimizing electrical systems rely on mastering RL circuit principles.</a:t>
            </a:r>
          </a:p>
          <a:p>
            <a:pPr marR="0" lvl="0" algn="ctr"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FFFF"/>
                </a:solidFill>
                <a:effectLst/>
                <a:latin typeface="Söhne"/>
              </a:rPr>
              <a:t/>
            </a:r>
            <a:br>
              <a:rPr kumimoji="0" lang="en-US" altLang="en-US" sz="1800" b="0" i="0" u="none" strike="noStrike" cap="none" normalizeH="0" baseline="0" dirty="0">
                <a:ln>
                  <a:noFill/>
                </a:ln>
                <a:solidFill>
                  <a:srgbClr val="FFFFFF"/>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L Circuit - Definition, RL Series and Parallel Circuit, Uses">
            <a:extLst>
              <a:ext uri="{FF2B5EF4-FFF2-40B4-BE49-F238E27FC236}">
                <a16:creationId xmlns:a16="http://schemas.microsoft.com/office/drawing/2014/main" xmlns="" id="{6CD9E95B-4DA6-4AE7-A754-107C9DBB9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624" y="1304365"/>
            <a:ext cx="9601200" cy="562087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8" descr="RL Series Circuit Analysis (Phasor Diagram, Examples &amp; Derivation) |  Electrical4U">
            <a:extLst>
              <a:ext uri="{FF2B5EF4-FFF2-40B4-BE49-F238E27FC236}">
                <a16:creationId xmlns:a16="http://schemas.microsoft.com/office/drawing/2014/main" xmlns="" id="{DA992E3B-2D52-452B-856F-B7C99424696F}"/>
              </a:ext>
            </a:extLst>
          </p:cNvPr>
          <p:cNvSpPr>
            <a:spLocks noChangeAspect="1" noChangeArrowheads="1"/>
          </p:cNvSpPr>
          <p:nvPr/>
        </p:nvSpPr>
        <p:spPr bwMode="auto">
          <a:xfrm>
            <a:off x="7162799" y="3962399"/>
            <a:ext cx="4993342" cy="35410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84942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txBody>
          <a:bodyPr/>
          <a:lstStyle/>
          <a:p>
            <a:endParaRPr lang="en-US" dirty="0"/>
          </a:p>
        </p:txBody>
      </p:sp>
      <p:pic>
        <p:nvPicPr>
          <p:cNvPr id="4" name="Image 0" descr="preencoded.png"/>
          <p:cNvPicPr>
            <a:picLocks noChangeAspect="1"/>
          </p:cNvPicPr>
          <p:nvPr/>
        </p:nvPicPr>
        <p:blipFill>
          <a:blip r:embed="rId3"/>
          <a:stretch>
            <a:fillRect/>
          </a:stretch>
        </p:blipFill>
        <p:spPr>
          <a:xfrm>
            <a:off x="-7620" y="0"/>
            <a:ext cx="3657600" cy="8229600"/>
          </a:xfrm>
          <a:prstGeom prst="rect">
            <a:avLst/>
          </a:prstGeom>
        </p:spPr>
      </p:pic>
      <p:sp>
        <p:nvSpPr>
          <p:cNvPr id="5" name="Text 2"/>
          <p:cNvSpPr/>
          <p:nvPr/>
        </p:nvSpPr>
        <p:spPr>
          <a:xfrm>
            <a:off x="4490799" y="925473"/>
            <a:ext cx="6289119" cy="694373"/>
          </a:xfrm>
          <a:prstGeom prst="rect">
            <a:avLst/>
          </a:prstGeom>
          <a:noFill/>
          <a:ln/>
        </p:spPr>
        <p:txBody>
          <a:bodyPr wrap="none" rtlCol="0" anchor="t"/>
          <a:lstStyle/>
          <a:p>
            <a:pPr marL="0" indent="0">
              <a:lnSpc>
                <a:spcPts val="5468"/>
              </a:lnSpc>
              <a:buNone/>
            </a:pPr>
            <a:r>
              <a:rPr lang="en-US" sz="5400" b="1" dirty="0">
                <a:solidFill>
                  <a:srgbClr val="003300"/>
                </a:solidFill>
                <a:latin typeface="High Tower Text" panose="02040502050506030303" pitchFamily="18" charset="0"/>
                <a:ea typeface="Lora" pitchFamily="34" charset="-122"/>
                <a:cs typeface="Lora" pitchFamily="34" charset="-120"/>
              </a:rPr>
              <a:t>Theoretical Foundations:</a:t>
            </a:r>
            <a:endParaRPr lang="en-US" sz="5400" b="1" dirty="0">
              <a:solidFill>
                <a:srgbClr val="003300"/>
              </a:solidFill>
              <a:latin typeface="High Tower Text" panose="02040502050506030303" pitchFamily="18" charset="0"/>
            </a:endParaRPr>
          </a:p>
        </p:txBody>
      </p:sp>
      <p:sp>
        <p:nvSpPr>
          <p:cNvPr id="6" name="Shape 3"/>
          <p:cNvSpPr/>
          <p:nvPr/>
        </p:nvSpPr>
        <p:spPr>
          <a:xfrm>
            <a:off x="4810244" y="1953101"/>
            <a:ext cx="27742" cy="5351026"/>
          </a:xfrm>
          <a:prstGeom prst="rect">
            <a:avLst/>
          </a:prstGeom>
          <a:solidFill>
            <a:srgbClr val="38512F"/>
          </a:solidFill>
          <a:ln/>
        </p:spPr>
      </p:sp>
      <p:sp>
        <p:nvSpPr>
          <p:cNvPr id="7" name="Shape 4"/>
          <p:cNvSpPr/>
          <p:nvPr/>
        </p:nvSpPr>
        <p:spPr>
          <a:xfrm>
            <a:off x="5074027" y="2362736"/>
            <a:ext cx="777597" cy="27742"/>
          </a:xfrm>
          <a:prstGeom prst="rect">
            <a:avLst/>
          </a:prstGeom>
          <a:solidFill>
            <a:srgbClr val="38512F"/>
          </a:solidFill>
          <a:ln/>
        </p:spPr>
      </p:sp>
      <p:sp>
        <p:nvSpPr>
          <p:cNvPr id="8" name="Shape 5"/>
          <p:cNvSpPr/>
          <p:nvPr/>
        </p:nvSpPr>
        <p:spPr>
          <a:xfrm>
            <a:off x="4574084" y="2126694"/>
            <a:ext cx="499943" cy="499943"/>
          </a:xfrm>
          <a:prstGeom prst="roundRect">
            <a:avLst>
              <a:gd name="adj" fmla="val 13333"/>
            </a:avLst>
          </a:prstGeom>
          <a:solidFill>
            <a:srgbClr val="F6E9D5"/>
          </a:solidFill>
          <a:ln/>
        </p:spPr>
      </p:sp>
      <p:sp>
        <p:nvSpPr>
          <p:cNvPr id="9" name="Text 6"/>
          <p:cNvSpPr/>
          <p:nvPr/>
        </p:nvSpPr>
        <p:spPr>
          <a:xfrm>
            <a:off x="4763393" y="2168366"/>
            <a:ext cx="121325"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1</a:t>
            </a:r>
            <a:endParaRPr lang="en-US" sz="2624" dirty="0"/>
          </a:p>
        </p:txBody>
      </p:sp>
      <p:sp>
        <p:nvSpPr>
          <p:cNvPr id="10" name="Text 7"/>
          <p:cNvSpPr/>
          <p:nvPr/>
        </p:nvSpPr>
        <p:spPr>
          <a:xfrm>
            <a:off x="6046113" y="2175272"/>
            <a:ext cx="2777490" cy="347186"/>
          </a:xfrm>
          <a:prstGeom prst="rect">
            <a:avLst/>
          </a:prstGeom>
          <a:noFill/>
          <a:ln/>
        </p:spPr>
        <p:txBody>
          <a:bodyPr wrap="none" rtlCol="0" anchor="t"/>
          <a:lstStyle/>
          <a:p>
            <a:pPr marL="0" indent="0" algn="l">
              <a:lnSpc>
                <a:spcPts val="2734"/>
              </a:lnSpc>
              <a:buNone/>
            </a:pPr>
            <a:r>
              <a:rPr lang="en-US" sz="4000" b="1" dirty="0">
                <a:solidFill>
                  <a:srgbClr val="003300"/>
                </a:solidFill>
                <a:latin typeface="Bell MT" panose="02020503060305020303" pitchFamily="18" charset="0"/>
                <a:ea typeface="Lora" pitchFamily="34" charset="-122"/>
                <a:cs typeface="Lora" pitchFamily="34" charset="-120"/>
              </a:rPr>
              <a:t>Ohm's Law</a:t>
            </a:r>
            <a:endParaRPr lang="en-US" sz="4000" b="1" dirty="0">
              <a:solidFill>
                <a:srgbClr val="003300"/>
              </a:solidFill>
              <a:latin typeface="Bell MT" panose="02020503060305020303" pitchFamily="18" charset="0"/>
            </a:endParaRPr>
          </a:p>
        </p:txBody>
      </p:sp>
      <p:sp>
        <p:nvSpPr>
          <p:cNvPr id="11" name="Text 8"/>
          <p:cNvSpPr/>
          <p:nvPr/>
        </p:nvSpPr>
        <p:spPr>
          <a:xfrm>
            <a:off x="5930781" y="2522459"/>
            <a:ext cx="7751088" cy="1351042"/>
          </a:xfrm>
          <a:prstGeom prst="rect">
            <a:avLst/>
          </a:prstGeom>
          <a:noFill/>
          <a:ln/>
        </p:spPr>
        <p:txBody>
          <a:bodyPr wrap="square" rtlCol="0" anchor="t"/>
          <a:lstStyle/>
          <a:p>
            <a:pPr marL="0" indent="0" algn="l">
              <a:lnSpc>
                <a:spcPts val="2799"/>
              </a:lnSpc>
              <a:buNone/>
            </a:pPr>
            <a:r>
              <a:rPr lang="en-US" sz="2000" b="1" i="1" dirty="0">
                <a:solidFill>
                  <a:srgbClr val="3A3630"/>
                </a:solidFill>
                <a:latin typeface="Arial" panose="020B0604020202020204" pitchFamily="34" charset="0"/>
                <a:ea typeface="Source Sans Pro" pitchFamily="34" charset="-122"/>
                <a:cs typeface="Arial" panose="020B0604020202020204" pitchFamily="34" charset="0"/>
              </a:rPr>
              <a:t>The relationship between voltage, current, and resistance in electrical circuits is described by Ohm's </a:t>
            </a:r>
            <a:r>
              <a:rPr lang="en-US" sz="2000" b="1" i="1" dirty="0" smtClean="0">
                <a:solidFill>
                  <a:srgbClr val="3A3630"/>
                </a:solidFill>
                <a:latin typeface="Arial" panose="020B0604020202020204" pitchFamily="34" charset="0"/>
                <a:ea typeface="Source Sans Pro" pitchFamily="34" charset="-122"/>
                <a:cs typeface="Arial" panose="020B0604020202020204" pitchFamily="34" charset="0"/>
              </a:rPr>
              <a:t>law.</a:t>
            </a:r>
            <a:endParaRPr lang="en-US" sz="2000" b="1" i="1" dirty="0">
              <a:solidFill>
                <a:srgbClr val="3A3630"/>
              </a:solidFill>
              <a:latin typeface="Arial" panose="020B0604020202020204" pitchFamily="34" charset="0"/>
              <a:ea typeface="Source Sans Pro" pitchFamily="34" charset="-122"/>
              <a:cs typeface="Arial" panose="020B0604020202020204" pitchFamily="34" charset="0"/>
            </a:endParaRPr>
          </a:p>
          <a:p>
            <a:pPr marL="0" indent="0" algn="l">
              <a:lnSpc>
                <a:spcPts val="2799"/>
              </a:lnSpc>
              <a:buNone/>
            </a:pPr>
            <a:endParaRPr lang="en-US" sz="2000" b="1" i="1" dirty="0" smtClean="0">
              <a:solidFill>
                <a:srgbClr val="3A3630"/>
              </a:solidFill>
              <a:latin typeface="Source Sans Pro" pitchFamily="34" charset="0"/>
              <a:ea typeface="Source Sans Pro" pitchFamily="34" charset="-122"/>
              <a:cs typeface="Source Sans Pro" pitchFamily="34" charset="-120"/>
            </a:endParaRPr>
          </a:p>
          <a:p>
            <a:pPr marL="0" indent="0" algn="l">
              <a:lnSpc>
                <a:spcPts val="2799"/>
              </a:lnSpc>
              <a:buNone/>
            </a:pPr>
            <a:endParaRPr lang="en-US" sz="2000" b="1" i="1" dirty="0" smtClean="0">
              <a:solidFill>
                <a:srgbClr val="3A3630"/>
              </a:solidFill>
              <a:latin typeface="Source Sans Pro" pitchFamily="34" charset="0"/>
              <a:ea typeface="Source Sans Pro" pitchFamily="34" charset="-122"/>
              <a:cs typeface="Source Sans Pro" pitchFamily="34" charset="-120"/>
            </a:endParaRPr>
          </a:p>
          <a:p>
            <a:pPr marL="0" indent="0" algn="l">
              <a:lnSpc>
                <a:spcPts val="2799"/>
              </a:lnSpc>
              <a:buNone/>
            </a:pPr>
            <a:endParaRPr lang="en-US" sz="2000" b="1" i="1" dirty="0"/>
          </a:p>
        </p:txBody>
      </p:sp>
      <p:sp>
        <p:nvSpPr>
          <p:cNvPr id="12" name="Shape 9"/>
          <p:cNvSpPr/>
          <p:nvPr/>
        </p:nvSpPr>
        <p:spPr>
          <a:xfrm>
            <a:off x="5074027" y="4220468"/>
            <a:ext cx="777597" cy="27742"/>
          </a:xfrm>
          <a:prstGeom prst="rect">
            <a:avLst/>
          </a:prstGeom>
          <a:solidFill>
            <a:srgbClr val="38512F"/>
          </a:solidFill>
          <a:ln/>
        </p:spPr>
      </p:sp>
      <p:sp>
        <p:nvSpPr>
          <p:cNvPr id="13" name="Shape 10"/>
          <p:cNvSpPr/>
          <p:nvPr/>
        </p:nvSpPr>
        <p:spPr>
          <a:xfrm>
            <a:off x="4574084" y="3984427"/>
            <a:ext cx="499943" cy="499943"/>
          </a:xfrm>
          <a:prstGeom prst="roundRect">
            <a:avLst>
              <a:gd name="adj" fmla="val 13333"/>
            </a:avLst>
          </a:prstGeom>
          <a:solidFill>
            <a:srgbClr val="F6E9D5"/>
          </a:solidFill>
          <a:ln/>
        </p:spPr>
      </p:sp>
      <p:sp>
        <p:nvSpPr>
          <p:cNvPr id="14" name="Text 11"/>
          <p:cNvSpPr/>
          <p:nvPr/>
        </p:nvSpPr>
        <p:spPr>
          <a:xfrm>
            <a:off x="4734461" y="4026098"/>
            <a:ext cx="179070"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2</a:t>
            </a:r>
            <a:endParaRPr lang="en-US" sz="2624" dirty="0"/>
          </a:p>
        </p:txBody>
      </p:sp>
      <p:sp>
        <p:nvSpPr>
          <p:cNvPr id="15" name="Text 12"/>
          <p:cNvSpPr/>
          <p:nvPr/>
        </p:nvSpPr>
        <p:spPr>
          <a:xfrm>
            <a:off x="5930782" y="3873500"/>
            <a:ext cx="3581518" cy="506690"/>
          </a:xfrm>
          <a:prstGeom prst="rect">
            <a:avLst/>
          </a:prstGeom>
          <a:noFill/>
          <a:ln/>
        </p:spPr>
        <p:txBody>
          <a:bodyPr wrap="none" rtlCol="0" anchor="t"/>
          <a:lstStyle/>
          <a:p>
            <a:pPr marL="0" indent="0" algn="l">
              <a:lnSpc>
                <a:spcPts val="2734"/>
              </a:lnSpc>
              <a:buNone/>
            </a:pPr>
            <a:r>
              <a:rPr lang="en-US" sz="4000" b="1" dirty="0">
                <a:solidFill>
                  <a:srgbClr val="003300"/>
                </a:solidFill>
                <a:latin typeface="Bell MT" panose="02020503060305020303" pitchFamily="18" charset="0"/>
                <a:ea typeface="Lora" pitchFamily="34" charset="-122"/>
                <a:cs typeface="Lora" pitchFamily="34" charset="-120"/>
              </a:rPr>
              <a:t>Time Constants</a:t>
            </a:r>
            <a:endParaRPr lang="en-US" sz="4000" b="1" dirty="0">
              <a:solidFill>
                <a:srgbClr val="003300"/>
              </a:solidFill>
              <a:latin typeface="Bell MT" panose="02020503060305020303" pitchFamily="18" charset="0"/>
            </a:endParaRPr>
          </a:p>
        </p:txBody>
      </p:sp>
      <p:sp>
        <p:nvSpPr>
          <p:cNvPr id="16" name="Text 13"/>
          <p:cNvSpPr/>
          <p:nvPr/>
        </p:nvSpPr>
        <p:spPr>
          <a:xfrm>
            <a:off x="6046113" y="4220469"/>
            <a:ext cx="7751088" cy="1050032"/>
          </a:xfrm>
          <a:prstGeom prst="rect">
            <a:avLst/>
          </a:prstGeom>
          <a:noFill/>
          <a:ln/>
        </p:spPr>
        <p:txBody>
          <a:bodyPr wrap="square" rtlCol="0" anchor="t"/>
          <a:lstStyle/>
          <a:p>
            <a:pPr marL="0" indent="0" algn="l">
              <a:lnSpc>
                <a:spcPts val="2799"/>
              </a:lnSpc>
              <a:buNone/>
            </a:pPr>
            <a:r>
              <a:rPr lang="en-US" b="1" i="1" dirty="0">
                <a:solidFill>
                  <a:srgbClr val="3A3630"/>
                </a:solidFill>
                <a:latin typeface="Arial" panose="020B0604020202020204" pitchFamily="34" charset="0"/>
                <a:ea typeface="Source Sans Pro"/>
                <a:cs typeface="Arial" panose="020B0604020202020204" pitchFamily="34" charset="0"/>
              </a:rPr>
              <a:t>RL circuits exhibit unique time constants that govern the rate of change in current and voltage during transient and steady-state conditions.</a:t>
            </a:r>
            <a:endParaRPr lang="en-US" b="1" i="1" dirty="0">
              <a:latin typeface="Arial" panose="020B0604020202020204" pitchFamily="34" charset="0"/>
              <a:ea typeface="Source Sans Pro"/>
              <a:cs typeface="Arial" panose="020B0604020202020204" pitchFamily="34" charset="0"/>
            </a:endParaRPr>
          </a:p>
        </p:txBody>
      </p:sp>
      <p:sp>
        <p:nvSpPr>
          <p:cNvPr id="17" name="Shape 14"/>
          <p:cNvSpPr/>
          <p:nvPr/>
        </p:nvSpPr>
        <p:spPr>
          <a:xfrm>
            <a:off x="5074027" y="6078200"/>
            <a:ext cx="777597" cy="27742"/>
          </a:xfrm>
          <a:prstGeom prst="rect">
            <a:avLst/>
          </a:prstGeom>
          <a:solidFill>
            <a:srgbClr val="38512F"/>
          </a:solidFill>
          <a:ln/>
        </p:spPr>
      </p:sp>
      <p:sp>
        <p:nvSpPr>
          <p:cNvPr id="18" name="Shape 15"/>
          <p:cNvSpPr/>
          <p:nvPr/>
        </p:nvSpPr>
        <p:spPr>
          <a:xfrm>
            <a:off x="4574084" y="5842159"/>
            <a:ext cx="499943" cy="499943"/>
          </a:xfrm>
          <a:prstGeom prst="roundRect">
            <a:avLst>
              <a:gd name="adj" fmla="val 13333"/>
            </a:avLst>
          </a:prstGeom>
          <a:solidFill>
            <a:srgbClr val="F6E9D5"/>
          </a:solidFill>
          <a:ln/>
        </p:spPr>
      </p:sp>
      <p:sp>
        <p:nvSpPr>
          <p:cNvPr id="19" name="Text 16"/>
          <p:cNvSpPr/>
          <p:nvPr/>
        </p:nvSpPr>
        <p:spPr>
          <a:xfrm>
            <a:off x="4731127" y="5883831"/>
            <a:ext cx="185738"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3</a:t>
            </a:r>
            <a:endParaRPr lang="en-US" sz="2624" dirty="0"/>
          </a:p>
        </p:txBody>
      </p:sp>
      <p:sp>
        <p:nvSpPr>
          <p:cNvPr id="20" name="Text 17"/>
          <p:cNvSpPr/>
          <p:nvPr/>
        </p:nvSpPr>
        <p:spPr>
          <a:xfrm>
            <a:off x="6046113" y="5842159"/>
            <a:ext cx="4621887" cy="395763"/>
          </a:xfrm>
          <a:prstGeom prst="rect">
            <a:avLst/>
          </a:prstGeom>
          <a:noFill/>
          <a:ln/>
        </p:spPr>
        <p:txBody>
          <a:bodyPr wrap="none" rtlCol="0" anchor="t"/>
          <a:lstStyle/>
          <a:p>
            <a:pPr marL="0" indent="0" algn="l">
              <a:lnSpc>
                <a:spcPts val="2734"/>
              </a:lnSpc>
              <a:buNone/>
            </a:pPr>
            <a:r>
              <a:rPr lang="en-US" sz="4000" b="1" dirty="0">
                <a:solidFill>
                  <a:srgbClr val="38512F"/>
                </a:solidFill>
                <a:latin typeface="Bell MT" panose="02020503060305020303" pitchFamily="18" charset="0"/>
                <a:ea typeface="Lora" pitchFamily="34" charset="-122"/>
                <a:cs typeface="Lora" pitchFamily="34" charset="-120"/>
              </a:rPr>
              <a:t>Differential Equations</a:t>
            </a:r>
            <a:endParaRPr lang="en-US" sz="4000" b="1" dirty="0">
              <a:latin typeface="Bell MT" panose="02020503060305020303" pitchFamily="18" charset="0"/>
            </a:endParaRPr>
          </a:p>
        </p:txBody>
      </p:sp>
      <p:sp>
        <p:nvSpPr>
          <p:cNvPr id="21" name="Text 18"/>
          <p:cNvSpPr/>
          <p:nvPr/>
        </p:nvSpPr>
        <p:spPr>
          <a:xfrm>
            <a:off x="6046113" y="6371153"/>
            <a:ext cx="7751088" cy="1147247"/>
          </a:xfrm>
          <a:prstGeom prst="rect">
            <a:avLst/>
          </a:prstGeom>
          <a:noFill/>
          <a:ln/>
        </p:spPr>
        <p:txBody>
          <a:bodyPr wrap="square" rtlCol="0" anchor="t"/>
          <a:lstStyle/>
          <a:p>
            <a:pPr marL="0" indent="0" algn="l">
              <a:lnSpc>
                <a:spcPts val="2799"/>
              </a:lnSpc>
              <a:buNone/>
            </a:pPr>
            <a:r>
              <a:rPr lang="en-US" b="1" i="1" dirty="0">
                <a:solidFill>
                  <a:srgbClr val="3A3630"/>
                </a:solidFill>
                <a:latin typeface="Arial" panose="020B0604020202020204" pitchFamily="34" charset="0"/>
                <a:ea typeface="Source Sans Pro"/>
                <a:cs typeface="Arial" panose="020B0604020202020204" pitchFamily="34" charset="0"/>
              </a:rPr>
              <a:t>The behavior of RL circuits can be </a:t>
            </a:r>
            <a:r>
              <a:rPr lang="en-US" b="1" i="1" dirty="0" smtClean="0">
                <a:solidFill>
                  <a:srgbClr val="3A3630"/>
                </a:solidFill>
                <a:latin typeface="Arial" panose="020B0604020202020204" pitchFamily="34" charset="0"/>
                <a:ea typeface="Source Sans Pro"/>
                <a:cs typeface="Arial" panose="020B0604020202020204" pitchFamily="34" charset="0"/>
              </a:rPr>
              <a:t>describe by </a:t>
            </a:r>
            <a:r>
              <a:rPr lang="en-US" b="1" i="1" dirty="0">
                <a:solidFill>
                  <a:srgbClr val="3A3630"/>
                </a:solidFill>
                <a:latin typeface="Arial" panose="020B0604020202020204" pitchFamily="34" charset="0"/>
                <a:ea typeface="Source Sans Pro"/>
                <a:cs typeface="Arial" panose="020B0604020202020204" pitchFamily="34" charset="0"/>
              </a:rPr>
              <a:t>first-order linear differential </a:t>
            </a:r>
            <a:r>
              <a:rPr lang="en-US" b="1" i="1" dirty="0" smtClean="0">
                <a:solidFill>
                  <a:srgbClr val="3A3630"/>
                </a:solidFill>
                <a:latin typeface="Arial" panose="020B0604020202020204" pitchFamily="34" charset="0"/>
                <a:ea typeface="Source Sans Pro"/>
                <a:cs typeface="Arial" panose="020B0604020202020204" pitchFamily="34" charset="0"/>
              </a:rPr>
              <a:t>equations</a:t>
            </a:r>
            <a:r>
              <a:rPr lang="en-US" b="1" i="1" dirty="0">
                <a:solidFill>
                  <a:srgbClr val="3A3630"/>
                </a:solidFill>
                <a:latin typeface="Arial" panose="020B0604020202020204" pitchFamily="34" charset="0"/>
                <a:ea typeface="Source Sans Pro"/>
                <a:cs typeface="Arial" panose="020B0604020202020204" pitchFamily="34" charset="0"/>
              </a:rPr>
              <a:t> </a:t>
            </a:r>
            <a:r>
              <a:rPr lang="en-US" b="1" i="1" dirty="0" smtClean="0">
                <a:solidFill>
                  <a:srgbClr val="3A3630"/>
                </a:solidFill>
                <a:latin typeface="Arial" panose="020B0604020202020204" pitchFamily="34" charset="0"/>
                <a:ea typeface="Source Sans Pro"/>
                <a:cs typeface="Arial" panose="020B0604020202020204" pitchFamily="34" charset="0"/>
              </a:rPr>
              <a:t>derived from KVL and relationship between voltage, current, inductance.</a:t>
            </a:r>
            <a:endParaRPr lang="en-US" b="1" i="1" dirty="0">
              <a:latin typeface="Arial" panose="020B0604020202020204" pitchFamily="34" charset="0"/>
              <a:ea typeface="Source Sans Pro"/>
              <a:cs typeface="Arial" panose="020B0604020202020204" pitchFamily="34" charset="0"/>
            </a:endParaRPr>
          </a:p>
        </p:txBody>
      </p:sp>
      <p:sp>
        <p:nvSpPr>
          <p:cNvPr id="23" name="TextBox 22"/>
          <p:cNvSpPr txBox="1"/>
          <p:nvPr/>
        </p:nvSpPr>
        <p:spPr>
          <a:xfrm>
            <a:off x="10163453" y="3350280"/>
            <a:ext cx="1663700" cy="523220"/>
          </a:xfrm>
          <a:prstGeom prst="rect">
            <a:avLst/>
          </a:prstGeom>
          <a:noFill/>
        </p:spPr>
        <p:txBody>
          <a:bodyPr wrap="square" rtlCol="0">
            <a:spAutoFit/>
          </a:bodyPr>
          <a:lstStyle/>
          <a:p>
            <a:r>
              <a:rPr lang="en-US" sz="2800" b="1" dirty="0" smtClean="0">
                <a:latin typeface="Gadugi" panose="020B0502040204020203" pitchFamily="34" charset="0"/>
                <a:ea typeface="Gadugi" panose="020B0502040204020203" pitchFamily="34" charset="0"/>
              </a:rPr>
              <a:t>V=IR</a:t>
            </a:r>
            <a:endParaRPr lang="en-US" sz="2800" b="1" dirty="0">
              <a:latin typeface="Gadugi" panose="020B0502040204020203" pitchFamily="34" charset="0"/>
              <a:ea typeface="Gadugi" panose="020B0502040204020203" pitchFamily="34" charset="0"/>
            </a:endParaRPr>
          </a:p>
        </p:txBody>
      </p:sp>
      <mc:AlternateContent xmlns:mc="http://schemas.openxmlformats.org/markup-compatibility/2006" xmlns:a14="http://schemas.microsoft.com/office/drawing/2010/main">
        <mc:Choice Requires="a14">
          <p:sp>
            <p:nvSpPr>
              <p:cNvPr id="24" name="TextBox 23"/>
              <p:cNvSpPr txBox="1"/>
              <p:nvPr/>
            </p:nvSpPr>
            <p:spPr>
              <a:xfrm>
                <a:off x="9960253" y="7161956"/>
                <a:ext cx="2070100" cy="811184"/>
              </a:xfrm>
              <a:prstGeom prst="rect">
                <a:avLst/>
              </a:prstGeom>
              <a:noFill/>
            </p:spPr>
            <p:txBody>
              <a:bodyPr wrap="square" rtlCol="0">
                <a:spAutoFit/>
              </a:bodyPr>
              <a:lstStyle/>
              <a:p>
                <a:r>
                  <a:rPr lang="en-US" sz="3200" b="1" dirty="0" smtClean="0">
                    <a:latin typeface="Gadugi" panose="020B0502040204020203" pitchFamily="34" charset="0"/>
                    <a:ea typeface="Gadugi" panose="020B0502040204020203" pitchFamily="34" charset="0"/>
                  </a:rPr>
                  <a:t>L </a:t>
                </a:r>
                <a14:m>
                  <m:oMath xmlns:m="http://schemas.openxmlformats.org/officeDocument/2006/math">
                    <m:f>
                      <m:fPr>
                        <m:ctrlPr>
                          <a:rPr lang="en-US" sz="3200" b="1" i="1" smtClean="0">
                            <a:latin typeface="Cambria Math"/>
                          </a:rPr>
                        </m:ctrlPr>
                      </m:fPr>
                      <m:num>
                        <m:r>
                          <a:rPr lang="en-US" sz="3200" b="1" i="1" smtClean="0">
                            <a:latin typeface="Cambria Math"/>
                          </a:rPr>
                          <m:t>𝒅𝑰</m:t>
                        </m:r>
                      </m:num>
                      <m:den>
                        <m:r>
                          <a:rPr lang="en-US" sz="3200" b="1" i="1" smtClean="0">
                            <a:latin typeface="Cambria Math"/>
                          </a:rPr>
                          <m:t>𝒅𝒕</m:t>
                        </m:r>
                      </m:den>
                    </m:f>
                  </m:oMath>
                </a14:m>
                <a:r>
                  <a:rPr lang="en-US" sz="3200" b="1" dirty="0" smtClean="0">
                    <a:latin typeface="Gadugi" panose="020B0502040204020203" pitchFamily="34" charset="0"/>
                    <a:ea typeface="Gadugi" panose="020B0502040204020203" pitchFamily="34" charset="0"/>
                  </a:rPr>
                  <a:t>+RI=V</a:t>
                </a:r>
                <a:endParaRPr lang="en-US" sz="3200" b="1" dirty="0">
                  <a:latin typeface="Gadugi" panose="020B0502040204020203" pitchFamily="34" charset="0"/>
                  <a:ea typeface="Gadugi" panose="020B0502040204020203" pitchFamily="34"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9960253" y="7161956"/>
                <a:ext cx="2070100" cy="811184"/>
              </a:xfrm>
              <a:prstGeom prst="rect">
                <a:avLst/>
              </a:prstGeom>
              <a:blipFill rotWithShape="1">
                <a:blip r:embed="rId4"/>
                <a:stretch>
                  <a:fillRect l="-7670" r="-7375" b="-9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0154206" y="4954865"/>
                <a:ext cx="1828800" cy="799001"/>
              </a:xfrm>
              <a:prstGeom prst="rect">
                <a:avLst/>
              </a:prstGeom>
              <a:noFill/>
            </p:spPr>
            <p:txBody>
              <a:bodyPr wrap="square" rtlCol="0">
                <a:spAutoFit/>
              </a:bodyPr>
              <a:lstStyle/>
              <a:p>
                <a:r>
                  <a:rPr lang="en-US" sz="3200" b="1" dirty="0" smtClean="0">
                    <a:latin typeface="Gadugi" panose="020B0502040204020203" pitchFamily="34" charset="0"/>
                    <a:ea typeface="Gadugi" panose="020B0502040204020203" pitchFamily="34" charset="0"/>
                  </a:rPr>
                  <a:t>T=</a:t>
                </a:r>
                <a14:m>
                  <m:oMath xmlns:m="http://schemas.openxmlformats.org/officeDocument/2006/math">
                    <m:f>
                      <m:fPr>
                        <m:ctrlPr>
                          <a:rPr lang="en-US" sz="3200" b="1" i="1" smtClean="0">
                            <a:latin typeface="Cambria Math"/>
                          </a:rPr>
                        </m:ctrlPr>
                      </m:fPr>
                      <m:num>
                        <m:r>
                          <a:rPr lang="en-US" sz="3200" b="1" i="1" smtClean="0">
                            <a:latin typeface="Cambria Math"/>
                          </a:rPr>
                          <m:t>𝑳</m:t>
                        </m:r>
                      </m:num>
                      <m:den>
                        <m:r>
                          <a:rPr lang="en-US" sz="3200" b="1" i="1" smtClean="0">
                            <a:latin typeface="Cambria Math"/>
                          </a:rPr>
                          <m:t>𝑹</m:t>
                        </m:r>
                      </m:den>
                    </m:f>
                  </m:oMath>
                </a14:m>
                <a:endParaRPr lang="en-US" sz="3200" b="1" dirty="0">
                  <a:latin typeface="Gadugi" panose="020B0502040204020203" pitchFamily="34" charset="0"/>
                  <a:ea typeface="Gadugi" panose="020B0502040204020203" pitchFamily="34"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10154206" y="4954865"/>
                <a:ext cx="1828800" cy="799001"/>
              </a:xfrm>
              <a:prstGeom prst="rect">
                <a:avLst/>
              </a:prstGeom>
              <a:blipFill rotWithShape="1">
                <a:blip r:embed="rId5"/>
                <a:stretch>
                  <a:fillRect l="-8667" b="-9924"/>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29208" y="0"/>
            <a:ext cx="14630400" cy="8229600"/>
          </a:xfrm>
          <a:prstGeom prst="rect">
            <a:avLst/>
          </a:prstGeom>
          <a:solidFill>
            <a:srgbClr val="FEF5E7"/>
          </a:solidFill>
          <a:ln/>
        </p:spPr>
        <p:txBody>
          <a:bodyPr/>
          <a:lstStyle/>
          <a:p>
            <a:endParaRPr lang="en-US"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8" y="318824"/>
            <a:ext cx="7477601" cy="1388745"/>
          </a:xfrm>
          <a:prstGeom prst="rect">
            <a:avLst/>
          </a:prstGeom>
          <a:noFill/>
          <a:ln/>
        </p:spPr>
        <p:txBody>
          <a:bodyPr wrap="square" rtlCol="0" anchor="t"/>
          <a:lstStyle/>
          <a:p>
            <a:pPr marL="0" indent="0">
              <a:lnSpc>
                <a:spcPts val="5468"/>
              </a:lnSpc>
              <a:buNone/>
            </a:pPr>
            <a:r>
              <a:rPr lang="en-US" sz="4800" b="1" u="sng" dirty="0">
                <a:solidFill>
                  <a:srgbClr val="38512F"/>
                </a:solidFill>
                <a:effectLst>
                  <a:outerShdw blurRad="38100" dist="38100" dir="2700000" algn="tl">
                    <a:srgbClr val="000000">
                      <a:alpha val="43137"/>
                    </a:srgbClr>
                  </a:outerShdw>
                </a:effectLst>
                <a:latin typeface="Algerian" panose="04020705040A02060702" pitchFamily="82" charset="0"/>
                <a:ea typeface="Lora" pitchFamily="34" charset="-122"/>
                <a:cs typeface="Lora" pitchFamily="34" charset="-120"/>
              </a:rPr>
              <a:t>RL Circuit Behavior and Characteristics</a:t>
            </a:r>
            <a:endParaRPr lang="en-US" sz="4800" b="1" u="sng" dirty="0">
              <a:effectLst>
                <a:outerShdw blurRad="38100" dist="38100" dir="2700000" algn="tl">
                  <a:srgbClr val="000000">
                    <a:alpha val="43137"/>
                  </a:srgbClr>
                </a:outerShdw>
              </a:effectLst>
              <a:latin typeface="Algerian" panose="04020705040A02060702" pitchFamily="82" charset="0"/>
            </a:endParaRPr>
          </a:p>
        </p:txBody>
      </p:sp>
      <p:sp>
        <p:nvSpPr>
          <p:cNvPr id="6" name="Text 3"/>
          <p:cNvSpPr/>
          <p:nvPr/>
        </p:nvSpPr>
        <p:spPr>
          <a:xfrm>
            <a:off x="833199" y="3606879"/>
            <a:ext cx="7477601" cy="2323274"/>
          </a:xfrm>
          <a:prstGeom prst="rect">
            <a:avLst/>
          </a:prstGeom>
          <a:noFill/>
          <a:ln/>
        </p:spPr>
        <p:txBody>
          <a:bodyPr wrap="square" rtlCol="0" anchor="t"/>
          <a:lstStyle/>
          <a:p>
            <a:pPr marL="0" indent="0">
              <a:lnSpc>
                <a:spcPts val="2799"/>
              </a:lnSpc>
              <a:buNone/>
            </a:pPr>
            <a:endParaRPr lang="en-US" sz="1750" b="1" dirty="0">
              <a:solidFill>
                <a:srgbClr val="3A3630"/>
              </a:solidFill>
              <a:latin typeface="Source Sans Pro" pitchFamily="34" charset="0"/>
              <a:ea typeface="Source Sans Pro" pitchFamily="34" charset="-122"/>
            </a:endParaRPr>
          </a:p>
          <a:p>
            <a:pPr marL="0" indent="0">
              <a:lnSpc>
                <a:spcPts val="2799"/>
              </a:lnSpc>
              <a:buNone/>
            </a:pPr>
            <a:endParaRPr lang="en-US" sz="1750" b="1" dirty="0"/>
          </a:p>
        </p:txBody>
      </p:sp>
      <p:sp>
        <p:nvSpPr>
          <p:cNvPr id="7" name="Text 4"/>
          <p:cNvSpPr/>
          <p:nvPr/>
        </p:nvSpPr>
        <p:spPr>
          <a:xfrm>
            <a:off x="537364" y="2026393"/>
            <a:ext cx="7477601" cy="4553255"/>
          </a:xfrm>
          <a:prstGeom prst="rect">
            <a:avLst/>
          </a:prstGeom>
          <a:noFill/>
          <a:ln/>
        </p:spPr>
        <p:txBody>
          <a:bodyPr wrap="square" rtlCol="0" anchor="t"/>
          <a:lstStyle/>
          <a:p>
            <a:pPr>
              <a:lnSpc>
                <a:spcPts val="2799"/>
              </a:lnSpc>
            </a:pPr>
            <a:r>
              <a:rPr lang="en-US" sz="3200" b="1" dirty="0" smtClean="0">
                <a:latin typeface="Gadugi" panose="020B0502040204020203" pitchFamily="34" charset="0"/>
                <a:ea typeface="Gadugi" panose="020B0502040204020203" pitchFamily="34" charset="0"/>
              </a:rPr>
              <a:t> </a:t>
            </a:r>
          </a:p>
          <a:p>
            <a:pPr marL="342900" indent="-342900">
              <a:lnSpc>
                <a:spcPts val="2799"/>
              </a:lnSpc>
              <a:buFont typeface="Wingdings" panose="05000000000000000000" pitchFamily="2" charset="2"/>
              <a:buChar char="Ø"/>
            </a:pPr>
            <a:r>
              <a:rPr lang="en-US" sz="3600" b="1" dirty="0" smtClean="0">
                <a:latin typeface="Algerian" panose="04020705040A02060702" pitchFamily="82" charset="0"/>
                <a:ea typeface="Gadugi" panose="020B0502040204020203" pitchFamily="34" charset="0"/>
              </a:rPr>
              <a:t>Behavior</a:t>
            </a:r>
            <a:r>
              <a:rPr lang="en-US" sz="3600" b="1" dirty="0" smtClean="0">
                <a:latin typeface="Gadugi" panose="020B0502040204020203" pitchFamily="34" charset="0"/>
                <a:ea typeface="Gadugi" panose="020B0502040204020203" pitchFamily="34" charset="0"/>
              </a:rPr>
              <a:t> :           </a:t>
            </a:r>
            <a:endParaRPr lang="en-US" sz="3200" b="1" dirty="0" smtClean="0">
              <a:latin typeface="Gadugi" panose="020B0502040204020203" pitchFamily="34" charset="0"/>
              <a:ea typeface="Gadugi" panose="020B0502040204020203" pitchFamily="34" charset="0"/>
            </a:endParaRPr>
          </a:p>
          <a:p>
            <a:pPr marL="342900" indent="-342900">
              <a:lnSpc>
                <a:spcPts val="2799"/>
              </a:lnSpc>
              <a:buFont typeface="Wingdings" panose="05000000000000000000" pitchFamily="2" charset="2"/>
              <a:buChar char="Ø"/>
            </a:pPr>
            <a:endParaRPr lang="en-US" sz="2400" b="1" dirty="0" smtClean="0">
              <a:latin typeface="Gadugi" panose="020B0502040204020203" pitchFamily="34" charset="0"/>
              <a:ea typeface="Gadugi" panose="020B0502040204020203" pitchFamily="34" charset="0"/>
            </a:endParaRPr>
          </a:p>
          <a:p>
            <a:pPr marL="342900" indent="-342900">
              <a:lnSpc>
                <a:spcPts val="2799"/>
              </a:lnSpc>
              <a:buFont typeface="Wingdings" panose="05000000000000000000" pitchFamily="2" charset="2"/>
              <a:buChar char="Ø"/>
            </a:pPr>
            <a:endParaRPr lang="en-US" sz="2400" b="1" dirty="0">
              <a:latin typeface="Gadugi" panose="020B0502040204020203" pitchFamily="34" charset="0"/>
              <a:ea typeface="Gadugi" panose="020B0502040204020203" pitchFamily="34" charset="0"/>
            </a:endParaRPr>
          </a:p>
          <a:p>
            <a:pPr marL="342900" indent="-342900">
              <a:lnSpc>
                <a:spcPts val="2799"/>
              </a:lnSpc>
              <a:buFont typeface="Wingdings" panose="05000000000000000000" pitchFamily="2" charset="2"/>
              <a:buChar char="Ø"/>
            </a:pPr>
            <a:endParaRPr lang="en-US" sz="2400" b="1" dirty="0" smtClean="0">
              <a:latin typeface="Gadugi" panose="020B0502040204020203" pitchFamily="34" charset="0"/>
              <a:ea typeface="Gadugi" panose="020B0502040204020203" pitchFamily="34" charset="0"/>
            </a:endParaRPr>
          </a:p>
          <a:p>
            <a:pPr marL="342900" indent="-342900">
              <a:lnSpc>
                <a:spcPts val="2799"/>
              </a:lnSpc>
              <a:buFont typeface="Wingdings" panose="05000000000000000000" pitchFamily="2" charset="2"/>
              <a:buChar char="Ø"/>
            </a:pPr>
            <a:endParaRPr lang="en-US" sz="2800" b="1" dirty="0" smtClean="0">
              <a:latin typeface="Algerian" panose="04020705040A02060702" pitchFamily="82" charset="0"/>
              <a:ea typeface="Gadugi" panose="020B0502040204020203" pitchFamily="34" charset="0"/>
            </a:endParaRPr>
          </a:p>
          <a:p>
            <a:pPr marL="342900" indent="-342900">
              <a:lnSpc>
                <a:spcPts val="2799"/>
              </a:lnSpc>
              <a:buFont typeface="Wingdings" panose="05000000000000000000" pitchFamily="2" charset="2"/>
              <a:buChar char="Ø"/>
            </a:pPr>
            <a:endParaRPr lang="en-US" sz="2800" b="1" dirty="0">
              <a:latin typeface="Algerian" panose="04020705040A02060702" pitchFamily="82" charset="0"/>
              <a:ea typeface="Gadugi" panose="020B0502040204020203" pitchFamily="34" charset="0"/>
            </a:endParaRPr>
          </a:p>
          <a:p>
            <a:pPr marL="342900" indent="-342900">
              <a:lnSpc>
                <a:spcPts val="2799"/>
              </a:lnSpc>
              <a:buFont typeface="Wingdings" panose="05000000000000000000" pitchFamily="2" charset="2"/>
              <a:buChar char="Ø"/>
            </a:pPr>
            <a:r>
              <a:rPr lang="en-US" sz="2800" b="1" dirty="0" smtClean="0">
                <a:latin typeface="Algerian" panose="04020705040A02060702" pitchFamily="82" charset="0"/>
                <a:ea typeface="Gadugi" panose="020B0502040204020203" pitchFamily="34" charset="0"/>
              </a:rPr>
              <a:t>Characteristics</a:t>
            </a:r>
            <a:r>
              <a:rPr lang="en-US" sz="2800" b="1" dirty="0" smtClean="0">
                <a:latin typeface="Gadugi" panose="020B0502040204020203" pitchFamily="34" charset="0"/>
                <a:ea typeface="Gadugi" panose="020B0502040204020203" pitchFamily="34" charset="0"/>
              </a:rPr>
              <a:t>:</a:t>
            </a:r>
          </a:p>
          <a:p>
            <a:pPr>
              <a:lnSpc>
                <a:spcPts val="2799"/>
              </a:lnSpc>
            </a:pPr>
            <a:endParaRPr lang="en-US" sz="2400" b="1" dirty="0" smtClean="0">
              <a:latin typeface="Gadugi" panose="020B0502040204020203" pitchFamily="34" charset="0"/>
              <a:ea typeface="Gadugi" panose="020B0502040204020203" pitchFamily="34" charset="0"/>
            </a:endParaRPr>
          </a:p>
        </p:txBody>
      </p:sp>
      <p:sp>
        <p:nvSpPr>
          <p:cNvPr id="8" name="TextBox 7"/>
          <p:cNvSpPr txBox="1"/>
          <p:nvPr/>
        </p:nvSpPr>
        <p:spPr>
          <a:xfrm>
            <a:off x="1381538" y="3037582"/>
            <a:ext cx="4452730" cy="1077218"/>
          </a:xfrm>
          <a:prstGeom prst="rect">
            <a:avLst/>
          </a:prstGeom>
          <a:noFill/>
        </p:spPr>
        <p:txBody>
          <a:bodyPr wrap="square" rtlCol="0">
            <a:spAutoFit/>
          </a:bodyPr>
          <a:lstStyle/>
          <a:p>
            <a:pPr marL="342900" indent="-342900">
              <a:buFont typeface="Arial" panose="020B0604020202020204" pitchFamily="34" charset="0"/>
              <a:buChar char="•"/>
            </a:pPr>
            <a:r>
              <a:rPr lang="en-US" sz="3200" dirty="0" smtClean="0">
                <a:latin typeface="Baskerville Old Face" panose="02020602080505020303" pitchFamily="18" charset="0"/>
                <a:ea typeface="Gadugi" panose="020B0502040204020203" pitchFamily="34" charset="0"/>
              </a:rPr>
              <a:t>Inductor’s Role </a:t>
            </a:r>
          </a:p>
          <a:p>
            <a:pPr marL="342900" indent="-342900">
              <a:buFont typeface="Arial" panose="020B0604020202020204" pitchFamily="34" charset="0"/>
              <a:buChar char="•"/>
            </a:pPr>
            <a:r>
              <a:rPr lang="en-US" sz="3200" dirty="0" smtClean="0">
                <a:latin typeface="Baskerville Old Face" panose="02020602080505020303" pitchFamily="18" charset="0"/>
                <a:ea typeface="Gadugi" panose="020B0502040204020203" pitchFamily="34" charset="0"/>
              </a:rPr>
              <a:t>Resistor’s Role            </a:t>
            </a:r>
            <a:endParaRPr lang="en-US" sz="3200" dirty="0">
              <a:latin typeface="Baskerville Old Face" panose="02020602080505020303" pitchFamily="18" charset="0"/>
              <a:ea typeface="Gadugi" panose="020B0502040204020203" pitchFamily="34" charset="0"/>
            </a:endParaRPr>
          </a:p>
        </p:txBody>
      </p:sp>
      <p:sp>
        <p:nvSpPr>
          <p:cNvPr id="9" name="TextBox 8"/>
          <p:cNvSpPr txBox="1"/>
          <p:nvPr/>
        </p:nvSpPr>
        <p:spPr>
          <a:xfrm>
            <a:off x="1461052" y="5194653"/>
            <a:ext cx="3816626"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Baskerville Old Face" panose="02020602080505020303" pitchFamily="18" charset="0"/>
                <a:ea typeface="Gadugi" panose="020B0502040204020203" pitchFamily="34" charset="0"/>
              </a:rPr>
              <a:t>Time Delay </a:t>
            </a:r>
            <a:endParaRPr lang="en-US" sz="3200" dirty="0" smtClean="0">
              <a:latin typeface="Baskerville Old Face" panose="02020602080505020303" pitchFamily="18" charset="0"/>
              <a:ea typeface="Gadugi" panose="020B0502040204020203" pitchFamily="34" charset="0"/>
            </a:endParaRPr>
          </a:p>
          <a:p>
            <a:pPr marL="285750" indent="-285750">
              <a:buFont typeface="Arial" panose="020B0604020202020204" pitchFamily="34" charset="0"/>
              <a:buChar char="•"/>
            </a:pPr>
            <a:r>
              <a:rPr lang="en-US" sz="3200" dirty="0" smtClean="0">
                <a:latin typeface="Baskerville Old Face" panose="02020602080505020303" pitchFamily="18" charset="0"/>
                <a:ea typeface="Gadugi" panose="020B0502040204020203" pitchFamily="34" charset="0"/>
              </a:rPr>
              <a:t>Energy </a:t>
            </a:r>
            <a:r>
              <a:rPr lang="en-US" sz="3200" dirty="0" smtClean="0">
                <a:latin typeface="Baskerville Old Face" panose="02020602080505020303" pitchFamily="18" charset="0"/>
                <a:ea typeface="Gadugi" panose="020B0502040204020203" pitchFamily="34" charset="0"/>
              </a:rPr>
              <a:t>Storage</a:t>
            </a:r>
          </a:p>
          <a:p>
            <a:pPr marL="285750" indent="-285750">
              <a:buFont typeface="Arial" panose="020B0604020202020204" pitchFamily="34" charset="0"/>
              <a:buChar char="•"/>
            </a:pPr>
            <a:r>
              <a:rPr lang="en-US" sz="3200" dirty="0" smtClean="0">
                <a:latin typeface="Baskerville Old Face" panose="02020602080505020303" pitchFamily="18" charset="0"/>
                <a:ea typeface="Gadugi" panose="020B0502040204020203" pitchFamily="34" charset="0"/>
              </a:rPr>
              <a:t>Smooth Flow </a:t>
            </a:r>
            <a:endParaRPr lang="en-US" sz="3200" dirty="0">
              <a:latin typeface="Baskerville Old Face" panose="02020602080505020303" pitchFamily="18" charset="0"/>
              <a:ea typeface="Gadugi" panose="020B0502040204020203"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954"/>
            <a:ext cx="14630400" cy="8230553"/>
          </a:xfrm>
          <a:prstGeom prst="rect">
            <a:avLst/>
          </a:prstGeom>
          <a:solidFill>
            <a:srgbClr val="FEF5E7"/>
          </a:solidFill>
          <a:ln/>
        </p:spPr>
        <p:txBody>
          <a:bodyPr/>
          <a:lstStyle/>
          <a:p>
            <a:endParaRPr lang="en-US" dirty="0"/>
          </a:p>
        </p:txBody>
      </p:sp>
      <p:pic>
        <p:nvPicPr>
          <p:cNvPr id="4" name="Image 0" descr="preencoded.png"/>
          <p:cNvPicPr>
            <a:picLocks noChangeAspect="1"/>
          </p:cNvPicPr>
          <p:nvPr/>
        </p:nvPicPr>
        <p:blipFill>
          <a:blip r:embed="rId3"/>
          <a:stretch>
            <a:fillRect/>
          </a:stretch>
        </p:blipFill>
        <p:spPr>
          <a:xfrm>
            <a:off x="0" y="0"/>
            <a:ext cx="14630400" cy="2516505"/>
          </a:xfrm>
          <a:prstGeom prst="rect">
            <a:avLst/>
          </a:prstGeom>
        </p:spPr>
      </p:pic>
      <p:sp>
        <p:nvSpPr>
          <p:cNvPr id="5" name="Text 2"/>
          <p:cNvSpPr/>
          <p:nvPr/>
        </p:nvSpPr>
        <p:spPr>
          <a:xfrm>
            <a:off x="2815113" y="2786231"/>
            <a:ext cx="5328425" cy="912803"/>
          </a:xfrm>
          <a:prstGeom prst="rect">
            <a:avLst/>
          </a:prstGeom>
          <a:noFill/>
          <a:ln/>
        </p:spPr>
        <p:txBody>
          <a:bodyPr wrap="none" rtlCol="0" anchor="t"/>
          <a:lstStyle/>
          <a:p>
            <a:pPr marL="0" indent="0">
              <a:lnSpc>
                <a:spcPts val="4954"/>
              </a:lnSpc>
              <a:buNone/>
            </a:pPr>
            <a:r>
              <a:rPr lang="en-US" sz="4000" b="1" i="1" u="sng" dirty="0">
                <a:solidFill>
                  <a:srgbClr val="38512F"/>
                </a:solidFill>
                <a:effectLst>
                  <a:outerShdw blurRad="38100" dist="38100" dir="2700000" algn="tl">
                    <a:srgbClr val="000000">
                      <a:alpha val="43137"/>
                    </a:srgbClr>
                  </a:outerShdw>
                </a:effectLst>
                <a:latin typeface="Arial" panose="020B0604020202020204" pitchFamily="34" charset="0"/>
                <a:ea typeface="Lora" pitchFamily="34" charset="-122"/>
                <a:cs typeface="Arial" panose="020B0604020202020204" pitchFamily="34" charset="0"/>
              </a:rPr>
              <a:t>Transient</a:t>
            </a:r>
            <a:r>
              <a:rPr lang="en-US" sz="4000" b="1" i="1" dirty="0">
                <a:solidFill>
                  <a:srgbClr val="38512F"/>
                </a:solidFill>
                <a:effectLst>
                  <a:outerShdw blurRad="38100" dist="38100" dir="2700000" algn="tl">
                    <a:srgbClr val="000000">
                      <a:alpha val="43137"/>
                    </a:srgbClr>
                  </a:outerShdw>
                </a:effectLst>
                <a:latin typeface="Arial" panose="020B0604020202020204" pitchFamily="34" charset="0"/>
                <a:ea typeface="Lora" pitchFamily="34" charset="-122"/>
                <a:cs typeface="Arial" panose="020B0604020202020204" pitchFamily="34" charset="0"/>
              </a:rPr>
              <a:t> </a:t>
            </a:r>
            <a:r>
              <a:rPr lang="en-US" sz="4000" b="1" i="1" u="sng" dirty="0">
                <a:solidFill>
                  <a:srgbClr val="38512F"/>
                </a:solidFill>
                <a:effectLst>
                  <a:outerShdw blurRad="38100" dist="38100" dir="2700000" algn="tl">
                    <a:srgbClr val="000000">
                      <a:alpha val="43137"/>
                    </a:srgbClr>
                  </a:outerShdw>
                </a:effectLst>
                <a:latin typeface="Arial" panose="020B0604020202020204" pitchFamily="34" charset="0"/>
                <a:ea typeface="Lora" pitchFamily="34" charset="-122"/>
                <a:cs typeface="Arial" panose="020B0604020202020204" pitchFamily="34" charset="0"/>
              </a:rPr>
              <a:t>Analysis</a:t>
            </a:r>
            <a:endParaRPr lang="en-US" sz="4000" b="1"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4"/>
          <a:stretch>
            <a:fillRect/>
          </a:stretch>
        </p:blipFill>
        <p:spPr>
          <a:xfrm>
            <a:off x="1911472" y="4000976"/>
            <a:ext cx="3000018" cy="805220"/>
          </a:xfrm>
          <a:prstGeom prst="rect">
            <a:avLst/>
          </a:prstGeom>
        </p:spPr>
      </p:pic>
      <p:sp>
        <p:nvSpPr>
          <p:cNvPr id="7" name="Text 3"/>
          <p:cNvSpPr/>
          <p:nvPr/>
        </p:nvSpPr>
        <p:spPr>
          <a:xfrm>
            <a:off x="2076227" y="4948518"/>
            <a:ext cx="2689411" cy="474183"/>
          </a:xfrm>
          <a:prstGeom prst="rect">
            <a:avLst/>
          </a:prstGeom>
          <a:noFill/>
          <a:ln/>
        </p:spPr>
        <p:txBody>
          <a:bodyPr wrap="none" rtlCol="0" anchor="t"/>
          <a:lstStyle/>
          <a:p>
            <a:pPr marL="0" indent="0" algn="l">
              <a:lnSpc>
                <a:spcPts val="2477"/>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Initial Conditions</a:t>
            </a:r>
            <a:endParaRPr lang="en-US" sz="2400" b="1" dirty="0">
              <a:latin typeface="Gadugi" panose="020B0502040204020203" pitchFamily="34" charset="0"/>
              <a:ea typeface="Gadugi" panose="020B0502040204020203" pitchFamily="34" charset="0"/>
            </a:endParaRPr>
          </a:p>
        </p:txBody>
      </p:sp>
      <p:sp>
        <p:nvSpPr>
          <p:cNvPr id="8" name="Text 4"/>
          <p:cNvSpPr/>
          <p:nvPr/>
        </p:nvSpPr>
        <p:spPr>
          <a:xfrm>
            <a:off x="2076228" y="5543430"/>
            <a:ext cx="3076685" cy="2438743"/>
          </a:xfrm>
          <a:prstGeom prst="rect">
            <a:avLst/>
          </a:prstGeom>
          <a:noFill/>
          <a:ln/>
        </p:spPr>
        <p:txBody>
          <a:bodyPr wrap="square" rtlCol="0" anchor="t"/>
          <a:lstStyle/>
          <a:p>
            <a:pPr marL="0" indent="0" algn="l">
              <a:lnSpc>
                <a:spcPts val="2536"/>
              </a:lnSpc>
              <a:buNone/>
            </a:pP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Identify the initial conditions of the RL circuit, such as the initial current in the inductor and the initial voltage across the capacitor</a:t>
            </a:r>
            <a:r>
              <a:rPr lang="en-US" sz="2000" b="1"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a:t>
            </a:r>
            <a:endParaRPr lang="en-US" sz="2000" b="1" dirty="0">
              <a:latin typeface="Segoe UI Semibold" panose="020B0702040204020203" pitchFamily="34" charset="0"/>
              <a:cs typeface="Segoe UI Semibold" panose="020B0702040204020203" pitchFamily="34" charset="0"/>
            </a:endParaRPr>
          </a:p>
        </p:txBody>
      </p:sp>
      <p:pic>
        <p:nvPicPr>
          <p:cNvPr id="9" name="Image 2" descr="preencoded.png"/>
          <p:cNvPicPr>
            <a:picLocks noChangeAspect="1"/>
          </p:cNvPicPr>
          <p:nvPr/>
        </p:nvPicPr>
        <p:blipFill>
          <a:blip r:embed="rId5"/>
          <a:stretch>
            <a:fillRect/>
          </a:stretch>
        </p:blipFill>
        <p:spPr>
          <a:xfrm>
            <a:off x="5815132" y="4000976"/>
            <a:ext cx="3000018" cy="805220"/>
          </a:xfrm>
          <a:prstGeom prst="rect">
            <a:avLst/>
          </a:prstGeom>
        </p:spPr>
      </p:pic>
      <p:sp>
        <p:nvSpPr>
          <p:cNvPr id="10" name="Text 5"/>
          <p:cNvSpPr/>
          <p:nvPr/>
        </p:nvSpPr>
        <p:spPr>
          <a:xfrm>
            <a:off x="5815133" y="4948518"/>
            <a:ext cx="3113714" cy="474183"/>
          </a:xfrm>
          <a:prstGeom prst="rect">
            <a:avLst/>
          </a:prstGeom>
          <a:noFill/>
          <a:ln/>
        </p:spPr>
        <p:txBody>
          <a:bodyPr wrap="none" rtlCol="0" anchor="t"/>
          <a:lstStyle/>
          <a:p>
            <a:pPr marL="0" indent="0" algn="l">
              <a:lnSpc>
                <a:spcPts val="2477"/>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Differential Equation</a:t>
            </a:r>
            <a:endParaRPr lang="en-US" sz="2400" b="1" dirty="0">
              <a:latin typeface="Gadugi" panose="020B0502040204020203" pitchFamily="34" charset="0"/>
              <a:ea typeface="Gadugi" panose="020B0502040204020203" pitchFamily="34" charset="0"/>
            </a:endParaRPr>
          </a:p>
        </p:txBody>
      </p:sp>
      <p:sp>
        <p:nvSpPr>
          <p:cNvPr id="11" name="Text 6"/>
          <p:cNvSpPr/>
          <p:nvPr/>
        </p:nvSpPr>
        <p:spPr>
          <a:xfrm>
            <a:off x="6016347" y="5543431"/>
            <a:ext cx="2597587" cy="2051468"/>
          </a:xfrm>
          <a:prstGeom prst="rect">
            <a:avLst/>
          </a:prstGeom>
          <a:noFill/>
          <a:ln/>
        </p:spPr>
        <p:txBody>
          <a:bodyPr wrap="square" rtlCol="0" anchor="t"/>
          <a:lstStyle/>
          <a:p>
            <a:pPr>
              <a:lnSpc>
                <a:spcPts val="2536"/>
              </a:lnSpc>
            </a:pPr>
            <a:r>
              <a:rPr lang="en-US" sz="2000" dirty="0">
                <a:latin typeface="Segoe UI Semibold" panose="020B0702040204020203" pitchFamily="34" charset="0"/>
                <a:cs typeface="Segoe UI Semibold" panose="020B0702040204020203" pitchFamily="34" charset="0"/>
              </a:rPr>
              <a:t>Set up the differential equation that describes the behavior of the RL circuit during the transient state.</a:t>
            </a:r>
          </a:p>
          <a:p>
            <a:pPr>
              <a:lnSpc>
                <a:spcPts val="2536"/>
              </a:lnSpc>
            </a:pPr>
            <a:endParaRPr lang="en-US" sz="2000" i="1" dirty="0">
              <a:latin typeface="Segoe UI Semibold" panose="020B0702040204020203" pitchFamily="34" charset="0"/>
              <a:cs typeface="Segoe UI Semibold" panose="020B0702040204020203" pitchFamily="34" charset="0"/>
            </a:endParaRPr>
          </a:p>
        </p:txBody>
      </p:sp>
      <p:pic>
        <p:nvPicPr>
          <p:cNvPr id="12" name="Image 3" descr="preencoded.png"/>
          <p:cNvPicPr>
            <a:picLocks noChangeAspect="1"/>
          </p:cNvPicPr>
          <p:nvPr/>
        </p:nvPicPr>
        <p:blipFill>
          <a:blip r:embed="rId6"/>
          <a:stretch>
            <a:fillRect/>
          </a:stretch>
        </p:blipFill>
        <p:spPr>
          <a:xfrm>
            <a:off x="9675761" y="4000976"/>
            <a:ext cx="3000137" cy="805220"/>
          </a:xfrm>
          <a:prstGeom prst="rect">
            <a:avLst/>
          </a:prstGeom>
        </p:spPr>
      </p:pic>
      <p:sp>
        <p:nvSpPr>
          <p:cNvPr id="13" name="Text 7"/>
          <p:cNvSpPr/>
          <p:nvPr/>
        </p:nvSpPr>
        <p:spPr>
          <a:xfrm>
            <a:off x="9675761" y="4948518"/>
            <a:ext cx="3190384" cy="474183"/>
          </a:xfrm>
          <a:prstGeom prst="rect">
            <a:avLst/>
          </a:prstGeom>
          <a:noFill/>
          <a:ln/>
        </p:spPr>
        <p:txBody>
          <a:bodyPr wrap="none" rtlCol="0" anchor="t"/>
          <a:lstStyle/>
          <a:p>
            <a:pPr marL="0" indent="0" algn="l">
              <a:lnSpc>
                <a:spcPts val="2477"/>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Solving the Equation</a:t>
            </a:r>
            <a:endParaRPr lang="en-US" sz="2400" b="1" dirty="0">
              <a:latin typeface="Gadugi" panose="020B0502040204020203" pitchFamily="34" charset="0"/>
              <a:ea typeface="Gadugi" panose="020B0502040204020203" pitchFamily="34" charset="0"/>
            </a:endParaRPr>
          </a:p>
        </p:txBody>
      </p:sp>
      <p:sp>
        <p:nvSpPr>
          <p:cNvPr id="14" name="Text 8"/>
          <p:cNvSpPr/>
          <p:nvPr/>
        </p:nvSpPr>
        <p:spPr>
          <a:xfrm>
            <a:off x="9675761" y="5543431"/>
            <a:ext cx="3190384" cy="1932384"/>
          </a:xfrm>
          <a:prstGeom prst="rect">
            <a:avLst/>
          </a:prstGeom>
          <a:noFill/>
          <a:ln/>
        </p:spPr>
        <p:txBody>
          <a:bodyPr wrap="square" rtlCol="0" anchor="t"/>
          <a:lstStyle/>
          <a:p>
            <a:pPr>
              <a:lnSpc>
                <a:spcPts val="2536"/>
              </a:lnSpc>
            </a:pPr>
            <a:r>
              <a:rPr lang="en-US" sz="2000" dirty="0">
                <a:latin typeface="Segoe UI Semibold" panose="020B0702040204020203" pitchFamily="34" charset="0"/>
                <a:cs typeface="Segoe UI Semibold" panose="020B0702040204020203" pitchFamily="34" charset="0"/>
              </a:rPr>
              <a:t>Use analytical methods or numerical techniques to solve the differential equation and find the time-domain expressions for current and voltage.</a:t>
            </a:r>
          </a:p>
          <a:p>
            <a:pPr marL="0" indent="0" algn="l">
              <a:lnSpc>
                <a:spcPts val="2536"/>
              </a:lnSpc>
              <a:buNone/>
            </a:pPr>
            <a:endParaRPr lang="en-US" sz="2000" dirty="0">
              <a:latin typeface="Segoe UI Semibold" panose="020B0702040204020203" pitchFamily="34" charset="0"/>
              <a:cs typeface="Segoe UI Semibold" panose="020B0702040204020203"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678299"/>
            <a:ext cx="5555932" cy="694373"/>
          </a:xfrm>
          <a:prstGeom prst="rect">
            <a:avLst/>
          </a:prstGeom>
          <a:noFill/>
          <a:ln/>
        </p:spPr>
        <p:txBody>
          <a:bodyPr wrap="none" rtlCol="0" anchor="t"/>
          <a:lstStyle/>
          <a:p>
            <a:pPr marL="0" indent="0">
              <a:lnSpc>
                <a:spcPts val="5468"/>
              </a:lnSpc>
              <a:buNone/>
            </a:pPr>
            <a:r>
              <a:rPr lang="en-US" sz="4374" dirty="0">
                <a:solidFill>
                  <a:srgbClr val="38512F"/>
                </a:solidFill>
                <a:latin typeface="Lora" pitchFamily="34" charset="0"/>
                <a:ea typeface="Lora" pitchFamily="34" charset="-122"/>
                <a:cs typeface="Lora" pitchFamily="34" charset="-120"/>
              </a:rPr>
              <a:t>Steady-State Analysis</a:t>
            </a:r>
            <a:endParaRPr lang="en-US" sz="4374" dirty="0"/>
          </a:p>
        </p:txBody>
      </p:sp>
      <p:sp>
        <p:nvSpPr>
          <p:cNvPr id="5" name="Shape 3"/>
          <p:cNvSpPr/>
          <p:nvPr/>
        </p:nvSpPr>
        <p:spPr>
          <a:xfrm>
            <a:off x="2348389" y="1817013"/>
            <a:ext cx="1655564" cy="1280160"/>
          </a:xfrm>
          <a:prstGeom prst="roundRect">
            <a:avLst>
              <a:gd name="adj" fmla="val 5207"/>
            </a:avLst>
          </a:prstGeom>
          <a:solidFill>
            <a:srgbClr val="F6E9D5"/>
          </a:solidFill>
          <a:ln/>
        </p:spPr>
      </p:sp>
      <p:sp>
        <p:nvSpPr>
          <p:cNvPr id="6" name="Text 4"/>
          <p:cNvSpPr/>
          <p:nvPr/>
        </p:nvSpPr>
        <p:spPr>
          <a:xfrm>
            <a:off x="2570559" y="2234922"/>
            <a:ext cx="101084" cy="444341"/>
          </a:xfrm>
          <a:prstGeom prst="rect">
            <a:avLst/>
          </a:prstGeom>
          <a:noFill/>
          <a:ln/>
        </p:spPr>
        <p:txBody>
          <a:bodyPr wrap="none" rtlCol="0" anchor="t"/>
          <a:lstStyle/>
          <a:p>
            <a:pPr marL="0" indent="0" algn="ctr">
              <a:lnSpc>
                <a:spcPts val="3499"/>
              </a:lnSpc>
              <a:buNone/>
            </a:pPr>
            <a:r>
              <a:rPr lang="en-US" sz="2187" dirty="0">
                <a:solidFill>
                  <a:srgbClr val="38512F"/>
                </a:solidFill>
                <a:latin typeface="Lora" pitchFamily="34" charset="0"/>
                <a:ea typeface="Lora" pitchFamily="34" charset="-122"/>
                <a:cs typeface="Lora" pitchFamily="34" charset="-120"/>
              </a:rPr>
              <a:t>1</a:t>
            </a:r>
            <a:endParaRPr lang="en-US" sz="2187" dirty="0"/>
          </a:p>
        </p:txBody>
      </p:sp>
      <p:sp>
        <p:nvSpPr>
          <p:cNvPr id="7" name="Text 5"/>
          <p:cNvSpPr/>
          <p:nvPr/>
        </p:nvSpPr>
        <p:spPr>
          <a:xfrm>
            <a:off x="4226123" y="2039183"/>
            <a:ext cx="1838087" cy="347186"/>
          </a:xfrm>
          <a:prstGeom prst="rect">
            <a:avLst/>
          </a:prstGeom>
          <a:noFill/>
          <a:ln/>
        </p:spPr>
        <p:txBody>
          <a:bodyPr wrap="none" rtlCol="0" anchor="t"/>
          <a:lstStyle/>
          <a:p>
            <a:pPr marL="0" indent="0" algn="l">
              <a:lnSpc>
                <a:spcPts val="2734"/>
              </a:lnSpc>
              <a:buNone/>
            </a:pPr>
            <a:r>
              <a:rPr lang="en-US" sz="2187" b="1" dirty="0">
                <a:solidFill>
                  <a:srgbClr val="38512F"/>
                </a:solidFill>
                <a:latin typeface="Lora" pitchFamily="34" charset="0"/>
                <a:ea typeface="Lora" pitchFamily="34" charset="-122"/>
                <a:cs typeface="Lora" pitchFamily="34" charset="-120"/>
              </a:rPr>
              <a:t>Resistance</a:t>
            </a:r>
            <a:endParaRPr lang="en-US" sz="2187" b="1" dirty="0"/>
          </a:p>
        </p:txBody>
      </p:sp>
      <p:sp>
        <p:nvSpPr>
          <p:cNvPr id="8" name="Text 6"/>
          <p:cNvSpPr/>
          <p:nvPr/>
        </p:nvSpPr>
        <p:spPr>
          <a:xfrm>
            <a:off x="4226123" y="2519601"/>
            <a:ext cx="1838087" cy="355402"/>
          </a:xfrm>
          <a:prstGeom prst="rect">
            <a:avLst/>
          </a:prstGeom>
          <a:noFill/>
          <a:ln/>
        </p:spPr>
        <p:txBody>
          <a:bodyPr wrap="none" rtlCol="0" anchor="t"/>
          <a:lstStyle/>
          <a:p>
            <a:pPr marL="0" indent="0" algn="l">
              <a:lnSpc>
                <a:spcPts val="2799"/>
              </a:lnSpc>
              <a:buNone/>
            </a:pPr>
            <a:r>
              <a:rPr lang="en-US" sz="1750" b="1" dirty="0">
                <a:solidFill>
                  <a:srgbClr val="3A3630"/>
                </a:solidFill>
                <a:latin typeface="Source Sans Pro" pitchFamily="34" charset="0"/>
                <a:ea typeface="Source Sans Pro" pitchFamily="34" charset="-122"/>
                <a:cs typeface="Source Sans Pro" pitchFamily="34" charset="-120"/>
              </a:rPr>
              <a:t>Affects current flow.</a:t>
            </a:r>
            <a:endParaRPr lang="en-US" sz="1750" b="1" dirty="0"/>
          </a:p>
        </p:txBody>
      </p:sp>
      <p:sp>
        <p:nvSpPr>
          <p:cNvPr id="9" name="Shape 7"/>
          <p:cNvSpPr/>
          <p:nvPr/>
        </p:nvSpPr>
        <p:spPr>
          <a:xfrm>
            <a:off x="4115038" y="3083987"/>
            <a:ext cx="8055769" cy="13871"/>
          </a:xfrm>
          <a:prstGeom prst="rect">
            <a:avLst/>
          </a:prstGeom>
          <a:solidFill>
            <a:srgbClr val="38512F"/>
          </a:solidFill>
          <a:ln/>
        </p:spPr>
      </p:sp>
      <p:sp>
        <p:nvSpPr>
          <p:cNvPr id="10" name="Shape 8"/>
          <p:cNvSpPr/>
          <p:nvPr/>
        </p:nvSpPr>
        <p:spPr>
          <a:xfrm>
            <a:off x="2348389" y="3208258"/>
            <a:ext cx="3311128" cy="1280160"/>
          </a:xfrm>
          <a:prstGeom prst="roundRect">
            <a:avLst>
              <a:gd name="adj" fmla="val 5207"/>
            </a:avLst>
          </a:prstGeom>
          <a:solidFill>
            <a:srgbClr val="F6E9D5"/>
          </a:solidFill>
          <a:ln/>
        </p:spPr>
      </p:sp>
      <p:sp>
        <p:nvSpPr>
          <p:cNvPr id="11" name="Text 9"/>
          <p:cNvSpPr/>
          <p:nvPr/>
        </p:nvSpPr>
        <p:spPr>
          <a:xfrm>
            <a:off x="2570559" y="3626168"/>
            <a:ext cx="149185" cy="444341"/>
          </a:xfrm>
          <a:prstGeom prst="rect">
            <a:avLst/>
          </a:prstGeom>
          <a:noFill/>
          <a:ln/>
        </p:spPr>
        <p:txBody>
          <a:bodyPr wrap="none" rtlCol="0" anchor="t"/>
          <a:lstStyle/>
          <a:p>
            <a:pPr marL="0" indent="0" algn="ctr">
              <a:lnSpc>
                <a:spcPts val="3499"/>
              </a:lnSpc>
              <a:buNone/>
            </a:pPr>
            <a:r>
              <a:rPr lang="en-US" sz="2187" dirty="0">
                <a:solidFill>
                  <a:srgbClr val="38512F"/>
                </a:solidFill>
                <a:latin typeface="Lora" pitchFamily="34" charset="0"/>
                <a:ea typeface="Lora" pitchFamily="34" charset="-122"/>
                <a:cs typeface="Lora" pitchFamily="34" charset="-120"/>
              </a:rPr>
              <a:t>2</a:t>
            </a:r>
            <a:endParaRPr lang="en-US" sz="2187" dirty="0"/>
          </a:p>
        </p:txBody>
      </p:sp>
      <p:sp>
        <p:nvSpPr>
          <p:cNvPr id="12" name="Text 10"/>
          <p:cNvSpPr/>
          <p:nvPr/>
        </p:nvSpPr>
        <p:spPr>
          <a:xfrm>
            <a:off x="5881687" y="3430429"/>
            <a:ext cx="2626162" cy="347186"/>
          </a:xfrm>
          <a:prstGeom prst="rect">
            <a:avLst/>
          </a:prstGeom>
          <a:noFill/>
          <a:ln/>
        </p:spPr>
        <p:txBody>
          <a:bodyPr wrap="none" rtlCol="0" anchor="t"/>
          <a:lstStyle/>
          <a:p>
            <a:pPr marL="0" indent="0" algn="l">
              <a:lnSpc>
                <a:spcPts val="2734"/>
              </a:lnSpc>
              <a:buNone/>
            </a:pPr>
            <a:r>
              <a:rPr lang="en-US" sz="2187" b="1" dirty="0">
                <a:solidFill>
                  <a:srgbClr val="38512F"/>
                </a:solidFill>
                <a:latin typeface="Lora" pitchFamily="34" charset="0"/>
                <a:ea typeface="Lora" pitchFamily="34" charset="-122"/>
                <a:cs typeface="Lora" pitchFamily="34" charset="-120"/>
              </a:rPr>
              <a:t>Inductance</a:t>
            </a:r>
            <a:endParaRPr lang="en-US" sz="2187" b="1" dirty="0"/>
          </a:p>
        </p:txBody>
      </p:sp>
      <p:sp>
        <p:nvSpPr>
          <p:cNvPr id="13" name="Text 11"/>
          <p:cNvSpPr/>
          <p:nvPr/>
        </p:nvSpPr>
        <p:spPr>
          <a:xfrm>
            <a:off x="5881687" y="3910846"/>
            <a:ext cx="2626162" cy="355402"/>
          </a:xfrm>
          <a:prstGeom prst="rect">
            <a:avLst/>
          </a:prstGeom>
          <a:noFill/>
          <a:ln/>
        </p:spPr>
        <p:txBody>
          <a:bodyPr wrap="none" rtlCol="0" anchor="t"/>
          <a:lstStyle/>
          <a:p>
            <a:pPr marL="0" indent="0" algn="l">
              <a:lnSpc>
                <a:spcPts val="2799"/>
              </a:lnSpc>
              <a:buNone/>
            </a:pPr>
            <a:r>
              <a:rPr lang="en-US" sz="1750" b="1" dirty="0">
                <a:solidFill>
                  <a:srgbClr val="3A3630"/>
                </a:solidFill>
                <a:latin typeface="Source Sans Pro" pitchFamily="34" charset="0"/>
                <a:ea typeface="Source Sans Pro" pitchFamily="34" charset="-122"/>
                <a:cs typeface="Source Sans Pro" pitchFamily="34" charset="-120"/>
              </a:rPr>
              <a:t>Opposes changes in current.</a:t>
            </a:r>
            <a:endParaRPr lang="en-US" sz="1750" b="1" dirty="0"/>
          </a:p>
        </p:txBody>
      </p:sp>
      <p:sp>
        <p:nvSpPr>
          <p:cNvPr id="14" name="Shape 12"/>
          <p:cNvSpPr/>
          <p:nvPr/>
        </p:nvSpPr>
        <p:spPr>
          <a:xfrm>
            <a:off x="5770602" y="4475232"/>
            <a:ext cx="6400205" cy="13871"/>
          </a:xfrm>
          <a:prstGeom prst="rect">
            <a:avLst/>
          </a:prstGeom>
          <a:solidFill>
            <a:srgbClr val="38512F"/>
          </a:solidFill>
          <a:ln/>
        </p:spPr>
      </p:sp>
      <p:sp>
        <p:nvSpPr>
          <p:cNvPr id="15" name="Shape 13"/>
          <p:cNvSpPr/>
          <p:nvPr/>
        </p:nvSpPr>
        <p:spPr>
          <a:xfrm>
            <a:off x="2348389" y="4599503"/>
            <a:ext cx="4966692" cy="1280160"/>
          </a:xfrm>
          <a:prstGeom prst="roundRect">
            <a:avLst>
              <a:gd name="adj" fmla="val 5207"/>
            </a:avLst>
          </a:prstGeom>
          <a:solidFill>
            <a:srgbClr val="F6E9D5"/>
          </a:solidFill>
          <a:ln/>
        </p:spPr>
      </p:sp>
      <p:sp>
        <p:nvSpPr>
          <p:cNvPr id="16" name="Text 14"/>
          <p:cNvSpPr/>
          <p:nvPr/>
        </p:nvSpPr>
        <p:spPr>
          <a:xfrm>
            <a:off x="2570559" y="5017413"/>
            <a:ext cx="154662" cy="444341"/>
          </a:xfrm>
          <a:prstGeom prst="rect">
            <a:avLst/>
          </a:prstGeom>
          <a:noFill/>
          <a:ln/>
        </p:spPr>
        <p:txBody>
          <a:bodyPr wrap="none" rtlCol="0" anchor="t"/>
          <a:lstStyle/>
          <a:p>
            <a:pPr marL="0" indent="0" algn="ctr">
              <a:lnSpc>
                <a:spcPts val="3499"/>
              </a:lnSpc>
              <a:buNone/>
            </a:pPr>
            <a:r>
              <a:rPr lang="en-US" sz="2187" dirty="0">
                <a:solidFill>
                  <a:srgbClr val="38512F"/>
                </a:solidFill>
                <a:latin typeface="Lora" pitchFamily="34" charset="0"/>
                <a:ea typeface="Lora" pitchFamily="34" charset="-122"/>
                <a:cs typeface="Lora" pitchFamily="34" charset="-120"/>
              </a:rPr>
              <a:t>3</a:t>
            </a:r>
            <a:endParaRPr lang="en-US" sz="2187" dirty="0"/>
          </a:p>
        </p:txBody>
      </p:sp>
      <p:sp>
        <p:nvSpPr>
          <p:cNvPr id="17" name="Text 15"/>
          <p:cNvSpPr/>
          <p:nvPr/>
        </p:nvSpPr>
        <p:spPr>
          <a:xfrm>
            <a:off x="7537252" y="4821674"/>
            <a:ext cx="2777490" cy="347186"/>
          </a:xfrm>
          <a:prstGeom prst="rect">
            <a:avLst/>
          </a:prstGeom>
          <a:noFill/>
          <a:ln/>
        </p:spPr>
        <p:txBody>
          <a:bodyPr wrap="none" rtlCol="0" anchor="t"/>
          <a:lstStyle/>
          <a:p>
            <a:pPr marL="0" indent="0" algn="l">
              <a:lnSpc>
                <a:spcPts val="2734"/>
              </a:lnSpc>
              <a:buNone/>
            </a:pPr>
            <a:r>
              <a:rPr lang="en-US" sz="2187" b="1" dirty="0">
                <a:solidFill>
                  <a:srgbClr val="38512F"/>
                </a:solidFill>
                <a:latin typeface="Lora" pitchFamily="34" charset="0"/>
                <a:ea typeface="Lora" pitchFamily="34" charset="-122"/>
                <a:cs typeface="Lora" pitchFamily="34" charset="-120"/>
              </a:rPr>
              <a:t>Steady State</a:t>
            </a:r>
            <a:endParaRPr lang="en-US" sz="2187" b="1" dirty="0"/>
          </a:p>
        </p:txBody>
      </p:sp>
      <p:sp>
        <p:nvSpPr>
          <p:cNvPr id="18" name="Text 16"/>
          <p:cNvSpPr/>
          <p:nvPr/>
        </p:nvSpPr>
        <p:spPr>
          <a:xfrm>
            <a:off x="7537252" y="5302091"/>
            <a:ext cx="3080504" cy="355402"/>
          </a:xfrm>
          <a:prstGeom prst="rect">
            <a:avLst/>
          </a:prstGeom>
          <a:noFill/>
          <a:ln/>
        </p:spPr>
        <p:txBody>
          <a:bodyPr wrap="none" rtlCol="0" anchor="t"/>
          <a:lstStyle/>
          <a:p>
            <a:pPr marL="0" indent="0" algn="l">
              <a:lnSpc>
                <a:spcPts val="2799"/>
              </a:lnSpc>
              <a:buNone/>
            </a:pPr>
            <a:r>
              <a:rPr lang="en-US" sz="1750" b="1" dirty="0">
                <a:solidFill>
                  <a:srgbClr val="3A3630"/>
                </a:solidFill>
                <a:latin typeface="Source Sans Pro" pitchFamily="34" charset="0"/>
                <a:ea typeface="Source Sans Pro" pitchFamily="34" charset="-122"/>
                <a:cs typeface="Source Sans Pro" pitchFamily="34" charset="-120"/>
              </a:rPr>
              <a:t>Current and voltage are constant.</a:t>
            </a:r>
            <a:endParaRPr lang="en-US" sz="1750" b="1" dirty="0"/>
          </a:p>
        </p:txBody>
      </p:sp>
      <p:sp>
        <p:nvSpPr>
          <p:cNvPr id="19" name="Text 17"/>
          <p:cNvSpPr/>
          <p:nvPr/>
        </p:nvSpPr>
        <p:spPr>
          <a:xfrm>
            <a:off x="2348389" y="6129576"/>
            <a:ext cx="9933503" cy="1421606"/>
          </a:xfrm>
          <a:prstGeom prst="rect">
            <a:avLst/>
          </a:prstGeom>
          <a:noFill/>
          <a:ln/>
        </p:spPr>
        <p:txBody>
          <a:bodyPr wrap="square" rtlCol="0" anchor="t"/>
          <a:lstStyle/>
          <a:p>
            <a:pPr marL="0" indent="0">
              <a:lnSpc>
                <a:spcPts val="2799"/>
              </a:lnSpc>
              <a:buNone/>
            </a:pPr>
            <a:r>
              <a:rPr lang="en-US" sz="1750" b="1" i="1" dirty="0">
                <a:solidFill>
                  <a:srgbClr val="3A3630"/>
                </a:solidFill>
                <a:latin typeface="Source Sans Pro" pitchFamily="34" charset="0"/>
                <a:ea typeface="Source Sans Pro" pitchFamily="34" charset="-122"/>
                <a:cs typeface="Source Sans Pro" pitchFamily="34" charset="-120"/>
              </a:rPr>
              <a:t>In the steady-state analysis of RL circuits, we focus on the long-term behavior when the circuit has reached a stable condition. The resistance and inductance of the circuit elements determine the steady-state current and voltage. This analysis provides insights into the circuit's behavior under continuous, unchanging conditions.</a:t>
            </a:r>
            <a:endParaRPr lang="en-US" sz="1750" b="1" i="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txBody>
          <a:bodyPr/>
          <a:lstStyle/>
          <a:p>
            <a:endParaRPr lang="en-US" dirty="0"/>
          </a:p>
        </p:txBody>
      </p:sp>
      <p:sp>
        <p:nvSpPr>
          <p:cNvPr id="4" name="Text 2"/>
          <p:cNvSpPr/>
          <p:nvPr/>
        </p:nvSpPr>
        <p:spPr>
          <a:xfrm>
            <a:off x="2348389" y="1104662"/>
            <a:ext cx="8573572" cy="694373"/>
          </a:xfrm>
          <a:prstGeom prst="rect">
            <a:avLst/>
          </a:prstGeom>
          <a:noFill/>
          <a:ln/>
        </p:spPr>
        <p:txBody>
          <a:bodyPr wrap="none" rtlCol="0" anchor="t"/>
          <a:lstStyle/>
          <a:p>
            <a:pPr marL="0" indent="0">
              <a:lnSpc>
                <a:spcPts val="5468"/>
              </a:lnSpc>
              <a:buNone/>
            </a:pPr>
            <a:r>
              <a:rPr lang="en-US" sz="4400" b="1" u="sng" dirty="0">
                <a:solidFill>
                  <a:srgbClr val="38512F"/>
                </a:solidFill>
                <a:effectLst>
                  <a:outerShdw blurRad="38100" dist="38100" dir="2700000" algn="tl">
                    <a:srgbClr val="000000">
                      <a:alpha val="43137"/>
                    </a:srgbClr>
                  </a:outerShdw>
                </a:effectLst>
                <a:latin typeface="Franklin Gothic Medium" panose="020B0603020102020204" pitchFamily="34" charset="0"/>
                <a:ea typeface="Lora" pitchFamily="34" charset="-122"/>
                <a:cs typeface="Lora" pitchFamily="34" charset="-120"/>
              </a:rPr>
              <a:t>Numerical Analysis of RL Circuits</a:t>
            </a:r>
            <a:endParaRPr lang="en-US" sz="4400" b="1" u="sng" dirty="0">
              <a:effectLst>
                <a:outerShdw blurRad="38100" dist="38100" dir="2700000" algn="tl">
                  <a:srgbClr val="000000">
                    <a:alpha val="43137"/>
                  </a:srgbClr>
                </a:outerShdw>
              </a:effectLst>
              <a:latin typeface="Franklin Gothic Medium" panose="020B0603020102020204" pitchFamily="34" charset="0"/>
            </a:endParaRPr>
          </a:p>
        </p:txBody>
      </p:sp>
      <p:sp>
        <p:nvSpPr>
          <p:cNvPr id="5" name="Shape 3"/>
          <p:cNvSpPr/>
          <p:nvPr/>
        </p:nvSpPr>
        <p:spPr>
          <a:xfrm>
            <a:off x="2098358" y="2416969"/>
            <a:ext cx="499943" cy="499943"/>
          </a:xfrm>
          <a:prstGeom prst="roundRect">
            <a:avLst>
              <a:gd name="adj" fmla="val 13333"/>
            </a:avLst>
          </a:prstGeom>
          <a:solidFill>
            <a:srgbClr val="F6E9D5"/>
          </a:solidFill>
          <a:ln/>
        </p:spPr>
      </p:sp>
      <p:sp>
        <p:nvSpPr>
          <p:cNvPr id="6" name="Text 4"/>
          <p:cNvSpPr/>
          <p:nvPr/>
        </p:nvSpPr>
        <p:spPr>
          <a:xfrm>
            <a:off x="2213114" y="2458640"/>
            <a:ext cx="279838"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1</a:t>
            </a:r>
            <a:endParaRPr lang="en-US" sz="2624" dirty="0"/>
          </a:p>
        </p:txBody>
      </p:sp>
      <p:sp>
        <p:nvSpPr>
          <p:cNvPr id="7" name="Text 5"/>
          <p:cNvSpPr/>
          <p:nvPr/>
        </p:nvSpPr>
        <p:spPr>
          <a:xfrm>
            <a:off x="2691170" y="2493287"/>
            <a:ext cx="4512945" cy="480417"/>
          </a:xfrm>
          <a:prstGeom prst="rect">
            <a:avLst/>
          </a:prstGeom>
          <a:noFill/>
          <a:ln/>
        </p:spPr>
        <p:txBody>
          <a:bodyPr wrap="none" rtlCol="0" anchor="t"/>
          <a:lstStyle/>
          <a:p>
            <a:pPr marL="0" indent="0">
              <a:lnSpc>
                <a:spcPts val="2734"/>
              </a:lnSpc>
              <a:buNone/>
            </a:pPr>
            <a:r>
              <a:rPr lang="en-US" sz="2400" b="1" u="sng" dirty="0">
                <a:solidFill>
                  <a:srgbClr val="38512F"/>
                </a:solidFill>
                <a:latin typeface="Gadugi" panose="020B0502040204020203" pitchFamily="34" charset="0"/>
                <a:ea typeface="Gadugi" panose="020B0502040204020203" pitchFamily="34" charset="0"/>
                <a:cs typeface="Lora" pitchFamily="34" charset="-120"/>
              </a:rPr>
              <a:t>Differential Equation Modeling</a:t>
            </a:r>
            <a:endParaRPr lang="en-US" sz="2400" b="1" u="sng" dirty="0">
              <a:latin typeface="Gadugi" panose="020B0502040204020203" pitchFamily="34" charset="0"/>
              <a:ea typeface="Gadugi" panose="020B0502040204020203" pitchFamily="34" charset="0"/>
            </a:endParaRPr>
          </a:p>
        </p:txBody>
      </p:sp>
      <p:sp>
        <p:nvSpPr>
          <p:cNvPr id="8" name="Text 6"/>
          <p:cNvSpPr/>
          <p:nvPr/>
        </p:nvSpPr>
        <p:spPr>
          <a:xfrm>
            <a:off x="2691170" y="2973705"/>
            <a:ext cx="4352569" cy="1777008"/>
          </a:xfrm>
          <a:prstGeom prst="rect">
            <a:avLst/>
          </a:prstGeom>
          <a:noFill/>
          <a:ln/>
        </p:spPr>
        <p:txBody>
          <a:bodyPr wrap="square" rtlCol="0" anchor="t"/>
          <a:lstStyle/>
          <a:p>
            <a:pPr marL="0" indent="0">
              <a:lnSpc>
                <a:spcPts val="2799"/>
              </a:lnSpc>
              <a:buNone/>
            </a:pPr>
            <a:r>
              <a:rPr lang="en-US" sz="2000" i="1" dirty="0">
                <a:solidFill>
                  <a:srgbClr val="3A3630"/>
                </a:solidFill>
                <a:latin typeface="Segoe UI Semibold" panose="020B0702040204020203" pitchFamily="34" charset="0"/>
                <a:ea typeface="Source Sans Pro" pitchFamily="34" charset="-122"/>
                <a:cs typeface="Segoe UI Semibold" panose="020B0702040204020203" pitchFamily="34" charset="0"/>
              </a:rPr>
              <a:t>Represent the RL circuit's dynamic behavior using first-order linear differential equations to capture the interplay between resistance and inductance.</a:t>
            </a:r>
            <a:endParaRPr lang="en-US" sz="2000" i="1" dirty="0">
              <a:latin typeface="Segoe UI Semibold" panose="020B0702040204020203" pitchFamily="34" charset="0"/>
              <a:cs typeface="Segoe UI Semibold" panose="020B0702040204020203" pitchFamily="34" charset="0"/>
            </a:endParaRPr>
          </a:p>
        </p:txBody>
      </p:sp>
      <p:sp>
        <p:nvSpPr>
          <p:cNvPr id="9" name="Shape 7"/>
          <p:cNvSpPr/>
          <p:nvPr/>
        </p:nvSpPr>
        <p:spPr>
          <a:xfrm>
            <a:off x="7426285" y="2416969"/>
            <a:ext cx="499943" cy="499943"/>
          </a:xfrm>
          <a:prstGeom prst="roundRect">
            <a:avLst>
              <a:gd name="adj" fmla="val 13333"/>
            </a:avLst>
          </a:prstGeom>
          <a:solidFill>
            <a:srgbClr val="F6E9D5"/>
          </a:solidFill>
          <a:ln/>
        </p:spPr>
      </p:sp>
      <p:sp>
        <p:nvSpPr>
          <p:cNvPr id="10" name="Text 8"/>
          <p:cNvSpPr/>
          <p:nvPr/>
        </p:nvSpPr>
        <p:spPr>
          <a:xfrm>
            <a:off x="7586663" y="2458641"/>
            <a:ext cx="179070"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2</a:t>
            </a:r>
            <a:endParaRPr lang="en-US" sz="2624" dirty="0"/>
          </a:p>
        </p:txBody>
      </p:sp>
      <p:sp>
        <p:nvSpPr>
          <p:cNvPr id="11" name="Text 9"/>
          <p:cNvSpPr/>
          <p:nvPr/>
        </p:nvSpPr>
        <p:spPr>
          <a:xfrm>
            <a:off x="8148399" y="2493288"/>
            <a:ext cx="3696176" cy="347186"/>
          </a:xfrm>
          <a:prstGeom prst="rect">
            <a:avLst/>
          </a:prstGeom>
          <a:noFill/>
          <a:ln/>
        </p:spPr>
        <p:txBody>
          <a:bodyPr wrap="none" rtlCol="0" anchor="t"/>
          <a:lstStyle/>
          <a:p>
            <a:pPr marL="0" indent="0">
              <a:lnSpc>
                <a:spcPts val="2734"/>
              </a:lnSpc>
              <a:buNone/>
            </a:pPr>
            <a:r>
              <a:rPr lang="en-US" sz="2400" b="1" u="sng" dirty="0">
                <a:solidFill>
                  <a:srgbClr val="38512F"/>
                </a:solidFill>
                <a:latin typeface="Gadugi" panose="020B0502040204020203" pitchFamily="34" charset="0"/>
                <a:ea typeface="Gadugi" panose="020B0502040204020203" pitchFamily="34" charset="0"/>
                <a:cs typeface="Lora" pitchFamily="34" charset="-120"/>
              </a:rPr>
              <a:t>Numerical Solution Methods</a:t>
            </a:r>
            <a:endParaRPr lang="en-US" sz="2400" b="1" u="sng" dirty="0">
              <a:latin typeface="Gadugi" panose="020B0502040204020203" pitchFamily="34" charset="0"/>
              <a:ea typeface="Gadugi" panose="020B0502040204020203" pitchFamily="34" charset="0"/>
            </a:endParaRPr>
          </a:p>
        </p:txBody>
      </p:sp>
      <p:sp>
        <p:nvSpPr>
          <p:cNvPr id="12" name="Text 10"/>
          <p:cNvSpPr/>
          <p:nvPr/>
        </p:nvSpPr>
        <p:spPr>
          <a:xfrm>
            <a:off x="8148398" y="2973705"/>
            <a:ext cx="4838731" cy="2172772"/>
          </a:xfrm>
          <a:prstGeom prst="rect">
            <a:avLst/>
          </a:prstGeom>
          <a:noFill/>
          <a:ln/>
        </p:spPr>
        <p:txBody>
          <a:bodyPr wrap="square" rtlCol="0" anchor="t"/>
          <a:lstStyle/>
          <a:p>
            <a:pPr marL="0" indent="0">
              <a:lnSpc>
                <a:spcPts val="2799"/>
              </a:lnSpc>
              <a:buNone/>
            </a:pPr>
            <a:r>
              <a:rPr lang="en-US" sz="2000" i="1" dirty="0">
                <a:solidFill>
                  <a:srgbClr val="3A3630"/>
                </a:solidFill>
                <a:latin typeface="Segoe UI Semibold" panose="020B0702040204020203" pitchFamily="34" charset="0"/>
                <a:ea typeface="Source Sans Pro" pitchFamily="34" charset="-122"/>
                <a:cs typeface="Segoe UI Semibold" panose="020B0702040204020203" pitchFamily="34" charset="0"/>
              </a:rPr>
              <a:t>Apply numerical techniques such as the Euler method or the Runge-Kutta method to solve the differential equations and obtain the time-domain solutions for current and voltage.</a:t>
            </a:r>
            <a:endParaRPr lang="en-US" sz="2000" i="1" dirty="0">
              <a:latin typeface="Segoe UI Semibold" panose="020B0702040204020203" pitchFamily="34" charset="0"/>
              <a:cs typeface="Segoe UI Semibold" panose="020B0702040204020203" pitchFamily="34" charset="0"/>
            </a:endParaRPr>
          </a:p>
        </p:txBody>
      </p:sp>
      <p:sp>
        <p:nvSpPr>
          <p:cNvPr id="13" name="Shape 11"/>
          <p:cNvSpPr/>
          <p:nvPr/>
        </p:nvSpPr>
        <p:spPr>
          <a:xfrm>
            <a:off x="2213114" y="5146477"/>
            <a:ext cx="499943" cy="499943"/>
          </a:xfrm>
          <a:prstGeom prst="roundRect">
            <a:avLst>
              <a:gd name="adj" fmla="val 13333"/>
            </a:avLst>
          </a:prstGeom>
          <a:solidFill>
            <a:srgbClr val="F6E9D5"/>
          </a:solidFill>
          <a:ln/>
        </p:spPr>
      </p:sp>
      <p:sp>
        <p:nvSpPr>
          <p:cNvPr id="14" name="Text 12"/>
          <p:cNvSpPr/>
          <p:nvPr/>
        </p:nvSpPr>
        <p:spPr>
          <a:xfrm>
            <a:off x="2348329" y="5188148"/>
            <a:ext cx="342841"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3</a:t>
            </a:r>
            <a:endParaRPr lang="en-US" sz="2624" dirty="0"/>
          </a:p>
        </p:txBody>
      </p:sp>
      <p:sp>
        <p:nvSpPr>
          <p:cNvPr id="15" name="Text 13"/>
          <p:cNvSpPr/>
          <p:nvPr/>
        </p:nvSpPr>
        <p:spPr>
          <a:xfrm>
            <a:off x="2809460" y="5222795"/>
            <a:ext cx="4068417" cy="480417"/>
          </a:xfrm>
          <a:prstGeom prst="rect">
            <a:avLst/>
          </a:prstGeom>
          <a:noFill/>
          <a:ln/>
        </p:spPr>
        <p:txBody>
          <a:bodyPr wrap="none" rtlCol="0" anchor="t"/>
          <a:lstStyle/>
          <a:p>
            <a:pPr marL="0" indent="0">
              <a:lnSpc>
                <a:spcPts val="2734"/>
              </a:lnSpc>
              <a:buNone/>
            </a:pPr>
            <a:r>
              <a:rPr lang="en-US" sz="2400" b="1" u="sng" dirty="0">
                <a:solidFill>
                  <a:srgbClr val="38512F"/>
                </a:solidFill>
                <a:latin typeface="Gadugi" panose="020B0502040204020203" pitchFamily="34" charset="0"/>
                <a:ea typeface="Gadugi" panose="020B0502040204020203" pitchFamily="34" charset="0"/>
                <a:cs typeface="Lora" pitchFamily="34" charset="-120"/>
              </a:rPr>
              <a:t>Transient </a:t>
            </a:r>
            <a:r>
              <a:rPr lang="en-US" sz="2400" b="1" u="sng" dirty="0" smtClean="0">
                <a:solidFill>
                  <a:srgbClr val="38512F"/>
                </a:solidFill>
                <a:latin typeface="Gadugi" panose="020B0502040204020203" pitchFamily="34" charset="0"/>
                <a:ea typeface="Gadugi" panose="020B0502040204020203" pitchFamily="34" charset="0"/>
                <a:cs typeface="Lora" pitchFamily="34" charset="-120"/>
              </a:rPr>
              <a:t>Response </a:t>
            </a:r>
            <a:r>
              <a:rPr lang="en-US" sz="2400" b="1" u="sng" dirty="0">
                <a:solidFill>
                  <a:srgbClr val="38512F"/>
                </a:solidFill>
                <a:latin typeface="Gadugi" panose="020B0502040204020203" pitchFamily="34" charset="0"/>
                <a:ea typeface="Gadugi" panose="020B0502040204020203" pitchFamily="34" charset="0"/>
                <a:cs typeface="Lora" pitchFamily="34" charset="-120"/>
              </a:rPr>
              <a:t>Analysis</a:t>
            </a:r>
            <a:endParaRPr lang="en-US" sz="2400" b="1" u="sng" dirty="0">
              <a:latin typeface="Gadugi" panose="020B0502040204020203" pitchFamily="34" charset="0"/>
              <a:ea typeface="Gadugi" panose="020B0502040204020203" pitchFamily="34" charset="0"/>
            </a:endParaRPr>
          </a:p>
        </p:txBody>
      </p:sp>
      <p:sp>
        <p:nvSpPr>
          <p:cNvPr id="16" name="Text 14"/>
          <p:cNvSpPr/>
          <p:nvPr/>
        </p:nvSpPr>
        <p:spPr>
          <a:xfrm>
            <a:off x="2928730" y="5703213"/>
            <a:ext cx="4275385" cy="1863778"/>
          </a:xfrm>
          <a:prstGeom prst="rect">
            <a:avLst/>
          </a:prstGeom>
          <a:noFill/>
          <a:ln/>
        </p:spPr>
        <p:txBody>
          <a:bodyPr wrap="square" rtlCol="0" anchor="t"/>
          <a:lstStyle/>
          <a:p>
            <a:pPr marL="0" indent="0">
              <a:lnSpc>
                <a:spcPts val="2799"/>
              </a:lnSpc>
              <a:buNone/>
            </a:pPr>
            <a:r>
              <a:rPr lang="en-US" sz="2000" i="1" dirty="0">
                <a:solidFill>
                  <a:srgbClr val="3A3630"/>
                </a:solidFill>
                <a:latin typeface="Segoe UI Semibold" panose="020B0702040204020203" pitchFamily="34" charset="0"/>
                <a:ea typeface="Source Sans Pro" pitchFamily="34" charset="-122"/>
                <a:cs typeface="Segoe UI Semibold" panose="020B0702040204020203" pitchFamily="34" charset="0"/>
              </a:rPr>
              <a:t>Investigate the circuit's transient response, including the rise time, time constant, and the exponential approach to the steady-state values.</a:t>
            </a:r>
            <a:endParaRPr lang="en-US" sz="2000" i="1" dirty="0">
              <a:latin typeface="Segoe UI Semibold" panose="020B0702040204020203" pitchFamily="34" charset="0"/>
              <a:cs typeface="Segoe UI Semibold" panose="020B0702040204020203" pitchFamily="34" charset="0"/>
            </a:endParaRPr>
          </a:p>
        </p:txBody>
      </p:sp>
      <p:sp>
        <p:nvSpPr>
          <p:cNvPr id="17" name="Shape 15"/>
          <p:cNvSpPr/>
          <p:nvPr/>
        </p:nvSpPr>
        <p:spPr>
          <a:xfrm>
            <a:off x="7426285" y="5146477"/>
            <a:ext cx="499943" cy="499943"/>
          </a:xfrm>
          <a:prstGeom prst="roundRect">
            <a:avLst>
              <a:gd name="adj" fmla="val 13333"/>
            </a:avLst>
          </a:prstGeom>
          <a:solidFill>
            <a:srgbClr val="F6E9D5"/>
          </a:solidFill>
          <a:ln/>
        </p:spPr>
      </p:sp>
      <p:sp>
        <p:nvSpPr>
          <p:cNvPr id="18" name="Text 16"/>
          <p:cNvSpPr/>
          <p:nvPr/>
        </p:nvSpPr>
        <p:spPr>
          <a:xfrm>
            <a:off x="7585829" y="5188148"/>
            <a:ext cx="180737" cy="416481"/>
          </a:xfrm>
          <a:prstGeom prst="rect">
            <a:avLst/>
          </a:prstGeom>
          <a:noFill/>
          <a:ln/>
        </p:spPr>
        <p:txBody>
          <a:bodyPr wrap="none" rtlCol="0" anchor="t"/>
          <a:lstStyle/>
          <a:p>
            <a:pPr marL="0" indent="0" algn="ctr">
              <a:lnSpc>
                <a:spcPts val="3281"/>
              </a:lnSpc>
              <a:buNone/>
            </a:pPr>
            <a:r>
              <a:rPr lang="en-US" sz="2624" dirty="0">
                <a:solidFill>
                  <a:srgbClr val="38512F"/>
                </a:solidFill>
                <a:latin typeface="Lora" pitchFamily="34" charset="0"/>
                <a:ea typeface="Lora" pitchFamily="34" charset="-122"/>
                <a:cs typeface="Lora" pitchFamily="34" charset="-120"/>
              </a:rPr>
              <a:t>4</a:t>
            </a:r>
            <a:endParaRPr lang="en-US" sz="2624" dirty="0"/>
          </a:p>
        </p:txBody>
      </p:sp>
      <p:sp>
        <p:nvSpPr>
          <p:cNvPr id="19" name="Text 17"/>
          <p:cNvSpPr/>
          <p:nvPr/>
        </p:nvSpPr>
        <p:spPr>
          <a:xfrm>
            <a:off x="8148399" y="5222796"/>
            <a:ext cx="2866311" cy="347186"/>
          </a:xfrm>
          <a:prstGeom prst="rect">
            <a:avLst/>
          </a:prstGeom>
          <a:noFill/>
          <a:ln/>
        </p:spPr>
        <p:txBody>
          <a:bodyPr wrap="none" rtlCol="0" anchor="t"/>
          <a:lstStyle/>
          <a:p>
            <a:pPr marL="0" indent="0">
              <a:lnSpc>
                <a:spcPts val="2734"/>
              </a:lnSpc>
              <a:buNone/>
            </a:pPr>
            <a:r>
              <a:rPr lang="en-US" sz="2400" b="1" u="sng" dirty="0">
                <a:solidFill>
                  <a:srgbClr val="38512F"/>
                </a:solidFill>
                <a:latin typeface="Gadugi" panose="020B0502040204020203" pitchFamily="34" charset="0"/>
                <a:ea typeface="Gadugi" panose="020B0502040204020203" pitchFamily="34" charset="0"/>
                <a:cs typeface="Lora" pitchFamily="34" charset="-120"/>
              </a:rPr>
              <a:t>Steady-State Behavior</a:t>
            </a:r>
            <a:endParaRPr lang="en-US" sz="2400" b="1" u="sng" dirty="0">
              <a:latin typeface="Gadugi" panose="020B0502040204020203" pitchFamily="34" charset="0"/>
              <a:ea typeface="Gadugi" panose="020B0502040204020203" pitchFamily="34" charset="0"/>
            </a:endParaRPr>
          </a:p>
        </p:txBody>
      </p:sp>
      <p:sp>
        <p:nvSpPr>
          <p:cNvPr id="20" name="Text 18"/>
          <p:cNvSpPr/>
          <p:nvPr/>
        </p:nvSpPr>
        <p:spPr>
          <a:xfrm>
            <a:off x="8148399" y="5703213"/>
            <a:ext cx="4838730" cy="1863778"/>
          </a:xfrm>
          <a:prstGeom prst="rect">
            <a:avLst/>
          </a:prstGeom>
          <a:noFill/>
          <a:ln/>
        </p:spPr>
        <p:txBody>
          <a:bodyPr wrap="square" rtlCol="0" anchor="t"/>
          <a:lstStyle/>
          <a:p>
            <a:pPr marL="0" indent="0">
              <a:lnSpc>
                <a:spcPts val="2799"/>
              </a:lnSpc>
              <a:buNone/>
            </a:pPr>
            <a:r>
              <a:rPr lang="en-US" sz="2000" i="1" dirty="0">
                <a:solidFill>
                  <a:srgbClr val="3A3630"/>
                </a:solidFill>
                <a:latin typeface="Segoe UI Semibold" panose="020B0702040204020203" pitchFamily="34" charset="0"/>
                <a:ea typeface="Source Sans Pro" pitchFamily="34" charset="-122"/>
                <a:cs typeface="Segoe UI Semibold" panose="020B0702040204020203" pitchFamily="34" charset="0"/>
              </a:rPr>
              <a:t>Analyze the steady-state characteristics of the RL circuit, such as the final current and voltage levels, power dissipation, and phase relationships.</a:t>
            </a:r>
            <a:endParaRPr lang="en-US" sz="2000" i="1" dirty="0">
              <a:latin typeface="Segoe UI Semibold" panose="020B0702040204020203" pitchFamily="34" charset="0"/>
              <a:cs typeface="Segoe UI Semibold" panose="020B0702040204020203"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83320" y="-552006"/>
            <a:ext cx="15558654" cy="9257689"/>
          </a:xfrm>
          <a:prstGeom prst="rect">
            <a:avLst/>
          </a:prstGeom>
          <a:solidFill>
            <a:srgbClr val="F2E4CF"/>
          </a:solidFill>
          <a:ln w="28575">
            <a:solidFill>
              <a:schemeClr val="tx1">
                <a:lumMod val="95000"/>
                <a:lumOff val="5000"/>
              </a:schemeClr>
            </a:solidFill>
          </a:ln>
        </p:spPr>
        <p:txBody>
          <a:bodyPr/>
          <a:lstStyle/>
          <a:p>
            <a:pPr/>
            <a:endParaRPr lang="en-US" dirty="0"/>
          </a:p>
        </p:txBody>
      </p:sp>
      <p:sp>
        <p:nvSpPr>
          <p:cNvPr id="3" name="TextBox 2"/>
          <p:cNvSpPr txBox="1"/>
          <p:nvPr/>
        </p:nvSpPr>
        <p:spPr>
          <a:xfrm>
            <a:off x="1457739" y="145774"/>
            <a:ext cx="7646504" cy="769441"/>
          </a:xfrm>
          <a:prstGeom prst="rect">
            <a:avLst/>
          </a:prstGeom>
          <a:noFill/>
        </p:spPr>
        <p:txBody>
          <a:bodyPr wrap="square" rtlCol="0">
            <a:spAutoFit/>
          </a:bodyPr>
          <a:lstStyle/>
          <a:p>
            <a:r>
              <a:rPr lang="en-US" sz="4400" b="1" u="sng" dirty="0" smtClean="0">
                <a:effectLst>
                  <a:outerShdw blurRad="38100" dist="38100" dir="2700000" algn="tl">
                    <a:srgbClr val="000000">
                      <a:alpha val="43137"/>
                    </a:srgbClr>
                  </a:outerShdw>
                </a:effectLst>
                <a:latin typeface="Algerian" panose="04020705040A02060702" pitchFamily="82" charset="0"/>
                <a:ea typeface="Gadugi" panose="020B0502040204020203" pitchFamily="34" charset="0"/>
              </a:rPr>
              <a:t>Equation of  RL Circuit </a:t>
            </a:r>
            <a:endParaRPr lang="en-US" sz="4400" b="1" u="sng" dirty="0">
              <a:effectLst>
                <a:outerShdw blurRad="38100" dist="38100" dir="2700000" algn="tl">
                  <a:srgbClr val="000000">
                    <a:alpha val="43137"/>
                  </a:srgbClr>
                </a:outerShdw>
              </a:effectLst>
              <a:latin typeface="Algerian" panose="04020705040A02060702" pitchFamily="82" charset="0"/>
              <a:ea typeface="Gadugi"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21" y="1497497"/>
            <a:ext cx="7566992" cy="4174434"/>
          </a:xfrm>
          <a:prstGeom prst="rect">
            <a:avLst/>
          </a:prstGeom>
          <a:ln>
            <a:noFill/>
          </a:ln>
          <a:effectLst>
            <a:softEdge rad="112500"/>
          </a:effectLst>
        </p:spPr>
      </p:pic>
      <mc:AlternateContent xmlns:mc="http://schemas.openxmlformats.org/markup-compatibility/2006">
        <mc:Choice xmlns:a14="http://schemas.microsoft.com/office/drawing/2010/main" Requires="a14">
          <p:sp>
            <p:nvSpPr>
              <p:cNvPr id="5" name="TextBox 4"/>
              <p:cNvSpPr txBox="1"/>
              <p:nvPr/>
            </p:nvSpPr>
            <p:spPr>
              <a:xfrm>
                <a:off x="190500" y="6003235"/>
                <a:ext cx="7105507" cy="1618456"/>
              </a:xfrm>
              <a:prstGeom prst="rect">
                <a:avLst/>
              </a:prstGeom>
              <a:noFill/>
              <a:ln w="3175">
                <a:noFill/>
              </a:ln>
            </p:spPr>
            <p:txBody>
              <a:bodyPr wrap="square" rtlCol="0">
                <a:spAutoFit/>
              </a:bodyPr>
              <a:lstStyle/>
              <a:p>
                <a:pPr marL="457200" indent="-457200">
                  <a:buFont typeface="Arial" panose="020B0604020202020204" pitchFamily="34" charset="0"/>
                  <a:buChar char="•"/>
                </a:pPr>
                <a14:m>
                  <m:oMath xmlns:m="http://schemas.openxmlformats.org/officeDocument/2006/math">
                    <m:sSub>
                      <m:sSubPr>
                        <m:ctrlPr>
                          <a:rPr lang="en-US" sz="3600" i="1" smtClean="0">
                            <a:latin typeface="Cambria Math"/>
                          </a:rPr>
                        </m:ctrlPr>
                      </m:sSubPr>
                      <m:e>
                        <m:r>
                          <m:rPr>
                            <m:sty m:val="p"/>
                          </m:rPr>
                          <a:rPr lang="en-US" sz="3600" b="0" i="0" smtClean="0">
                            <a:latin typeface="Cambria Math"/>
                          </a:rPr>
                          <m:t>V</m:t>
                        </m:r>
                      </m:e>
                      <m:sub>
                        <m:r>
                          <a:rPr lang="en-US" sz="3600" b="0" i="1" smtClean="0">
                            <a:latin typeface="Cambria Math"/>
                          </a:rPr>
                          <m:t>𝑅</m:t>
                        </m:r>
                      </m:sub>
                    </m:sSub>
                  </m:oMath>
                </a14:m>
                <a:r>
                  <a:rPr lang="en-US" sz="3200" dirty="0" smtClean="0"/>
                  <a:t>=IR     </a:t>
                </a:r>
              </a:p>
              <a:p>
                <a:pPr marL="457200" indent="-457200">
                  <a:buFont typeface="Arial" panose="020B0604020202020204" pitchFamily="34" charset="0"/>
                  <a:buChar char="•"/>
                </a:pPr>
                <a14:m>
                  <m:oMath xmlns:m="http://schemas.openxmlformats.org/officeDocument/2006/math">
                    <m:sSub>
                      <m:sSubPr>
                        <m:ctrlPr>
                          <a:rPr lang="en-US" sz="3200" i="1" smtClean="0">
                            <a:latin typeface="Cambria Math"/>
                          </a:rPr>
                        </m:ctrlPr>
                      </m:sSubPr>
                      <m:e>
                        <m:r>
                          <a:rPr lang="en-US" sz="3200" b="0" i="1" smtClean="0">
                            <a:latin typeface="Cambria Math"/>
                          </a:rPr>
                          <m:t>𝑉</m:t>
                        </m:r>
                      </m:e>
                      <m:sub>
                        <m:r>
                          <a:rPr lang="en-US" sz="3200" b="0" i="1" smtClean="0">
                            <a:latin typeface="Cambria Math"/>
                          </a:rPr>
                          <m:t>𝐿</m:t>
                        </m:r>
                      </m:sub>
                    </m:sSub>
                  </m:oMath>
                </a14:m>
                <a:r>
                  <a:rPr lang="en-US" sz="3200" dirty="0" smtClean="0"/>
                  <a:t>  =I</a:t>
                </a:r>
                <a14:m>
                  <m:oMath xmlns:m="http://schemas.openxmlformats.org/officeDocument/2006/math">
                    <m:sSub>
                      <m:sSubPr>
                        <m:ctrlPr>
                          <a:rPr lang="en-US" sz="3200" i="1" smtClean="0">
                            <a:latin typeface="Cambria Math"/>
                          </a:rPr>
                        </m:ctrlPr>
                      </m:sSubPr>
                      <m:e>
                        <m:r>
                          <a:rPr lang="en-US" sz="3200" b="0" i="1" smtClean="0">
                            <a:latin typeface="Cambria Math"/>
                          </a:rPr>
                          <m:t>  </m:t>
                        </m:r>
                        <m:r>
                          <a:rPr lang="en-US" sz="3200" b="0" i="1" smtClean="0">
                            <a:latin typeface="Cambria Math"/>
                          </a:rPr>
                          <m:t>𝑋</m:t>
                        </m:r>
                      </m:e>
                      <m:sub>
                        <m:r>
                          <a:rPr lang="en-US" sz="3200" b="0" i="1" smtClean="0">
                            <a:latin typeface="Cambria Math"/>
                          </a:rPr>
                          <m:t>𝐿</m:t>
                        </m:r>
                      </m:sub>
                    </m:sSub>
                  </m:oMath>
                </a14:m>
                <a:r>
                  <a:rPr lang="en-US" sz="3200" dirty="0" smtClean="0"/>
                  <a:t>            Inductive reactance </a:t>
                </a:r>
              </a:p>
              <a:p>
                <a:pPr marL="457200" indent="-457200">
                  <a:buFont typeface="Arial" panose="020B0604020202020204" pitchFamily="34" charset="0"/>
                  <a:buChar char="•"/>
                </a:pPr>
                <a14:m>
                  <m:oMath xmlns:m="http://schemas.openxmlformats.org/officeDocument/2006/math">
                    <m:sSub>
                      <m:sSubPr>
                        <m:ctrlPr>
                          <a:rPr lang="en-US" sz="3200" i="1">
                            <a:latin typeface="Cambria Math"/>
                          </a:rPr>
                        </m:ctrlPr>
                      </m:sSubPr>
                      <m:e>
                        <m:r>
                          <a:rPr lang="en-US" sz="3200" i="1">
                            <a:latin typeface="Cambria Math"/>
                          </a:rPr>
                          <m:t>𝑋</m:t>
                        </m:r>
                      </m:e>
                      <m:sub>
                        <m:r>
                          <a:rPr lang="en-US" sz="3200" i="1">
                            <a:latin typeface="Cambria Math"/>
                          </a:rPr>
                          <m:t>𝐿</m:t>
                        </m:r>
                      </m:sub>
                    </m:sSub>
                  </m:oMath>
                </a14:m>
                <a:r>
                  <a:rPr lang="en-US" sz="3200" dirty="0" smtClean="0"/>
                  <a:t>  = 2</a:t>
                </a:r>
                <a:r>
                  <a:rPr lang="el-GR" sz="3200" dirty="0" smtClean="0"/>
                  <a:t>π</a:t>
                </a:r>
                <a:r>
                  <a:rPr lang="en-US" sz="3200" dirty="0" smtClean="0"/>
                  <a:t> f L              . L =Inductance</a:t>
                </a:r>
                <a:endParaRPr lang="en-US" sz="3200" dirty="0"/>
              </a:p>
            </p:txBody>
          </p:sp>
        </mc:Choice>
        <mc:Fallback>
          <p:sp>
            <p:nvSpPr>
              <p:cNvPr id="5" name="TextBox 4"/>
              <p:cNvSpPr txBox="1">
                <a:spLocks noRot="1" noChangeAspect="1" noMove="1" noResize="1" noEditPoints="1" noAdjustHandles="1" noChangeArrowheads="1" noChangeShapeType="1" noTextEdit="1"/>
              </p:cNvSpPr>
              <p:nvPr/>
            </p:nvSpPr>
            <p:spPr>
              <a:xfrm>
                <a:off x="190500" y="6003235"/>
                <a:ext cx="7105507" cy="1618456"/>
              </a:xfrm>
              <a:prstGeom prst="rect">
                <a:avLst/>
              </a:prstGeom>
              <a:blipFill rotWithShape="1">
                <a:blip r:embed="rId3"/>
                <a:stretch>
                  <a:fillRect t="-1509" b="-12075"/>
                </a:stretch>
              </a:blipFill>
              <a:ln w="3175">
                <a:noFill/>
              </a:ln>
            </p:spPr>
            <p:txBody>
              <a:bodyPr/>
              <a:lstStyle/>
              <a:p>
                <a:r>
                  <a:rPr lang="en-US">
                    <a:noFill/>
                  </a:rPr>
                  <a:t> </a:t>
                </a:r>
              </a:p>
            </p:txBody>
          </p:sp>
        </mc:Fallback>
      </mc:AlternateContent>
      <p:sp>
        <p:nvSpPr>
          <p:cNvPr id="14" name="Right Arrow 13"/>
          <p:cNvSpPr/>
          <p:nvPr/>
        </p:nvSpPr>
        <p:spPr>
          <a:xfrm flipV="1">
            <a:off x="2307534" y="6817726"/>
            <a:ext cx="1020417" cy="4571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cxnSp>
        <p:nvCxnSpPr>
          <p:cNvPr id="18" name="Elbow Connector 17"/>
          <p:cNvCxnSpPr/>
          <p:nvPr/>
        </p:nvCxnSpPr>
        <p:spPr>
          <a:xfrm>
            <a:off x="9281767" y="2020428"/>
            <a:ext cx="3511826" cy="127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a:off x="9236765" y="2033128"/>
            <a:ext cx="2888974" cy="127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5400000" flipH="1" flipV="1">
            <a:off x="11178761" y="1161247"/>
            <a:ext cx="1868556" cy="127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Elbow Connector 24"/>
          <p:cNvCxnSpPr/>
          <p:nvPr/>
        </p:nvCxnSpPr>
        <p:spPr>
          <a:xfrm rot="5400000" flipH="1" flipV="1">
            <a:off x="9230415" y="1874906"/>
            <a:ext cx="12700" cy="127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9256091" y="193009"/>
            <a:ext cx="2876274" cy="1827419"/>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2947374" y="1753440"/>
            <a:ext cx="689113" cy="584775"/>
          </a:xfrm>
          <a:prstGeom prst="rect">
            <a:avLst/>
          </a:prstGeom>
          <a:noFill/>
        </p:spPr>
        <p:txBody>
          <a:bodyPr wrap="square" rtlCol="0">
            <a:spAutoFit/>
          </a:bodyPr>
          <a:lstStyle/>
          <a:p>
            <a:r>
              <a:rPr lang="en-US" sz="3200" dirty="0" smtClean="0"/>
              <a:t>I</a:t>
            </a:r>
            <a:endParaRPr lang="en-US" sz="3200" dirty="0"/>
          </a:p>
        </p:txBody>
      </p:sp>
      <mc:AlternateContent xmlns:mc="http://schemas.openxmlformats.org/markup-compatibility/2006" xmlns:a14="http://schemas.microsoft.com/office/drawing/2010/main">
        <mc:Choice Requires="a14">
          <p:sp>
            <p:nvSpPr>
              <p:cNvPr id="31" name="TextBox 30"/>
              <p:cNvSpPr txBox="1"/>
              <p:nvPr/>
            </p:nvSpPr>
            <p:spPr>
              <a:xfrm>
                <a:off x="11383617" y="2082272"/>
                <a:ext cx="74212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a:rPr>
                          </m:ctrlPr>
                        </m:sSubPr>
                        <m:e>
                          <m:r>
                            <a:rPr lang="en-US" sz="2800" b="0" i="1" smtClean="0">
                              <a:latin typeface="Cambria Math"/>
                            </a:rPr>
                            <m:t>𝑉</m:t>
                          </m:r>
                        </m:e>
                        <m:sub>
                          <m:r>
                            <a:rPr lang="en-US" sz="2800" b="0" i="1" smtClean="0">
                              <a:latin typeface="Cambria Math"/>
                            </a:rPr>
                            <m:t>𝑅</m:t>
                          </m:r>
                        </m:sub>
                      </m:sSub>
                    </m:oMath>
                  </m:oMathPara>
                </a14:m>
                <a:endParaRPr lang="en-US" sz="2800" dirty="0"/>
              </a:p>
            </p:txBody>
          </p:sp>
        </mc:Choice>
        <mc:Fallback xmlns="">
          <p:sp>
            <p:nvSpPr>
              <p:cNvPr id="31" name="TextBox 30"/>
              <p:cNvSpPr txBox="1">
                <a:spLocks noRot="1" noChangeAspect="1" noMove="1" noResize="1" noEditPoints="1" noAdjustHandles="1" noChangeArrowheads="1" noChangeShapeType="1" noTextEdit="1"/>
              </p:cNvSpPr>
              <p:nvPr/>
            </p:nvSpPr>
            <p:spPr>
              <a:xfrm>
                <a:off x="11383617" y="2082272"/>
                <a:ext cx="742122" cy="523220"/>
              </a:xfrm>
              <a:prstGeom prst="rect">
                <a:avLst/>
              </a:prstGeom>
              <a:blipFill rotWithShape="1">
                <a:blip r:embed="rId5"/>
                <a:stretch>
                  <a:fillRect/>
                </a:stretch>
              </a:blipFill>
            </p:spPr>
            <p:txBody>
              <a:bodyPr/>
              <a:lstStyle/>
              <a:p>
                <a:r>
                  <a:rPr lang="en-US">
                    <a:noFill/>
                  </a:rPr>
                  <a:t> </a:t>
                </a:r>
              </a:p>
            </p:txBody>
          </p:sp>
        </mc:Fallback>
      </mc:AlternateContent>
      <p:sp>
        <p:nvSpPr>
          <p:cNvPr id="32" name="TextBox 31"/>
          <p:cNvSpPr txBox="1"/>
          <p:nvPr/>
        </p:nvSpPr>
        <p:spPr>
          <a:xfrm>
            <a:off x="10004560" y="530494"/>
            <a:ext cx="622853" cy="523220"/>
          </a:xfrm>
          <a:prstGeom prst="rect">
            <a:avLst/>
          </a:prstGeom>
          <a:noFill/>
        </p:spPr>
        <p:txBody>
          <a:bodyPr wrap="square" rtlCol="0">
            <a:spAutoFit/>
          </a:bodyPr>
          <a:lstStyle/>
          <a:p>
            <a:r>
              <a:rPr lang="en-US" sz="2800" dirty="0" smtClean="0"/>
              <a:t>V</a:t>
            </a:r>
            <a:endParaRPr lang="en-US" sz="2800" dirty="0"/>
          </a:p>
        </p:txBody>
      </p:sp>
      <mc:AlternateContent xmlns:mc="http://schemas.openxmlformats.org/markup-compatibility/2006" xmlns:a14="http://schemas.microsoft.com/office/drawing/2010/main">
        <mc:Choice Requires="a14">
          <p:sp>
            <p:nvSpPr>
              <p:cNvPr id="33" name="TextBox 32"/>
              <p:cNvSpPr txBox="1"/>
              <p:nvPr/>
            </p:nvSpPr>
            <p:spPr>
              <a:xfrm>
                <a:off x="12275654" y="-68601"/>
                <a:ext cx="59634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a:rPr>
                          </m:ctrlPr>
                        </m:sSubPr>
                        <m:e>
                          <m:r>
                            <a:rPr lang="en-US" sz="2800" b="0" i="1" smtClean="0">
                              <a:latin typeface="Cambria Math"/>
                            </a:rPr>
                            <m:t>𝑉</m:t>
                          </m:r>
                        </m:e>
                        <m:sub>
                          <m:r>
                            <a:rPr lang="en-US" sz="2800" b="0" i="1" smtClean="0">
                              <a:latin typeface="Cambria Math"/>
                            </a:rPr>
                            <m:t>𝐿</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2275654" y="-68601"/>
                <a:ext cx="596348" cy="523220"/>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10193957" y="3006279"/>
                <a:ext cx="2736299" cy="969176"/>
              </a:xfrm>
              <a:prstGeom prst="rect">
                <a:avLst/>
              </a:prstGeom>
              <a:noFill/>
            </p:spPr>
            <p:txBody>
              <a:bodyPr wrap="square" rtlCol="0">
                <a:spAutoFit/>
              </a:bodyPr>
              <a:lstStyle/>
              <a:p>
                <a:r>
                  <a:rPr lang="en-US" sz="2800" dirty="0" smtClean="0"/>
                  <a:t>V=</a:t>
                </a:r>
                <a14:m>
                  <m:oMath xmlns:m="http://schemas.openxmlformats.org/officeDocument/2006/math">
                    <m:rad>
                      <m:radPr>
                        <m:degHide m:val="on"/>
                        <m:ctrlPr>
                          <a:rPr lang="en-US" sz="2800" i="1" smtClean="0">
                            <a:latin typeface="Cambria Math"/>
                          </a:rPr>
                        </m:ctrlPr>
                      </m:radPr>
                      <m:deg/>
                      <m:e>
                        <m:sSup>
                          <m:sSupPr>
                            <m:ctrlPr>
                              <a:rPr lang="en-US" sz="2800" i="1" smtClean="0">
                                <a:latin typeface="Cambria Math"/>
                              </a:rPr>
                            </m:ctrlPr>
                          </m:sSupPr>
                          <m:e>
                            <m:sSub>
                              <m:sSubPr>
                                <m:ctrlPr>
                                  <a:rPr lang="en-US" sz="2800" i="1">
                                    <a:latin typeface="Cambria Math"/>
                                  </a:rPr>
                                </m:ctrlPr>
                              </m:sSubPr>
                              <m:e>
                                <m:r>
                                  <m:rPr>
                                    <m:sty m:val="p"/>
                                  </m:rPr>
                                  <a:rPr lang="en-US" sz="2800">
                                    <a:latin typeface="Cambria Math"/>
                                  </a:rPr>
                                  <m:t>V</m:t>
                                </m:r>
                              </m:e>
                              <m:sub>
                                <m:r>
                                  <a:rPr lang="en-US" sz="2800" i="1">
                                    <a:latin typeface="Cambria Math"/>
                                  </a:rPr>
                                  <m:t>𝑅</m:t>
                                </m:r>
                              </m:sub>
                            </m:sSub>
                          </m:e>
                          <m:sup>
                            <m:r>
                              <a:rPr lang="en-US" sz="2800" b="0" i="1" smtClean="0">
                                <a:latin typeface="Cambria Math"/>
                              </a:rPr>
                              <m:t>2</m:t>
                            </m:r>
                          </m:sup>
                        </m:sSup>
                        <m:r>
                          <a:rPr lang="en-US" sz="2800" b="0" i="1" smtClean="0">
                            <a:latin typeface="Cambria Math"/>
                          </a:rPr>
                          <m:t>+</m:t>
                        </m:r>
                        <m:sSup>
                          <m:sSupPr>
                            <m:ctrlPr>
                              <a:rPr lang="en-US" sz="2800" b="0" i="1" smtClean="0">
                                <a:latin typeface="Cambria Math"/>
                              </a:rPr>
                            </m:ctrlPr>
                          </m:sSupPr>
                          <m:e>
                            <m:sSub>
                              <m:sSubPr>
                                <m:ctrlPr>
                                  <a:rPr lang="en-US" sz="2800" i="1">
                                    <a:latin typeface="Cambria Math"/>
                                  </a:rPr>
                                </m:ctrlPr>
                              </m:sSubPr>
                              <m:e>
                                <m:r>
                                  <a:rPr lang="en-US" sz="2800" i="1">
                                    <a:latin typeface="Cambria Math"/>
                                  </a:rPr>
                                  <m:t>𝑉</m:t>
                                </m:r>
                              </m:e>
                              <m:sub>
                                <m:r>
                                  <a:rPr lang="en-US" sz="2800" i="1">
                                    <a:latin typeface="Cambria Math"/>
                                  </a:rPr>
                                  <m:t>𝐿</m:t>
                                </m:r>
                              </m:sub>
                            </m:sSub>
                          </m:e>
                          <m:sup>
                            <m:r>
                              <a:rPr lang="en-US" sz="2800" b="0" i="1" smtClean="0">
                                <a:latin typeface="Cambria Math"/>
                              </a:rPr>
                              <m:t>2</m:t>
                            </m:r>
                          </m:sup>
                        </m:sSup>
                        <m:r>
                          <a:rPr lang="en-US" sz="2800" b="0" i="1" smtClean="0">
                            <a:latin typeface="Cambria Math"/>
                          </a:rPr>
                          <m:t> </m:t>
                        </m:r>
                      </m:e>
                    </m:rad>
                  </m:oMath>
                </a14:m>
                <a:endParaRPr lang="en-US" sz="2800" dirty="0"/>
              </a:p>
            </p:txBody>
          </p:sp>
        </mc:Choice>
        <mc:Fallback>
          <p:sp>
            <p:nvSpPr>
              <p:cNvPr id="34" name="TextBox 33"/>
              <p:cNvSpPr txBox="1">
                <a:spLocks noRot="1" noChangeAspect="1" noMove="1" noResize="1" noEditPoints="1" noAdjustHandles="1" noChangeArrowheads="1" noChangeShapeType="1" noTextEdit="1"/>
              </p:cNvSpPr>
              <p:nvPr/>
            </p:nvSpPr>
            <p:spPr>
              <a:xfrm>
                <a:off x="10193957" y="3006279"/>
                <a:ext cx="2736299" cy="969176"/>
              </a:xfrm>
              <a:prstGeom prst="rect">
                <a:avLst/>
              </a:prstGeom>
              <a:blipFill rotWithShape="1">
                <a:blip r:embed="rId7"/>
                <a:stretch>
                  <a:fillRect l="-4454" b="-12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p:cNvSpPr txBox="1"/>
              <p:nvPr/>
            </p:nvSpPr>
            <p:spPr>
              <a:xfrm>
                <a:off x="10220185" y="4410820"/>
                <a:ext cx="3060976" cy="969176"/>
              </a:xfrm>
              <a:prstGeom prst="rect">
                <a:avLst/>
              </a:prstGeom>
              <a:noFill/>
            </p:spPr>
            <p:txBody>
              <a:bodyPr wrap="square" rtlCol="0">
                <a:spAutoFit/>
              </a:bodyPr>
              <a:lstStyle/>
              <a:p>
                <a:r>
                  <a:rPr lang="en-US" sz="2800" dirty="0" smtClean="0"/>
                  <a:t>V </a:t>
                </a:r>
                <a:r>
                  <a:rPr lang="en-US" sz="2800" dirty="0"/>
                  <a:t>=</a:t>
                </a:r>
                <a:r>
                  <a:rPr lang="en-US" sz="2800" dirty="0" smtClean="0"/>
                  <a:t>I</a:t>
                </a:r>
                <a14:m>
                  <m:oMath xmlns:m="http://schemas.openxmlformats.org/officeDocument/2006/math">
                    <m:rad>
                      <m:radPr>
                        <m:degHide m:val="on"/>
                        <m:ctrlPr>
                          <a:rPr lang="en-US" sz="2800" i="1">
                            <a:latin typeface="Cambria Math"/>
                          </a:rPr>
                        </m:ctrlPr>
                      </m:radPr>
                      <m:deg/>
                      <m:e>
                        <m:sSup>
                          <m:sSupPr>
                            <m:ctrlPr>
                              <a:rPr lang="en-US" sz="2800" i="1">
                                <a:latin typeface="Cambria Math"/>
                              </a:rPr>
                            </m:ctrlPr>
                          </m:sSupPr>
                          <m:e>
                            <m:r>
                              <a:rPr lang="en-US" sz="2800" b="0" i="1" smtClean="0">
                                <a:latin typeface="Cambria Math"/>
                              </a:rPr>
                              <m:t>𝑅</m:t>
                            </m:r>
                          </m:e>
                          <m:sup>
                            <m:r>
                              <a:rPr lang="en-US" sz="2800" i="1">
                                <a:latin typeface="Cambria Math"/>
                              </a:rPr>
                              <m:t>2</m:t>
                            </m:r>
                          </m:sup>
                        </m:sSup>
                        <m:r>
                          <a:rPr lang="en-US" sz="2800" i="1">
                            <a:latin typeface="Cambria Math"/>
                          </a:rPr>
                          <m:t>+</m:t>
                        </m:r>
                        <m:sSup>
                          <m:sSupPr>
                            <m:ctrlPr>
                              <a:rPr lang="en-US" sz="2800" i="1">
                                <a:latin typeface="Cambria Math"/>
                              </a:rPr>
                            </m:ctrlPr>
                          </m:sSupPr>
                          <m:e>
                            <m:sSub>
                              <m:sSubPr>
                                <m:ctrlPr>
                                  <a:rPr lang="en-US" sz="2800" i="1">
                                    <a:latin typeface="Cambria Math"/>
                                  </a:rPr>
                                </m:ctrlPr>
                              </m:sSubPr>
                              <m:e>
                                <m:r>
                                  <a:rPr lang="en-US" sz="2800" b="0" i="1" smtClean="0">
                                    <a:latin typeface="Cambria Math"/>
                                  </a:rPr>
                                  <m:t>𝑋</m:t>
                                </m:r>
                              </m:e>
                              <m:sub>
                                <m:r>
                                  <a:rPr lang="en-US" sz="2800" i="1">
                                    <a:latin typeface="Cambria Math"/>
                                  </a:rPr>
                                  <m:t>𝐿</m:t>
                                </m:r>
                              </m:sub>
                            </m:sSub>
                          </m:e>
                          <m:sup>
                            <m:r>
                              <a:rPr lang="en-US" sz="2800" i="1">
                                <a:latin typeface="Cambria Math"/>
                              </a:rPr>
                              <m:t>2</m:t>
                            </m:r>
                          </m:sup>
                        </m:sSup>
                        <m:r>
                          <a:rPr lang="en-US" sz="2800" i="1">
                            <a:latin typeface="Cambria Math"/>
                          </a:rPr>
                          <m:t> </m:t>
                        </m:r>
                      </m:e>
                    </m:rad>
                    <m:r>
                      <a:rPr lang="en-US" sz="2800" i="1">
                        <a:latin typeface="Cambria Math"/>
                      </a:rPr>
                      <m:t> </m:t>
                    </m:r>
                  </m:oMath>
                </a14:m>
                <a:endParaRPr lang="en-US" sz="2800" dirty="0"/>
              </a:p>
            </p:txBody>
          </p:sp>
        </mc:Choice>
        <mc:Fallback>
          <p:sp>
            <p:nvSpPr>
              <p:cNvPr id="35" name="TextBox 34"/>
              <p:cNvSpPr txBox="1">
                <a:spLocks noRot="1" noChangeAspect="1" noMove="1" noResize="1" noEditPoints="1" noAdjustHandles="1" noChangeArrowheads="1" noChangeShapeType="1" noTextEdit="1"/>
              </p:cNvSpPr>
              <p:nvPr/>
            </p:nvSpPr>
            <p:spPr>
              <a:xfrm>
                <a:off x="10220185" y="4410820"/>
                <a:ext cx="3060976" cy="969176"/>
              </a:xfrm>
              <a:prstGeom prst="rect">
                <a:avLst/>
              </a:prstGeom>
              <a:blipFill rotWithShape="1">
                <a:blip r:embed="rId8"/>
                <a:stretch>
                  <a:fillRect l="-4183" b="-12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p:cNvSpPr txBox="1"/>
              <p:nvPr/>
            </p:nvSpPr>
            <p:spPr>
              <a:xfrm>
                <a:off x="8668854" y="5671931"/>
                <a:ext cx="4578903" cy="969176"/>
              </a:xfrm>
              <a:prstGeom prst="rect">
                <a:avLst/>
              </a:prstGeom>
              <a:noFill/>
            </p:spPr>
            <p:txBody>
              <a:bodyPr wrap="square" rtlCol="0">
                <a:spAutoFit/>
              </a:bodyPr>
              <a:lstStyle/>
              <a:p>
                <a:r>
                  <a:rPr lang="en-US" sz="2800" dirty="0"/>
                  <a:t>I</a:t>
                </a:r>
                <a:r>
                  <a:rPr lang="en-US" sz="2800" dirty="0" smtClean="0"/>
                  <a:t>mpedence(Z)</a:t>
                </a:r>
                <a:r>
                  <a:rPr lang="en-US" sz="2800" dirty="0" smtClean="0"/>
                  <a:t>=</a:t>
                </a:r>
                <a14:m>
                  <m:oMath xmlns:m="http://schemas.openxmlformats.org/officeDocument/2006/math">
                    <m:rad>
                      <m:radPr>
                        <m:degHide m:val="on"/>
                        <m:ctrlPr>
                          <a:rPr lang="en-US" sz="2800" i="1" smtClean="0">
                            <a:latin typeface="Cambria Math"/>
                          </a:rPr>
                        </m:ctrlPr>
                      </m:radPr>
                      <m:deg/>
                      <m:e>
                        <m:sSup>
                          <m:sSupPr>
                            <m:ctrlPr>
                              <a:rPr lang="en-US" sz="2800" i="1" smtClean="0">
                                <a:latin typeface="Cambria Math"/>
                              </a:rPr>
                            </m:ctrlPr>
                          </m:sSupPr>
                          <m:e>
                            <m:r>
                              <a:rPr lang="en-US" sz="2800" b="0" i="1" smtClean="0">
                                <a:latin typeface="Cambria Math"/>
                              </a:rPr>
                              <m:t>𝑅</m:t>
                            </m:r>
                          </m:e>
                          <m:sup>
                            <m:r>
                              <a:rPr lang="en-US" sz="2800" b="0" i="1" smtClean="0">
                                <a:latin typeface="Cambria Math"/>
                              </a:rPr>
                              <m:t>2</m:t>
                            </m:r>
                          </m:sup>
                        </m:sSup>
                        <m:r>
                          <a:rPr lang="en-US" sz="2800" b="0" i="1" smtClean="0">
                            <a:latin typeface="Cambria Math"/>
                          </a:rPr>
                          <m:t>+</m:t>
                        </m:r>
                        <m:sSup>
                          <m:sSupPr>
                            <m:ctrlPr>
                              <a:rPr lang="en-US" sz="2800" i="1">
                                <a:latin typeface="Cambria Math"/>
                              </a:rPr>
                            </m:ctrlPr>
                          </m:sSupPr>
                          <m:e>
                            <m:sSub>
                              <m:sSubPr>
                                <m:ctrlPr>
                                  <a:rPr lang="en-US" sz="2800" i="1">
                                    <a:latin typeface="Cambria Math"/>
                                  </a:rPr>
                                </m:ctrlPr>
                              </m:sSubPr>
                              <m:e>
                                <m:r>
                                  <a:rPr lang="en-US" sz="2800" i="1">
                                    <a:latin typeface="Cambria Math"/>
                                  </a:rPr>
                                  <m:t>𝑋</m:t>
                                </m:r>
                              </m:e>
                              <m:sub>
                                <m:r>
                                  <a:rPr lang="en-US" sz="2800" i="1">
                                    <a:latin typeface="Cambria Math"/>
                                  </a:rPr>
                                  <m:t>𝐿</m:t>
                                </m:r>
                              </m:sub>
                            </m:sSub>
                          </m:e>
                          <m:sup>
                            <m:r>
                              <a:rPr lang="en-US" sz="2800" i="1">
                                <a:latin typeface="Cambria Math"/>
                              </a:rPr>
                              <m:t>2</m:t>
                            </m:r>
                          </m:sup>
                        </m:sSup>
                      </m:e>
                    </m:rad>
                  </m:oMath>
                </a14:m>
                <a:endParaRPr lang="en-US" sz="2800" dirty="0"/>
              </a:p>
            </p:txBody>
          </p:sp>
        </mc:Choice>
        <mc:Fallback>
          <p:sp>
            <p:nvSpPr>
              <p:cNvPr id="36" name="TextBox 35"/>
              <p:cNvSpPr txBox="1">
                <a:spLocks noRot="1" noChangeAspect="1" noMove="1" noResize="1" noEditPoints="1" noAdjustHandles="1" noChangeArrowheads="1" noChangeShapeType="1" noTextEdit="1"/>
              </p:cNvSpPr>
              <p:nvPr/>
            </p:nvSpPr>
            <p:spPr>
              <a:xfrm>
                <a:off x="8668854" y="5671931"/>
                <a:ext cx="4578903" cy="969176"/>
              </a:xfrm>
              <a:prstGeom prst="rect">
                <a:avLst/>
              </a:prstGeom>
              <a:blipFill rotWithShape="1">
                <a:blip r:embed="rId9"/>
                <a:stretch>
                  <a:fillRect l="-2663" b="-1258"/>
                </a:stretch>
              </a:blipFill>
            </p:spPr>
            <p:txBody>
              <a:bodyPr/>
              <a:lstStyle/>
              <a:p>
                <a:r>
                  <a:rPr lang="en-US">
                    <a:noFill/>
                  </a:rPr>
                  <a:t> </a:t>
                </a:r>
              </a:p>
            </p:txBody>
          </p:sp>
        </mc:Fallback>
      </mc:AlternateContent>
      <p:sp>
        <p:nvSpPr>
          <p:cNvPr id="37" name="TextBox 36"/>
          <p:cNvSpPr txBox="1"/>
          <p:nvPr/>
        </p:nvSpPr>
        <p:spPr>
          <a:xfrm>
            <a:off x="11326880" y="7036916"/>
            <a:ext cx="1466713" cy="584775"/>
          </a:xfrm>
          <a:prstGeom prst="rect">
            <a:avLst/>
          </a:prstGeom>
          <a:noFill/>
        </p:spPr>
        <p:txBody>
          <a:bodyPr wrap="square" rtlCol="0">
            <a:spAutoFit/>
          </a:bodyPr>
          <a:lstStyle/>
          <a:p>
            <a:r>
              <a:rPr lang="en-US" sz="3200" dirty="0" smtClean="0"/>
              <a:t>V=IZ</a:t>
            </a:r>
            <a:endParaRPr lang="en-US" sz="3200" dirty="0"/>
          </a:p>
        </p:txBody>
      </p:sp>
      <p:sp>
        <p:nvSpPr>
          <p:cNvPr id="6" name="TextBox 5"/>
          <p:cNvSpPr txBox="1"/>
          <p:nvPr/>
        </p:nvSpPr>
        <p:spPr>
          <a:xfrm>
            <a:off x="8674100" y="-381000"/>
            <a:ext cx="2921553" cy="523220"/>
          </a:xfrm>
          <a:prstGeom prst="rect">
            <a:avLst/>
          </a:prstGeom>
          <a:noFill/>
        </p:spPr>
        <p:txBody>
          <a:bodyPr wrap="square" rtlCol="0">
            <a:spAutoFit/>
          </a:bodyPr>
          <a:lstStyle/>
          <a:p>
            <a:r>
              <a:rPr lang="en-US" sz="2800" dirty="0" smtClean="0"/>
              <a:t>Phasor Diagram:</a:t>
            </a:r>
            <a:endParaRPr lang="en-US" sz="2800" dirty="0"/>
          </a:p>
        </p:txBody>
      </p:sp>
      <p:cxnSp>
        <p:nvCxnSpPr>
          <p:cNvPr id="8" name="Elbow Connector 7"/>
          <p:cNvCxnSpPr/>
          <p:nvPr/>
        </p:nvCxnSpPr>
        <p:spPr>
          <a:xfrm rot="5400000">
            <a:off x="8793093" y="6634757"/>
            <a:ext cx="609600" cy="12700"/>
          </a:xfrm>
          <a:prstGeom prst="bentConnector3">
            <a:avLst>
              <a:gd name="adj1" fmla="val 33333"/>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62127" y="6899971"/>
            <a:ext cx="4125705" cy="1631216"/>
          </a:xfrm>
          <a:prstGeom prst="rect">
            <a:avLst/>
          </a:prstGeom>
          <a:noFill/>
          <a:ln>
            <a:solidFill>
              <a:srgbClr val="003300"/>
            </a:solidFill>
          </a:ln>
        </p:spPr>
        <p:txBody>
          <a:bodyPr wrap="square" rtlCol="0">
            <a:spAutoFit/>
          </a:bodyPr>
          <a:lstStyle/>
          <a:p>
            <a:r>
              <a:rPr lang="en-US" dirty="0"/>
              <a:t> </a:t>
            </a:r>
            <a:r>
              <a:rPr lang="en-US" sz="2000" dirty="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mpedance </a:t>
            </a:r>
            <a:r>
              <a:rPr lang="en-US" sz="2000" dirty="0">
                <a:latin typeface="Arial" panose="020B0604020202020204" pitchFamily="34" charset="0"/>
                <a:cs typeface="Arial" panose="020B0604020202020204" pitchFamily="34" charset="0"/>
              </a:rPr>
              <a:t>appears as two different voltages that are signified with V</a:t>
            </a:r>
            <a:r>
              <a:rPr lang="en-US" sz="2000" baseline="-25000" dirty="0">
                <a:latin typeface="Arial" panose="020B0604020202020204" pitchFamily="34" charset="0"/>
                <a:cs typeface="Arial" panose="020B0604020202020204" pitchFamily="34" charset="0"/>
              </a:rPr>
              <a:t>R</a:t>
            </a:r>
            <a:r>
              <a:rPr lang="en-US" sz="2000" dirty="0">
                <a:latin typeface="Arial" panose="020B0604020202020204" pitchFamily="34" charset="0"/>
                <a:cs typeface="Arial" panose="020B0604020202020204" pitchFamily="34" charset="0"/>
              </a:rPr>
              <a:t> and V</a:t>
            </a:r>
            <a:r>
              <a:rPr lang="en-US" sz="2000" baseline="-25000" dirty="0">
                <a:latin typeface="Arial" panose="020B0604020202020204" pitchFamily="34" charset="0"/>
                <a:cs typeface="Arial" panose="020B0604020202020204" pitchFamily="34" charset="0"/>
              </a:rPr>
              <a:t>L</a:t>
            </a:r>
            <a:r>
              <a:rPr lang="en-US" sz="2000" dirty="0">
                <a:latin typeface="Arial" panose="020B0604020202020204" pitchFamily="34" charset="0"/>
                <a:cs typeface="Arial" panose="020B0604020202020204" pitchFamily="34" charset="0"/>
              </a:rPr>
              <a:t> based on the different phases of applied current within RL series circuits</a:t>
            </a:r>
            <a:r>
              <a:rPr lang="en-US" dirty="0"/>
              <a:t>.</a:t>
            </a:r>
            <a:endParaRPr lang="en-US" dirty="0"/>
          </a:p>
        </p:txBody>
      </p:sp>
    </p:spTree>
    <p:extLst>
      <p:ext uri="{BB962C8B-B14F-4D97-AF65-F5344CB8AC3E}">
        <p14:creationId xmlns:p14="http://schemas.microsoft.com/office/powerpoint/2010/main" val="30085786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2700" y="-7063"/>
            <a:ext cx="14630400" cy="8230076"/>
          </a:xfrm>
          <a:prstGeom prst="rect">
            <a:avLst/>
          </a:prstGeom>
          <a:solidFill>
            <a:srgbClr val="FEF5E7"/>
          </a:solidFill>
          <a:ln/>
        </p:spPr>
        <p:txBody>
          <a:bodyPr/>
          <a:lstStyle/>
          <a:p>
            <a:endParaRPr lang="en-US" dirty="0"/>
          </a:p>
        </p:txBody>
      </p:sp>
      <p:sp>
        <p:nvSpPr>
          <p:cNvPr id="4" name="Text 2"/>
          <p:cNvSpPr/>
          <p:nvPr/>
        </p:nvSpPr>
        <p:spPr>
          <a:xfrm>
            <a:off x="2646640" y="574238"/>
            <a:ext cx="8740854" cy="652582"/>
          </a:xfrm>
          <a:prstGeom prst="rect">
            <a:avLst/>
          </a:prstGeom>
          <a:noFill/>
          <a:ln/>
        </p:spPr>
        <p:txBody>
          <a:bodyPr wrap="none" rtlCol="0" anchor="t"/>
          <a:lstStyle/>
          <a:p>
            <a:pPr marL="0" indent="0">
              <a:lnSpc>
                <a:spcPts val="5139"/>
              </a:lnSpc>
              <a:buNone/>
            </a:pPr>
            <a:r>
              <a:rPr lang="en-US" sz="4400" b="1" u="sng" dirty="0">
                <a:solidFill>
                  <a:srgbClr val="38512F"/>
                </a:solidFill>
                <a:latin typeface="Franklin Gothic Medium" panose="020B0603020102020204" pitchFamily="34" charset="0"/>
                <a:ea typeface="Lora" pitchFamily="34" charset="-122"/>
                <a:cs typeface="Lora" pitchFamily="34" charset="-120"/>
              </a:rPr>
              <a:t>Practical Applications and Examples</a:t>
            </a:r>
            <a:endParaRPr lang="en-US" sz="4400" b="1" u="sng" dirty="0">
              <a:latin typeface="Franklin Gothic Medium" panose="020B0603020102020204" pitchFamily="34" charset="0"/>
            </a:endParaRPr>
          </a:p>
        </p:txBody>
      </p:sp>
      <p:pic>
        <p:nvPicPr>
          <p:cNvPr id="5" name="Image 0" descr="preencoded.png"/>
          <p:cNvPicPr>
            <a:picLocks noChangeAspect="1"/>
          </p:cNvPicPr>
          <p:nvPr/>
        </p:nvPicPr>
        <p:blipFill>
          <a:blip r:embed="rId3"/>
          <a:stretch>
            <a:fillRect/>
          </a:stretch>
        </p:blipFill>
        <p:spPr>
          <a:xfrm>
            <a:off x="1066871" y="1513998"/>
            <a:ext cx="2372138" cy="1558409"/>
          </a:xfrm>
          <a:prstGeom prst="rect">
            <a:avLst/>
          </a:prstGeom>
        </p:spPr>
      </p:pic>
      <p:sp>
        <p:nvSpPr>
          <p:cNvPr id="6" name="Text 3"/>
          <p:cNvSpPr/>
          <p:nvPr/>
        </p:nvSpPr>
        <p:spPr>
          <a:xfrm>
            <a:off x="1066871" y="3072408"/>
            <a:ext cx="2717729" cy="783194"/>
          </a:xfrm>
          <a:prstGeom prst="rect">
            <a:avLst/>
          </a:prstGeom>
          <a:noFill/>
          <a:ln/>
        </p:spPr>
        <p:txBody>
          <a:bodyPr wrap="square" rtlCol="0" anchor="t"/>
          <a:lstStyle/>
          <a:p>
            <a:pPr marL="0" indent="0" algn="l">
              <a:lnSpc>
                <a:spcPts val="2570"/>
              </a:lnSpc>
              <a:buNone/>
            </a:pPr>
            <a:r>
              <a:rPr lang="en-US" sz="2400" b="1" dirty="0" smtClean="0">
                <a:solidFill>
                  <a:srgbClr val="38512F"/>
                </a:solidFill>
                <a:latin typeface="Gadugi" panose="020B0502040204020203" pitchFamily="34" charset="0"/>
                <a:ea typeface="Gadugi" panose="020B0502040204020203" pitchFamily="34" charset="0"/>
                <a:cs typeface="Lora" pitchFamily="34" charset="-120"/>
              </a:rPr>
              <a:t>Industrial Automation</a:t>
            </a:r>
            <a:endParaRPr lang="en-US" sz="2400" b="1" dirty="0">
              <a:latin typeface="Gadugi" panose="020B0502040204020203" pitchFamily="34" charset="0"/>
              <a:ea typeface="Gadugi" panose="020B0502040204020203" pitchFamily="34" charset="0"/>
            </a:endParaRPr>
          </a:p>
        </p:txBody>
      </p:sp>
      <p:sp>
        <p:nvSpPr>
          <p:cNvPr id="7" name="Text 4"/>
          <p:cNvSpPr/>
          <p:nvPr/>
        </p:nvSpPr>
        <p:spPr>
          <a:xfrm>
            <a:off x="1066871" y="3855602"/>
            <a:ext cx="2895529" cy="4031098"/>
          </a:xfrm>
          <a:prstGeom prst="rect">
            <a:avLst/>
          </a:prstGeom>
          <a:noFill/>
          <a:ln/>
        </p:spPr>
        <p:txBody>
          <a:bodyPr wrap="square" rtlCol="0" anchor="t"/>
          <a:lstStyle/>
          <a:p>
            <a:pPr marL="0" indent="0" algn="l">
              <a:lnSpc>
                <a:spcPts val="2631"/>
              </a:lnSpc>
              <a:buNone/>
            </a:pPr>
            <a:r>
              <a:rPr lang="en-US" sz="2000" dirty="0">
                <a:solidFill>
                  <a:srgbClr val="3A3630"/>
                </a:solidFill>
                <a:latin typeface="Arial" panose="020B0604020202020204" pitchFamily="34" charset="0"/>
                <a:ea typeface="Source Sans Pro" pitchFamily="34" charset="-122"/>
                <a:cs typeface="Arial" panose="020B0604020202020204" pitchFamily="34" charset="0"/>
              </a:rPr>
              <a:t>RL circuits are widely used in industrial automation systems to control and monitor the behavior of various electromechanical components, ensuring precise and efficient operation</a:t>
            </a:r>
            <a:r>
              <a:rPr lang="en-US" sz="2000" dirty="0" smtClean="0">
                <a:solidFill>
                  <a:srgbClr val="3A3630"/>
                </a:solidFill>
                <a:latin typeface="Arial" panose="020B0604020202020204" pitchFamily="34" charset="0"/>
                <a:ea typeface="Source Sans Pro" pitchFamily="34" charset="-122"/>
                <a:cs typeface="Arial" panose="020B0604020202020204" pitchFamily="34" charset="0"/>
              </a:rPr>
              <a:t>.</a:t>
            </a:r>
          </a:p>
          <a:p>
            <a:pPr marL="0" indent="0" algn="l">
              <a:lnSpc>
                <a:spcPts val="2631"/>
              </a:lnSpc>
              <a:buNone/>
            </a:pP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Like : Control system ,</a:t>
            </a:r>
          </a:p>
          <a:p>
            <a:pPr marL="0" indent="0" algn="l">
              <a:lnSpc>
                <a:spcPts val="2631"/>
              </a:lnSpc>
              <a:buNone/>
            </a:pP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Motor System </a:t>
            </a:r>
            <a:endParaRPr lang="en-US" sz="2000" dirty="0">
              <a:latin typeface="Segoe UI Semibold" panose="020B0702040204020203" pitchFamily="34" charset="0"/>
              <a:cs typeface="Segoe UI Semibold" panose="020B0702040204020203" pitchFamily="34" charset="0"/>
            </a:endParaRPr>
          </a:p>
        </p:txBody>
      </p:sp>
      <p:pic>
        <p:nvPicPr>
          <p:cNvPr id="8" name="Image 1" descr="preencoded.png"/>
          <p:cNvPicPr>
            <a:picLocks noChangeAspect="1"/>
          </p:cNvPicPr>
          <p:nvPr/>
        </p:nvPicPr>
        <p:blipFill>
          <a:blip r:embed="rId4"/>
          <a:stretch>
            <a:fillRect/>
          </a:stretch>
        </p:blipFill>
        <p:spPr>
          <a:xfrm>
            <a:off x="4253948" y="1579243"/>
            <a:ext cx="2606944" cy="1427917"/>
          </a:xfrm>
          <a:prstGeom prst="rect">
            <a:avLst/>
          </a:prstGeom>
        </p:spPr>
      </p:pic>
      <p:sp>
        <p:nvSpPr>
          <p:cNvPr id="9" name="Text 5"/>
          <p:cNvSpPr/>
          <p:nvPr/>
        </p:nvSpPr>
        <p:spPr>
          <a:xfrm>
            <a:off x="4253949" y="3072408"/>
            <a:ext cx="2904566" cy="783194"/>
          </a:xfrm>
          <a:prstGeom prst="rect">
            <a:avLst/>
          </a:prstGeom>
          <a:noFill/>
          <a:ln/>
        </p:spPr>
        <p:txBody>
          <a:bodyPr wrap="square" rtlCol="0" anchor="t"/>
          <a:lstStyle/>
          <a:p>
            <a:pPr marL="0" indent="0" algn="l">
              <a:lnSpc>
                <a:spcPts val="2570"/>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Educational Applications</a:t>
            </a:r>
            <a:endParaRPr lang="en-US" sz="2400" b="1" dirty="0">
              <a:latin typeface="Gadugi" panose="020B0502040204020203" pitchFamily="34" charset="0"/>
              <a:ea typeface="Gadugi" panose="020B0502040204020203" pitchFamily="34" charset="0"/>
            </a:endParaRPr>
          </a:p>
        </p:txBody>
      </p:sp>
      <p:sp>
        <p:nvSpPr>
          <p:cNvPr id="10" name="Text 6"/>
          <p:cNvSpPr/>
          <p:nvPr/>
        </p:nvSpPr>
        <p:spPr>
          <a:xfrm>
            <a:off x="4253949" y="3855602"/>
            <a:ext cx="2904565" cy="3466147"/>
          </a:xfrm>
          <a:prstGeom prst="rect">
            <a:avLst/>
          </a:prstGeom>
          <a:noFill/>
          <a:ln/>
        </p:spPr>
        <p:txBody>
          <a:bodyPr wrap="square" rtlCol="0" anchor="t"/>
          <a:lstStyle/>
          <a:p>
            <a:pPr marL="0" indent="0" algn="l">
              <a:lnSpc>
                <a:spcPts val="2631"/>
              </a:lnSpc>
              <a:buNone/>
            </a:pPr>
            <a:r>
              <a:rPr lang="en-US" sz="2000" dirty="0">
                <a:solidFill>
                  <a:srgbClr val="3A3630"/>
                </a:solidFill>
                <a:latin typeface="Segoe UI Semibold" panose="020B0702040204020203" pitchFamily="34" charset="0"/>
                <a:ea typeface="Source Sans Pro" pitchFamily="34" charset="-122"/>
                <a:cs typeface="Segoe UI Semibold" panose="020B0702040204020203" pitchFamily="34" charset="0"/>
              </a:rPr>
              <a:t>RL circuits are a fundamental topic in electrical </a:t>
            </a: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engineering, </a:t>
            </a:r>
            <a:r>
              <a:rPr lang="en-US" sz="2000" dirty="0">
                <a:solidFill>
                  <a:srgbClr val="3A3630"/>
                </a:solidFill>
                <a:latin typeface="Segoe UI Semibold" panose="020B0702040204020203" pitchFamily="34" charset="0"/>
                <a:ea typeface="Source Sans Pro" pitchFamily="34" charset="-122"/>
                <a:cs typeface="Segoe UI Semibold" panose="020B0702040204020203" pitchFamily="34" charset="0"/>
              </a:rPr>
              <a:t>allowing students to explore the principles of transient and steady-state analysis through hands-on experiments and simulations.</a:t>
            </a:r>
            <a:endParaRPr lang="en-US" sz="2000" dirty="0">
              <a:latin typeface="Segoe UI Semibold" panose="020B0702040204020203" pitchFamily="34" charset="0"/>
              <a:cs typeface="Segoe UI Semibold" panose="020B0702040204020203" pitchFamily="34" charset="0"/>
            </a:endParaRPr>
          </a:p>
        </p:txBody>
      </p:sp>
      <p:pic>
        <p:nvPicPr>
          <p:cNvPr id="11" name="Image 2" descr="preencoded.png"/>
          <p:cNvPicPr>
            <a:picLocks noChangeAspect="1"/>
          </p:cNvPicPr>
          <p:nvPr/>
        </p:nvPicPr>
        <p:blipFill>
          <a:blip r:embed="rId5"/>
          <a:stretch>
            <a:fillRect/>
          </a:stretch>
        </p:blipFill>
        <p:spPr>
          <a:xfrm>
            <a:off x="7556500" y="1513997"/>
            <a:ext cx="2708831" cy="1558409"/>
          </a:xfrm>
          <a:prstGeom prst="rect">
            <a:avLst/>
          </a:prstGeom>
        </p:spPr>
      </p:pic>
      <p:sp>
        <p:nvSpPr>
          <p:cNvPr id="12" name="Text 7"/>
          <p:cNvSpPr/>
          <p:nvPr/>
        </p:nvSpPr>
        <p:spPr>
          <a:xfrm>
            <a:off x="7696200" y="3072407"/>
            <a:ext cx="2569131" cy="783195"/>
          </a:xfrm>
          <a:prstGeom prst="rect">
            <a:avLst/>
          </a:prstGeom>
          <a:noFill/>
          <a:ln/>
        </p:spPr>
        <p:txBody>
          <a:bodyPr wrap="square" rtlCol="0" anchor="t"/>
          <a:lstStyle/>
          <a:p>
            <a:pPr marL="0" indent="0" algn="l">
              <a:lnSpc>
                <a:spcPts val="2570"/>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Home Electronics</a:t>
            </a:r>
            <a:endParaRPr lang="en-US" sz="2400" b="1" dirty="0">
              <a:latin typeface="Gadugi" panose="020B0502040204020203" pitchFamily="34" charset="0"/>
              <a:ea typeface="Gadugi" panose="020B0502040204020203" pitchFamily="34" charset="0"/>
            </a:endParaRPr>
          </a:p>
        </p:txBody>
      </p:sp>
      <p:sp>
        <p:nvSpPr>
          <p:cNvPr id="13" name="Text 8"/>
          <p:cNvSpPr/>
          <p:nvPr/>
        </p:nvSpPr>
        <p:spPr>
          <a:xfrm>
            <a:off x="7556500" y="3855602"/>
            <a:ext cx="2708831" cy="4161963"/>
          </a:xfrm>
          <a:prstGeom prst="rect">
            <a:avLst/>
          </a:prstGeom>
          <a:noFill/>
          <a:ln/>
        </p:spPr>
        <p:txBody>
          <a:bodyPr wrap="square" rtlCol="0" anchor="t"/>
          <a:lstStyle/>
          <a:p>
            <a:pPr marL="0" indent="0" algn="l">
              <a:lnSpc>
                <a:spcPts val="2631"/>
              </a:lnSpc>
              <a:buNone/>
            </a:pPr>
            <a:r>
              <a:rPr lang="en-US" sz="2000" dirty="0">
                <a:solidFill>
                  <a:srgbClr val="3A3630"/>
                </a:solidFill>
                <a:latin typeface="Segoe UI Semibold" panose="020B0702040204020203" pitchFamily="34" charset="0"/>
                <a:ea typeface="Source Sans Pro" pitchFamily="34" charset="-122"/>
                <a:cs typeface="Segoe UI Semibold" panose="020B0702040204020203" pitchFamily="34" charset="0"/>
              </a:rPr>
              <a:t>RL circuits are integral to the design of various home electronics, from audio amplifiers to power supplies, ensuring the smooth and efficient operation of these </a:t>
            </a: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devices. Light Dimmers ,Appliance timers</a:t>
            </a:r>
            <a:endParaRPr lang="en-US" sz="2000" dirty="0">
              <a:latin typeface="Segoe UI Semibold" panose="020B0702040204020203" pitchFamily="34" charset="0"/>
              <a:cs typeface="Segoe UI Semibold" panose="020B0702040204020203" pitchFamily="34" charset="0"/>
            </a:endParaRPr>
          </a:p>
        </p:txBody>
      </p:sp>
      <p:pic>
        <p:nvPicPr>
          <p:cNvPr id="14" name="Image 3" descr="preencoded.png"/>
          <p:cNvPicPr>
            <a:picLocks noChangeAspect="1"/>
          </p:cNvPicPr>
          <p:nvPr/>
        </p:nvPicPr>
        <p:blipFill>
          <a:blip r:embed="rId6"/>
          <a:stretch>
            <a:fillRect/>
          </a:stretch>
        </p:blipFill>
        <p:spPr>
          <a:xfrm>
            <a:off x="10934700" y="1534671"/>
            <a:ext cx="2558221" cy="1386570"/>
          </a:xfrm>
          <a:prstGeom prst="rect">
            <a:avLst/>
          </a:prstGeom>
        </p:spPr>
      </p:pic>
      <p:sp>
        <p:nvSpPr>
          <p:cNvPr id="15" name="Text 9"/>
          <p:cNvSpPr/>
          <p:nvPr/>
        </p:nvSpPr>
        <p:spPr>
          <a:xfrm>
            <a:off x="11039478" y="2941915"/>
            <a:ext cx="2453443" cy="817285"/>
          </a:xfrm>
          <a:prstGeom prst="rect">
            <a:avLst/>
          </a:prstGeom>
          <a:noFill/>
          <a:ln/>
        </p:spPr>
        <p:txBody>
          <a:bodyPr wrap="square" rtlCol="0" anchor="t"/>
          <a:lstStyle/>
          <a:p>
            <a:pPr marL="0" indent="0" algn="l">
              <a:lnSpc>
                <a:spcPts val="2570"/>
              </a:lnSpc>
              <a:buNone/>
            </a:pPr>
            <a:r>
              <a:rPr lang="en-US" sz="2400" b="1" dirty="0">
                <a:solidFill>
                  <a:srgbClr val="38512F"/>
                </a:solidFill>
                <a:latin typeface="Gadugi" panose="020B0502040204020203" pitchFamily="34" charset="0"/>
                <a:ea typeface="Gadugi" panose="020B0502040204020203" pitchFamily="34" charset="0"/>
                <a:cs typeface="Lora" pitchFamily="34" charset="-120"/>
              </a:rPr>
              <a:t>Medical Applications</a:t>
            </a:r>
            <a:endParaRPr lang="en-US" sz="2400" b="1" dirty="0">
              <a:latin typeface="Gadugi" panose="020B0502040204020203" pitchFamily="34" charset="0"/>
              <a:ea typeface="Gadugi" panose="020B0502040204020203" pitchFamily="34" charset="0"/>
            </a:endParaRPr>
          </a:p>
        </p:txBody>
      </p:sp>
      <p:sp>
        <p:nvSpPr>
          <p:cNvPr id="16" name="Text 10"/>
          <p:cNvSpPr/>
          <p:nvPr/>
        </p:nvSpPr>
        <p:spPr>
          <a:xfrm>
            <a:off x="10934700" y="3855601"/>
            <a:ext cx="3022600" cy="4161963"/>
          </a:xfrm>
          <a:prstGeom prst="rect">
            <a:avLst/>
          </a:prstGeom>
          <a:noFill/>
          <a:ln/>
        </p:spPr>
        <p:txBody>
          <a:bodyPr wrap="square" rtlCol="0" anchor="t"/>
          <a:lstStyle/>
          <a:p>
            <a:pPr marL="0" indent="0" algn="l">
              <a:lnSpc>
                <a:spcPts val="2631"/>
              </a:lnSpc>
              <a:buNone/>
            </a:pPr>
            <a:r>
              <a:rPr lang="en-US" sz="2000" dirty="0">
                <a:solidFill>
                  <a:srgbClr val="3A3630"/>
                </a:solidFill>
                <a:latin typeface="Segoe UI Semibold" panose="020B0702040204020203" pitchFamily="34" charset="0"/>
                <a:ea typeface="Source Sans Pro" pitchFamily="34" charset="-122"/>
                <a:cs typeface="Segoe UI Semibold" panose="020B0702040204020203" pitchFamily="34" charset="0"/>
              </a:rPr>
              <a:t>RL circuits are employed in medical devices, </a:t>
            </a: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like MRI </a:t>
            </a: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and Implantable devices </a:t>
            </a:r>
            <a:r>
              <a:rPr lang="en-US" sz="2000" dirty="0" smtClean="0">
                <a:solidFill>
                  <a:srgbClr val="3A3630"/>
                </a:solidFill>
                <a:latin typeface="Segoe UI Semibold" panose="020B0702040204020203" pitchFamily="34" charset="0"/>
                <a:ea typeface="Source Sans Pro" pitchFamily="34" charset="-122"/>
                <a:cs typeface="Segoe UI Semibold" panose="020B0702040204020203" pitchFamily="34" charset="0"/>
              </a:rPr>
              <a:t>such </a:t>
            </a:r>
            <a:r>
              <a:rPr lang="en-US" sz="2000" dirty="0">
                <a:solidFill>
                  <a:srgbClr val="3A3630"/>
                </a:solidFill>
                <a:latin typeface="Segoe UI Semibold" panose="020B0702040204020203" pitchFamily="34" charset="0"/>
                <a:ea typeface="Source Sans Pro" pitchFamily="34" charset="-122"/>
                <a:cs typeface="Segoe UI Semibold" panose="020B0702040204020203" pitchFamily="34" charset="0"/>
              </a:rPr>
              <a:t>as pacemakers and defibrillators, where their precise control and monitoring capabilities are essential for patient safety and treatment effectiveness.</a:t>
            </a:r>
            <a:endParaRPr lang="en-US" sz="2000" dirty="0">
              <a:latin typeface="Segoe UI Semibold" panose="020B0702040204020203" pitchFamily="34" charset="0"/>
              <a:cs typeface="Segoe UI Semibold" panose="020B0702040204020203"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41565" y="-27710"/>
            <a:ext cx="14630400" cy="8230791"/>
          </a:xfrm>
          <a:prstGeom prst="rect">
            <a:avLst/>
          </a:prstGeom>
          <a:solidFill>
            <a:srgbClr val="FEF5E7"/>
          </a:solidFill>
          <a:ln/>
        </p:spPr>
      </p:sp>
      <p:sp>
        <p:nvSpPr>
          <p:cNvPr id="4" name="Text 2"/>
          <p:cNvSpPr/>
          <p:nvPr/>
        </p:nvSpPr>
        <p:spPr>
          <a:xfrm>
            <a:off x="2968228" y="534710"/>
            <a:ext cx="4861679" cy="607576"/>
          </a:xfrm>
          <a:prstGeom prst="rect">
            <a:avLst/>
          </a:prstGeom>
          <a:noFill/>
          <a:ln/>
        </p:spPr>
        <p:txBody>
          <a:bodyPr wrap="none" rtlCol="0" anchor="t"/>
          <a:lstStyle/>
          <a:p>
            <a:pPr marL="0" indent="0">
              <a:lnSpc>
                <a:spcPts val="4785"/>
              </a:lnSpc>
              <a:buNone/>
            </a:pPr>
            <a:r>
              <a:rPr lang="en-US" sz="3828" b="1" dirty="0">
                <a:solidFill>
                  <a:srgbClr val="38512F"/>
                </a:solidFill>
                <a:latin typeface="Goudy Stout" panose="0202090407030B020401" pitchFamily="18" charset="0"/>
                <a:ea typeface="Lora" pitchFamily="34" charset="-122"/>
                <a:cs typeface="Lora" pitchFamily="34" charset="-120"/>
              </a:rPr>
              <a:t>Conclusion</a:t>
            </a:r>
            <a:endParaRPr lang="en-US" sz="3828" b="1" dirty="0">
              <a:latin typeface="Goudy Stout" panose="0202090407030B020401" pitchFamily="18" charset="0"/>
            </a:endParaRPr>
          </a:p>
        </p:txBody>
      </p:sp>
      <p:pic>
        <p:nvPicPr>
          <p:cNvPr id="5" name="Image 0" descr="preencoded.png"/>
          <p:cNvPicPr>
            <a:picLocks noChangeAspect="1"/>
          </p:cNvPicPr>
          <p:nvPr/>
        </p:nvPicPr>
        <p:blipFill>
          <a:blip r:embed="rId3"/>
          <a:stretch>
            <a:fillRect/>
          </a:stretch>
        </p:blipFill>
        <p:spPr>
          <a:xfrm>
            <a:off x="4424363" y="1531144"/>
            <a:ext cx="1434465" cy="1431369"/>
          </a:xfrm>
          <a:prstGeom prst="rect">
            <a:avLst/>
          </a:prstGeom>
        </p:spPr>
      </p:pic>
      <p:sp>
        <p:nvSpPr>
          <p:cNvPr id="6" name="Text 3"/>
          <p:cNvSpPr/>
          <p:nvPr/>
        </p:nvSpPr>
        <p:spPr>
          <a:xfrm>
            <a:off x="5097304" y="2237780"/>
            <a:ext cx="88463" cy="388977"/>
          </a:xfrm>
          <a:prstGeom prst="rect">
            <a:avLst/>
          </a:prstGeom>
          <a:noFill/>
          <a:ln/>
        </p:spPr>
        <p:txBody>
          <a:bodyPr wrap="none" rtlCol="0" anchor="t"/>
          <a:lstStyle/>
          <a:p>
            <a:pPr marL="0" indent="0" algn="ctr">
              <a:lnSpc>
                <a:spcPts val="3063"/>
              </a:lnSpc>
              <a:buNone/>
            </a:pPr>
            <a:r>
              <a:rPr lang="en-US" sz="1914" dirty="0">
                <a:solidFill>
                  <a:srgbClr val="38512F"/>
                </a:solidFill>
                <a:latin typeface="Lora" pitchFamily="34" charset="0"/>
                <a:ea typeface="Lora" pitchFamily="34" charset="-122"/>
                <a:cs typeface="Lora" pitchFamily="34" charset="-120"/>
              </a:rPr>
              <a:t>1</a:t>
            </a:r>
            <a:endParaRPr lang="en-US" sz="1914" dirty="0"/>
          </a:p>
        </p:txBody>
      </p:sp>
      <p:sp>
        <p:nvSpPr>
          <p:cNvPr id="7" name="Text 4"/>
          <p:cNvSpPr/>
          <p:nvPr/>
        </p:nvSpPr>
        <p:spPr>
          <a:xfrm>
            <a:off x="6053257" y="1881068"/>
            <a:ext cx="2430780" cy="303848"/>
          </a:xfrm>
          <a:prstGeom prst="rect">
            <a:avLst/>
          </a:prstGeom>
          <a:noFill/>
          <a:ln/>
        </p:spPr>
        <p:txBody>
          <a:bodyPr wrap="none" rtlCol="0" anchor="t"/>
          <a:lstStyle/>
          <a:p>
            <a:pPr marL="0" indent="0" algn="l">
              <a:lnSpc>
                <a:spcPts val="2393"/>
              </a:lnSpc>
              <a:buNone/>
            </a:pPr>
            <a:r>
              <a:rPr lang="en-US" sz="1914" b="1" dirty="0">
                <a:solidFill>
                  <a:srgbClr val="38512F"/>
                </a:solidFill>
                <a:latin typeface="Lora" pitchFamily="34" charset="0"/>
                <a:ea typeface="Lora" pitchFamily="34" charset="-122"/>
                <a:cs typeface="Lora" pitchFamily="34" charset="-120"/>
              </a:rPr>
              <a:t>Mastery</a:t>
            </a:r>
            <a:endParaRPr lang="en-US" sz="1914" b="1" dirty="0"/>
          </a:p>
        </p:txBody>
      </p:sp>
      <p:sp>
        <p:nvSpPr>
          <p:cNvPr id="8" name="Text 5"/>
          <p:cNvSpPr/>
          <p:nvPr/>
        </p:nvSpPr>
        <p:spPr>
          <a:xfrm>
            <a:off x="6053257" y="2301597"/>
            <a:ext cx="3935254" cy="310991"/>
          </a:xfrm>
          <a:prstGeom prst="rect">
            <a:avLst/>
          </a:prstGeom>
          <a:noFill/>
          <a:ln/>
        </p:spPr>
        <p:txBody>
          <a:bodyPr wrap="none" rtlCol="0" anchor="t"/>
          <a:lstStyle/>
          <a:p>
            <a:pPr marL="0" indent="0" algn="l">
              <a:lnSpc>
                <a:spcPts val="2450"/>
              </a:lnSpc>
              <a:buNone/>
            </a:pPr>
            <a:r>
              <a:rPr lang="en-US" sz="2000" b="1" dirty="0">
                <a:solidFill>
                  <a:srgbClr val="3A3630"/>
                </a:solidFill>
                <a:latin typeface="Source Sans Pro" pitchFamily="34" charset="0"/>
                <a:ea typeface="Source Sans Pro" pitchFamily="34" charset="-122"/>
                <a:cs typeface="Source Sans Pro" pitchFamily="34" charset="-120"/>
              </a:rPr>
              <a:t>Deepening understanding of RL circuit principles</a:t>
            </a:r>
            <a:endParaRPr lang="en-US" sz="2000" b="1" dirty="0"/>
          </a:p>
        </p:txBody>
      </p:sp>
      <p:sp>
        <p:nvSpPr>
          <p:cNvPr id="9" name="Shape 6"/>
          <p:cNvSpPr/>
          <p:nvPr/>
        </p:nvSpPr>
        <p:spPr>
          <a:xfrm>
            <a:off x="5907405" y="2976205"/>
            <a:ext cx="5706070" cy="12144"/>
          </a:xfrm>
          <a:prstGeom prst="rect">
            <a:avLst/>
          </a:prstGeom>
          <a:solidFill>
            <a:srgbClr val="38512F"/>
          </a:solidFill>
          <a:ln/>
        </p:spPr>
      </p:sp>
      <p:pic>
        <p:nvPicPr>
          <p:cNvPr id="10" name="Image 1" descr="preencoded.png"/>
          <p:cNvPicPr>
            <a:picLocks noChangeAspect="1"/>
          </p:cNvPicPr>
          <p:nvPr/>
        </p:nvPicPr>
        <p:blipFill>
          <a:blip r:embed="rId4"/>
          <a:stretch>
            <a:fillRect/>
          </a:stretch>
        </p:blipFill>
        <p:spPr>
          <a:xfrm>
            <a:off x="3707130" y="3011091"/>
            <a:ext cx="2868930" cy="1431369"/>
          </a:xfrm>
          <a:prstGeom prst="rect">
            <a:avLst/>
          </a:prstGeom>
        </p:spPr>
      </p:pic>
      <p:sp>
        <p:nvSpPr>
          <p:cNvPr id="11" name="Text 7"/>
          <p:cNvSpPr/>
          <p:nvPr/>
        </p:nvSpPr>
        <p:spPr>
          <a:xfrm>
            <a:off x="5076230" y="3532227"/>
            <a:ext cx="130612" cy="388977"/>
          </a:xfrm>
          <a:prstGeom prst="rect">
            <a:avLst/>
          </a:prstGeom>
          <a:noFill/>
          <a:ln/>
        </p:spPr>
        <p:txBody>
          <a:bodyPr wrap="none" rtlCol="0" anchor="t"/>
          <a:lstStyle/>
          <a:p>
            <a:pPr marL="0" indent="0" algn="ctr">
              <a:lnSpc>
                <a:spcPts val="3063"/>
              </a:lnSpc>
              <a:buNone/>
            </a:pPr>
            <a:r>
              <a:rPr lang="en-US" sz="1914" dirty="0">
                <a:solidFill>
                  <a:srgbClr val="38512F"/>
                </a:solidFill>
                <a:latin typeface="Lora" pitchFamily="34" charset="0"/>
                <a:ea typeface="Lora" pitchFamily="34" charset="-122"/>
                <a:cs typeface="Lora" pitchFamily="34" charset="-120"/>
              </a:rPr>
              <a:t>2</a:t>
            </a:r>
            <a:endParaRPr lang="en-US" sz="1914" dirty="0"/>
          </a:p>
        </p:txBody>
      </p:sp>
      <p:sp>
        <p:nvSpPr>
          <p:cNvPr id="12" name="Text 8"/>
          <p:cNvSpPr/>
          <p:nvPr/>
        </p:nvSpPr>
        <p:spPr>
          <a:xfrm>
            <a:off x="6770489" y="3361015"/>
            <a:ext cx="2430780" cy="303848"/>
          </a:xfrm>
          <a:prstGeom prst="rect">
            <a:avLst/>
          </a:prstGeom>
          <a:noFill/>
          <a:ln/>
        </p:spPr>
        <p:txBody>
          <a:bodyPr wrap="none" rtlCol="0" anchor="t"/>
          <a:lstStyle/>
          <a:p>
            <a:pPr marL="0" indent="0" algn="l">
              <a:lnSpc>
                <a:spcPts val="2393"/>
              </a:lnSpc>
              <a:buNone/>
            </a:pPr>
            <a:r>
              <a:rPr lang="en-US" sz="1914" b="1" dirty="0">
                <a:solidFill>
                  <a:srgbClr val="38512F"/>
                </a:solidFill>
                <a:latin typeface="Lora" pitchFamily="34" charset="0"/>
                <a:ea typeface="Lora" pitchFamily="34" charset="-122"/>
                <a:cs typeface="Lora" pitchFamily="34" charset="-120"/>
              </a:rPr>
              <a:t>Application</a:t>
            </a:r>
            <a:endParaRPr lang="en-US" sz="1914" b="1" dirty="0"/>
          </a:p>
        </p:txBody>
      </p:sp>
      <p:sp>
        <p:nvSpPr>
          <p:cNvPr id="13" name="Text 9"/>
          <p:cNvSpPr/>
          <p:nvPr/>
        </p:nvSpPr>
        <p:spPr>
          <a:xfrm>
            <a:off x="6770489" y="3781544"/>
            <a:ext cx="3747254" cy="310991"/>
          </a:xfrm>
          <a:prstGeom prst="rect">
            <a:avLst/>
          </a:prstGeom>
          <a:noFill/>
          <a:ln/>
        </p:spPr>
        <p:txBody>
          <a:bodyPr wrap="none" rtlCol="0" anchor="t"/>
          <a:lstStyle/>
          <a:p>
            <a:pPr marL="0" indent="0" algn="l">
              <a:lnSpc>
                <a:spcPts val="2450"/>
              </a:lnSpc>
              <a:buNone/>
            </a:pPr>
            <a:r>
              <a:rPr lang="en-US" b="1" dirty="0">
                <a:solidFill>
                  <a:srgbClr val="3A3630"/>
                </a:solidFill>
                <a:latin typeface="Source Sans Pro" pitchFamily="34" charset="0"/>
                <a:ea typeface="Source Sans Pro" pitchFamily="34" charset="-122"/>
                <a:cs typeface="Source Sans Pro" pitchFamily="34" charset="-120"/>
              </a:rPr>
              <a:t>Implementing RL circuits in real-world designs</a:t>
            </a:r>
            <a:endParaRPr lang="en-US" b="1" dirty="0"/>
          </a:p>
        </p:txBody>
      </p:sp>
      <p:sp>
        <p:nvSpPr>
          <p:cNvPr id="14" name="Shape 10"/>
          <p:cNvSpPr/>
          <p:nvPr/>
        </p:nvSpPr>
        <p:spPr>
          <a:xfrm>
            <a:off x="6624637" y="4456152"/>
            <a:ext cx="4988838" cy="12144"/>
          </a:xfrm>
          <a:prstGeom prst="rect">
            <a:avLst/>
          </a:prstGeom>
          <a:solidFill>
            <a:srgbClr val="38512F"/>
          </a:solidFill>
          <a:ln/>
        </p:spPr>
      </p:sp>
      <p:pic>
        <p:nvPicPr>
          <p:cNvPr id="15" name="Image 2" descr="preencoded.png"/>
          <p:cNvPicPr>
            <a:picLocks noChangeAspect="1"/>
          </p:cNvPicPr>
          <p:nvPr/>
        </p:nvPicPr>
        <p:blipFill>
          <a:blip r:embed="rId5"/>
          <a:stretch>
            <a:fillRect/>
          </a:stretch>
        </p:blipFill>
        <p:spPr>
          <a:xfrm>
            <a:off x="2989898" y="4491038"/>
            <a:ext cx="4303395" cy="1431369"/>
          </a:xfrm>
          <a:prstGeom prst="rect">
            <a:avLst/>
          </a:prstGeom>
        </p:spPr>
      </p:pic>
      <p:sp>
        <p:nvSpPr>
          <p:cNvPr id="16" name="Text 11"/>
          <p:cNvSpPr/>
          <p:nvPr/>
        </p:nvSpPr>
        <p:spPr>
          <a:xfrm>
            <a:off x="5073848" y="5012174"/>
            <a:ext cx="135374" cy="388977"/>
          </a:xfrm>
          <a:prstGeom prst="rect">
            <a:avLst/>
          </a:prstGeom>
          <a:noFill/>
          <a:ln/>
        </p:spPr>
        <p:txBody>
          <a:bodyPr wrap="none" rtlCol="0" anchor="t"/>
          <a:lstStyle/>
          <a:p>
            <a:pPr marL="0" indent="0" algn="ctr">
              <a:lnSpc>
                <a:spcPts val="3063"/>
              </a:lnSpc>
              <a:buNone/>
            </a:pPr>
            <a:r>
              <a:rPr lang="en-US" sz="1914" dirty="0">
                <a:solidFill>
                  <a:srgbClr val="38512F"/>
                </a:solidFill>
                <a:latin typeface="Lora" pitchFamily="34" charset="0"/>
                <a:ea typeface="Lora" pitchFamily="34" charset="-122"/>
                <a:cs typeface="Lora" pitchFamily="34" charset="-120"/>
              </a:rPr>
              <a:t>3</a:t>
            </a:r>
            <a:endParaRPr lang="en-US" sz="1914" dirty="0"/>
          </a:p>
        </p:txBody>
      </p:sp>
      <p:sp>
        <p:nvSpPr>
          <p:cNvPr id="17" name="Text 12"/>
          <p:cNvSpPr/>
          <p:nvPr/>
        </p:nvSpPr>
        <p:spPr>
          <a:xfrm>
            <a:off x="7487722" y="4685467"/>
            <a:ext cx="2430780" cy="303848"/>
          </a:xfrm>
          <a:prstGeom prst="rect">
            <a:avLst/>
          </a:prstGeom>
          <a:noFill/>
          <a:ln/>
        </p:spPr>
        <p:txBody>
          <a:bodyPr wrap="none" rtlCol="0" anchor="t"/>
          <a:lstStyle/>
          <a:p>
            <a:pPr marL="0" indent="0" algn="l">
              <a:lnSpc>
                <a:spcPts val="2393"/>
              </a:lnSpc>
              <a:buNone/>
            </a:pPr>
            <a:r>
              <a:rPr lang="en-US" sz="1914" b="1" dirty="0">
                <a:solidFill>
                  <a:srgbClr val="38512F"/>
                </a:solidFill>
                <a:latin typeface="Lora" pitchFamily="34" charset="0"/>
                <a:ea typeface="Lora" pitchFamily="34" charset="-122"/>
                <a:cs typeface="Lora" pitchFamily="34" charset="-120"/>
              </a:rPr>
              <a:t>Analysis</a:t>
            </a:r>
            <a:endParaRPr lang="en-US" sz="1914" b="1" dirty="0"/>
          </a:p>
        </p:txBody>
      </p:sp>
      <p:sp>
        <p:nvSpPr>
          <p:cNvPr id="18" name="Text 13"/>
          <p:cNvSpPr/>
          <p:nvPr/>
        </p:nvSpPr>
        <p:spPr>
          <a:xfrm>
            <a:off x="7487722" y="5105995"/>
            <a:ext cx="3979902" cy="621983"/>
          </a:xfrm>
          <a:prstGeom prst="rect">
            <a:avLst/>
          </a:prstGeom>
          <a:noFill/>
          <a:ln/>
        </p:spPr>
        <p:txBody>
          <a:bodyPr wrap="square" rtlCol="0" anchor="t"/>
          <a:lstStyle/>
          <a:p>
            <a:pPr marL="0" indent="0" algn="l">
              <a:lnSpc>
                <a:spcPts val="2450"/>
              </a:lnSpc>
              <a:buNone/>
            </a:pPr>
            <a:r>
              <a:rPr lang="en-US" sz="1600" b="1" dirty="0">
                <a:solidFill>
                  <a:srgbClr val="3A3630"/>
                </a:solidFill>
                <a:latin typeface="Source Sans Pro" pitchFamily="34" charset="0"/>
                <a:ea typeface="Source Sans Pro" pitchFamily="34" charset="-122"/>
                <a:cs typeface="Source Sans Pro" pitchFamily="34" charset="-120"/>
              </a:rPr>
              <a:t>Leveraging numerical techniques for RL circuit optimization</a:t>
            </a:r>
            <a:endParaRPr lang="en-US" sz="1600" b="1" dirty="0"/>
          </a:p>
        </p:txBody>
      </p:sp>
      <p:sp>
        <p:nvSpPr>
          <p:cNvPr id="19" name="Text 14"/>
          <p:cNvSpPr/>
          <p:nvPr/>
        </p:nvSpPr>
        <p:spPr>
          <a:xfrm>
            <a:off x="2082800" y="6141124"/>
            <a:ext cx="10147300" cy="1834475"/>
          </a:xfrm>
          <a:prstGeom prst="rect">
            <a:avLst/>
          </a:prstGeom>
          <a:noFill/>
          <a:ln/>
        </p:spPr>
        <p:txBody>
          <a:bodyPr wrap="square" rtlCol="0" anchor="t"/>
          <a:lstStyle/>
          <a:p>
            <a:pPr marL="0" indent="0">
              <a:lnSpc>
                <a:spcPts val="2450"/>
              </a:lnSpc>
              <a:buNone/>
            </a:pPr>
            <a:r>
              <a:rPr lang="en-US" sz="1531" b="1" i="1" dirty="0">
                <a:solidFill>
                  <a:srgbClr val="3A3630"/>
                </a:solidFill>
                <a:latin typeface="Source Sans Pro" pitchFamily="34" charset="0"/>
                <a:ea typeface="Source Sans Pro" pitchFamily="34" charset="-122"/>
                <a:cs typeface="Source Sans Pro" pitchFamily="34" charset="-120"/>
              </a:rPr>
              <a:t>In conclusion, the journey through RL circuit theory and numerical analysis has equipped us with a solid foundation to tackle increasingly complex electrical engineering challenges. By mastering the underlying principles, we can confidently apply RL circuits in a wide range of practical applications, from industrial automation to medical devices. The powerful numerical analysis tools we've explored will enable us to optimize RL circuit designs, pushing the boundaries of efficiency and performance.</a:t>
            </a:r>
            <a:endParaRPr lang="en-US" sz="1531" b="1" i="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2409</TotalTime>
  <Words>839</Words>
  <Application>Microsoft Office PowerPoint</Application>
  <PresentationFormat>Custom</PresentationFormat>
  <Paragraphs>141</Paragraphs>
  <Slides>12</Slides>
  <Notes>10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Windows User</cp:lastModifiedBy>
  <cp:revision>47</cp:revision>
  <dcterms:created xsi:type="dcterms:W3CDTF">2024-04-24T18:57:46Z</dcterms:created>
  <dcterms:modified xsi:type="dcterms:W3CDTF">2024-04-29T21:12:47Z</dcterms:modified>
</cp:coreProperties>
</file>
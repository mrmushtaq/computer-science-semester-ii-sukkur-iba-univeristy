
<file path=[Content_Types].xml><?xml version="1.0" encoding="utf-8"?>
<Types xmlns="http://schemas.openxmlformats.org/package/2006/content-types">
  <Default Extension="png" ContentType="image/png"/>
  <Default Extension="web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5" r:id="rId2"/>
    <p:sldId id="264" r:id="rId3"/>
    <p:sldId id="256" r:id="rId4"/>
    <p:sldId id="258" r:id="rId5"/>
    <p:sldId id="259" r:id="rId6"/>
    <p:sldId id="262" r:id="rId7"/>
    <p:sldId id="260" r:id="rId8"/>
    <p:sldId id="261" r:id="rId9"/>
    <p:sldId id="266" r:id="rId10"/>
    <p:sldId id="267" r:id="rId11"/>
    <p:sldId id="268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45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33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4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46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8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F540E1A-635D-97E8-8AF9-D89F3D882E4B}"/>
              </a:ext>
            </a:extLst>
          </p:cNvPr>
          <p:cNvSpPr txBox="1"/>
          <p:nvPr/>
        </p:nvSpPr>
        <p:spPr>
          <a:xfrm>
            <a:off x="8398934" y="6146800"/>
            <a:ext cx="5808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Mufeedullah Rind</a:t>
            </a:r>
            <a:endParaRPr lang="en-US" sz="3600" b="1" dirty="0"/>
          </a:p>
          <a:p>
            <a:r>
              <a:rPr lang="en-US" sz="3600" b="1" dirty="0" smtClean="0"/>
              <a:t>Saqib Nazeer</a:t>
            </a:r>
            <a:endParaRPr lang="en-US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90EF8A4-CA7D-DF80-39A8-A5BDA02A0B8B}"/>
              </a:ext>
            </a:extLst>
          </p:cNvPr>
          <p:cNvSpPr txBox="1"/>
          <p:nvPr/>
        </p:nvSpPr>
        <p:spPr>
          <a:xfrm>
            <a:off x="1524000" y="1811867"/>
            <a:ext cx="129878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Magnetic field 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force, </a:t>
            </a:r>
            <a:endParaRPr lang="en-US" sz="48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4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 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 Magnetic force on a current , </a:t>
            </a:r>
            <a:endParaRPr lang="en-US" sz="48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4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torque 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 a current loop </a:t>
            </a:r>
            <a:r>
              <a:rPr lang="en-US" sz="4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sz="9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412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AC738E2-6D44-1569-918A-182688A50422}"/>
              </a:ext>
            </a:extLst>
          </p:cNvPr>
          <p:cNvSpPr txBox="1"/>
          <p:nvPr/>
        </p:nvSpPr>
        <p:spPr>
          <a:xfrm>
            <a:off x="3753853" y="1267326"/>
            <a:ext cx="689810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Agenda: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Introduction </a:t>
            </a:r>
            <a:r>
              <a:rPr lang="en-US" sz="3200" b="1" dirty="0" smtClean="0"/>
              <a:t>to </a:t>
            </a:r>
            <a:r>
              <a:rPr lang="en-US" sz="3200" b="1" dirty="0" smtClean="0"/>
              <a:t>Magnets</a:t>
            </a: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Magnetic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Working of Magnetic fields</a:t>
            </a: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Magnetic Forces and its working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Sources of Magnetic force on a </a:t>
            </a:r>
            <a:r>
              <a:rPr lang="en-US" sz="3200" b="1" dirty="0" smtClean="0"/>
              <a:t>current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Torque</a:t>
            </a:r>
            <a:endParaRPr lang="en-US" sz="32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Torque on a current </a:t>
            </a:r>
            <a:r>
              <a:rPr lang="en-US" sz="3200" b="1" dirty="0" smtClean="0"/>
              <a:t>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Applications</a:t>
            </a: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58543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" y="-236799"/>
            <a:ext cx="14797144" cy="8444885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33199" y="2279094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 to </a:t>
            </a:r>
            <a:r>
              <a:rPr lang="en-US" sz="4000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Magnets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25033" y="3785191"/>
            <a:ext cx="7385767" cy="21651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800" dirty="0" smtClean="0">
                <a:solidFill>
                  <a:srgbClr val="000000"/>
                </a:solidFill>
                <a:latin typeface="Gelasio"/>
                <a:ea typeface="Gelasio"/>
                <a:cs typeface="Gelasio" pitchFamily="34" charset="-120"/>
              </a:rPr>
              <a:t>A Magnet is an object that has an special property to attract certain Materials such as Iron, Steel, Nickel and cobalt.</a:t>
            </a:r>
            <a:endParaRPr lang="en-US" sz="2800" dirty="0">
              <a:latin typeface="Gelasio"/>
              <a:ea typeface="Gelasio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156569" y="1712676"/>
            <a:ext cx="7922943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250" y="39477"/>
            <a:ext cx="14630400" cy="8230553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7046" y="395399"/>
            <a:ext cx="5007769" cy="6259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929"/>
              </a:lnSpc>
              <a:buNone/>
            </a:pPr>
            <a:r>
              <a:rPr lang="en-US" sz="4000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Magnetic field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879394" y="4905629"/>
            <a:ext cx="7485777" cy="2315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Magnets consists up of two poles </a:t>
            </a: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North Pole and South Pole</a:t>
            </a: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These poles causes Magnetic field in magnets</a:t>
            </a:r>
            <a:endParaRPr lang="en-US" sz="28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285750" indent="-28575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57820" y="4220528"/>
            <a:ext cx="9514761" cy="3203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24"/>
              </a:lnSpc>
              <a:buNone/>
            </a:pPr>
            <a:endParaRPr lang="en-US" sz="1577" dirty="0"/>
          </a:p>
        </p:txBody>
      </p:sp>
      <p:sp>
        <p:nvSpPr>
          <p:cNvPr id="17" name="Text 12"/>
          <p:cNvSpPr/>
          <p:nvPr/>
        </p:nvSpPr>
        <p:spPr>
          <a:xfrm>
            <a:off x="2017046" y="1021311"/>
            <a:ext cx="7485776" cy="1924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2524"/>
              </a:lnSpc>
              <a:buSzPct val="100000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 Magnetic field is area or a region</a:t>
            </a: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where a magnetic materials experiences</a:t>
            </a:r>
          </a:p>
          <a:p>
            <a:pPr algn="l">
              <a:lnSpc>
                <a:spcPts val="2524"/>
              </a:lnSpc>
              <a:buSzPct val="100000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 force.</a:t>
            </a:r>
            <a:endParaRPr lang="en-US" sz="2800" dirty="0"/>
          </a:p>
        </p:txBody>
      </p:sp>
      <p:sp>
        <p:nvSpPr>
          <p:cNvPr id="18" name="Text 2"/>
          <p:cNvSpPr/>
          <p:nvPr/>
        </p:nvSpPr>
        <p:spPr>
          <a:xfrm>
            <a:off x="1879394" y="3117627"/>
            <a:ext cx="5007769" cy="6259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929"/>
              </a:lnSpc>
              <a:buNone/>
            </a:pPr>
            <a:r>
              <a:rPr lang="en-US" sz="3943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</a:p>
          <a:p>
            <a:pPr marL="0" indent="0">
              <a:lnSpc>
                <a:spcPts val="4929"/>
              </a:lnSpc>
              <a:buNone/>
            </a:pPr>
            <a:r>
              <a:rPr lang="en-US" sz="3943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does Magnets create a Magnetic field</a:t>
            </a:r>
            <a:endParaRPr lang="en-US" sz="394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7153" y="-92231"/>
            <a:ext cx="15129505" cy="8346043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1468517"/>
            <a:ext cx="835211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4374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lasio" pitchFamily="34" charset="0"/>
                <a:ea typeface="Gelasio" pitchFamily="34" charset="-122"/>
                <a:cs typeface="Gelasio" pitchFamily="34" charset="-120"/>
              </a:rPr>
              <a:t>Magnetic</a:t>
            </a:r>
            <a:r>
              <a:rPr lang="en-US" sz="4374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4374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lasio" pitchFamily="34" charset="0"/>
                <a:ea typeface="Gelasio" pitchFamily="34" charset="-122"/>
                <a:cs typeface="Gelasio" pitchFamily="34" charset="-120"/>
              </a:rPr>
              <a:t>Forces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924943"/>
            <a:ext cx="7361646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3200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</a:rPr>
              <a:t>  How does Magnetic force works 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37993" y="3790117"/>
            <a:ext cx="315634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b="1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en-US" sz="2624" dirty="0"/>
          </a:p>
        </p:txBody>
      </p:sp>
      <p:sp>
        <p:nvSpPr>
          <p:cNvPr id="13" name="Text 3"/>
          <p:cNvSpPr/>
          <p:nvPr/>
        </p:nvSpPr>
        <p:spPr>
          <a:xfrm>
            <a:off x="2190393" y="2489845"/>
            <a:ext cx="10554414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</a:rPr>
              <a:t>Magnetic force can be simply defined as Pushing or pulling  between Magnets or  magnetic materials</a:t>
            </a:r>
            <a:endParaRPr lang="en-US" sz="2800" dirty="0"/>
          </a:p>
        </p:txBody>
      </p:sp>
      <p:sp>
        <p:nvSpPr>
          <p:cNvPr id="14" name="Text 3"/>
          <p:cNvSpPr/>
          <p:nvPr/>
        </p:nvSpPr>
        <p:spPr>
          <a:xfrm>
            <a:off x="2037993" y="5111817"/>
            <a:ext cx="7361646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</a:rPr>
              <a:t>  Opposite poles attracts </a:t>
            </a:r>
            <a:endParaRPr lang="en-US" sz="2800" dirty="0"/>
          </a:p>
        </p:txBody>
      </p:sp>
      <p:sp>
        <p:nvSpPr>
          <p:cNvPr id="7" name="AutoShape 2" descr="How Magnets Work"/>
          <p:cNvSpPr>
            <a:spLocks noChangeAspect="1" noChangeArrowheads="1"/>
          </p:cNvSpPr>
          <p:nvPr/>
        </p:nvSpPr>
        <p:spPr bwMode="auto">
          <a:xfrm>
            <a:off x="532093" y="-16597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729" y="4672336"/>
            <a:ext cx="3598601" cy="125864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2190393" y="6915804"/>
            <a:ext cx="7361646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</a:rPr>
              <a:t>  Like poles repels</a:t>
            </a:r>
            <a:endParaRPr lang="en-US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004" y="6430852"/>
            <a:ext cx="3632326" cy="11515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" y="10058"/>
            <a:ext cx="14721840" cy="8229600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3078949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66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Torque on a current Loop</a:t>
            </a:r>
            <a:endParaRPr lang="en-US" sz="6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-167269"/>
            <a:ext cx="14630400" cy="8564137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1340882"/>
            <a:ext cx="7014448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1822840" y="945704"/>
            <a:ext cx="5836605" cy="6053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4000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is Torque ?</a:t>
            </a:r>
            <a:endParaRPr lang="en-US" sz="4000" b="1" dirty="0"/>
          </a:p>
        </p:txBody>
      </p:sp>
      <p:sp>
        <p:nvSpPr>
          <p:cNvPr id="6" name="Text 4"/>
          <p:cNvSpPr/>
          <p:nvPr/>
        </p:nvSpPr>
        <p:spPr>
          <a:xfrm>
            <a:off x="1822840" y="1731814"/>
            <a:ext cx="12592407" cy="20002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99"/>
              </a:lnSpc>
              <a:buSzPct val="100000"/>
            </a:pPr>
            <a:r>
              <a:rPr lang="en-US" sz="2800" dirty="0">
                <a:latin typeface="Gelasio"/>
                <a:ea typeface="Gelasio"/>
              </a:rPr>
              <a:t>Torque is a measure of the rotational force applied to an object. </a:t>
            </a:r>
            <a:endParaRPr lang="en-US" sz="2800" dirty="0" smtClean="0">
              <a:latin typeface="Gelasio"/>
              <a:ea typeface="Gelasio"/>
            </a:endParaRPr>
          </a:p>
          <a:p>
            <a:pPr>
              <a:lnSpc>
                <a:spcPts val="2799"/>
              </a:lnSpc>
              <a:buSzPct val="100000"/>
            </a:pPr>
            <a:r>
              <a:rPr lang="en-US" sz="2800" dirty="0" smtClean="0">
                <a:latin typeface="Gelasio"/>
                <a:ea typeface="Gelasio"/>
              </a:rPr>
              <a:t>It's </a:t>
            </a:r>
            <a:r>
              <a:rPr lang="en-US" sz="2800" dirty="0">
                <a:latin typeface="Gelasio"/>
                <a:ea typeface="Gelasio"/>
              </a:rPr>
              <a:t>often represented by the symbol "τ" and is calculated by multiplying the force </a:t>
            </a:r>
            <a:endParaRPr lang="en-US" sz="2800" dirty="0" smtClean="0">
              <a:latin typeface="Gelasio"/>
              <a:ea typeface="Gelasio"/>
            </a:endParaRPr>
          </a:p>
          <a:p>
            <a:pPr>
              <a:lnSpc>
                <a:spcPts val="2799"/>
              </a:lnSpc>
              <a:buSzPct val="100000"/>
            </a:pPr>
            <a:r>
              <a:rPr lang="en-US" sz="2800" dirty="0" smtClean="0">
                <a:latin typeface="Gelasio"/>
                <a:ea typeface="Gelasio"/>
              </a:rPr>
              <a:t>applied </a:t>
            </a:r>
            <a:r>
              <a:rPr lang="en-US" sz="2800" dirty="0">
                <a:latin typeface="Gelasio"/>
                <a:ea typeface="Gelasio"/>
              </a:rPr>
              <a:t>to an </a:t>
            </a:r>
            <a:r>
              <a:rPr lang="en-US" sz="2800" dirty="0" smtClean="0">
                <a:latin typeface="Gelasio"/>
                <a:ea typeface="Gelasio"/>
              </a:rPr>
              <a:t>object</a:t>
            </a:r>
          </a:p>
          <a:p>
            <a:pPr>
              <a:lnSpc>
                <a:spcPts val="2799"/>
              </a:lnSpc>
              <a:buSzPct val="100000"/>
            </a:pPr>
            <a:r>
              <a:rPr lang="en-US" sz="2800" dirty="0" smtClean="0">
                <a:latin typeface="Gelasio"/>
                <a:ea typeface="Gelasio"/>
              </a:rPr>
              <a:t>by </a:t>
            </a:r>
            <a:r>
              <a:rPr lang="en-US" sz="2800" dirty="0">
                <a:latin typeface="Gelasio"/>
                <a:ea typeface="Gelasio"/>
              </a:rPr>
              <a:t>the distance from the axis of rotation to the point where the force is applied. </a:t>
            </a:r>
          </a:p>
        </p:txBody>
      </p:sp>
      <p:sp>
        <p:nvSpPr>
          <p:cNvPr id="12" name="Text 4"/>
          <p:cNvSpPr/>
          <p:nvPr/>
        </p:nvSpPr>
        <p:spPr>
          <a:xfrm>
            <a:off x="1822840" y="3780093"/>
            <a:ext cx="12347080" cy="21219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99"/>
              </a:lnSpc>
              <a:buSzPct val="100000"/>
            </a:pPr>
            <a:r>
              <a:rPr lang="en-US" sz="3200" b="1" dirty="0"/>
              <a:t>In simpler terms, it's the product of force and the distance from </a:t>
            </a:r>
            <a:endParaRPr lang="en-US" sz="3200" b="1" dirty="0" smtClean="0"/>
          </a:p>
          <a:p>
            <a:pPr>
              <a:lnSpc>
                <a:spcPts val="2799"/>
              </a:lnSpc>
              <a:buSzPct val="100000"/>
            </a:pPr>
            <a:r>
              <a:rPr lang="en-US" sz="3200" b="1" dirty="0" smtClean="0"/>
              <a:t>the </a:t>
            </a:r>
            <a:r>
              <a:rPr lang="en-US" sz="3200" b="1" dirty="0"/>
              <a:t>point of rotation.</a:t>
            </a:r>
          </a:p>
        </p:txBody>
      </p:sp>
      <p:sp>
        <p:nvSpPr>
          <p:cNvPr id="13" name="Text 4"/>
          <p:cNvSpPr/>
          <p:nvPr/>
        </p:nvSpPr>
        <p:spPr>
          <a:xfrm>
            <a:off x="1822840" y="5304381"/>
            <a:ext cx="12347080" cy="21219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r>
              <a:rPr lang="en-US" sz="3200" dirty="0">
                <a:latin typeface="Gelasio"/>
                <a:ea typeface="Gelasio"/>
              </a:rPr>
              <a:t>Mathematically, torque (</a:t>
            </a:r>
            <a:r>
              <a:rPr lang="el-GR" sz="3200" dirty="0">
                <a:ea typeface="Gelasio"/>
              </a:rPr>
              <a:t>τ) </a:t>
            </a:r>
            <a:r>
              <a:rPr lang="en-US" sz="3200" dirty="0">
                <a:latin typeface="Gelasio"/>
                <a:ea typeface="Gelasio"/>
              </a:rPr>
              <a:t>is expressed as:</a:t>
            </a:r>
          </a:p>
          <a:p>
            <a:r>
              <a:rPr lang="en-US" sz="3200" dirty="0">
                <a:latin typeface="Gelasio"/>
                <a:ea typeface="Gelasio"/>
              </a:rPr>
              <a:t>𝜏=𝑟×𝐹×sin⁡(𝜃)</a:t>
            </a:r>
            <a:r>
              <a:rPr lang="el-GR" sz="3200" i="1" dirty="0">
                <a:ea typeface="Gelasio"/>
              </a:rPr>
              <a:t>τ</a:t>
            </a:r>
            <a:r>
              <a:rPr lang="el-GR" sz="3200" dirty="0">
                <a:ea typeface="Gelasio"/>
              </a:rPr>
              <a:t>=</a:t>
            </a:r>
            <a:r>
              <a:rPr lang="en-US" sz="3200" i="1" dirty="0" err="1">
                <a:latin typeface="Gelasio"/>
                <a:ea typeface="Gelasio"/>
              </a:rPr>
              <a:t>r</a:t>
            </a:r>
            <a:r>
              <a:rPr lang="en-US" sz="3200" dirty="0" err="1">
                <a:latin typeface="Gelasio"/>
                <a:ea typeface="Gelasio"/>
              </a:rPr>
              <a:t>×</a:t>
            </a:r>
            <a:r>
              <a:rPr lang="en-US" sz="3200" i="1" dirty="0" err="1">
                <a:latin typeface="Gelasio"/>
                <a:ea typeface="Gelasio"/>
              </a:rPr>
              <a:t>F</a:t>
            </a:r>
            <a:r>
              <a:rPr lang="en-US" sz="3200" dirty="0" err="1">
                <a:latin typeface="Gelasio"/>
                <a:ea typeface="Gelasio"/>
              </a:rPr>
              <a:t>×sin</a:t>
            </a:r>
            <a:r>
              <a:rPr lang="en-US" sz="3200" dirty="0">
                <a:latin typeface="Gelasio"/>
                <a:ea typeface="Gelasio"/>
              </a:rPr>
              <a:t>(</a:t>
            </a:r>
            <a:r>
              <a:rPr lang="el-GR" sz="3200" i="1" dirty="0">
                <a:ea typeface="Gelasio"/>
              </a:rPr>
              <a:t>θ</a:t>
            </a:r>
            <a:r>
              <a:rPr lang="el-GR" sz="3200" dirty="0" smtClean="0">
                <a:ea typeface="Gelasio"/>
              </a:rPr>
              <a:t>)</a:t>
            </a:r>
            <a:endParaRPr lang="en-US" sz="3200" dirty="0" smtClean="0">
              <a:latin typeface="Gelasio"/>
              <a:ea typeface="Gelasi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elasio"/>
                <a:ea typeface="Gelasio"/>
              </a:rPr>
              <a:t>When </a:t>
            </a:r>
            <a:r>
              <a:rPr lang="en-US" sz="3200" dirty="0">
                <a:latin typeface="Gelasio"/>
                <a:ea typeface="Gelasio"/>
              </a:rPr>
              <a:t>you </a:t>
            </a:r>
            <a:r>
              <a:rPr lang="en-US" sz="2800" dirty="0">
                <a:latin typeface="Gelasio"/>
                <a:ea typeface="Gelasio"/>
              </a:rPr>
              <a:t>open</a:t>
            </a:r>
            <a:r>
              <a:rPr lang="en-US" sz="3200" dirty="0">
                <a:latin typeface="Gelasio"/>
                <a:ea typeface="Gelasio"/>
              </a:rPr>
              <a:t> / close a door</a:t>
            </a:r>
            <a:r>
              <a:rPr lang="en-US" sz="3200" dirty="0" smtClean="0">
                <a:latin typeface="Gelasio"/>
                <a:ea typeface="Gelasio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elasio"/>
                <a:ea typeface="Gelasio"/>
              </a:rPr>
              <a:t>Opening a bottle </a:t>
            </a:r>
            <a:r>
              <a:rPr lang="en-US" sz="3200" dirty="0" smtClean="0">
                <a:latin typeface="Gelasio"/>
                <a:ea typeface="Gelasio"/>
              </a:rPr>
              <a:t>cap.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l-GR" sz="3200" dirty="0">
              <a:ea typeface="Gelasi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91386" y="-1"/>
            <a:ext cx="14630400" cy="8229600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85269" y="646974"/>
            <a:ext cx="7405568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Torque on a current Loop</a:t>
            </a:r>
            <a:endParaRPr lang="en-US" sz="4374" dirty="0"/>
          </a:p>
        </p:txBody>
      </p:sp>
      <p:sp>
        <p:nvSpPr>
          <p:cNvPr id="15" name="Text 2"/>
          <p:cNvSpPr/>
          <p:nvPr/>
        </p:nvSpPr>
        <p:spPr>
          <a:xfrm>
            <a:off x="-78060" y="2112407"/>
            <a:ext cx="14708459" cy="24707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 smtClean="0"/>
          </a:p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1796901" y="1889123"/>
            <a:ext cx="797442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Gelasio"/>
                <a:ea typeface="Gelasio"/>
              </a:rPr>
              <a:t>T</a:t>
            </a:r>
            <a:r>
              <a:rPr kumimoji="0" 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lasio"/>
                <a:ea typeface="Gelasio"/>
              </a:rPr>
              <a:t>he magnetic field pushes or pulls on the wires in the loop, causing it to want to turn or rotate. This turning force is what we call torque on a </a:t>
            </a:r>
            <a:r>
              <a:rPr lang="en-US" sz="2800" dirty="0">
                <a:latin typeface="Gelasio"/>
                <a:ea typeface="Gelasio"/>
              </a:rPr>
              <a:t>current loop</a:t>
            </a:r>
            <a:r>
              <a:rPr lang="en-US" sz="2800" dirty="0" smtClean="0">
                <a:latin typeface="Gelasio"/>
                <a:ea typeface="Gelasio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800" dirty="0">
                <a:latin typeface="Gelasio"/>
                <a:ea typeface="Gelasio"/>
              </a:rPr>
              <a:t>τ = N I A B sin </a:t>
            </a:r>
            <a:r>
              <a:rPr lang="pt-BR" sz="2800" dirty="0" smtClean="0">
                <a:latin typeface="Gelasio"/>
                <a:ea typeface="Gelasio"/>
              </a:rPr>
              <a:t>θ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Gelasio"/>
                <a:ea typeface="Gelasio"/>
              </a:rPr>
              <a:t>The </a:t>
            </a:r>
            <a:r>
              <a:rPr lang="en-US" sz="2800" dirty="0">
                <a:latin typeface="Gelasio"/>
                <a:ea typeface="Gelasio"/>
              </a:rPr>
              <a:t>loop carries a current I , has N turns, each of area A , and the perpendicular to the loop makes an angle θ with the field B .</a:t>
            </a:r>
            <a:endParaRPr lang="en-US" sz="2800" b="1" dirty="0" smtClean="0">
              <a:latin typeface="Gelasio"/>
              <a:ea typeface="Gelasio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elasio"/>
              <a:ea typeface="Gelasio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elasio"/>
              <a:ea typeface="Gelasio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0"/>
            <a:ext cx="27733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183" y="4583150"/>
            <a:ext cx="4363262" cy="3295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2957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" y="-159069"/>
            <a:ext cx="14721840" cy="8229600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37993" y="1099235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4000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Applications</a:t>
            </a:r>
          </a:p>
          <a:p>
            <a:pPr>
              <a:lnSpc>
                <a:spcPts val="5468"/>
              </a:lnSpc>
            </a:pPr>
            <a:endParaRPr lang="en-US" sz="4000" b="1" dirty="0"/>
          </a:p>
        </p:txBody>
      </p:sp>
      <p:sp>
        <p:nvSpPr>
          <p:cNvPr id="5" name="Text 2"/>
          <p:cNvSpPr/>
          <p:nvPr/>
        </p:nvSpPr>
        <p:spPr>
          <a:xfrm>
            <a:off x="2037993" y="2400256"/>
            <a:ext cx="4053525" cy="6677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3200" b="1" dirty="0" smtClean="0">
                <a:latin typeface="Gelasio"/>
                <a:ea typeface="Gelasio"/>
              </a:rPr>
              <a:t>  Electric Motors</a:t>
            </a:r>
            <a:endParaRPr lang="en-US" sz="4400" b="1" dirty="0">
              <a:latin typeface="Gelasio"/>
              <a:ea typeface="Gelasio"/>
            </a:endParaRPr>
          </a:p>
        </p:txBody>
      </p:sp>
      <p:sp>
        <p:nvSpPr>
          <p:cNvPr id="8" name="Text 2"/>
          <p:cNvSpPr/>
          <p:nvPr/>
        </p:nvSpPr>
        <p:spPr>
          <a:xfrm>
            <a:off x="1717055" y="4369070"/>
            <a:ext cx="4053525" cy="6677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3600" b="1" dirty="0" smtClean="0"/>
              <a:t>     Transformers</a:t>
            </a:r>
            <a:endParaRPr lang="en-US" sz="3600" b="1" dirty="0"/>
          </a:p>
        </p:txBody>
      </p:sp>
      <p:sp>
        <p:nvSpPr>
          <p:cNvPr id="9" name="Text 2"/>
          <p:cNvSpPr/>
          <p:nvPr/>
        </p:nvSpPr>
        <p:spPr>
          <a:xfrm>
            <a:off x="1717055" y="5961186"/>
            <a:ext cx="4053525" cy="6677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3200" b="1" dirty="0" smtClean="0">
                <a:latin typeface="Gelasio"/>
                <a:ea typeface="Gelasio"/>
              </a:rPr>
              <a:t>     MRI Machines</a:t>
            </a:r>
            <a:endParaRPr lang="en-US" sz="3200" b="1" dirty="0">
              <a:latin typeface="Gelasio"/>
              <a:ea typeface="Gelasio"/>
            </a:endParaRPr>
          </a:p>
        </p:txBody>
      </p:sp>
      <p:sp>
        <p:nvSpPr>
          <p:cNvPr id="10" name="Text 2"/>
          <p:cNvSpPr/>
          <p:nvPr/>
        </p:nvSpPr>
        <p:spPr>
          <a:xfrm>
            <a:off x="2179674" y="3239585"/>
            <a:ext cx="11688059" cy="117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dirty="0" smtClean="0">
                <a:latin typeface="Gelasio"/>
                <a:ea typeface="Gelasio"/>
              </a:rPr>
              <a:t>Electric </a:t>
            </a:r>
            <a:r>
              <a:rPr lang="en-US" sz="2800" dirty="0">
                <a:latin typeface="Gelasio"/>
                <a:ea typeface="Gelasio"/>
              </a:rPr>
              <a:t>motors use the interaction between magnetic fields and </a:t>
            </a:r>
            <a:r>
              <a:rPr lang="en-US" sz="2800" dirty="0" smtClean="0">
                <a:latin typeface="Gelasio"/>
                <a:ea typeface="Gelasio"/>
              </a:rPr>
              <a:t>current-carrying conductors </a:t>
            </a:r>
            <a:r>
              <a:rPr lang="en-US" sz="2800" dirty="0">
                <a:latin typeface="Gelasio"/>
                <a:ea typeface="Gelasio"/>
              </a:rPr>
              <a:t>to produce mechanical motion.</a:t>
            </a:r>
            <a:endParaRPr lang="en-US" sz="2800" b="1" dirty="0">
              <a:latin typeface="Gelasio"/>
              <a:ea typeface="Gelasio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515036" y="5165598"/>
            <a:ext cx="12011495" cy="1353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dirty="0" smtClean="0">
                <a:latin typeface="Gelasio"/>
                <a:ea typeface="Gelasio"/>
              </a:rPr>
              <a:t>       Transformers </a:t>
            </a:r>
            <a:r>
              <a:rPr lang="en-US" sz="2800" dirty="0">
                <a:latin typeface="Gelasio"/>
                <a:ea typeface="Gelasio"/>
              </a:rPr>
              <a:t>help get electricity from power plants to our homes. </a:t>
            </a:r>
            <a:endParaRPr lang="en-US" sz="2800" b="1" dirty="0">
              <a:latin typeface="Gelasio"/>
              <a:ea typeface="Gelasio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515035" y="6707720"/>
            <a:ext cx="12011495" cy="7168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dirty="0" smtClean="0">
                <a:latin typeface="Gelasio"/>
                <a:ea typeface="Gelasio"/>
              </a:rPr>
              <a:t>        When </a:t>
            </a:r>
            <a:r>
              <a:rPr lang="en-US" sz="2800" dirty="0">
                <a:latin typeface="Gelasio"/>
                <a:ea typeface="Gelasio"/>
              </a:rPr>
              <a:t>doctors need to see inside your body, they use MRI machines.</a:t>
            </a:r>
            <a:endParaRPr lang="en-US" sz="2800" b="1" dirty="0">
              <a:latin typeface="Gelasio"/>
              <a:ea typeface="Gelasio"/>
            </a:endParaRPr>
          </a:p>
        </p:txBody>
      </p:sp>
    </p:spTree>
    <p:extLst>
      <p:ext uri="{BB962C8B-B14F-4D97-AF65-F5344CB8AC3E}">
        <p14:creationId xmlns:p14="http://schemas.microsoft.com/office/powerpoint/2010/main" val="120258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592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37419" y="3178852"/>
            <a:ext cx="7207686" cy="66472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235"/>
              </a:lnSpc>
              <a:buNone/>
            </a:pPr>
            <a:r>
              <a:rPr lang="en-US" sz="4188" b="1" dirty="0" smtClean="0"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Conclusion</a:t>
            </a:r>
            <a:endParaRPr lang="en-US" sz="4188" b="1" dirty="0"/>
          </a:p>
        </p:txBody>
      </p:sp>
      <p:sp>
        <p:nvSpPr>
          <p:cNvPr id="6" name="Shape 3"/>
          <p:cNvSpPr/>
          <p:nvPr/>
        </p:nvSpPr>
        <p:spPr>
          <a:xfrm>
            <a:off x="2262545" y="4395192"/>
            <a:ext cx="478631" cy="478631"/>
          </a:xfrm>
          <a:prstGeom prst="roundRect">
            <a:avLst>
              <a:gd name="adj" fmla="val 13335"/>
            </a:avLst>
          </a:prstGeom>
          <a:solidFill>
            <a:srgbClr val="F6F0E4"/>
          </a:solidFill>
          <a:ln/>
        </p:spPr>
      </p:sp>
      <p:sp>
        <p:nvSpPr>
          <p:cNvPr id="7" name="Text 4"/>
          <p:cNvSpPr/>
          <p:nvPr/>
        </p:nvSpPr>
        <p:spPr>
          <a:xfrm>
            <a:off x="2426970" y="4435078"/>
            <a:ext cx="149662" cy="398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41"/>
              </a:lnSpc>
              <a:buNone/>
            </a:pPr>
            <a:r>
              <a:rPr lang="en-US" sz="2513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1</a:t>
            </a:r>
            <a:endParaRPr lang="en-US" sz="2513" dirty="0"/>
          </a:p>
        </p:txBody>
      </p:sp>
      <p:sp>
        <p:nvSpPr>
          <p:cNvPr id="8" name="Text 5"/>
          <p:cNvSpPr/>
          <p:nvPr/>
        </p:nvSpPr>
        <p:spPr>
          <a:xfrm>
            <a:off x="2953822" y="4468297"/>
            <a:ext cx="2535436" cy="664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17"/>
              </a:lnSpc>
              <a:buNone/>
            </a:pPr>
            <a:r>
              <a:rPr lang="en-US" sz="2400" b="1" dirty="0"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Magnetic Fields and Forces</a:t>
            </a:r>
            <a:endParaRPr lang="en-US" sz="2400" b="1" dirty="0"/>
          </a:p>
        </p:txBody>
      </p:sp>
      <p:sp>
        <p:nvSpPr>
          <p:cNvPr id="9" name="Text 6"/>
          <p:cNvSpPr/>
          <p:nvPr/>
        </p:nvSpPr>
        <p:spPr>
          <a:xfrm>
            <a:off x="2953822" y="5260777"/>
            <a:ext cx="3076098" cy="2042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80"/>
              </a:lnSpc>
            </a:pPr>
            <a:r>
              <a:rPr lang="en-US" sz="2400" dirty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Magnetic fields can be created by electric currents and permanent </a:t>
            </a:r>
            <a:r>
              <a:rPr lang="en-US" sz="2400" dirty="0" smtClean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magnets</a:t>
            </a:r>
          </a:p>
          <a:p>
            <a:pPr>
              <a:lnSpc>
                <a:spcPts val="2680"/>
              </a:lnSpc>
            </a:pPr>
            <a:endParaRPr lang="en-US" sz="2400" dirty="0">
              <a:latin typeface="Gelasio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01903" y="4395192"/>
            <a:ext cx="478631" cy="478631"/>
          </a:xfrm>
          <a:prstGeom prst="roundRect">
            <a:avLst>
              <a:gd name="adj" fmla="val 13335"/>
            </a:avLst>
          </a:prstGeom>
          <a:solidFill>
            <a:srgbClr val="F6F0E4"/>
          </a:solidFill>
          <a:ln/>
        </p:spPr>
      </p:sp>
      <p:sp>
        <p:nvSpPr>
          <p:cNvPr id="11" name="Text 8"/>
          <p:cNvSpPr/>
          <p:nvPr/>
        </p:nvSpPr>
        <p:spPr>
          <a:xfrm>
            <a:off x="5852517" y="4435078"/>
            <a:ext cx="177403" cy="398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41"/>
              </a:lnSpc>
              <a:buNone/>
            </a:pPr>
            <a:r>
              <a:rPr lang="en-US" sz="2513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2</a:t>
            </a:r>
            <a:endParaRPr lang="en-US" sz="2513" dirty="0"/>
          </a:p>
        </p:txBody>
      </p:sp>
      <p:sp>
        <p:nvSpPr>
          <p:cNvPr id="12" name="Text 9"/>
          <p:cNvSpPr/>
          <p:nvPr/>
        </p:nvSpPr>
        <p:spPr>
          <a:xfrm>
            <a:off x="6393180" y="4468297"/>
            <a:ext cx="2535436" cy="664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17"/>
              </a:lnSpc>
              <a:buNone/>
            </a:pPr>
            <a:r>
              <a:rPr lang="en-US" sz="2400" b="1" dirty="0"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Torque on Current Loops</a:t>
            </a:r>
            <a:endParaRPr lang="en-US" sz="2400" b="1" dirty="0"/>
          </a:p>
        </p:txBody>
      </p:sp>
      <p:sp>
        <p:nvSpPr>
          <p:cNvPr id="13" name="Text 10"/>
          <p:cNvSpPr/>
          <p:nvPr/>
        </p:nvSpPr>
        <p:spPr>
          <a:xfrm>
            <a:off x="6393179" y="5260776"/>
            <a:ext cx="3226713" cy="2042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8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When a current-carrying loop is placed in a magnetic field, a torque is exerted on the loop, causing it to rotate and align </a:t>
            </a:r>
            <a:r>
              <a:rPr lang="en-US" sz="2400" dirty="0" smtClean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with </a:t>
            </a:r>
            <a:r>
              <a:rPr lang="en-US" sz="2400" dirty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the field.</a:t>
            </a:r>
            <a:endParaRPr lang="en-US" sz="2400" dirty="0">
              <a:latin typeface="Gelasio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1262" y="4395192"/>
            <a:ext cx="478631" cy="478631"/>
          </a:xfrm>
          <a:prstGeom prst="roundRect">
            <a:avLst>
              <a:gd name="adj" fmla="val 13335"/>
            </a:avLst>
          </a:prstGeom>
          <a:solidFill>
            <a:srgbClr val="F6F0E4"/>
          </a:solidFill>
          <a:ln/>
        </p:spPr>
      </p:sp>
      <p:sp>
        <p:nvSpPr>
          <p:cNvPr id="15" name="Text 12"/>
          <p:cNvSpPr/>
          <p:nvPr/>
        </p:nvSpPr>
        <p:spPr>
          <a:xfrm>
            <a:off x="9290923" y="4435078"/>
            <a:ext cx="179308" cy="398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41"/>
              </a:lnSpc>
              <a:buNone/>
            </a:pPr>
            <a:r>
              <a:rPr lang="en-US" sz="2513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3</a:t>
            </a:r>
            <a:endParaRPr lang="en-US" sz="2513" dirty="0"/>
          </a:p>
        </p:txBody>
      </p:sp>
      <p:sp>
        <p:nvSpPr>
          <p:cNvPr id="16" name="Text 13"/>
          <p:cNvSpPr/>
          <p:nvPr/>
        </p:nvSpPr>
        <p:spPr>
          <a:xfrm>
            <a:off x="9832538" y="4468297"/>
            <a:ext cx="2535436" cy="664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17"/>
              </a:lnSpc>
              <a:buNone/>
            </a:pPr>
            <a:r>
              <a:rPr lang="en-US" sz="2800" b="1" dirty="0"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Real-World Applications</a:t>
            </a:r>
            <a:endParaRPr lang="en-US" sz="2800" b="1" dirty="0"/>
          </a:p>
        </p:txBody>
      </p:sp>
      <p:sp>
        <p:nvSpPr>
          <p:cNvPr id="17" name="Text 14"/>
          <p:cNvSpPr/>
          <p:nvPr/>
        </p:nvSpPr>
        <p:spPr>
          <a:xfrm>
            <a:off x="9832537" y="5260777"/>
            <a:ext cx="4287500" cy="2192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8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Magnetic fields and forces have a wide range of applications, including in electric motors, generators, loudspeakers, and medical imaging technologies.</a:t>
            </a:r>
            <a:endParaRPr lang="en-US" sz="2400" dirty="0">
              <a:latin typeface="Gelasio"/>
            </a:endParaRPr>
          </a:p>
        </p:txBody>
      </p:sp>
    </p:spTree>
    <p:extLst>
      <p:ext uri="{BB962C8B-B14F-4D97-AF65-F5344CB8AC3E}">
        <p14:creationId xmlns:p14="http://schemas.microsoft.com/office/powerpoint/2010/main" val="404623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2957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-203710"/>
            <a:ext cx="14630399" cy="8433310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37993" y="2013942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endParaRPr lang="en-US" sz="6600" b="1" dirty="0"/>
          </a:p>
        </p:txBody>
      </p:sp>
      <p:sp>
        <p:nvSpPr>
          <p:cNvPr id="12" name="Text 2"/>
          <p:cNvSpPr/>
          <p:nvPr/>
        </p:nvSpPr>
        <p:spPr>
          <a:xfrm>
            <a:off x="4157831" y="2519551"/>
            <a:ext cx="8074196" cy="22568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600" b="1" dirty="0" smtClean="0"/>
              <a:t>Thanks!</a:t>
            </a:r>
            <a:endParaRPr 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246943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500</Words>
  <Application>Microsoft Office PowerPoint</Application>
  <PresentationFormat>Custom</PresentationFormat>
  <Paragraphs>84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Gelasio</vt:lpstr>
      <vt:lpstr>MuseoModerno</vt:lpstr>
      <vt:lpstr>Söhne</vt:lpstr>
      <vt:lpstr>Source Sans Pro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Saqib Nazeer</cp:lastModifiedBy>
  <cp:revision>39</cp:revision>
  <dcterms:created xsi:type="dcterms:W3CDTF">2024-04-23T18:57:34Z</dcterms:created>
  <dcterms:modified xsi:type="dcterms:W3CDTF">2024-04-26T21:22:56Z</dcterms:modified>
</cp:coreProperties>
</file>
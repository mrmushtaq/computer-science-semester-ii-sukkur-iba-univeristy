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1" r:id="rId5"/>
    <p:sldId id="267" r:id="rId6"/>
    <p:sldId id="260" r:id="rId7"/>
    <p:sldId id="268" r:id="rId8"/>
    <p:sldId id="269" r:id="rId9"/>
    <p:sldId id="270" r:id="rId10"/>
    <p:sldId id="271" r:id="rId11"/>
    <p:sldId id="272" r:id="rId12"/>
    <p:sldId id="273" r:id="rId13"/>
    <p:sldId id="274" r:id="rId14"/>
    <p:sldId id="275" r:id="rId15"/>
    <p:sldId id="26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DAEBBBA-6428-4EB9-AF7C-53165624EC1E}" type="datetimeFigureOut">
              <a:rPr lang="en-US" smtClean="0"/>
              <a:t>4/24/2024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8EB3FA-CD37-4D11-A0A7-B8B7DBEE52FC}" type="slidenum">
              <a:rPr lang="en-US" smtClean="0"/>
              <a:t>‹#›</a:t>
            </a:fld>
            <a:endParaRPr lang="en-US"/>
          </a:p>
        </p:txBody>
      </p:sp>
    </p:spTree>
    <p:extLst>
      <p:ext uri="{BB962C8B-B14F-4D97-AF65-F5344CB8AC3E}">
        <p14:creationId xmlns:p14="http://schemas.microsoft.com/office/powerpoint/2010/main" val="2291140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AEBBBA-6428-4EB9-AF7C-53165624EC1E}" type="datetimeFigureOut">
              <a:rPr lang="en-US" smtClean="0"/>
              <a:t>4/24/2024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8EB3FA-CD37-4D11-A0A7-B8B7DBEE52FC}" type="slidenum">
              <a:rPr lang="en-US" smtClean="0"/>
              <a:t>‹#›</a:t>
            </a:fld>
            <a:endParaRPr lang="en-US"/>
          </a:p>
        </p:txBody>
      </p:sp>
    </p:spTree>
    <p:extLst>
      <p:ext uri="{BB962C8B-B14F-4D97-AF65-F5344CB8AC3E}">
        <p14:creationId xmlns:p14="http://schemas.microsoft.com/office/powerpoint/2010/main" val="1716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AEBBBA-6428-4EB9-AF7C-53165624EC1E}" type="datetimeFigureOut">
              <a:rPr lang="en-US" smtClean="0"/>
              <a:t>4/24/2024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8EB3FA-CD37-4D11-A0A7-B8B7DBEE52FC}" type="slidenum">
              <a:rPr lang="en-US" smtClean="0"/>
              <a:t>‹#›</a:t>
            </a:fld>
            <a:endParaRPr lang="en-US"/>
          </a:p>
        </p:txBody>
      </p:sp>
    </p:spTree>
    <p:extLst>
      <p:ext uri="{BB962C8B-B14F-4D97-AF65-F5344CB8AC3E}">
        <p14:creationId xmlns:p14="http://schemas.microsoft.com/office/powerpoint/2010/main" val="2203528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DAEBBBA-6428-4EB9-AF7C-53165624EC1E}" type="datetimeFigureOut">
              <a:rPr lang="en-US" smtClean="0"/>
              <a:t>4/24/2024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8EB3FA-CD37-4D11-A0A7-B8B7DBEE52FC}" type="slidenum">
              <a:rPr lang="en-US" smtClean="0"/>
              <a:t>‹#›</a:t>
            </a:fld>
            <a:endParaRPr lang="en-US"/>
          </a:p>
        </p:txBody>
      </p:sp>
    </p:spTree>
    <p:extLst>
      <p:ext uri="{BB962C8B-B14F-4D97-AF65-F5344CB8AC3E}">
        <p14:creationId xmlns:p14="http://schemas.microsoft.com/office/powerpoint/2010/main" val="1036434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DAEBBBA-6428-4EB9-AF7C-53165624EC1E}" type="datetimeFigureOut">
              <a:rPr lang="en-US" smtClean="0"/>
              <a:t>4/24/2024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8EB3FA-CD37-4D11-A0A7-B8B7DBEE52FC}" type="slidenum">
              <a:rPr lang="en-US" smtClean="0"/>
              <a:t>‹#›</a:t>
            </a:fld>
            <a:endParaRPr lang="en-US"/>
          </a:p>
        </p:txBody>
      </p:sp>
    </p:spTree>
    <p:extLst>
      <p:ext uri="{BB962C8B-B14F-4D97-AF65-F5344CB8AC3E}">
        <p14:creationId xmlns:p14="http://schemas.microsoft.com/office/powerpoint/2010/main" val="3888420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DAEBBBA-6428-4EB9-AF7C-53165624EC1E}" type="datetimeFigureOut">
              <a:rPr lang="en-US" smtClean="0"/>
              <a:t>4/24/2024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8EB3FA-CD37-4D11-A0A7-B8B7DBEE52FC}" type="slidenum">
              <a:rPr lang="en-US" smtClean="0"/>
              <a:t>‹#›</a:t>
            </a:fld>
            <a:endParaRPr lang="en-US"/>
          </a:p>
        </p:txBody>
      </p:sp>
    </p:spTree>
    <p:extLst>
      <p:ext uri="{BB962C8B-B14F-4D97-AF65-F5344CB8AC3E}">
        <p14:creationId xmlns:p14="http://schemas.microsoft.com/office/powerpoint/2010/main" val="2776817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AEBBBA-6428-4EB9-AF7C-53165624EC1E}" type="datetimeFigureOut">
              <a:rPr lang="en-US" smtClean="0"/>
              <a:t>4/24/2024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8EB3FA-CD37-4D11-A0A7-B8B7DBEE52FC}" type="slidenum">
              <a:rPr lang="en-US" smtClean="0"/>
              <a:t>‹#›</a:t>
            </a:fld>
            <a:endParaRPr lang="en-US"/>
          </a:p>
        </p:txBody>
      </p:sp>
    </p:spTree>
    <p:extLst>
      <p:ext uri="{BB962C8B-B14F-4D97-AF65-F5344CB8AC3E}">
        <p14:creationId xmlns:p14="http://schemas.microsoft.com/office/powerpoint/2010/main" val="40981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AEBBBA-6428-4EB9-AF7C-53165624EC1E}" type="datetimeFigureOut">
              <a:rPr lang="en-US" smtClean="0"/>
              <a:t>4/24/2024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8EB3FA-CD37-4D11-A0A7-B8B7DBEE52FC}" type="slidenum">
              <a:rPr lang="en-US" smtClean="0"/>
              <a:t>‹#›</a:t>
            </a:fld>
            <a:endParaRPr lang="en-US"/>
          </a:p>
        </p:txBody>
      </p:sp>
    </p:spTree>
    <p:extLst>
      <p:ext uri="{BB962C8B-B14F-4D97-AF65-F5344CB8AC3E}">
        <p14:creationId xmlns:p14="http://schemas.microsoft.com/office/powerpoint/2010/main" val="1708220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AEBBBA-6428-4EB9-AF7C-53165624EC1E}" type="datetimeFigureOut">
              <a:rPr lang="en-US" smtClean="0"/>
              <a:t>4/24/2024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8EB3FA-CD37-4D11-A0A7-B8B7DBEE52FC}" type="slidenum">
              <a:rPr lang="en-US" smtClean="0"/>
              <a:t>‹#›</a:t>
            </a:fld>
            <a:endParaRPr lang="en-US"/>
          </a:p>
        </p:txBody>
      </p:sp>
    </p:spTree>
    <p:extLst>
      <p:ext uri="{BB962C8B-B14F-4D97-AF65-F5344CB8AC3E}">
        <p14:creationId xmlns:p14="http://schemas.microsoft.com/office/powerpoint/2010/main" val="1248331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AEBBBA-6428-4EB9-AF7C-53165624EC1E}" type="datetimeFigureOut">
              <a:rPr lang="en-US" smtClean="0"/>
              <a:t>4/24/2024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8EB3FA-CD37-4D11-A0A7-B8B7DBEE52FC}" type="slidenum">
              <a:rPr lang="en-US" smtClean="0"/>
              <a:t>‹#›</a:t>
            </a:fld>
            <a:endParaRPr lang="en-US"/>
          </a:p>
        </p:txBody>
      </p:sp>
    </p:spTree>
    <p:extLst>
      <p:ext uri="{BB962C8B-B14F-4D97-AF65-F5344CB8AC3E}">
        <p14:creationId xmlns:p14="http://schemas.microsoft.com/office/powerpoint/2010/main" val="725088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AEBBBA-6428-4EB9-AF7C-53165624EC1E}" type="datetimeFigureOut">
              <a:rPr lang="en-US" smtClean="0"/>
              <a:t>4/24/2024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8EB3FA-CD37-4D11-A0A7-B8B7DBEE52FC}" type="slidenum">
              <a:rPr lang="en-US" smtClean="0"/>
              <a:t>‹#›</a:t>
            </a:fld>
            <a:endParaRPr lang="en-US"/>
          </a:p>
        </p:txBody>
      </p:sp>
    </p:spTree>
    <p:extLst>
      <p:ext uri="{BB962C8B-B14F-4D97-AF65-F5344CB8AC3E}">
        <p14:creationId xmlns:p14="http://schemas.microsoft.com/office/powerpoint/2010/main" val="1697767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AEBBBA-6428-4EB9-AF7C-53165624EC1E}" type="datetimeFigureOut">
              <a:rPr lang="en-US" smtClean="0"/>
              <a:t>4/24/2024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8EB3FA-CD37-4D11-A0A7-B8B7DBEE52FC}" type="slidenum">
              <a:rPr lang="en-US" smtClean="0"/>
              <a:t>‹#›</a:t>
            </a:fld>
            <a:endParaRPr lang="en-US"/>
          </a:p>
        </p:txBody>
      </p:sp>
    </p:spTree>
    <p:extLst>
      <p:ext uri="{BB962C8B-B14F-4D97-AF65-F5344CB8AC3E}">
        <p14:creationId xmlns:p14="http://schemas.microsoft.com/office/powerpoint/2010/main" val="546431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2" name="Rounded Rectangle 1"/>
          <p:cNvSpPr/>
          <p:nvPr/>
        </p:nvSpPr>
        <p:spPr>
          <a:xfrm>
            <a:off x="2359152" y="2706624"/>
            <a:ext cx="7534656" cy="950976"/>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smtClean="0">
                <a:solidFill>
                  <a:schemeClr val="tx1"/>
                </a:solidFill>
              </a:rPr>
              <a:t>Clamper Circuit </a:t>
            </a:r>
            <a:endParaRPr lang="en-US" sz="6000" b="1" dirty="0">
              <a:solidFill>
                <a:schemeClr val="tx1"/>
              </a:solidFill>
            </a:endParaRPr>
          </a:p>
        </p:txBody>
      </p:sp>
      <p:sp>
        <p:nvSpPr>
          <p:cNvPr id="3" name="Rounded Rectangle 2"/>
          <p:cNvSpPr/>
          <p:nvPr/>
        </p:nvSpPr>
        <p:spPr>
          <a:xfrm>
            <a:off x="7370934" y="6010407"/>
            <a:ext cx="4653115" cy="698303"/>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effectLst>
                  <a:reflection blurRad="6350" stA="50000" endA="300" endPos="50000" dist="29997" dir="5400000" sy="-100000" algn="bl" rotWithShape="0"/>
                </a:effectLst>
                <a:latin typeface="Gill Sans MT" panose="020B0502020104020203" pitchFamily="34" charset="0"/>
              </a:rPr>
              <a:t>Presented by : Uzair Ahmed </a:t>
            </a:r>
            <a:r>
              <a:rPr lang="en-US" sz="2000" b="1" dirty="0" err="1">
                <a:solidFill>
                  <a:schemeClr val="tx1"/>
                </a:solidFill>
                <a:effectLst>
                  <a:reflection blurRad="6350" stA="50000" endA="300" endPos="50000" dist="29997" dir="5400000" sy="-100000" algn="bl" rotWithShape="0"/>
                </a:effectLst>
                <a:latin typeface="Gill Sans MT" panose="020B0502020104020203" pitchFamily="34" charset="0"/>
              </a:rPr>
              <a:t>S</a:t>
            </a:r>
            <a:r>
              <a:rPr lang="en-US" sz="2000" b="1" dirty="0" err="1" smtClean="0">
                <a:solidFill>
                  <a:schemeClr val="tx1"/>
                </a:solidFill>
                <a:effectLst>
                  <a:reflection blurRad="6350" stA="50000" endA="300" endPos="50000" dist="29997" dir="5400000" sy="-100000" algn="bl" rotWithShape="0"/>
                </a:effectLst>
                <a:latin typeface="Gill Sans MT" panose="020B0502020104020203" pitchFamily="34" charset="0"/>
              </a:rPr>
              <a:t>olangi</a:t>
            </a:r>
            <a:endParaRPr lang="en-US" sz="2000" b="1" dirty="0">
              <a:solidFill>
                <a:schemeClr val="tx1"/>
              </a:solidFill>
              <a:effectLst>
                <a:reflection blurRad="6350" stA="50000" endA="300" endPos="50000" dist="29997" dir="5400000" sy="-100000" algn="bl" rotWithShape="0"/>
              </a:effectLst>
              <a:latin typeface="Gill Sans MT" panose="020B0502020104020203" pitchFamily="34" charset="0"/>
            </a:endParaRPr>
          </a:p>
        </p:txBody>
      </p:sp>
    </p:spTree>
    <p:extLst>
      <p:ext uri="{BB962C8B-B14F-4D97-AF65-F5344CB8AC3E}">
        <p14:creationId xmlns:p14="http://schemas.microsoft.com/office/powerpoint/2010/main" val="41347350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t="-39000" b="-39000"/>
          </a:stretch>
        </a:blipFill>
        <a:effectLst/>
      </p:bgPr>
    </p:bg>
    <p:spTree>
      <p:nvGrpSpPr>
        <p:cNvPr id="1" name=""/>
        <p:cNvGrpSpPr/>
        <p:nvPr/>
      </p:nvGrpSpPr>
      <p:grpSpPr>
        <a:xfrm>
          <a:off x="0" y="0"/>
          <a:ext cx="0" cy="0"/>
          <a:chOff x="0" y="0"/>
          <a:chExt cx="0" cy="0"/>
        </a:xfrm>
      </p:grpSpPr>
      <p:sp>
        <p:nvSpPr>
          <p:cNvPr id="2" name="TextBox 1"/>
          <p:cNvSpPr txBox="1"/>
          <p:nvPr/>
        </p:nvSpPr>
        <p:spPr>
          <a:xfrm>
            <a:off x="530352" y="475488"/>
            <a:ext cx="5650992" cy="1015663"/>
          </a:xfrm>
          <a:prstGeom prst="rect">
            <a:avLst/>
          </a:prstGeom>
          <a:noFill/>
        </p:spPr>
        <p:txBody>
          <a:bodyPr wrap="square" rtlCol="0">
            <a:spAutoFit/>
          </a:bodyPr>
          <a:lstStyle/>
          <a:p>
            <a:r>
              <a:rPr lang="en-US" sz="6000" b="1" dirty="0" smtClean="0">
                <a:solidFill>
                  <a:schemeClr val="bg1"/>
                </a:solidFill>
              </a:rPr>
              <a:t>Clamper Circuit </a:t>
            </a:r>
            <a:endParaRPr lang="en-US" sz="2400" b="1" dirty="0">
              <a:solidFill>
                <a:schemeClr val="bg1"/>
              </a:solidFill>
            </a:endParaRPr>
          </a:p>
        </p:txBody>
      </p:sp>
      <p:sp>
        <p:nvSpPr>
          <p:cNvPr id="3" name="TextBox 2"/>
          <p:cNvSpPr txBox="1"/>
          <p:nvPr/>
        </p:nvSpPr>
        <p:spPr>
          <a:xfrm>
            <a:off x="987552" y="1519262"/>
            <a:ext cx="10930128" cy="2554545"/>
          </a:xfrm>
          <a:prstGeom prst="rect">
            <a:avLst/>
          </a:prstGeom>
          <a:noFill/>
        </p:spPr>
        <p:txBody>
          <a:bodyPr wrap="square" rtlCol="0">
            <a:spAutoFit/>
          </a:bodyPr>
          <a:lstStyle/>
          <a:p>
            <a:r>
              <a:rPr lang="en-US" sz="3200" dirty="0">
                <a:solidFill>
                  <a:schemeClr val="bg1"/>
                </a:solidFill>
              </a:rPr>
              <a:t>A Clamper circuit can be defined as the circuit that consists of a diode, a resistor and a capacitor that shifts the waveform to a desired DC level without changing the actual appearance of the applied signal</a:t>
            </a:r>
            <a:r>
              <a:rPr lang="en-US" sz="3200" dirty="0" smtClean="0">
                <a:solidFill>
                  <a:schemeClr val="bg1"/>
                </a:solidFill>
              </a:rPr>
              <a:t>.</a:t>
            </a:r>
          </a:p>
          <a:p>
            <a:r>
              <a:rPr lang="en-US" sz="3200" dirty="0" smtClean="0">
                <a:solidFill>
                  <a:schemeClr val="bg1"/>
                </a:solidFill>
              </a:rPr>
              <a:t> It is also known as a DC restorer or level shifter.</a:t>
            </a:r>
            <a:endParaRPr lang="en-US" sz="3200" dirty="0">
              <a:solidFill>
                <a:schemeClr val="bg1"/>
              </a:solidFill>
            </a:endParaRPr>
          </a:p>
        </p:txBody>
      </p:sp>
    </p:spTree>
    <p:extLst>
      <p:ext uri="{BB962C8B-B14F-4D97-AF65-F5344CB8AC3E}">
        <p14:creationId xmlns:p14="http://schemas.microsoft.com/office/powerpoint/2010/main" val="14021615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t="-39000" b="-39000"/>
          </a:stretch>
        </a:blipFill>
        <a:effectLst/>
      </p:bgPr>
    </p:bg>
    <p:spTree>
      <p:nvGrpSpPr>
        <p:cNvPr id="1" name=""/>
        <p:cNvGrpSpPr/>
        <p:nvPr/>
      </p:nvGrpSpPr>
      <p:grpSpPr>
        <a:xfrm>
          <a:off x="0" y="0"/>
          <a:ext cx="0" cy="0"/>
          <a:chOff x="0" y="0"/>
          <a:chExt cx="0" cy="0"/>
        </a:xfrm>
      </p:grpSpPr>
      <p:sp>
        <p:nvSpPr>
          <p:cNvPr id="4" name="TextBox 3"/>
          <p:cNvSpPr txBox="1"/>
          <p:nvPr/>
        </p:nvSpPr>
        <p:spPr>
          <a:xfrm>
            <a:off x="1115568" y="530352"/>
            <a:ext cx="9235440" cy="2585323"/>
          </a:xfrm>
          <a:prstGeom prst="rect">
            <a:avLst/>
          </a:prstGeom>
          <a:noFill/>
        </p:spPr>
        <p:txBody>
          <a:bodyPr wrap="square" rtlCol="0">
            <a:spAutoFit/>
          </a:bodyPr>
          <a:lstStyle/>
          <a:p>
            <a:pPr marL="571500" indent="-571500">
              <a:buFont typeface="Arial" panose="020B0604020202020204" pitchFamily="34" charset="0"/>
              <a:buChar char="•"/>
            </a:pPr>
            <a:r>
              <a:rPr lang="en-US" sz="3600" dirty="0">
                <a:solidFill>
                  <a:schemeClr val="bg1"/>
                </a:solidFill>
              </a:rPr>
              <a:t>R is the resistance of the resistor employed</a:t>
            </a:r>
          </a:p>
          <a:p>
            <a:pPr marL="571500" indent="-571500">
              <a:buFont typeface="Arial" panose="020B0604020202020204" pitchFamily="34" charset="0"/>
              <a:buChar char="•"/>
            </a:pPr>
            <a:r>
              <a:rPr lang="en-US" sz="3600" dirty="0">
                <a:solidFill>
                  <a:schemeClr val="bg1"/>
                </a:solidFill>
              </a:rPr>
              <a:t>C is the capacitance of the capacitor </a:t>
            </a:r>
            <a:r>
              <a:rPr lang="en-US" sz="3600" dirty="0" smtClean="0">
                <a:solidFill>
                  <a:schemeClr val="bg1"/>
                </a:solidFill>
              </a:rPr>
              <a:t>used</a:t>
            </a:r>
          </a:p>
          <a:p>
            <a:pPr marL="571500" indent="-571500">
              <a:buFont typeface="Arial" panose="020B0604020202020204" pitchFamily="34" charset="0"/>
              <a:buChar char="•"/>
            </a:pPr>
            <a:r>
              <a:rPr lang="en-US" sz="3600" dirty="0" smtClean="0">
                <a:solidFill>
                  <a:schemeClr val="bg1"/>
                </a:solidFill>
              </a:rPr>
              <a:t> D is the diode</a:t>
            </a:r>
          </a:p>
          <a:p>
            <a:pPr marL="571500" indent="-571500">
              <a:buFont typeface="Arial" panose="020B0604020202020204" pitchFamily="34" charset="0"/>
              <a:buChar char="•"/>
            </a:pPr>
            <a:r>
              <a:rPr lang="en-US" sz="3600" dirty="0" smtClean="0">
                <a:solidFill>
                  <a:schemeClr val="bg1"/>
                </a:solidFill>
              </a:rPr>
              <a:t>V</a:t>
            </a:r>
            <a:r>
              <a:rPr lang="en-US" sz="2000" i="1" dirty="0" smtClean="0">
                <a:solidFill>
                  <a:schemeClr val="bg1"/>
                </a:solidFill>
              </a:rPr>
              <a:t>in</a:t>
            </a:r>
            <a:r>
              <a:rPr lang="en-US" sz="3600" dirty="0" smtClean="0">
                <a:solidFill>
                  <a:schemeClr val="bg1"/>
                </a:solidFill>
              </a:rPr>
              <a:t> </a:t>
            </a:r>
            <a:r>
              <a:rPr lang="en-US" sz="3600" dirty="0" smtClean="0">
                <a:solidFill>
                  <a:schemeClr val="bg1"/>
                </a:solidFill>
              </a:rPr>
              <a:t>is the input voltage</a:t>
            </a:r>
            <a:endParaRPr lang="en-US" sz="3600" dirty="0">
              <a:solidFill>
                <a:schemeClr val="bg1"/>
              </a:solidFill>
            </a:endParaRPr>
          </a:p>
          <a:p>
            <a:endParaRPr lang="en-US" dirty="0"/>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11351"/>
          <a:stretch/>
        </p:blipFill>
        <p:spPr>
          <a:xfrm>
            <a:off x="731520" y="3115675"/>
            <a:ext cx="10972800" cy="3601779"/>
          </a:xfrm>
          <a:prstGeom prst="rect">
            <a:avLst/>
          </a:prstGeom>
        </p:spPr>
      </p:pic>
    </p:spTree>
    <p:extLst>
      <p:ext uri="{BB962C8B-B14F-4D97-AF65-F5344CB8AC3E}">
        <p14:creationId xmlns:p14="http://schemas.microsoft.com/office/powerpoint/2010/main" val="345549914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2000" b="-39000"/>
          </a:stretch>
        </a:blipFill>
        <a:effectLst/>
      </p:bgPr>
    </p:bg>
    <p:spTree>
      <p:nvGrpSpPr>
        <p:cNvPr id="1" name=""/>
        <p:cNvGrpSpPr/>
        <p:nvPr/>
      </p:nvGrpSpPr>
      <p:grpSpPr>
        <a:xfrm>
          <a:off x="0" y="0"/>
          <a:ext cx="0" cy="0"/>
          <a:chOff x="0" y="0"/>
          <a:chExt cx="0" cy="0"/>
        </a:xfrm>
      </p:grpSpPr>
      <p:sp>
        <p:nvSpPr>
          <p:cNvPr id="2" name="TextBox 1"/>
          <p:cNvSpPr txBox="1"/>
          <p:nvPr/>
        </p:nvSpPr>
        <p:spPr>
          <a:xfrm>
            <a:off x="2103120" y="566928"/>
            <a:ext cx="7790688" cy="923330"/>
          </a:xfrm>
          <a:prstGeom prst="rect">
            <a:avLst/>
          </a:prstGeom>
          <a:noFill/>
        </p:spPr>
        <p:txBody>
          <a:bodyPr wrap="square" rtlCol="0">
            <a:spAutoFit/>
          </a:bodyPr>
          <a:lstStyle/>
          <a:p>
            <a:r>
              <a:rPr lang="en-US" sz="5400" b="1" dirty="0" smtClean="0">
                <a:solidFill>
                  <a:schemeClr val="bg1"/>
                </a:solidFill>
              </a:rPr>
              <a:t>Types Of Clamper Circuit</a:t>
            </a:r>
            <a:endParaRPr lang="en-US" sz="2400" b="1" dirty="0">
              <a:solidFill>
                <a:schemeClr val="bg1"/>
              </a:solidFill>
            </a:endParaRPr>
          </a:p>
        </p:txBody>
      </p:sp>
      <p:sp>
        <p:nvSpPr>
          <p:cNvPr id="3" name="TextBox 2"/>
          <p:cNvSpPr txBox="1"/>
          <p:nvPr/>
        </p:nvSpPr>
        <p:spPr>
          <a:xfrm>
            <a:off x="1335024" y="1865375"/>
            <a:ext cx="8558784" cy="5139869"/>
          </a:xfrm>
          <a:prstGeom prst="rect">
            <a:avLst/>
          </a:prstGeom>
          <a:noFill/>
        </p:spPr>
        <p:txBody>
          <a:bodyPr wrap="square" rtlCol="0">
            <a:spAutoFit/>
          </a:bodyPr>
          <a:lstStyle/>
          <a:p>
            <a:r>
              <a:rPr lang="en-US" sz="3200" dirty="0" smtClean="0">
                <a:solidFill>
                  <a:schemeClr val="bg1"/>
                </a:solidFill>
              </a:rPr>
              <a:t>There </a:t>
            </a:r>
            <a:r>
              <a:rPr lang="en-US" sz="3200" dirty="0" smtClean="0">
                <a:solidFill>
                  <a:schemeClr val="bg1"/>
                </a:solidFill>
              </a:rPr>
              <a:t>are Few </a:t>
            </a:r>
            <a:r>
              <a:rPr lang="en-US" sz="3200" dirty="0" smtClean="0">
                <a:solidFill>
                  <a:schemeClr val="bg1"/>
                </a:solidFill>
              </a:rPr>
              <a:t>Types of Clamper Circuit</a:t>
            </a:r>
          </a:p>
          <a:p>
            <a:endParaRPr lang="en-US" sz="3200" dirty="0" smtClean="0">
              <a:solidFill>
                <a:schemeClr val="bg1"/>
              </a:solidFill>
            </a:endParaRPr>
          </a:p>
          <a:p>
            <a:pPr marL="457200" indent="-457200">
              <a:buFont typeface="Arial" panose="020B0604020202020204" pitchFamily="34" charset="0"/>
              <a:buChar char="•"/>
            </a:pPr>
            <a:r>
              <a:rPr lang="en-US" sz="3600" dirty="0">
                <a:solidFill>
                  <a:schemeClr val="bg1"/>
                </a:solidFill>
              </a:rPr>
              <a:t>Positive </a:t>
            </a:r>
            <a:r>
              <a:rPr lang="en-US" sz="3600" dirty="0" smtClean="0">
                <a:solidFill>
                  <a:schemeClr val="bg1"/>
                </a:solidFill>
              </a:rPr>
              <a:t>Clamper</a:t>
            </a:r>
          </a:p>
          <a:p>
            <a:pPr marL="914400" lvl="1" indent="-457200">
              <a:buFont typeface="Arial" panose="020B0604020202020204" pitchFamily="34" charset="0"/>
              <a:buChar char="•"/>
            </a:pPr>
            <a:r>
              <a:rPr lang="en-US" sz="3200" dirty="0" smtClean="0">
                <a:solidFill>
                  <a:schemeClr val="bg1"/>
                </a:solidFill>
              </a:rPr>
              <a:t>Positive Clamper with Positive </a:t>
            </a:r>
            <a:r>
              <a:rPr lang="en-US" sz="3200" dirty="0" err="1" smtClean="0">
                <a:solidFill>
                  <a:schemeClr val="bg1"/>
                </a:solidFill>
              </a:rPr>
              <a:t>Vr</a:t>
            </a:r>
            <a:endParaRPr lang="en-US" sz="3200" dirty="0" smtClean="0">
              <a:solidFill>
                <a:schemeClr val="bg1"/>
              </a:solidFill>
            </a:endParaRPr>
          </a:p>
          <a:p>
            <a:pPr marL="914400" lvl="1" indent="-457200">
              <a:buFont typeface="Arial" panose="020B0604020202020204" pitchFamily="34" charset="0"/>
              <a:buChar char="•"/>
            </a:pPr>
            <a:r>
              <a:rPr lang="en-US" sz="3200" dirty="0" smtClean="0">
                <a:solidFill>
                  <a:schemeClr val="bg1"/>
                </a:solidFill>
              </a:rPr>
              <a:t>Positive Clamper </a:t>
            </a:r>
            <a:r>
              <a:rPr lang="en-US" sz="3200" dirty="0" err="1" smtClean="0">
                <a:solidFill>
                  <a:schemeClr val="bg1"/>
                </a:solidFill>
              </a:rPr>
              <a:t>eith</a:t>
            </a:r>
            <a:r>
              <a:rPr lang="en-US" sz="3200" dirty="0" smtClean="0">
                <a:solidFill>
                  <a:schemeClr val="bg1"/>
                </a:solidFill>
              </a:rPr>
              <a:t> Negative </a:t>
            </a:r>
            <a:r>
              <a:rPr lang="en-US" sz="3200" dirty="0" err="1" smtClean="0">
                <a:solidFill>
                  <a:schemeClr val="bg1"/>
                </a:solidFill>
              </a:rPr>
              <a:t>Vr</a:t>
            </a:r>
            <a:endParaRPr lang="en-US" sz="3200" dirty="0">
              <a:solidFill>
                <a:schemeClr val="bg1"/>
              </a:solidFill>
            </a:endParaRPr>
          </a:p>
          <a:p>
            <a:pPr lvl="1"/>
            <a:endParaRPr lang="en-US" sz="3200" dirty="0" smtClean="0">
              <a:solidFill>
                <a:schemeClr val="bg1"/>
              </a:solidFill>
            </a:endParaRPr>
          </a:p>
          <a:p>
            <a:pPr marL="457200" indent="-457200">
              <a:buFont typeface="Arial" panose="020B0604020202020204" pitchFamily="34" charset="0"/>
              <a:buChar char="•"/>
            </a:pPr>
            <a:r>
              <a:rPr lang="en-US" sz="3600" dirty="0" smtClean="0">
                <a:solidFill>
                  <a:schemeClr val="bg1"/>
                </a:solidFill>
              </a:rPr>
              <a:t>Negative Clamper </a:t>
            </a:r>
          </a:p>
          <a:p>
            <a:pPr marL="914400" lvl="1" indent="-457200">
              <a:buFont typeface="Arial" panose="020B0604020202020204" pitchFamily="34" charset="0"/>
              <a:buChar char="•"/>
            </a:pPr>
            <a:r>
              <a:rPr lang="en-US" sz="3200" dirty="0" smtClean="0">
                <a:solidFill>
                  <a:schemeClr val="bg1"/>
                </a:solidFill>
              </a:rPr>
              <a:t>Negative Clamper with Positive </a:t>
            </a:r>
            <a:r>
              <a:rPr lang="en-US" sz="3200" dirty="0" err="1" smtClean="0">
                <a:solidFill>
                  <a:schemeClr val="bg1"/>
                </a:solidFill>
              </a:rPr>
              <a:t>Vr</a:t>
            </a:r>
            <a:r>
              <a:rPr lang="en-US" sz="3200" dirty="0" smtClean="0">
                <a:solidFill>
                  <a:schemeClr val="bg1"/>
                </a:solidFill>
              </a:rPr>
              <a:t> </a:t>
            </a:r>
          </a:p>
          <a:p>
            <a:pPr marL="914400" lvl="1" indent="-457200">
              <a:buFont typeface="Arial" panose="020B0604020202020204" pitchFamily="34" charset="0"/>
              <a:buChar char="•"/>
            </a:pPr>
            <a:r>
              <a:rPr lang="en-US" sz="3200" dirty="0" smtClean="0">
                <a:solidFill>
                  <a:schemeClr val="bg1"/>
                </a:solidFill>
              </a:rPr>
              <a:t>Negative Clamper with negative </a:t>
            </a:r>
            <a:r>
              <a:rPr lang="en-US" sz="3200" dirty="0" err="1" smtClean="0">
                <a:solidFill>
                  <a:schemeClr val="bg1"/>
                </a:solidFill>
              </a:rPr>
              <a:t>Vr</a:t>
            </a:r>
            <a:endParaRPr lang="en-US" sz="3200" dirty="0">
              <a:solidFill>
                <a:schemeClr val="bg1"/>
              </a:solidFill>
            </a:endParaRPr>
          </a:p>
          <a:p>
            <a:endParaRPr lang="en-US" sz="3200" dirty="0"/>
          </a:p>
        </p:txBody>
      </p:sp>
    </p:spTree>
    <p:extLst>
      <p:ext uri="{BB962C8B-B14F-4D97-AF65-F5344CB8AC3E}">
        <p14:creationId xmlns:p14="http://schemas.microsoft.com/office/powerpoint/2010/main" val="1300004543"/>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2000" b="-39000"/>
          </a:stretch>
        </a:blipFill>
        <a:effectLst/>
      </p:bgPr>
    </p:bg>
    <p:spTree>
      <p:nvGrpSpPr>
        <p:cNvPr id="1" name=""/>
        <p:cNvGrpSpPr/>
        <p:nvPr/>
      </p:nvGrpSpPr>
      <p:grpSpPr>
        <a:xfrm>
          <a:off x="0" y="0"/>
          <a:ext cx="0" cy="0"/>
          <a:chOff x="0" y="0"/>
          <a:chExt cx="0" cy="0"/>
        </a:xfrm>
      </p:grpSpPr>
      <p:sp>
        <p:nvSpPr>
          <p:cNvPr id="2" name="TextBox 1"/>
          <p:cNvSpPr txBox="1"/>
          <p:nvPr/>
        </p:nvSpPr>
        <p:spPr>
          <a:xfrm>
            <a:off x="2103120" y="566928"/>
            <a:ext cx="7790688" cy="923330"/>
          </a:xfrm>
          <a:prstGeom prst="rect">
            <a:avLst/>
          </a:prstGeom>
          <a:noFill/>
        </p:spPr>
        <p:txBody>
          <a:bodyPr wrap="square" rtlCol="0">
            <a:spAutoFit/>
          </a:bodyPr>
          <a:lstStyle/>
          <a:p>
            <a:r>
              <a:rPr lang="en-US" sz="5400" dirty="0">
                <a:solidFill>
                  <a:schemeClr val="bg1"/>
                </a:solidFill>
              </a:rPr>
              <a:t>Positive Clamper Circuit</a:t>
            </a:r>
          </a:p>
        </p:txBody>
      </p:sp>
      <p:sp>
        <p:nvSpPr>
          <p:cNvPr id="3" name="TextBox 2"/>
          <p:cNvSpPr txBox="1"/>
          <p:nvPr/>
        </p:nvSpPr>
        <p:spPr>
          <a:xfrm>
            <a:off x="905815" y="1490258"/>
            <a:ext cx="10720127" cy="5016758"/>
          </a:xfrm>
          <a:prstGeom prst="rect">
            <a:avLst/>
          </a:prstGeom>
          <a:noFill/>
        </p:spPr>
        <p:txBody>
          <a:bodyPr wrap="square" rtlCol="0">
            <a:spAutoFit/>
          </a:bodyPr>
          <a:lstStyle/>
          <a:p>
            <a:r>
              <a:rPr lang="en-US" sz="4000" dirty="0">
                <a:solidFill>
                  <a:schemeClr val="bg1"/>
                </a:solidFill>
              </a:rPr>
              <a:t>A Positive Clamper circuit is one that consists of a diode, a resistor and a capacitor and that shifts the output signal to the positive portion of the input signal</a:t>
            </a:r>
            <a:r>
              <a:rPr lang="en-US" sz="4000" dirty="0" smtClean="0">
                <a:solidFill>
                  <a:schemeClr val="bg1"/>
                </a:solidFill>
              </a:rPr>
              <a:t>.</a:t>
            </a:r>
          </a:p>
          <a:p>
            <a:r>
              <a:rPr lang="en-US" sz="4000" dirty="0">
                <a:solidFill>
                  <a:schemeClr val="bg1"/>
                </a:solidFill>
              </a:rPr>
              <a:t>	</a:t>
            </a:r>
            <a:r>
              <a:rPr lang="en-US" sz="4000" dirty="0" smtClean="0">
                <a:solidFill>
                  <a:schemeClr val="bg1"/>
                </a:solidFill>
              </a:rPr>
              <a:t>				 OR </a:t>
            </a:r>
          </a:p>
          <a:p>
            <a:r>
              <a:rPr lang="en-US" sz="4000" dirty="0" smtClean="0">
                <a:solidFill>
                  <a:schemeClr val="bg1"/>
                </a:solidFill>
              </a:rPr>
              <a:t>This type of clamper circuit shifts the waveform upwards, so that the lowest point of the waveform is at the V</a:t>
            </a:r>
            <a:r>
              <a:rPr lang="en-US" sz="2400" dirty="0" smtClean="0">
                <a:solidFill>
                  <a:schemeClr val="bg1"/>
                </a:solidFill>
              </a:rPr>
              <a:t>0</a:t>
            </a:r>
            <a:r>
              <a:rPr lang="en-US" sz="4000" dirty="0" smtClean="0">
                <a:solidFill>
                  <a:schemeClr val="bg1"/>
                </a:solidFill>
              </a:rPr>
              <a:t> reference level.</a:t>
            </a:r>
            <a:endParaRPr lang="en-US" sz="4000" dirty="0">
              <a:solidFill>
                <a:schemeClr val="bg1"/>
              </a:solidFill>
            </a:endParaRPr>
          </a:p>
        </p:txBody>
      </p:sp>
    </p:spTree>
    <p:extLst>
      <p:ext uri="{BB962C8B-B14F-4D97-AF65-F5344CB8AC3E}">
        <p14:creationId xmlns:p14="http://schemas.microsoft.com/office/powerpoint/2010/main" val="375211823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t="-39000" b="-3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838" y="500333"/>
            <a:ext cx="11266098" cy="3100028"/>
          </a:xfrm>
          <a:prstGeom prst="rect">
            <a:avLst/>
          </a:prstGeom>
        </p:spPr>
      </p:pic>
      <p:sp>
        <p:nvSpPr>
          <p:cNvPr id="3" name="TextBox 2"/>
          <p:cNvSpPr txBox="1"/>
          <p:nvPr/>
        </p:nvSpPr>
        <p:spPr>
          <a:xfrm>
            <a:off x="1207697" y="4088921"/>
            <a:ext cx="10317193" cy="2677656"/>
          </a:xfrm>
          <a:prstGeom prst="rect">
            <a:avLst/>
          </a:prstGeom>
          <a:noFill/>
        </p:spPr>
        <p:txBody>
          <a:bodyPr wrap="square" rtlCol="0">
            <a:spAutoFit/>
          </a:bodyPr>
          <a:lstStyle/>
          <a:p>
            <a:pPr algn="ctr"/>
            <a:r>
              <a:rPr lang="en-US" sz="4000" b="1" dirty="0" smtClean="0">
                <a:solidFill>
                  <a:schemeClr val="bg1"/>
                </a:solidFill>
              </a:rPr>
              <a:t>V</a:t>
            </a:r>
            <a:r>
              <a:rPr lang="en-US" b="1" dirty="0" smtClean="0">
                <a:solidFill>
                  <a:schemeClr val="bg1"/>
                </a:solidFill>
              </a:rPr>
              <a:t>0</a:t>
            </a:r>
            <a:r>
              <a:rPr lang="en-US" sz="4000" b="1" dirty="0" smtClean="0">
                <a:solidFill>
                  <a:schemeClr val="bg1"/>
                </a:solidFill>
              </a:rPr>
              <a:t>=</a:t>
            </a:r>
            <a:r>
              <a:rPr lang="en-US" sz="4000" b="1" dirty="0" err="1" smtClean="0">
                <a:solidFill>
                  <a:schemeClr val="bg1"/>
                </a:solidFill>
              </a:rPr>
              <a:t>Vi+Vm</a:t>
            </a:r>
            <a:endParaRPr lang="en-US" sz="4000" b="1" dirty="0" smtClean="0">
              <a:solidFill>
                <a:schemeClr val="bg1"/>
              </a:solidFill>
            </a:endParaRPr>
          </a:p>
          <a:p>
            <a:r>
              <a:rPr lang="en-US" sz="3200" dirty="0" smtClean="0">
                <a:solidFill>
                  <a:schemeClr val="bg1"/>
                </a:solidFill>
              </a:rPr>
              <a:t>Hence </a:t>
            </a:r>
            <a:r>
              <a:rPr lang="en-US" sz="3200" dirty="0">
                <a:solidFill>
                  <a:schemeClr val="bg1"/>
                </a:solidFill>
              </a:rPr>
              <a:t>the signal is positively clamped as shown in the above figure</a:t>
            </a:r>
            <a:r>
              <a:rPr lang="en-US" sz="3200" dirty="0" smtClean="0">
                <a:solidFill>
                  <a:schemeClr val="bg1"/>
                </a:solidFill>
              </a:rPr>
              <a:t>.</a:t>
            </a:r>
            <a:r>
              <a:rPr lang="en-US" sz="3200" dirty="0">
                <a:solidFill>
                  <a:schemeClr val="bg1"/>
                </a:solidFill>
              </a:rPr>
              <a:t> The output signal changes according to the changes in the input, </a:t>
            </a:r>
            <a:r>
              <a:rPr lang="en-US" sz="3200" dirty="0" smtClean="0">
                <a:solidFill>
                  <a:schemeClr val="bg1"/>
                </a:solidFill>
              </a:rPr>
              <a:t>but </a:t>
            </a:r>
            <a:r>
              <a:rPr lang="en-US" sz="3200" dirty="0">
                <a:solidFill>
                  <a:schemeClr val="bg1"/>
                </a:solidFill>
              </a:rPr>
              <a:t>shifts the level according to the charge on the capacitor, as it adds the input voltage.</a:t>
            </a:r>
          </a:p>
        </p:txBody>
      </p:sp>
    </p:spTree>
    <p:extLst>
      <p:ext uri="{BB962C8B-B14F-4D97-AF65-F5344CB8AC3E}">
        <p14:creationId xmlns:p14="http://schemas.microsoft.com/office/powerpoint/2010/main" val="788099489"/>
      </p:ext>
    </p:extLst>
  </p:cSld>
  <p:clrMapOvr>
    <a:masterClrMapping/>
  </p:clrMapOvr>
  <p:transition spd="slow">
    <p:wheel spokes="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2000" b="-39000"/>
          </a:stretch>
        </a:blipFill>
        <a:effectLst/>
      </p:bgPr>
    </p:bg>
    <p:spTree>
      <p:nvGrpSpPr>
        <p:cNvPr id="1" name=""/>
        <p:cNvGrpSpPr/>
        <p:nvPr/>
      </p:nvGrpSpPr>
      <p:grpSpPr>
        <a:xfrm>
          <a:off x="0" y="0"/>
          <a:ext cx="0" cy="0"/>
          <a:chOff x="0" y="0"/>
          <a:chExt cx="0" cy="0"/>
        </a:xfrm>
      </p:grpSpPr>
      <p:sp>
        <p:nvSpPr>
          <p:cNvPr id="2" name="TextBox 1"/>
          <p:cNvSpPr txBox="1"/>
          <p:nvPr/>
        </p:nvSpPr>
        <p:spPr>
          <a:xfrm>
            <a:off x="446848" y="618686"/>
            <a:ext cx="11319582" cy="923330"/>
          </a:xfrm>
          <a:prstGeom prst="rect">
            <a:avLst/>
          </a:prstGeom>
          <a:noFill/>
        </p:spPr>
        <p:txBody>
          <a:bodyPr wrap="square" rtlCol="0">
            <a:spAutoFit/>
          </a:bodyPr>
          <a:lstStyle/>
          <a:p>
            <a:r>
              <a:rPr lang="en-US" sz="5400" dirty="0">
                <a:solidFill>
                  <a:schemeClr val="bg1"/>
                </a:solidFill>
              </a:rPr>
              <a:t>Positive Clamper </a:t>
            </a:r>
            <a:r>
              <a:rPr lang="en-US" sz="5400" dirty="0" smtClean="0">
                <a:solidFill>
                  <a:schemeClr val="bg1"/>
                </a:solidFill>
              </a:rPr>
              <a:t>Circuit with positive </a:t>
            </a:r>
            <a:r>
              <a:rPr lang="en-US" sz="5400" dirty="0" err="1" smtClean="0">
                <a:solidFill>
                  <a:schemeClr val="bg1"/>
                </a:solidFill>
              </a:rPr>
              <a:t>V</a:t>
            </a:r>
            <a:r>
              <a:rPr lang="en-US" sz="4000" dirty="0" err="1" smtClean="0">
                <a:solidFill>
                  <a:schemeClr val="bg1"/>
                </a:solidFill>
              </a:rPr>
              <a:t>r</a:t>
            </a:r>
            <a:endParaRPr lang="en-US" sz="5400" dirty="0">
              <a:solidFill>
                <a:schemeClr val="bg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250" y="1863306"/>
            <a:ext cx="10834777" cy="3950898"/>
          </a:xfrm>
          <a:prstGeom prst="rect">
            <a:avLst/>
          </a:prstGeom>
        </p:spPr>
      </p:pic>
    </p:spTree>
    <p:extLst>
      <p:ext uri="{BB962C8B-B14F-4D97-AF65-F5344CB8AC3E}">
        <p14:creationId xmlns:p14="http://schemas.microsoft.com/office/powerpoint/2010/main" val="2598716395"/>
      </p:ext>
    </p:extLst>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2000" b="-39000"/>
          </a:stretch>
        </a:blipFill>
        <a:effectLst/>
      </p:bgPr>
    </p:bg>
    <p:spTree>
      <p:nvGrpSpPr>
        <p:cNvPr id="1" name=""/>
        <p:cNvGrpSpPr/>
        <p:nvPr/>
      </p:nvGrpSpPr>
      <p:grpSpPr>
        <a:xfrm>
          <a:off x="0" y="0"/>
          <a:ext cx="0" cy="0"/>
          <a:chOff x="0" y="0"/>
          <a:chExt cx="0" cy="0"/>
        </a:xfrm>
      </p:grpSpPr>
      <p:sp>
        <p:nvSpPr>
          <p:cNvPr id="2" name="TextBox 1"/>
          <p:cNvSpPr txBox="1"/>
          <p:nvPr/>
        </p:nvSpPr>
        <p:spPr>
          <a:xfrm>
            <a:off x="446848" y="618686"/>
            <a:ext cx="11745152" cy="923330"/>
          </a:xfrm>
          <a:prstGeom prst="rect">
            <a:avLst/>
          </a:prstGeom>
          <a:noFill/>
        </p:spPr>
        <p:txBody>
          <a:bodyPr wrap="square" rtlCol="0">
            <a:spAutoFit/>
          </a:bodyPr>
          <a:lstStyle/>
          <a:p>
            <a:r>
              <a:rPr lang="en-US" sz="5400" dirty="0">
                <a:solidFill>
                  <a:schemeClr val="bg1"/>
                </a:solidFill>
              </a:rPr>
              <a:t>Positive Clamper </a:t>
            </a:r>
            <a:r>
              <a:rPr lang="en-US" sz="5400" dirty="0" smtClean="0">
                <a:solidFill>
                  <a:schemeClr val="bg1"/>
                </a:solidFill>
              </a:rPr>
              <a:t>Circuit with Negative </a:t>
            </a:r>
            <a:r>
              <a:rPr lang="en-US" sz="5400" dirty="0" err="1" smtClean="0">
                <a:solidFill>
                  <a:schemeClr val="bg1"/>
                </a:solidFill>
              </a:rPr>
              <a:t>V</a:t>
            </a:r>
            <a:r>
              <a:rPr lang="en-US" sz="4000" dirty="0" err="1" smtClean="0">
                <a:solidFill>
                  <a:schemeClr val="bg1"/>
                </a:solidFill>
              </a:rPr>
              <a:t>r</a:t>
            </a:r>
            <a:endParaRPr lang="en-US" sz="5400" dirty="0">
              <a:solidFill>
                <a:schemeClr val="bg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848" y="2032526"/>
            <a:ext cx="11233318" cy="3867942"/>
          </a:xfrm>
          <a:prstGeom prst="rect">
            <a:avLst/>
          </a:prstGeom>
        </p:spPr>
      </p:pic>
    </p:spTree>
    <p:extLst>
      <p:ext uri="{BB962C8B-B14F-4D97-AF65-F5344CB8AC3E}">
        <p14:creationId xmlns:p14="http://schemas.microsoft.com/office/powerpoint/2010/main" val="17395205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2000" b="-39000"/>
          </a:stretch>
        </a:blipFill>
        <a:effectLst/>
      </p:bgPr>
    </p:bg>
    <p:spTree>
      <p:nvGrpSpPr>
        <p:cNvPr id="1" name=""/>
        <p:cNvGrpSpPr/>
        <p:nvPr/>
      </p:nvGrpSpPr>
      <p:grpSpPr>
        <a:xfrm>
          <a:off x="0" y="0"/>
          <a:ext cx="0" cy="0"/>
          <a:chOff x="0" y="0"/>
          <a:chExt cx="0" cy="0"/>
        </a:xfrm>
      </p:grpSpPr>
      <p:sp>
        <p:nvSpPr>
          <p:cNvPr id="2" name="TextBox 1"/>
          <p:cNvSpPr txBox="1"/>
          <p:nvPr/>
        </p:nvSpPr>
        <p:spPr>
          <a:xfrm>
            <a:off x="2103120" y="566928"/>
            <a:ext cx="7790688" cy="923330"/>
          </a:xfrm>
          <a:prstGeom prst="rect">
            <a:avLst/>
          </a:prstGeom>
          <a:noFill/>
        </p:spPr>
        <p:txBody>
          <a:bodyPr wrap="square" rtlCol="0">
            <a:spAutoFit/>
          </a:bodyPr>
          <a:lstStyle/>
          <a:p>
            <a:r>
              <a:rPr lang="en-US" sz="5400" dirty="0" smtClean="0">
                <a:solidFill>
                  <a:schemeClr val="bg1"/>
                </a:solidFill>
              </a:rPr>
              <a:t>Negative </a:t>
            </a:r>
            <a:r>
              <a:rPr lang="en-US" sz="5400" dirty="0">
                <a:solidFill>
                  <a:schemeClr val="bg1"/>
                </a:solidFill>
              </a:rPr>
              <a:t>Clamper Circuit</a:t>
            </a:r>
          </a:p>
        </p:txBody>
      </p:sp>
      <p:sp>
        <p:nvSpPr>
          <p:cNvPr id="3" name="TextBox 2"/>
          <p:cNvSpPr txBox="1"/>
          <p:nvPr/>
        </p:nvSpPr>
        <p:spPr>
          <a:xfrm>
            <a:off x="849831" y="1490258"/>
            <a:ext cx="10626821" cy="5016758"/>
          </a:xfrm>
          <a:prstGeom prst="rect">
            <a:avLst/>
          </a:prstGeom>
          <a:noFill/>
        </p:spPr>
        <p:txBody>
          <a:bodyPr wrap="square" rtlCol="0">
            <a:spAutoFit/>
          </a:bodyPr>
          <a:lstStyle/>
          <a:p>
            <a:r>
              <a:rPr lang="en-US" sz="4000" dirty="0">
                <a:solidFill>
                  <a:schemeClr val="bg1"/>
                </a:solidFill>
              </a:rPr>
              <a:t>A Negative Clamper circuit is one that consists of a diode, a resistor and a capacitor and that shifts the output signal to the negative portion of the input signal. </a:t>
            </a:r>
            <a:endParaRPr lang="en-US" sz="4000" dirty="0" smtClean="0">
              <a:solidFill>
                <a:schemeClr val="bg1"/>
              </a:solidFill>
            </a:endParaRPr>
          </a:p>
          <a:p>
            <a:r>
              <a:rPr lang="en-US" sz="4000" dirty="0" smtClean="0">
                <a:solidFill>
                  <a:schemeClr val="bg1"/>
                </a:solidFill>
              </a:rPr>
              <a:t>					OR</a:t>
            </a:r>
          </a:p>
          <a:p>
            <a:r>
              <a:rPr lang="en-US" sz="4000" dirty="0" smtClean="0">
                <a:solidFill>
                  <a:schemeClr val="bg1"/>
                </a:solidFill>
              </a:rPr>
              <a:t>This type of clamper circuit shifts the waveform downwards, so that the highest point of the waveform is at the V</a:t>
            </a:r>
            <a:r>
              <a:rPr lang="en-US" sz="2400" dirty="0" smtClean="0">
                <a:solidFill>
                  <a:schemeClr val="bg1"/>
                </a:solidFill>
              </a:rPr>
              <a:t>0</a:t>
            </a:r>
            <a:r>
              <a:rPr lang="en-US" sz="4000" dirty="0" smtClean="0">
                <a:solidFill>
                  <a:schemeClr val="bg1"/>
                </a:solidFill>
              </a:rPr>
              <a:t> reference level.</a:t>
            </a:r>
            <a:endParaRPr lang="en-US" sz="4000" dirty="0">
              <a:solidFill>
                <a:schemeClr val="bg1"/>
              </a:solidFill>
            </a:endParaRPr>
          </a:p>
        </p:txBody>
      </p:sp>
    </p:spTree>
    <p:extLst>
      <p:ext uri="{BB962C8B-B14F-4D97-AF65-F5344CB8AC3E}">
        <p14:creationId xmlns:p14="http://schemas.microsoft.com/office/powerpoint/2010/main" val="16883584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t="-39000" b="-39000"/>
          </a:stretch>
        </a:blipFill>
        <a:effectLst/>
      </p:bgPr>
    </p:bg>
    <p:spTree>
      <p:nvGrpSpPr>
        <p:cNvPr id="1" name=""/>
        <p:cNvGrpSpPr/>
        <p:nvPr/>
      </p:nvGrpSpPr>
      <p:grpSpPr>
        <a:xfrm>
          <a:off x="0" y="0"/>
          <a:ext cx="0" cy="0"/>
          <a:chOff x="0" y="0"/>
          <a:chExt cx="0" cy="0"/>
        </a:xfrm>
      </p:grpSpPr>
      <p:sp>
        <p:nvSpPr>
          <p:cNvPr id="3" name="TextBox 2"/>
          <p:cNvSpPr txBox="1"/>
          <p:nvPr/>
        </p:nvSpPr>
        <p:spPr>
          <a:xfrm>
            <a:off x="1207697" y="4088921"/>
            <a:ext cx="10317193" cy="2677656"/>
          </a:xfrm>
          <a:prstGeom prst="rect">
            <a:avLst/>
          </a:prstGeom>
          <a:noFill/>
        </p:spPr>
        <p:txBody>
          <a:bodyPr wrap="square" rtlCol="0">
            <a:spAutoFit/>
          </a:bodyPr>
          <a:lstStyle/>
          <a:p>
            <a:pPr algn="ctr"/>
            <a:r>
              <a:rPr lang="en-US" sz="4000" b="1" dirty="0" smtClean="0">
                <a:solidFill>
                  <a:schemeClr val="bg1"/>
                </a:solidFill>
              </a:rPr>
              <a:t>V</a:t>
            </a:r>
            <a:r>
              <a:rPr lang="en-US" b="1" dirty="0" smtClean="0">
                <a:solidFill>
                  <a:schemeClr val="bg1"/>
                </a:solidFill>
              </a:rPr>
              <a:t>0</a:t>
            </a:r>
            <a:r>
              <a:rPr lang="en-US" sz="4000" b="1" dirty="0" smtClean="0">
                <a:solidFill>
                  <a:schemeClr val="bg1"/>
                </a:solidFill>
              </a:rPr>
              <a:t>=</a:t>
            </a:r>
            <a:r>
              <a:rPr lang="en-US" sz="4000" b="1" dirty="0" err="1" smtClean="0">
                <a:solidFill>
                  <a:schemeClr val="bg1"/>
                </a:solidFill>
              </a:rPr>
              <a:t>Vi+Vm</a:t>
            </a:r>
            <a:endParaRPr lang="en-US" sz="4000" b="1" dirty="0" smtClean="0">
              <a:solidFill>
                <a:schemeClr val="bg1"/>
              </a:solidFill>
            </a:endParaRPr>
          </a:p>
          <a:p>
            <a:r>
              <a:rPr lang="en-US" sz="3200" dirty="0">
                <a:solidFill>
                  <a:schemeClr val="bg1"/>
                </a:solidFill>
              </a:rPr>
              <a:t>Hence the signal is negatively clamped as shown in the above figure. The output signal changes according to the changes in the input, but shifts the level according to the charge on the capacitor, as it adds the input voltage.</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356" y="644978"/>
            <a:ext cx="11082534" cy="2796640"/>
          </a:xfrm>
          <a:prstGeom prst="rect">
            <a:avLst/>
          </a:prstGeom>
        </p:spPr>
      </p:pic>
    </p:spTree>
    <p:extLst>
      <p:ext uri="{BB962C8B-B14F-4D97-AF65-F5344CB8AC3E}">
        <p14:creationId xmlns:p14="http://schemas.microsoft.com/office/powerpoint/2010/main" val="12022834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2000" b="-39000"/>
          </a:stretch>
        </a:blipFill>
        <a:effectLst/>
      </p:bgPr>
    </p:bg>
    <p:spTree>
      <p:nvGrpSpPr>
        <p:cNvPr id="1" name=""/>
        <p:cNvGrpSpPr/>
        <p:nvPr/>
      </p:nvGrpSpPr>
      <p:grpSpPr>
        <a:xfrm>
          <a:off x="0" y="0"/>
          <a:ext cx="0" cy="0"/>
          <a:chOff x="0" y="0"/>
          <a:chExt cx="0" cy="0"/>
        </a:xfrm>
      </p:grpSpPr>
      <p:sp>
        <p:nvSpPr>
          <p:cNvPr id="2" name="TextBox 1"/>
          <p:cNvSpPr txBox="1"/>
          <p:nvPr/>
        </p:nvSpPr>
        <p:spPr>
          <a:xfrm>
            <a:off x="446848" y="618686"/>
            <a:ext cx="11745152" cy="923330"/>
          </a:xfrm>
          <a:prstGeom prst="rect">
            <a:avLst/>
          </a:prstGeom>
          <a:noFill/>
        </p:spPr>
        <p:txBody>
          <a:bodyPr wrap="square" rtlCol="0">
            <a:spAutoFit/>
          </a:bodyPr>
          <a:lstStyle/>
          <a:p>
            <a:r>
              <a:rPr lang="en-US" sz="5400" dirty="0" smtClean="0">
                <a:solidFill>
                  <a:schemeClr val="bg1"/>
                </a:solidFill>
              </a:rPr>
              <a:t>Negative </a:t>
            </a:r>
            <a:r>
              <a:rPr lang="en-US" sz="5400" dirty="0">
                <a:solidFill>
                  <a:schemeClr val="bg1"/>
                </a:solidFill>
              </a:rPr>
              <a:t>Clamper </a:t>
            </a:r>
            <a:r>
              <a:rPr lang="en-US" sz="5400" dirty="0" smtClean="0">
                <a:solidFill>
                  <a:schemeClr val="bg1"/>
                </a:solidFill>
              </a:rPr>
              <a:t>Circuit with positive </a:t>
            </a:r>
            <a:r>
              <a:rPr lang="en-US" sz="5400" dirty="0" err="1" smtClean="0">
                <a:solidFill>
                  <a:schemeClr val="bg1"/>
                </a:solidFill>
              </a:rPr>
              <a:t>V</a:t>
            </a:r>
            <a:r>
              <a:rPr lang="en-US" sz="4000" dirty="0" err="1" smtClean="0">
                <a:solidFill>
                  <a:schemeClr val="bg1"/>
                </a:solidFill>
              </a:rPr>
              <a:t>r</a:t>
            </a:r>
            <a:endParaRPr lang="en-US" sz="5400" dirty="0">
              <a:solidFill>
                <a:schemeClr val="bg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739" y="2334075"/>
            <a:ext cx="10468946" cy="3861452"/>
          </a:xfrm>
          <a:prstGeom prst="rect">
            <a:avLst/>
          </a:prstGeom>
        </p:spPr>
      </p:pic>
    </p:spTree>
    <p:extLst>
      <p:ext uri="{BB962C8B-B14F-4D97-AF65-F5344CB8AC3E}">
        <p14:creationId xmlns:p14="http://schemas.microsoft.com/office/powerpoint/2010/main" val="3260087014"/>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2000" b="-39000"/>
          </a:stretch>
        </a:blipFill>
        <a:effectLst/>
      </p:bgPr>
    </p:bg>
    <p:spTree>
      <p:nvGrpSpPr>
        <p:cNvPr id="1" name=""/>
        <p:cNvGrpSpPr/>
        <p:nvPr/>
      </p:nvGrpSpPr>
      <p:grpSpPr>
        <a:xfrm>
          <a:off x="0" y="0"/>
          <a:ext cx="0" cy="0"/>
          <a:chOff x="0" y="0"/>
          <a:chExt cx="0" cy="0"/>
        </a:xfrm>
      </p:grpSpPr>
      <p:sp>
        <p:nvSpPr>
          <p:cNvPr id="2" name="TextBox 1"/>
          <p:cNvSpPr txBox="1"/>
          <p:nvPr/>
        </p:nvSpPr>
        <p:spPr>
          <a:xfrm>
            <a:off x="164840" y="637347"/>
            <a:ext cx="11930743" cy="923330"/>
          </a:xfrm>
          <a:prstGeom prst="rect">
            <a:avLst/>
          </a:prstGeom>
          <a:noFill/>
        </p:spPr>
        <p:txBody>
          <a:bodyPr wrap="square" rtlCol="0">
            <a:spAutoFit/>
          </a:bodyPr>
          <a:lstStyle/>
          <a:p>
            <a:r>
              <a:rPr lang="en-US" sz="5400" dirty="0" smtClean="0">
                <a:solidFill>
                  <a:schemeClr val="bg1"/>
                </a:solidFill>
              </a:rPr>
              <a:t>Negative </a:t>
            </a:r>
            <a:r>
              <a:rPr lang="en-US" sz="5400" dirty="0">
                <a:solidFill>
                  <a:schemeClr val="bg1"/>
                </a:solidFill>
              </a:rPr>
              <a:t>Clamper </a:t>
            </a:r>
            <a:r>
              <a:rPr lang="en-US" sz="5400" dirty="0" smtClean="0">
                <a:solidFill>
                  <a:schemeClr val="bg1"/>
                </a:solidFill>
              </a:rPr>
              <a:t>Circuit with Negative </a:t>
            </a:r>
            <a:r>
              <a:rPr lang="en-US" sz="5400" dirty="0" err="1" smtClean="0">
                <a:solidFill>
                  <a:schemeClr val="bg1"/>
                </a:solidFill>
              </a:rPr>
              <a:t>V</a:t>
            </a:r>
            <a:r>
              <a:rPr lang="en-US" sz="4000" dirty="0" err="1" smtClean="0">
                <a:solidFill>
                  <a:schemeClr val="bg1"/>
                </a:solidFill>
              </a:rPr>
              <a:t>r</a:t>
            </a:r>
            <a:endParaRPr lang="en-US" sz="5400" dirty="0">
              <a:solidFill>
                <a:schemeClr val="bg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9084" y="2276954"/>
            <a:ext cx="10562253" cy="3545348"/>
          </a:xfrm>
          <a:prstGeom prst="rect">
            <a:avLst/>
          </a:prstGeom>
        </p:spPr>
      </p:pic>
    </p:spTree>
    <p:extLst>
      <p:ext uri="{BB962C8B-B14F-4D97-AF65-F5344CB8AC3E}">
        <p14:creationId xmlns:p14="http://schemas.microsoft.com/office/powerpoint/2010/main" val="355727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2000" b="-39000"/>
          </a:stretch>
        </a:blipFill>
        <a:effectLst/>
      </p:bgPr>
    </p:bg>
    <p:spTree>
      <p:nvGrpSpPr>
        <p:cNvPr id="1" name=""/>
        <p:cNvGrpSpPr/>
        <p:nvPr/>
      </p:nvGrpSpPr>
      <p:grpSpPr>
        <a:xfrm>
          <a:off x="0" y="0"/>
          <a:ext cx="0" cy="0"/>
          <a:chOff x="0" y="0"/>
          <a:chExt cx="0" cy="0"/>
        </a:xfrm>
      </p:grpSpPr>
      <p:sp>
        <p:nvSpPr>
          <p:cNvPr id="2" name="TextBox 1"/>
          <p:cNvSpPr txBox="1"/>
          <p:nvPr/>
        </p:nvSpPr>
        <p:spPr>
          <a:xfrm>
            <a:off x="164840" y="637347"/>
            <a:ext cx="11930743" cy="2492990"/>
          </a:xfrm>
          <a:prstGeom prst="rect">
            <a:avLst/>
          </a:prstGeom>
          <a:noFill/>
        </p:spPr>
        <p:txBody>
          <a:bodyPr wrap="square" rtlCol="0">
            <a:spAutoFit/>
          </a:bodyPr>
          <a:lstStyle/>
          <a:p>
            <a:pPr algn="ctr"/>
            <a:r>
              <a:rPr lang="en-US" sz="6000" b="1" dirty="0" smtClean="0">
                <a:solidFill>
                  <a:schemeClr val="bg1"/>
                </a:solidFill>
              </a:rPr>
              <a:t>Applications</a:t>
            </a:r>
          </a:p>
          <a:p>
            <a:pPr algn="ctr"/>
            <a:endParaRPr lang="en-US" sz="6000" b="1" dirty="0">
              <a:solidFill>
                <a:schemeClr val="bg1"/>
              </a:solidFill>
            </a:endParaRPr>
          </a:p>
          <a:p>
            <a:r>
              <a:rPr lang="en-US" sz="3600" dirty="0">
                <a:solidFill>
                  <a:schemeClr val="bg1"/>
                </a:solidFill>
              </a:rPr>
              <a:t>There are many applications for </a:t>
            </a:r>
            <a:r>
              <a:rPr lang="en-US" sz="3600" dirty="0" smtClean="0">
                <a:solidFill>
                  <a:schemeClr val="bg1"/>
                </a:solidFill>
              </a:rPr>
              <a:t>Clampers </a:t>
            </a:r>
            <a:r>
              <a:rPr lang="en-US" sz="3600" dirty="0">
                <a:solidFill>
                  <a:schemeClr val="bg1"/>
                </a:solidFill>
              </a:rPr>
              <a:t>such as</a:t>
            </a:r>
          </a:p>
        </p:txBody>
      </p:sp>
      <p:sp>
        <p:nvSpPr>
          <p:cNvPr id="3" name="TextBox 2"/>
          <p:cNvSpPr txBox="1"/>
          <p:nvPr/>
        </p:nvSpPr>
        <p:spPr>
          <a:xfrm>
            <a:off x="485192" y="3676261"/>
            <a:ext cx="11457992" cy="2062103"/>
          </a:xfrm>
          <a:prstGeom prst="rect">
            <a:avLst/>
          </a:prstGeom>
          <a:noFill/>
        </p:spPr>
        <p:txBody>
          <a:bodyPr wrap="square" rtlCol="0">
            <a:spAutoFit/>
          </a:bodyPr>
          <a:lstStyle/>
          <a:p>
            <a:pPr marL="514350" indent="-514350">
              <a:buAutoNum type="arabicPeriod"/>
            </a:pPr>
            <a:r>
              <a:rPr lang="en-US" sz="3200" b="1" dirty="0" smtClean="0">
                <a:solidFill>
                  <a:schemeClr val="bg1"/>
                </a:solidFill>
              </a:rPr>
              <a:t>Voltage Multipliers: </a:t>
            </a:r>
            <a:r>
              <a:rPr lang="en-US" sz="3200" dirty="0" smtClean="0">
                <a:solidFill>
                  <a:schemeClr val="bg1"/>
                </a:solidFill>
              </a:rPr>
              <a:t>Clamper circuits are used in voltage multiplier circuits to produce high voltage DC outputs.</a:t>
            </a:r>
          </a:p>
          <a:p>
            <a:r>
              <a:rPr lang="en-US" sz="3200" b="1" dirty="0" smtClean="0">
                <a:solidFill>
                  <a:schemeClr val="bg1"/>
                </a:solidFill>
              </a:rPr>
              <a:t>2. TV and Radio Circuits: </a:t>
            </a:r>
            <a:r>
              <a:rPr lang="en-US" sz="3200" dirty="0" smtClean="0">
                <a:solidFill>
                  <a:schemeClr val="bg1"/>
                </a:solidFill>
              </a:rPr>
              <a:t>Clamper circuits are used in TV and radio circuits to restore the original DC level of the signal.</a:t>
            </a:r>
            <a:endParaRPr lang="en-US" sz="3200" dirty="0">
              <a:solidFill>
                <a:schemeClr val="bg1"/>
              </a:solidFill>
            </a:endParaRPr>
          </a:p>
        </p:txBody>
      </p:sp>
    </p:spTree>
    <p:extLst>
      <p:ext uri="{BB962C8B-B14F-4D97-AF65-F5344CB8AC3E}">
        <p14:creationId xmlns:p14="http://schemas.microsoft.com/office/powerpoint/2010/main" val="19257353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2000" b="-39000"/>
          </a:stretch>
        </a:blipFill>
        <a:effectLst/>
      </p:bgPr>
    </p:bg>
    <p:spTree>
      <p:nvGrpSpPr>
        <p:cNvPr id="1" name=""/>
        <p:cNvGrpSpPr/>
        <p:nvPr/>
      </p:nvGrpSpPr>
      <p:grpSpPr>
        <a:xfrm>
          <a:off x="0" y="0"/>
          <a:ext cx="0" cy="0"/>
          <a:chOff x="0" y="0"/>
          <a:chExt cx="0" cy="0"/>
        </a:xfrm>
      </p:grpSpPr>
      <p:sp>
        <p:nvSpPr>
          <p:cNvPr id="2" name="TextBox 1"/>
          <p:cNvSpPr txBox="1"/>
          <p:nvPr/>
        </p:nvSpPr>
        <p:spPr>
          <a:xfrm>
            <a:off x="164840" y="637347"/>
            <a:ext cx="11930743" cy="1015663"/>
          </a:xfrm>
          <a:prstGeom prst="rect">
            <a:avLst/>
          </a:prstGeom>
          <a:noFill/>
        </p:spPr>
        <p:txBody>
          <a:bodyPr wrap="square" rtlCol="0">
            <a:spAutoFit/>
          </a:bodyPr>
          <a:lstStyle/>
          <a:p>
            <a:pPr algn="ctr"/>
            <a:r>
              <a:rPr lang="en-US" sz="6000" b="1" dirty="0" smtClean="0">
                <a:solidFill>
                  <a:schemeClr val="bg1"/>
                </a:solidFill>
              </a:rPr>
              <a:t>Applications</a:t>
            </a:r>
          </a:p>
        </p:txBody>
      </p:sp>
      <p:sp>
        <p:nvSpPr>
          <p:cNvPr id="3" name="TextBox 2"/>
          <p:cNvSpPr txBox="1"/>
          <p:nvPr/>
        </p:nvSpPr>
        <p:spPr>
          <a:xfrm>
            <a:off x="401215" y="2071396"/>
            <a:ext cx="11457992" cy="4031873"/>
          </a:xfrm>
          <a:prstGeom prst="rect">
            <a:avLst/>
          </a:prstGeom>
          <a:noFill/>
        </p:spPr>
        <p:txBody>
          <a:bodyPr wrap="square" rtlCol="0">
            <a:spAutoFit/>
          </a:bodyPr>
          <a:lstStyle/>
          <a:p>
            <a:r>
              <a:rPr lang="en-US" sz="3200" b="1" dirty="0" smtClean="0">
                <a:solidFill>
                  <a:schemeClr val="bg1"/>
                </a:solidFill>
              </a:rPr>
              <a:t>3. Medical Equipment</a:t>
            </a:r>
            <a:r>
              <a:rPr lang="en-US" sz="3200" dirty="0" smtClean="0">
                <a:solidFill>
                  <a:schemeClr val="bg1"/>
                </a:solidFill>
              </a:rPr>
              <a:t>: Clamper circuits are used in medical equipment such as ECG machines to shift the baseline of the signal to a desired level.</a:t>
            </a:r>
          </a:p>
          <a:p>
            <a:r>
              <a:rPr lang="en-US" sz="3200" b="1" dirty="0" smtClean="0">
                <a:solidFill>
                  <a:schemeClr val="bg1"/>
                </a:solidFill>
              </a:rPr>
              <a:t>4. Data Acquisition Systems: </a:t>
            </a:r>
            <a:r>
              <a:rPr lang="en-US" sz="3200" dirty="0" smtClean="0">
                <a:solidFill>
                  <a:schemeClr val="bg1"/>
                </a:solidFill>
              </a:rPr>
              <a:t>Clamper circuits are used in data acquisition systems to shift the signal to a desired level for processing.</a:t>
            </a:r>
          </a:p>
          <a:p>
            <a:r>
              <a:rPr lang="en-US" sz="3200" b="1" dirty="0" smtClean="0">
                <a:solidFill>
                  <a:schemeClr val="bg1"/>
                </a:solidFill>
              </a:rPr>
              <a:t>5. Audio Equipment: </a:t>
            </a:r>
            <a:r>
              <a:rPr lang="en-US" sz="3200" dirty="0" smtClean="0">
                <a:solidFill>
                  <a:schemeClr val="bg1"/>
                </a:solidFill>
              </a:rPr>
              <a:t>Clamper circuits are used in audio equipment such as amplifiers and filters to shift the signal to a desired level.</a:t>
            </a:r>
            <a:endParaRPr lang="en-US" sz="3200" dirty="0">
              <a:solidFill>
                <a:schemeClr val="bg1"/>
              </a:solidFill>
            </a:endParaRPr>
          </a:p>
        </p:txBody>
      </p:sp>
    </p:spTree>
    <p:extLst>
      <p:ext uri="{BB962C8B-B14F-4D97-AF65-F5344CB8AC3E}">
        <p14:creationId xmlns:p14="http://schemas.microsoft.com/office/powerpoint/2010/main" val="9424158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t="-39000" b="-39000"/>
          </a:stretch>
        </a:blipFill>
        <a:effectLst/>
      </p:bgPr>
    </p:bg>
    <p:spTree>
      <p:nvGrpSpPr>
        <p:cNvPr id="1" name=""/>
        <p:cNvGrpSpPr/>
        <p:nvPr/>
      </p:nvGrpSpPr>
      <p:grpSpPr>
        <a:xfrm>
          <a:off x="0" y="0"/>
          <a:ext cx="0" cy="0"/>
          <a:chOff x="0" y="0"/>
          <a:chExt cx="0" cy="0"/>
        </a:xfrm>
      </p:grpSpPr>
      <p:sp>
        <p:nvSpPr>
          <p:cNvPr id="2" name="TextBox 1"/>
          <p:cNvSpPr txBox="1"/>
          <p:nvPr/>
        </p:nvSpPr>
        <p:spPr>
          <a:xfrm>
            <a:off x="1436914" y="1716833"/>
            <a:ext cx="9386595" cy="2646878"/>
          </a:xfrm>
          <a:prstGeom prst="rect">
            <a:avLst/>
          </a:prstGeom>
          <a:noFill/>
        </p:spPr>
        <p:txBody>
          <a:bodyPr wrap="square" rtlCol="0">
            <a:spAutoFit/>
          </a:bodyPr>
          <a:lstStyle/>
          <a:p>
            <a:r>
              <a:rPr lang="en-US" sz="16600" b="1" dirty="0" smtClean="0">
                <a:solidFill>
                  <a:schemeClr val="bg1"/>
                </a:solidFill>
              </a:rPr>
              <a:t>Thank You </a:t>
            </a:r>
            <a:endParaRPr lang="en-US" b="1" dirty="0">
              <a:solidFill>
                <a:schemeClr val="bg1"/>
              </a:solidFill>
            </a:endParaRPr>
          </a:p>
        </p:txBody>
      </p:sp>
    </p:spTree>
    <p:extLst>
      <p:ext uri="{BB962C8B-B14F-4D97-AF65-F5344CB8AC3E}">
        <p14:creationId xmlns:p14="http://schemas.microsoft.com/office/powerpoint/2010/main" val="1308810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TotalTime>
  <Words>442</Words>
  <Application>Microsoft Office PowerPoint</Application>
  <PresentationFormat>Widescreen</PresentationFormat>
  <Paragraphs>45</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Gill Sans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Sk</dc:creator>
  <cp:lastModifiedBy>Sk</cp:lastModifiedBy>
  <cp:revision>16</cp:revision>
  <dcterms:created xsi:type="dcterms:W3CDTF">2024-04-23T17:12:12Z</dcterms:created>
  <dcterms:modified xsi:type="dcterms:W3CDTF">2024-04-24T05:02:54Z</dcterms:modified>
</cp:coreProperties>
</file>
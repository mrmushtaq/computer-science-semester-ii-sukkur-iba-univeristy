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35"/>
  </p:notesMasterIdLst>
  <p:sldIdLst>
    <p:sldId id="334" r:id="rId2"/>
    <p:sldId id="266" r:id="rId3"/>
    <p:sldId id="343" r:id="rId4"/>
    <p:sldId id="344" r:id="rId5"/>
    <p:sldId id="345" r:id="rId6"/>
    <p:sldId id="335" r:id="rId7"/>
    <p:sldId id="336" r:id="rId8"/>
    <p:sldId id="337" r:id="rId9"/>
    <p:sldId id="346" r:id="rId10"/>
    <p:sldId id="338" r:id="rId11"/>
    <p:sldId id="347" r:id="rId12"/>
    <p:sldId id="348" r:id="rId13"/>
    <p:sldId id="339" r:id="rId14"/>
    <p:sldId id="349" r:id="rId15"/>
    <p:sldId id="350" r:id="rId16"/>
    <p:sldId id="351" r:id="rId17"/>
    <p:sldId id="352" r:id="rId18"/>
    <p:sldId id="353" r:id="rId19"/>
    <p:sldId id="340" r:id="rId20"/>
    <p:sldId id="341" r:id="rId21"/>
    <p:sldId id="342" r:id="rId22"/>
    <p:sldId id="354" r:id="rId23"/>
    <p:sldId id="355" r:id="rId24"/>
    <p:sldId id="356" r:id="rId25"/>
    <p:sldId id="357" r:id="rId26"/>
    <p:sldId id="358" r:id="rId27"/>
    <p:sldId id="359" r:id="rId28"/>
    <p:sldId id="360" r:id="rId29"/>
    <p:sldId id="361" r:id="rId30"/>
    <p:sldId id="362" r:id="rId31"/>
    <p:sldId id="363" r:id="rId32"/>
    <p:sldId id="371" r:id="rId33"/>
    <p:sldId id="333" r:id="rId3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Georgia" panose="02040502050405020303"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Georgia" panose="02040502050405020303"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Georgia" panose="02040502050405020303"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Georgia" panose="02040502050405020303"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Georgia" panose="02040502050405020303"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QAS"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61" autoAdjust="0"/>
    <p:restoredTop sz="94958" autoAdjust="0"/>
  </p:normalViewPr>
  <p:slideViewPr>
    <p:cSldViewPr>
      <p:cViewPr varScale="1">
        <p:scale>
          <a:sx n="105" d="100"/>
          <a:sy n="105" d="100"/>
        </p:scale>
        <p:origin x="159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E53C0056-82F6-4C85-B9B6-3CD17964BB14}" type="datetimeFigureOut">
              <a:rPr lang="en-US"/>
              <a:pPr>
                <a:defRPr/>
              </a:pPr>
              <a:t>1/16/2024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6F9E1217-4C34-4DAA-8FB8-D57977FF6C3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8786B2F-EB0E-44C0-9503-69F0C411A698}" type="slidenum">
              <a:rPr lang="en-US" altLang="en-US" smtClean="0"/>
              <a:pPr>
                <a:spcBef>
                  <a:spcPct val="0"/>
                </a:spcBef>
              </a:pPr>
              <a:t>1</a:t>
            </a:fld>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r>
              <a:rPr lang="en-US"/>
              <a:t>1/30/2011</a:t>
            </a:r>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solidFill>
                  <a:srgbClr val="CCE1F3"/>
                </a:solidFill>
              </a:defRPr>
            </a:lvl1pPr>
          </a:lstStyle>
          <a:p>
            <a:pPr>
              <a:defRPr/>
            </a:pPr>
            <a:fld id="{42E36A9B-3493-49C2-9CCF-B8D8815CABE1}" type="slidenum">
              <a:rPr lang="en-US" altLang="en-US"/>
              <a:pPr>
                <a:defRPr/>
              </a:pPr>
              <a:t>‹#›</a:t>
            </a:fld>
            <a:endParaRPr lang="en-US" altLang="en-US"/>
          </a:p>
        </p:txBody>
      </p:sp>
    </p:spTree>
    <p:extLst>
      <p:ext uri="{BB962C8B-B14F-4D97-AF65-F5344CB8AC3E}">
        <p14:creationId xmlns:p14="http://schemas.microsoft.com/office/powerpoint/2010/main" val="6842086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763000" cy="838200"/>
          </a:xfrm>
        </p:spPr>
        <p:txBody>
          <a:bodyPr/>
          <a:lstStyle>
            <a:lvl1pPr algn="ctr">
              <a:defRPr/>
            </a:lvl1pPr>
          </a:lstStyle>
          <a:p>
            <a:r>
              <a:rPr lang="en-US" dirty="0" smtClean="0"/>
              <a:t>Click to edit Master title style</a:t>
            </a:r>
            <a:endParaRPr lang="en-US" dirty="0"/>
          </a:p>
        </p:txBody>
      </p:sp>
      <p:sp>
        <p:nvSpPr>
          <p:cNvPr id="3" name="Content Placeholder 2"/>
          <p:cNvSpPr>
            <a:spLocks noGrp="1"/>
          </p:cNvSpPr>
          <p:nvPr>
            <p:ph idx="1"/>
          </p:nvPr>
        </p:nvSpPr>
        <p:spPr>
          <a:xfrm>
            <a:off x="152400" y="838200"/>
            <a:ext cx="8763000" cy="5486400"/>
          </a:xfrm>
        </p:spPr>
        <p:txBody>
          <a:bodyPr>
            <a:normAutofit/>
          </a:bodyPr>
          <a:lstStyle>
            <a:lvl1pPr>
              <a:defRPr sz="3600">
                <a:solidFill>
                  <a:srgbClr val="C00000"/>
                </a:solidFill>
              </a:defRPr>
            </a:lvl1pPr>
            <a:lvl2pPr>
              <a:defRPr sz="3600">
                <a:solidFill>
                  <a:srgbClr val="C00000"/>
                </a:solidFill>
              </a:defRPr>
            </a:lvl2pPr>
            <a:lvl3pPr>
              <a:defRPr sz="2800">
                <a:solidFill>
                  <a:srgbClr val="C00000"/>
                </a:solidFill>
              </a:defRPr>
            </a:lvl3pPr>
            <a:lvl4pPr>
              <a:defRPr sz="2800">
                <a:solidFill>
                  <a:srgbClr val="C00000"/>
                </a:solidFill>
              </a:defRPr>
            </a:lvl4pPr>
            <a:lvl5pPr>
              <a:defRPr sz="2800">
                <a:solidFill>
                  <a:srgbClr val="C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9"/>
          <p:cNvSpPr>
            <a:spLocks noGrp="1"/>
          </p:cNvSpPr>
          <p:nvPr>
            <p:ph type="dt" sz="half" idx="10"/>
          </p:nvPr>
        </p:nvSpPr>
        <p:spPr/>
        <p:txBody>
          <a:bodyPr/>
          <a:lstStyle>
            <a:lvl1pPr>
              <a:defRPr/>
            </a:lvl1pPr>
          </a:lstStyle>
          <a:p>
            <a:pPr>
              <a:defRPr/>
            </a:pPr>
            <a:r>
              <a:rPr lang="en-US"/>
              <a:t>1/30/2011</a:t>
            </a:r>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0CD3CB7A-743B-4EE6-A269-C527C8F1BE73}" type="slidenum">
              <a:rPr lang="en-US" altLang="en-US"/>
              <a:pPr>
                <a:defRPr/>
              </a:pPr>
              <a:t>‹#›</a:t>
            </a:fld>
            <a:endParaRPr lang="en-US" altLang="en-US"/>
          </a:p>
        </p:txBody>
      </p:sp>
    </p:spTree>
    <p:extLst>
      <p:ext uri="{BB962C8B-B14F-4D97-AF65-F5344CB8AC3E}">
        <p14:creationId xmlns:p14="http://schemas.microsoft.com/office/powerpoint/2010/main" val="4171873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1/30/2011</a:t>
            </a:r>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solidFill>
                  <a:srgbClr val="CCE1F3"/>
                </a:solidFill>
              </a:defRPr>
            </a:lvl1pPr>
          </a:lstStyle>
          <a:p>
            <a:pPr>
              <a:defRPr/>
            </a:pPr>
            <a:fld id="{1A1E76BD-0A5E-443B-BC7C-42A2BA7462FF}" type="slidenum">
              <a:rPr lang="en-US" altLang="en-US"/>
              <a:pPr>
                <a:defRPr/>
              </a:pPr>
              <a:t>‹#›</a:t>
            </a:fld>
            <a:endParaRPr lang="en-US" altLang="en-US"/>
          </a:p>
        </p:txBody>
      </p:sp>
    </p:spTree>
    <p:extLst>
      <p:ext uri="{BB962C8B-B14F-4D97-AF65-F5344CB8AC3E}">
        <p14:creationId xmlns:p14="http://schemas.microsoft.com/office/powerpoint/2010/main" val="173808065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r>
              <a:rPr lang="en-US"/>
              <a:t>1/30/2011</a:t>
            </a:r>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D2B48328-DD7B-4F99-A913-194A7022458F}" type="slidenum">
              <a:rPr lang="en-US" altLang="en-US"/>
              <a:pPr>
                <a:defRPr/>
              </a:pPr>
              <a:t>‹#›</a:t>
            </a:fld>
            <a:endParaRPr lang="en-US" altLang="en-US"/>
          </a:p>
        </p:txBody>
      </p:sp>
    </p:spTree>
    <p:extLst>
      <p:ext uri="{BB962C8B-B14F-4D97-AF65-F5344CB8AC3E}">
        <p14:creationId xmlns:p14="http://schemas.microsoft.com/office/powerpoint/2010/main" val="369757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r>
              <a:rPr lang="en-US"/>
              <a:t>1/30/2011</a:t>
            </a:r>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D72C1608-D05C-49ED-BA77-EE599CE3BB60}" type="slidenum">
              <a:rPr lang="en-US" altLang="en-US"/>
              <a:pPr>
                <a:defRPr/>
              </a:pPr>
              <a:t>‹#›</a:t>
            </a:fld>
            <a:endParaRPr lang="en-US" altLang="en-US"/>
          </a:p>
        </p:txBody>
      </p:sp>
    </p:spTree>
    <p:extLst>
      <p:ext uri="{BB962C8B-B14F-4D97-AF65-F5344CB8AC3E}">
        <p14:creationId xmlns:p14="http://schemas.microsoft.com/office/powerpoint/2010/main" val="2897452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r>
              <a:rPr lang="en-US"/>
              <a:t>1/30/2011</a:t>
            </a:r>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3607F133-075E-4752-85AB-D9D7C8C15402}" type="slidenum">
              <a:rPr lang="en-US" altLang="en-US"/>
              <a:pPr>
                <a:defRPr/>
              </a:pPr>
              <a:t>‹#›</a:t>
            </a:fld>
            <a:endParaRPr lang="en-US" altLang="en-US"/>
          </a:p>
        </p:txBody>
      </p:sp>
    </p:spTree>
    <p:extLst>
      <p:ext uri="{BB962C8B-B14F-4D97-AF65-F5344CB8AC3E}">
        <p14:creationId xmlns:p14="http://schemas.microsoft.com/office/powerpoint/2010/main" val="2282211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r>
              <a:rPr lang="en-US"/>
              <a:t>1/30/2011</a:t>
            </a:r>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D939F172-46A9-4F2D-B189-20A59357FEB0}" type="slidenum">
              <a:rPr lang="en-US" altLang="en-US"/>
              <a:pPr>
                <a:defRPr/>
              </a:pPr>
              <a:t>‹#›</a:t>
            </a:fld>
            <a:endParaRPr lang="en-US" altLang="en-US"/>
          </a:p>
        </p:txBody>
      </p:sp>
    </p:spTree>
    <p:extLst>
      <p:ext uri="{BB962C8B-B14F-4D97-AF65-F5344CB8AC3E}">
        <p14:creationId xmlns:p14="http://schemas.microsoft.com/office/powerpoint/2010/main" val="943421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r>
              <a:rPr lang="en-US"/>
              <a:t>1/30/2011</a:t>
            </a:r>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1D4ADF40-DB60-41D2-8A77-E5524151F460}" type="slidenum">
              <a:rPr lang="en-US" altLang="en-US"/>
              <a:pPr>
                <a:defRPr/>
              </a:pPr>
              <a:t>‹#›</a:t>
            </a:fld>
            <a:endParaRPr lang="en-US" altLang="en-US"/>
          </a:p>
        </p:txBody>
      </p:sp>
    </p:spTree>
    <p:extLst>
      <p:ext uri="{BB962C8B-B14F-4D97-AF65-F5344CB8AC3E}">
        <p14:creationId xmlns:p14="http://schemas.microsoft.com/office/powerpoint/2010/main" val="3772638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r>
              <a:rPr lang="en-US"/>
              <a:t>1/30/2011</a:t>
            </a:r>
          </a:p>
        </p:txBody>
      </p:sp>
      <p:sp>
        <p:nvSpPr>
          <p:cNvPr id="10" name="Footer Placeholder 5"/>
          <p:cNvSpPr>
            <a:spLocks noGrp="1"/>
          </p:cNvSpPr>
          <p:nvPr>
            <p:ph type="ftr" sz="quarter" idx="11"/>
          </p:nvPr>
        </p:nvSpPr>
        <p:spPr/>
        <p:txBody>
          <a:bodyPr/>
          <a:lstStyle>
            <a:lvl1pPr>
              <a:defRPr/>
            </a:lvl1pPr>
          </a:lstStyle>
          <a:p>
            <a:pPr>
              <a:defRPr/>
            </a:pP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84A35306-32AD-4A67-A41D-A7ECE327856E}" type="slidenum">
              <a:rPr lang="en-US" altLang="en-US"/>
              <a:pPr>
                <a:defRPr/>
              </a:pPr>
              <a:t>‹#›</a:t>
            </a:fld>
            <a:endParaRPr lang="en-US" altLang="en-US"/>
          </a:p>
        </p:txBody>
      </p:sp>
    </p:spTree>
    <p:extLst>
      <p:ext uri="{BB962C8B-B14F-4D97-AF65-F5344CB8AC3E}">
        <p14:creationId xmlns:p14="http://schemas.microsoft.com/office/powerpoint/2010/main" val="2279478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r>
              <a:rPr lang="en-US"/>
              <a:t>1/30/2011</a:t>
            </a:r>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A56C29A2-2030-403C-8792-2D2C91C68030}" type="slidenum">
              <a:rPr lang="en-US" altLang="en-US"/>
              <a:pPr>
                <a:defRPr/>
              </a:pPr>
              <a:t>‹#›</a:t>
            </a:fld>
            <a:endParaRPr lang="en-US" altLang="en-US"/>
          </a:p>
        </p:txBody>
      </p:sp>
    </p:spTree>
    <p:extLst>
      <p:ext uri="{BB962C8B-B14F-4D97-AF65-F5344CB8AC3E}">
        <p14:creationId xmlns:p14="http://schemas.microsoft.com/office/powerpoint/2010/main" val="3321606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r>
              <a:rPr lang="en-US"/>
              <a:t>1/30/2011</a:t>
            </a:r>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81313024-AD87-4FE0-A160-4ADA9215021B}" type="slidenum">
              <a:rPr lang="en-US" altLang="en-US"/>
              <a:pPr>
                <a:defRPr/>
              </a:pPr>
              <a:t>‹#›</a:t>
            </a:fld>
            <a:endParaRPr lang="en-US" altLang="en-US"/>
          </a:p>
        </p:txBody>
      </p:sp>
    </p:spTree>
    <p:extLst>
      <p:ext uri="{BB962C8B-B14F-4D97-AF65-F5344CB8AC3E}">
        <p14:creationId xmlns:p14="http://schemas.microsoft.com/office/powerpoint/2010/main" val="2059671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smtClean="0"/>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r>
              <a:rPr lang="en-US"/>
              <a:t>1/30/2011</a:t>
            </a: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200">
                <a:solidFill>
                  <a:srgbClr val="4A566A"/>
                </a:solidFill>
              </a:defRPr>
            </a:lvl1pPr>
          </a:lstStyle>
          <a:p>
            <a:pPr>
              <a:defRPr/>
            </a:pPr>
            <a:fld id="{9BD6FE65-7A4F-401C-9040-DF04E3BD4731}" type="slidenum">
              <a:rPr lang="en-US" altLang="en-US"/>
              <a:pPr>
                <a:defRPr/>
              </a:pPr>
              <a:t>‹#›</a:t>
            </a:fld>
            <a:endParaRPr lang="en-US" alt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4641" r:id="rId1"/>
    <p:sldLayoutId id="2147484633" r:id="rId2"/>
    <p:sldLayoutId id="2147484642" r:id="rId3"/>
    <p:sldLayoutId id="2147484634" r:id="rId4"/>
    <p:sldLayoutId id="2147484635" r:id="rId5"/>
    <p:sldLayoutId id="2147484636" r:id="rId6"/>
    <p:sldLayoutId id="2147484637" r:id="rId7"/>
    <p:sldLayoutId id="2147484638" r:id="rId8"/>
    <p:sldLayoutId id="2147484643" r:id="rId9"/>
    <p:sldLayoutId id="2147484639" r:id="rId10"/>
    <p:sldLayoutId id="2147484640"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Georgia" pitchFamily="18" charset="0"/>
        </a:defRPr>
      </a:lvl2pPr>
      <a:lvl3pPr algn="l" rtl="0" eaLnBrk="0" fontAlgn="base" hangingPunct="0">
        <a:spcBef>
          <a:spcPct val="0"/>
        </a:spcBef>
        <a:spcAft>
          <a:spcPct val="0"/>
        </a:spcAft>
        <a:defRPr sz="5000">
          <a:solidFill>
            <a:schemeClr val="tx2"/>
          </a:solidFill>
          <a:latin typeface="Georgia" pitchFamily="18" charset="0"/>
        </a:defRPr>
      </a:lvl3pPr>
      <a:lvl4pPr algn="l" rtl="0" eaLnBrk="0" fontAlgn="base" hangingPunct="0">
        <a:spcBef>
          <a:spcPct val="0"/>
        </a:spcBef>
        <a:spcAft>
          <a:spcPct val="0"/>
        </a:spcAft>
        <a:defRPr sz="5000">
          <a:solidFill>
            <a:schemeClr val="tx2"/>
          </a:solidFill>
          <a:latin typeface="Georgia" pitchFamily="18" charset="0"/>
        </a:defRPr>
      </a:lvl4pPr>
      <a:lvl5pPr algn="l" rtl="0" eaLnBrk="0" fontAlgn="base" hangingPunct="0">
        <a:spcBef>
          <a:spcPct val="0"/>
        </a:spcBef>
        <a:spcAft>
          <a:spcPct val="0"/>
        </a:spcAft>
        <a:defRPr sz="5000">
          <a:solidFill>
            <a:schemeClr val="tx2"/>
          </a:solidFill>
          <a:latin typeface="Georgia" pitchFamily="18" charset="0"/>
        </a:defRPr>
      </a:lvl5pPr>
      <a:lvl6pPr marL="457200" algn="l" rtl="0" fontAlgn="base">
        <a:spcBef>
          <a:spcPct val="0"/>
        </a:spcBef>
        <a:spcAft>
          <a:spcPct val="0"/>
        </a:spcAft>
        <a:defRPr sz="5000">
          <a:solidFill>
            <a:schemeClr val="tx2"/>
          </a:solidFill>
          <a:latin typeface="Georgia" pitchFamily="18" charset="0"/>
        </a:defRPr>
      </a:lvl6pPr>
      <a:lvl7pPr marL="914400" algn="l" rtl="0" fontAlgn="base">
        <a:spcBef>
          <a:spcPct val="0"/>
        </a:spcBef>
        <a:spcAft>
          <a:spcPct val="0"/>
        </a:spcAft>
        <a:defRPr sz="5000">
          <a:solidFill>
            <a:schemeClr val="tx2"/>
          </a:solidFill>
          <a:latin typeface="Georgia" pitchFamily="18" charset="0"/>
        </a:defRPr>
      </a:lvl7pPr>
      <a:lvl8pPr marL="1371600" algn="l" rtl="0" fontAlgn="base">
        <a:spcBef>
          <a:spcPct val="0"/>
        </a:spcBef>
        <a:spcAft>
          <a:spcPct val="0"/>
        </a:spcAft>
        <a:defRPr sz="5000">
          <a:solidFill>
            <a:schemeClr val="tx2"/>
          </a:solidFill>
          <a:latin typeface="Georgia" pitchFamily="18" charset="0"/>
        </a:defRPr>
      </a:lvl8pPr>
      <a:lvl9pPr marL="1828800" algn="l" rtl="0" fontAlgn="base">
        <a:spcBef>
          <a:spcPct val="0"/>
        </a:spcBef>
        <a:spcAft>
          <a:spcPct val="0"/>
        </a:spcAft>
        <a:defRPr sz="5000">
          <a:solidFill>
            <a:schemeClr val="tx2"/>
          </a:solidFill>
          <a:latin typeface="Georgia" pitchFamily="18" charset="0"/>
        </a:defRPr>
      </a:lvl9pPr>
    </p:titleStyle>
    <p:bodyStyle>
      <a:lvl1pPr marL="273050" indent="-273050" algn="l" rtl="0" eaLnBrk="0" fontAlgn="base" hangingPunct="0">
        <a:spcBef>
          <a:spcPct val="20000"/>
        </a:spcBef>
        <a:spcAft>
          <a:spcPct val="0"/>
        </a:spcAft>
        <a:buClr>
          <a:srgbClr val="FEB80A"/>
        </a:buClr>
        <a:buSzPct val="95000"/>
        <a:buFont typeface="Wingdings 2" panose="05020102010507070707"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FEB80A"/>
        </a:buClr>
        <a:buSzPct val="65000"/>
        <a:buFont typeface="Wingdings 2" panose="05020102010507070707"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00ADDC"/>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7975" y="1981200"/>
            <a:ext cx="8305800" cy="990600"/>
          </a:xfrm>
          <a:ln>
            <a:miter lim="800000"/>
            <a:headEnd/>
            <a:tailEnd/>
          </a:ln>
          <a:extLst/>
        </p:spPr>
        <p:txBody>
          <a:bodyPr/>
          <a:lstStyle/>
          <a:p>
            <a:pPr eaLnBrk="1" fontAlgn="auto" hangingPunct="1">
              <a:spcAft>
                <a:spcPts val="0"/>
              </a:spcAft>
              <a:defRPr/>
            </a:pPr>
            <a:r>
              <a:rPr lang="en-US" sz="4000" dirty="0">
                <a:effectLst>
                  <a:outerShdw blurRad="50800" dist="38100" dir="2700000" algn="tl">
                    <a:srgbClr val="000000">
                      <a:alpha val="40000"/>
                    </a:srgbClr>
                  </a:outerShdw>
                </a:effectLst>
              </a:rPr>
              <a:t>Electronic Devices and </a:t>
            </a:r>
            <a:r>
              <a:rPr lang="en-US" sz="4000" dirty="0" smtClean="0">
                <a:effectLst>
                  <a:outerShdw blurRad="50800" dist="38100" dir="2700000" algn="tl">
                    <a:srgbClr val="000000">
                      <a:alpha val="40000"/>
                    </a:srgbClr>
                  </a:outerShdw>
                </a:effectLst>
              </a:rPr>
              <a:t>Circuits</a:t>
            </a:r>
            <a:endParaRPr lang="en-US" sz="4000" dirty="0"/>
          </a:p>
        </p:txBody>
      </p:sp>
      <p:sp>
        <p:nvSpPr>
          <p:cNvPr id="7172" name="Subtitle 2"/>
          <p:cNvSpPr txBox="1">
            <a:spLocks/>
          </p:cNvSpPr>
          <p:nvPr/>
        </p:nvSpPr>
        <p:spPr bwMode="auto">
          <a:xfrm>
            <a:off x="655638" y="5181600"/>
            <a:ext cx="78549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18288"/>
          <a:lstStyle>
            <a:lvl1pPr eaLnBrk="0" hangingPunct="0">
              <a:defRPr>
                <a:solidFill>
                  <a:schemeClr val="tx1"/>
                </a:solidFill>
                <a:latin typeface="Georgia" panose="02040502050405020303" pitchFamily="18" charset="0"/>
                <a:cs typeface="Arial" panose="020B0604020202020204" pitchFamily="34" charset="0"/>
              </a:defRPr>
            </a:lvl1pPr>
            <a:lvl2pPr marL="742950" indent="-285750" eaLnBrk="0" hangingPunct="0">
              <a:defRPr>
                <a:solidFill>
                  <a:schemeClr val="tx1"/>
                </a:solidFill>
                <a:latin typeface="Georgia" panose="02040502050405020303" pitchFamily="18" charset="0"/>
                <a:cs typeface="Arial" panose="020B0604020202020204" pitchFamily="34" charset="0"/>
              </a:defRPr>
            </a:lvl2pPr>
            <a:lvl3pPr marL="1143000" indent="-228600" eaLnBrk="0" hangingPunct="0">
              <a:defRPr>
                <a:solidFill>
                  <a:schemeClr val="tx1"/>
                </a:solidFill>
                <a:latin typeface="Georgia" panose="02040502050405020303" pitchFamily="18" charset="0"/>
                <a:cs typeface="Arial" panose="020B0604020202020204" pitchFamily="34" charset="0"/>
              </a:defRPr>
            </a:lvl3pPr>
            <a:lvl4pPr marL="1600200" indent="-228600" eaLnBrk="0" hangingPunct="0">
              <a:defRPr>
                <a:solidFill>
                  <a:schemeClr val="tx1"/>
                </a:solidFill>
                <a:latin typeface="Georgia" panose="02040502050405020303" pitchFamily="18" charset="0"/>
                <a:cs typeface="Arial" panose="020B0604020202020204" pitchFamily="34" charset="0"/>
              </a:defRPr>
            </a:lvl4pPr>
            <a:lvl5pPr marL="2057400" indent="-228600" eaLnBrk="0" hangingPunct="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pPr algn="r" eaLnBrk="1" hangingPunct="1">
              <a:spcBef>
                <a:spcPct val="20000"/>
              </a:spcBef>
              <a:buClr>
                <a:srgbClr val="FEB80A"/>
              </a:buClr>
              <a:buSzPct val="95000"/>
              <a:buFont typeface="Wingdings 2" panose="05020102010507070707" pitchFamily="18" charset="2"/>
              <a:buNone/>
              <a:defRPr/>
            </a:pPr>
            <a:r>
              <a:rPr lang="en-US" altLang="en-US" sz="2600" b="1" dirty="0" smtClean="0"/>
              <a:t>Dr. </a:t>
            </a:r>
            <a:r>
              <a:rPr lang="en-US" altLang="en-US" sz="2600" b="1" dirty="0" smtClean="0"/>
              <a:t>Junaid Ahmed</a:t>
            </a:r>
            <a:endParaRPr lang="en-US" altLang="en-US" sz="2600" b="1" dirty="0" smtClean="0"/>
          </a:p>
          <a:p>
            <a:pPr algn="r" eaLnBrk="1" hangingPunct="1">
              <a:spcBef>
                <a:spcPct val="20000"/>
              </a:spcBef>
              <a:buClr>
                <a:srgbClr val="FEB80A"/>
              </a:buClr>
              <a:buSzPct val="95000"/>
              <a:defRPr/>
            </a:pPr>
            <a:endParaRPr lang="en-US" altLang="en-US" b="1" dirty="0" smtClean="0"/>
          </a:p>
        </p:txBody>
      </p:sp>
    </p:spTree>
  </p:cSld>
  <p:clrMapOvr>
    <a:masterClrMapping/>
  </p:clrMapOvr>
  <p:transition spd="slow">
    <p:checke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smtClean="0"/>
              <a:t>Contents</a:t>
            </a:r>
          </a:p>
        </p:txBody>
      </p:sp>
      <p:sp>
        <p:nvSpPr>
          <p:cNvPr id="3" name="Content Placeholder 2"/>
          <p:cNvSpPr>
            <a:spLocks noGrp="1"/>
          </p:cNvSpPr>
          <p:nvPr>
            <p:ph idx="1"/>
          </p:nvPr>
        </p:nvSpPr>
        <p:spPr>
          <a:xfrm>
            <a:off x="457200" y="914400"/>
            <a:ext cx="8229600" cy="5715000"/>
          </a:xfrm>
        </p:spPr>
        <p:txBody>
          <a:bodyPr/>
          <a:lstStyle/>
          <a:p>
            <a:pPr eaLnBrk="1" hangingPunct="1">
              <a:defRPr/>
            </a:pPr>
            <a:r>
              <a:rPr lang="en-US" altLang="en-US" sz="2800" dirty="0" smtClean="0"/>
              <a:t>Semiconductor diode</a:t>
            </a:r>
          </a:p>
          <a:p>
            <a:pPr eaLnBrk="1" hangingPunct="1">
              <a:defRPr/>
            </a:pPr>
            <a:r>
              <a:rPr lang="en-US" altLang="en-US" sz="2800" dirty="0" smtClean="0"/>
              <a:t>Crystal diode as rectifier</a:t>
            </a:r>
          </a:p>
          <a:p>
            <a:pPr eaLnBrk="1" hangingPunct="1">
              <a:defRPr/>
            </a:pPr>
            <a:r>
              <a:rPr lang="en-US" altLang="en-US" sz="2800" dirty="0" smtClean="0"/>
              <a:t>Resistance of crystal diode</a:t>
            </a:r>
          </a:p>
          <a:p>
            <a:pPr eaLnBrk="1" hangingPunct="1">
              <a:defRPr/>
            </a:pPr>
            <a:r>
              <a:rPr lang="en-US" altLang="en-US" sz="2800" dirty="0" smtClean="0"/>
              <a:t>Equivalent circuit of crystal diode</a:t>
            </a:r>
          </a:p>
          <a:p>
            <a:pPr eaLnBrk="1" hangingPunct="1">
              <a:defRPr/>
            </a:pPr>
            <a:r>
              <a:rPr lang="en-US" altLang="en-US" sz="2800" dirty="0" smtClean="0"/>
              <a:t>Important terms related to diode</a:t>
            </a:r>
          </a:p>
          <a:p>
            <a:pPr marL="854075" eaLnBrk="1" hangingPunct="1">
              <a:defRPr/>
            </a:pPr>
            <a:r>
              <a:rPr lang="en-US" altLang="en-US" sz="2800" dirty="0" smtClean="0"/>
              <a:t>Forward current</a:t>
            </a:r>
          </a:p>
          <a:p>
            <a:pPr marL="854075" eaLnBrk="1" hangingPunct="1">
              <a:defRPr/>
            </a:pPr>
            <a:r>
              <a:rPr lang="en-US" altLang="en-US" sz="2800" dirty="0" smtClean="0"/>
              <a:t>Peak inverse voltage</a:t>
            </a:r>
          </a:p>
          <a:p>
            <a:pPr marL="854075" eaLnBrk="1" hangingPunct="1">
              <a:defRPr/>
            </a:pPr>
            <a:r>
              <a:rPr lang="en-US" altLang="en-US" sz="2800" dirty="0" smtClean="0"/>
              <a:t>Leakage current</a:t>
            </a:r>
          </a:p>
          <a:p>
            <a:pPr eaLnBrk="1" hangingPunct="1">
              <a:defRPr/>
            </a:pPr>
            <a:r>
              <a:rPr lang="en-US" altLang="en-US" sz="2800" dirty="0" smtClean="0"/>
              <a:t>Half-wave rectifier</a:t>
            </a:r>
          </a:p>
          <a:p>
            <a:pPr eaLnBrk="1" hangingPunct="1">
              <a:defRPr/>
            </a:pPr>
            <a:r>
              <a:rPr lang="en-US" altLang="en-US" sz="2800" dirty="0" smtClean="0"/>
              <a:t>Output frequency of Half-wave rectifier</a:t>
            </a:r>
          </a:p>
          <a:p>
            <a:pPr eaLnBrk="1" hangingPunct="1">
              <a:defRPr/>
            </a:pPr>
            <a:r>
              <a:rPr lang="en-US" altLang="en-US" sz="2800" dirty="0" smtClean="0"/>
              <a:t>Efficiency of Half-wave rectifier</a:t>
            </a:r>
          </a:p>
        </p:txBody>
      </p:sp>
      <p:sp>
        <p:nvSpPr>
          <p:cNvPr id="81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B3EAF757-3B69-4F63-BE24-DD7497E720E7}" type="slidenum">
              <a:rPr lang="en-US" altLang="en-US" sz="1200" smtClean="0">
                <a:solidFill>
                  <a:srgbClr val="4A566A"/>
                </a:solidFill>
              </a:rPr>
              <a:pPr>
                <a:spcBef>
                  <a:spcPct val="0"/>
                </a:spcBef>
                <a:buClrTx/>
                <a:buSzTx/>
                <a:buFontTx/>
                <a:buNone/>
              </a:pPr>
              <a:t>2</a:t>
            </a:fld>
            <a:endParaRPr lang="en-US" altLang="en-US" sz="1200" smtClean="0">
              <a:solidFill>
                <a:srgbClr val="4A566A"/>
              </a:solidFill>
            </a:endParaRPr>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blinds(horizontal)">
                                      <p:cBhvr>
                                        <p:cTn id="25" dur="500"/>
                                        <p:tgtEl>
                                          <p:spTgt spid="3">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blinds(horizontal)">
                                      <p:cBhvr>
                                        <p:cTn id="28" dur="500"/>
                                        <p:tgtEl>
                                          <p:spTgt spid="3">
                                            <p:txEl>
                                              <p:pRg st="7" end="7"/>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blinds(horizontal)">
                                      <p:cBhvr>
                                        <p:cTn id="31" dur="500"/>
                                        <p:tgtEl>
                                          <p:spTgt spid="3">
                                            <p:txEl>
                                              <p:pRg st="8" end="8"/>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blinds(horizontal)">
                                      <p:cBhvr>
                                        <p:cTn id="34" dur="500"/>
                                        <p:tgtEl>
                                          <p:spTgt spid="3">
                                            <p:txEl>
                                              <p:pRg st="9" end="9"/>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blinds(horizontal)">
                                      <p:cBhvr>
                                        <p:cTn id="3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algn="l"/>
            <a:r>
              <a:rPr lang="en-US" altLang="en-US" sz="5400" smtClean="0"/>
              <a:t>Semiconductor diode:</a:t>
            </a:r>
            <a:endParaRPr lang="en-US" altLang="en-US" smtClean="0"/>
          </a:p>
        </p:txBody>
      </p:sp>
      <p:sp>
        <p:nvSpPr>
          <p:cNvPr id="3" name="Content Placeholder 2"/>
          <p:cNvSpPr>
            <a:spLocks noGrp="1"/>
          </p:cNvSpPr>
          <p:nvPr>
            <p:ph idx="1"/>
          </p:nvPr>
        </p:nvSpPr>
        <p:spPr/>
        <p:txBody>
          <a:bodyPr/>
          <a:lstStyle/>
          <a:p>
            <a:pPr marL="0" indent="0" algn="just">
              <a:buFont typeface="Wingdings 2" panose="05020102010507070707" pitchFamily="18" charset="2"/>
              <a:buNone/>
              <a:defRPr/>
            </a:pPr>
            <a:r>
              <a:rPr lang="en-US" dirty="0"/>
              <a:t>	</a:t>
            </a:r>
            <a:r>
              <a:rPr lang="en-US" b="1" dirty="0" smtClean="0"/>
              <a:t>“</a:t>
            </a:r>
            <a:r>
              <a:rPr lang="en-US" dirty="0" smtClean="0"/>
              <a:t>A </a:t>
            </a:r>
            <a:r>
              <a:rPr lang="en-US" dirty="0" err="1" smtClean="0"/>
              <a:t>pn</a:t>
            </a:r>
            <a:r>
              <a:rPr lang="en-US" dirty="0" smtClean="0"/>
              <a:t> junction is known as a semi-conductor or crystal diode</a:t>
            </a:r>
            <a:r>
              <a:rPr lang="en-US" b="1" dirty="0" smtClean="0"/>
              <a:t>.”</a:t>
            </a:r>
          </a:p>
          <a:p>
            <a:pPr marL="0" indent="0" algn="just">
              <a:buFont typeface="Wingdings 2" panose="05020102010507070707" pitchFamily="18" charset="2"/>
              <a:buNone/>
              <a:defRPr/>
            </a:pPr>
            <a:endParaRPr lang="en-US" b="1" dirty="0" smtClean="0"/>
          </a:p>
          <a:p>
            <a:pPr marL="914400" algn="just">
              <a:defRPr/>
            </a:pPr>
            <a:r>
              <a:rPr lang="en-US" sz="2800" dirty="0" smtClean="0"/>
              <a:t>Having two terminals (anode and cathode) </a:t>
            </a:r>
          </a:p>
          <a:p>
            <a:pPr marL="914400" algn="just">
              <a:defRPr/>
            </a:pPr>
            <a:r>
              <a:rPr lang="en-US" sz="2800" dirty="0" smtClean="0"/>
              <a:t>Can be connected in forward and reverse biased</a:t>
            </a:r>
          </a:p>
          <a:p>
            <a:pPr marL="914400" algn="just">
              <a:defRPr/>
            </a:pPr>
            <a:r>
              <a:rPr lang="en-US" sz="2800" dirty="0" smtClean="0"/>
              <a:t>Allow current to flow only in one direction</a:t>
            </a:r>
          </a:p>
          <a:p>
            <a:pPr marL="914400" algn="just">
              <a:defRPr/>
            </a:pPr>
            <a:r>
              <a:rPr lang="en-US" sz="2800" dirty="0" smtClean="0"/>
              <a:t>Use </a:t>
            </a:r>
            <a:r>
              <a:rPr lang="en-US" sz="2800" dirty="0"/>
              <a:t>as </a:t>
            </a:r>
            <a:r>
              <a:rPr lang="en-US" sz="2800" dirty="0" smtClean="0"/>
              <a:t>a rectifier (</a:t>
            </a:r>
            <a:r>
              <a:rPr lang="en-US" sz="2800" dirty="0" err="1" smtClean="0"/>
              <a:t>a.c</a:t>
            </a:r>
            <a:r>
              <a:rPr lang="en-US" sz="2800" dirty="0" smtClean="0"/>
              <a:t> to </a:t>
            </a:r>
            <a:r>
              <a:rPr lang="en-US" sz="2800" dirty="0" err="1" smtClean="0"/>
              <a:t>d.c</a:t>
            </a:r>
            <a:r>
              <a:rPr lang="en-US" sz="2800" dirty="0" smtClean="0"/>
              <a:t> conversion)</a:t>
            </a:r>
          </a:p>
          <a:p>
            <a:pPr marL="914400" algn="just">
              <a:defRPr/>
            </a:pPr>
            <a:endParaRPr lang="en-US" sz="2800" dirty="0"/>
          </a:p>
          <a:p>
            <a:pPr marL="914400" algn="just">
              <a:defRPr/>
            </a:pPr>
            <a:endParaRPr lang="en-US" sz="2800" dirty="0"/>
          </a:p>
          <a:p>
            <a:pPr algn="just">
              <a:defRPr/>
            </a:pPr>
            <a:endParaRPr lang="en-US" b="1" dirty="0" smtClean="0"/>
          </a:p>
          <a:p>
            <a:pPr algn="just">
              <a:defRPr/>
            </a:pPr>
            <a:endParaRPr lang="en-US" b="1" dirty="0" smtClean="0"/>
          </a:p>
          <a:p>
            <a:pPr marL="0" indent="0" algn="just">
              <a:buFont typeface="Wingdings 2" panose="05020102010507070707" pitchFamily="18" charset="2"/>
              <a:buNone/>
              <a:defRPr/>
            </a:pPr>
            <a:endParaRPr lang="en-US" b="1" dirty="0"/>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F67E27EC-8C0A-4BF2-8512-23E5A17643DF}" type="slidenum">
              <a:rPr lang="en-US" altLang="en-US" smtClean="0">
                <a:solidFill>
                  <a:srgbClr val="4A566A"/>
                </a:solidFill>
              </a:rPr>
              <a:pPr/>
              <a:t>3</a:t>
            </a:fld>
            <a:endParaRPr lang="en-US" altLang="en-US" smtClean="0">
              <a:solidFill>
                <a:srgbClr val="4A566A"/>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algn="l"/>
            <a:r>
              <a:rPr lang="en-US" altLang="en-US" sz="4800" smtClean="0"/>
              <a:t>Semiconductor diode: (cont.)</a:t>
            </a:r>
          </a:p>
        </p:txBody>
      </p:sp>
      <p:sp>
        <p:nvSpPr>
          <p:cNvPr id="3" name="Content Placeholder 2"/>
          <p:cNvSpPr>
            <a:spLocks noGrp="1"/>
          </p:cNvSpPr>
          <p:nvPr>
            <p:ph idx="1"/>
          </p:nvPr>
        </p:nvSpPr>
        <p:spPr/>
        <p:txBody>
          <a:bodyPr/>
          <a:lstStyle/>
          <a:p>
            <a:pPr marL="0" indent="0" algn="just">
              <a:buFont typeface="Wingdings 2" panose="05020102010507070707" pitchFamily="18" charset="2"/>
              <a:buNone/>
              <a:defRPr/>
            </a:pPr>
            <a:r>
              <a:rPr lang="en-US" sz="2800" dirty="0" smtClean="0"/>
              <a:t>Schematic symbol of diode:</a:t>
            </a:r>
          </a:p>
          <a:p>
            <a:pPr marL="0" indent="0" algn="just">
              <a:buFont typeface="Wingdings 2" panose="05020102010507070707" pitchFamily="18" charset="2"/>
              <a:buNone/>
              <a:defRPr/>
            </a:pPr>
            <a:endParaRPr lang="en-US" sz="2800" dirty="0"/>
          </a:p>
          <a:p>
            <a:pPr marL="0" indent="0" algn="just">
              <a:buFont typeface="Wingdings 2" panose="05020102010507070707" pitchFamily="18" charset="2"/>
              <a:buNone/>
              <a:defRPr/>
            </a:pPr>
            <a:endParaRPr lang="en-US" sz="2800" dirty="0" smtClean="0"/>
          </a:p>
          <a:p>
            <a:pPr marL="0" indent="0" algn="just">
              <a:buFont typeface="Wingdings 2" panose="05020102010507070707" pitchFamily="18" charset="2"/>
              <a:buNone/>
              <a:defRPr/>
            </a:pPr>
            <a:endParaRPr lang="en-US" sz="2800" dirty="0"/>
          </a:p>
          <a:p>
            <a:pPr marL="0" indent="0" algn="just">
              <a:buFont typeface="Wingdings 2" panose="05020102010507070707" pitchFamily="18" charset="2"/>
              <a:buNone/>
              <a:defRPr/>
            </a:pPr>
            <a:endParaRPr lang="en-US" sz="2800" dirty="0"/>
          </a:p>
          <a:p>
            <a:pPr marL="0" indent="0" algn="just">
              <a:buFont typeface="Wingdings 2" panose="05020102010507070707" pitchFamily="18" charset="2"/>
              <a:buNone/>
              <a:defRPr/>
            </a:pPr>
            <a:r>
              <a:rPr lang="en-US" sz="2800" dirty="0" smtClean="0"/>
              <a:t>Identification of crystal diode terminals:</a:t>
            </a:r>
            <a:endParaRPr lang="en-US" sz="2800" dirty="0"/>
          </a:p>
          <a:p>
            <a:pPr marL="0" indent="0" algn="just">
              <a:buFont typeface="Wingdings 2" panose="05020102010507070707" pitchFamily="18" charset="2"/>
              <a:buNone/>
              <a:defRPr/>
            </a:pPr>
            <a:endParaRPr lang="en-US" sz="2800" dirty="0"/>
          </a:p>
          <a:p>
            <a:pPr marL="914400" algn="just">
              <a:defRPr/>
            </a:pPr>
            <a:endParaRPr lang="en-US" sz="2800" dirty="0"/>
          </a:p>
          <a:p>
            <a:pPr algn="just">
              <a:defRPr/>
            </a:pPr>
            <a:endParaRPr lang="en-US" sz="2800" b="1" dirty="0" smtClean="0"/>
          </a:p>
          <a:p>
            <a:pPr algn="just">
              <a:defRPr/>
            </a:pPr>
            <a:endParaRPr lang="en-US" sz="2800" b="1" dirty="0" smtClean="0"/>
          </a:p>
          <a:p>
            <a:pPr marL="0" indent="0" algn="just">
              <a:buFont typeface="Wingdings 2" panose="05020102010507070707" pitchFamily="18" charset="2"/>
              <a:buNone/>
              <a:defRPr/>
            </a:pPr>
            <a:endParaRPr lang="en-US" sz="2800" b="1" dirty="0"/>
          </a:p>
        </p:txBody>
      </p:sp>
      <p:sp>
        <p:nvSpPr>
          <p:cNvPr id="102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04409DD7-77FF-4370-B063-A2834166D86C}" type="slidenum">
              <a:rPr lang="en-US" altLang="en-US" smtClean="0">
                <a:solidFill>
                  <a:srgbClr val="4A566A"/>
                </a:solidFill>
              </a:rPr>
              <a:pPr/>
              <a:t>4</a:t>
            </a:fld>
            <a:endParaRPr lang="en-US" altLang="en-US" smtClean="0">
              <a:solidFill>
                <a:srgbClr val="4A566A"/>
              </a:solidFill>
            </a:endParaRPr>
          </a:p>
        </p:txBody>
      </p:sp>
      <p:pic>
        <p:nvPicPr>
          <p:cNvPr id="5" name="Picture 4"/>
          <p:cNvPicPr>
            <a:picLocks noChangeAspect="1"/>
          </p:cNvPicPr>
          <p:nvPr/>
        </p:nvPicPr>
        <p:blipFill>
          <a:blip r:embed="rId2"/>
          <a:stretch>
            <a:fillRect/>
          </a:stretch>
        </p:blipFill>
        <p:spPr>
          <a:xfrm>
            <a:off x="2590800" y="1676400"/>
            <a:ext cx="2967038" cy="1606550"/>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pic>
        <p:nvPicPr>
          <p:cNvPr id="7" name="Picture 6"/>
          <p:cNvPicPr>
            <a:picLocks noChangeAspect="1"/>
          </p:cNvPicPr>
          <p:nvPr/>
        </p:nvPicPr>
        <p:blipFill>
          <a:blip r:embed="rId3"/>
          <a:stretch>
            <a:fillRect/>
          </a:stretch>
        </p:blipFill>
        <p:spPr>
          <a:xfrm>
            <a:off x="488950" y="4267200"/>
            <a:ext cx="8197850" cy="1855788"/>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algn="l"/>
            <a:r>
              <a:rPr lang="en-US" altLang="en-US" smtClean="0"/>
              <a:t>Crystal diode as rectifier:</a:t>
            </a:r>
          </a:p>
        </p:txBody>
      </p:sp>
      <p:pic>
        <p:nvPicPr>
          <p:cNvPr id="9" name="Content Placeholder 8"/>
          <p:cNvPicPr>
            <a:picLocks noGrp="1" noChangeAspect="1"/>
          </p:cNvPicPr>
          <p:nvPr>
            <p:ph idx="1"/>
          </p:nvPr>
        </p:nvPicPr>
        <p:blipFill>
          <a:blip r:embed="rId2"/>
          <a:stretch>
            <a:fillRect/>
          </a:stretch>
        </p:blipFill>
        <p:spPr>
          <a:xfrm>
            <a:off x="152400" y="2211388"/>
            <a:ext cx="8763000" cy="2217737"/>
          </a:xfrm>
          <a:ln w="38100" cap="sq">
            <a:solidFill>
              <a:schemeClr val="accent1"/>
            </a:solidFill>
            <a:miter lim="800000"/>
          </a:ln>
          <a:effectLst>
            <a:outerShdw blurRad="50800" dist="38100" dir="2700000" algn="tl" rotWithShape="0">
              <a:srgbClr val="000000">
                <a:alpha val="43000"/>
              </a:srgbClr>
            </a:outerShdw>
          </a:effectLst>
        </p:spPr>
      </p:pic>
      <p:sp>
        <p:nvSpPr>
          <p:cNvPr id="112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A9E1B660-31E9-4D20-8567-0CAFB8B60A5A}" type="slidenum">
              <a:rPr lang="en-US" altLang="en-US" smtClean="0">
                <a:solidFill>
                  <a:srgbClr val="4A566A"/>
                </a:solidFill>
              </a:rPr>
              <a:pPr/>
              <a:t>5</a:t>
            </a:fld>
            <a:endParaRPr lang="en-US" altLang="en-US" smtClean="0">
              <a:solidFill>
                <a:srgbClr val="4A566A"/>
              </a:solidFill>
            </a:endParaRPr>
          </a:p>
        </p:txBody>
      </p:sp>
      <p:sp>
        <p:nvSpPr>
          <p:cNvPr id="10" name="TextBox 9"/>
          <p:cNvSpPr txBox="1"/>
          <p:nvPr/>
        </p:nvSpPr>
        <p:spPr>
          <a:xfrm>
            <a:off x="179388" y="4606925"/>
            <a:ext cx="8737600" cy="1938338"/>
          </a:xfrm>
          <a:prstGeom prst="rect">
            <a:avLst/>
          </a:prstGeom>
          <a:noFill/>
        </p:spPr>
        <p:txBody>
          <a:bodyPr>
            <a:spAutoFit/>
          </a:bodyPr>
          <a:lstStyle/>
          <a:p>
            <a:pPr>
              <a:defRPr/>
            </a:pPr>
            <a:r>
              <a:rPr lang="en-US" sz="2000" b="1" dirty="0">
                <a:solidFill>
                  <a:srgbClr val="C00000"/>
                </a:solidFill>
              </a:rPr>
              <a:t>Also behave as a switch:</a:t>
            </a:r>
          </a:p>
          <a:p>
            <a:pPr marL="342900" indent="-342900">
              <a:buFont typeface="Arial" panose="020B0604020202020204" pitchFamily="34" charset="0"/>
              <a:buChar char="•"/>
              <a:defRPr/>
            </a:pPr>
            <a:r>
              <a:rPr lang="en-US" sz="2000" dirty="0">
                <a:solidFill>
                  <a:srgbClr val="C00000"/>
                </a:solidFill>
              </a:rPr>
              <a:t>when diode is forward biased, it behaves as a closed switch and connects the </a:t>
            </a:r>
            <a:r>
              <a:rPr lang="en-US" sz="2000" dirty="0" err="1">
                <a:solidFill>
                  <a:srgbClr val="C00000"/>
                </a:solidFill>
              </a:rPr>
              <a:t>a.c</a:t>
            </a:r>
            <a:r>
              <a:rPr lang="en-US" sz="2000" dirty="0">
                <a:solidFill>
                  <a:srgbClr val="C00000"/>
                </a:solidFill>
              </a:rPr>
              <a:t> supply to the load.</a:t>
            </a:r>
          </a:p>
          <a:p>
            <a:pPr marL="342900" indent="-342900">
              <a:buFont typeface="Arial" panose="020B0604020202020204" pitchFamily="34" charset="0"/>
              <a:buChar char="•"/>
              <a:defRPr/>
            </a:pPr>
            <a:endParaRPr lang="en-US" sz="2000" dirty="0">
              <a:solidFill>
                <a:srgbClr val="C00000"/>
              </a:solidFill>
            </a:endParaRPr>
          </a:p>
          <a:p>
            <a:pPr marL="342900" indent="-342900">
              <a:buFont typeface="Arial" panose="020B0604020202020204" pitchFamily="34" charset="0"/>
              <a:buChar char="•"/>
              <a:defRPr/>
            </a:pPr>
            <a:r>
              <a:rPr lang="en-US" sz="2000" dirty="0">
                <a:solidFill>
                  <a:srgbClr val="C00000"/>
                </a:solidFill>
              </a:rPr>
              <a:t>When diode is reverse biased, it behaves as an open switch and disconnect the </a:t>
            </a:r>
            <a:r>
              <a:rPr lang="en-US" sz="2000" dirty="0" err="1">
                <a:solidFill>
                  <a:srgbClr val="C00000"/>
                </a:solidFill>
              </a:rPr>
              <a:t>a.c</a:t>
            </a:r>
            <a:r>
              <a:rPr lang="en-US" sz="2000" dirty="0">
                <a:solidFill>
                  <a:srgbClr val="C00000"/>
                </a:solidFill>
              </a:rPr>
              <a:t> supply from the load</a:t>
            </a:r>
          </a:p>
        </p:txBody>
      </p:sp>
      <p:sp>
        <p:nvSpPr>
          <p:cNvPr id="11270" name="TextBox 10"/>
          <p:cNvSpPr txBox="1">
            <a:spLocks noChangeArrowheads="1"/>
          </p:cNvSpPr>
          <p:nvPr/>
        </p:nvSpPr>
        <p:spPr bwMode="auto">
          <a:xfrm>
            <a:off x="179388" y="963613"/>
            <a:ext cx="87360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pPr algn="just"/>
            <a:r>
              <a:rPr lang="en-US" altLang="en-US" sz="2000">
                <a:solidFill>
                  <a:srgbClr val="C00000"/>
                </a:solidFill>
              </a:rPr>
              <a:t>“Crystal diode is used as a rectifier to convert a.c signal into d.c signal. The diode conducts only for the positive half cycle cycle where for negative half cycle, it do not conduct, in this way crystal diode converts a.c signal into d.c”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algn="l"/>
            <a:r>
              <a:rPr lang="en-GB" altLang="en-US" sz="4000" b="1" u="sng" smtClean="0"/>
              <a:t>Resistance of crystal diode:</a:t>
            </a:r>
            <a:endParaRPr lang="en-GB" altLang="en-US" sz="4000" smtClean="0"/>
          </a:p>
        </p:txBody>
      </p:sp>
      <p:sp>
        <p:nvSpPr>
          <p:cNvPr id="12291" name="Content Placeholder 2"/>
          <p:cNvSpPr>
            <a:spLocks noGrp="1"/>
          </p:cNvSpPr>
          <p:nvPr>
            <p:ph idx="1"/>
          </p:nvPr>
        </p:nvSpPr>
        <p:spPr>
          <a:xfrm>
            <a:off x="152400" y="1143000"/>
            <a:ext cx="8763000" cy="5181600"/>
          </a:xfrm>
        </p:spPr>
        <p:txBody>
          <a:bodyPr/>
          <a:lstStyle/>
          <a:p>
            <a:pPr algn="just"/>
            <a:r>
              <a:rPr lang="en-GB" altLang="en-US" smtClean="0"/>
              <a:t>As, we know that forward biased diode conducts easily whereas a reverse biased diode practically conduct no current.</a:t>
            </a:r>
          </a:p>
          <a:p>
            <a:pPr algn="just"/>
            <a:endParaRPr lang="en-GB" altLang="en-US" smtClean="0"/>
          </a:p>
          <a:p>
            <a:pPr algn="just"/>
            <a:r>
              <a:rPr lang="en-GB" altLang="en-US" smtClean="0"/>
              <a:t>The reason is that, forward resistance of diode is quite small as compared to the reverse resistance.</a:t>
            </a:r>
          </a:p>
        </p:txBody>
      </p:sp>
      <p:sp>
        <p:nvSpPr>
          <p:cNvPr id="1229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A4B6BAF5-C604-4442-9958-5922431B356A}" type="slidenum">
              <a:rPr lang="en-US" altLang="en-US" sz="1200" smtClean="0">
                <a:solidFill>
                  <a:srgbClr val="4A566A"/>
                </a:solidFill>
              </a:rPr>
              <a:pPr>
                <a:spcBef>
                  <a:spcPct val="0"/>
                </a:spcBef>
                <a:buClrTx/>
                <a:buSzTx/>
                <a:buFontTx/>
                <a:buNone/>
              </a:pPr>
              <a:t>6</a:t>
            </a:fld>
            <a:endParaRPr lang="en-US" altLang="en-US" sz="1200" smtClean="0">
              <a:solidFill>
                <a:srgbClr val="4A566A"/>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algn="l"/>
            <a:r>
              <a:rPr lang="en-GB" altLang="en-US" sz="3600" b="1" u="sng" smtClean="0"/>
              <a:t>Resistance of crystal diode: (cont.)</a:t>
            </a:r>
          </a:p>
        </p:txBody>
      </p:sp>
      <p:sp>
        <p:nvSpPr>
          <p:cNvPr id="3" name="Content Placeholder 2"/>
          <p:cNvSpPr>
            <a:spLocks noGrp="1"/>
          </p:cNvSpPr>
          <p:nvPr>
            <p:ph idx="1"/>
          </p:nvPr>
        </p:nvSpPr>
        <p:spPr/>
        <p:txBody>
          <a:bodyPr>
            <a:normAutofit fontScale="92500" lnSpcReduction="20000"/>
          </a:bodyPr>
          <a:lstStyle/>
          <a:p>
            <a:pPr>
              <a:defRPr/>
            </a:pPr>
            <a:r>
              <a:rPr lang="en-GB" b="1" u="sng" dirty="0" smtClean="0"/>
              <a:t>Forward Resistance:</a:t>
            </a:r>
          </a:p>
          <a:p>
            <a:pPr algn="just">
              <a:defRPr/>
            </a:pPr>
            <a:r>
              <a:rPr lang="en-US" dirty="0"/>
              <a:t>Under the </a:t>
            </a:r>
            <a:r>
              <a:rPr lang="en-US" dirty="0" smtClean="0"/>
              <a:t>forward </a:t>
            </a:r>
            <a:r>
              <a:rPr lang="en-US" dirty="0"/>
              <a:t>biased condition, the opposition offered by a diode to the forward current is known as Forward Resistance</a:t>
            </a:r>
            <a:r>
              <a:rPr lang="en-US" dirty="0" smtClean="0"/>
              <a:t>.</a:t>
            </a:r>
          </a:p>
          <a:p>
            <a:pPr algn="just">
              <a:defRPr/>
            </a:pPr>
            <a:endParaRPr lang="en-GB" dirty="0" smtClean="0"/>
          </a:p>
          <a:p>
            <a:pPr algn="just">
              <a:defRPr/>
            </a:pPr>
            <a:r>
              <a:rPr lang="en-GB" dirty="0" smtClean="0"/>
              <a:t>Therefore, this resistance is of two types:</a:t>
            </a:r>
          </a:p>
          <a:p>
            <a:pPr marL="1136650" lvl="1" indent="-742950" algn="just">
              <a:buFont typeface="+mj-lt"/>
              <a:buAutoNum type="arabicPeriod"/>
              <a:defRPr/>
            </a:pPr>
            <a:r>
              <a:rPr lang="en-GB" dirty="0" err="1" smtClean="0"/>
              <a:t>d.c.</a:t>
            </a:r>
            <a:r>
              <a:rPr lang="en-GB" dirty="0"/>
              <a:t>/</a:t>
            </a:r>
            <a:r>
              <a:rPr lang="en-GB" dirty="0" smtClean="0"/>
              <a:t>static forward resistance</a:t>
            </a:r>
          </a:p>
          <a:p>
            <a:pPr marL="1136650" lvl="1" indent="-742950" algn="just">
              <a:buFont typeface="+mj-lt"/>
              <a:buAutoNum type="arabicPeriod"/>
              <a:defRPr/>
            </a:pPr>
            <a:r>
              <a:rPr lang="en-GB" dirty="0" err="1" smtClean="0"/>
              <a:t>a.c</a:t>
            </a:r>
            <a:r>
              <a:rPr lang="en-GB" dirty="0" smtClean="0"/>
              <a:t>./dynamic forward </a:t>
            </a:r>
            <a:r>
              <a:rPr lang="en-GB" dirty="0"/>
              <a:t>r</a:t>
            </a:r>
            <a:r>
              <a:rPr lang="en-GB" dirty="0" smtClean="0"/>
              <a:t>esistance</a:t>
            </a:r>
          </a:p>
          <a:p>
            <a:pPr marL="1136650" lvl="1" indent="-742950" algn="just">
              <a:buFont typeface="+mj-lt"/>
              <a:buAutoNum type="arabicPeriod"/>
              <a:defRPr/>
            </a:pPr>
            <a:endParaRPr lang="en-GB" dirty="0" smtClean="0"/>
          </a:p>
          <a:p>
            <a:pPr marL="265113" indent="-265113" algn="just">
              <a:defRPr/>
            </a:pPr>
            <a:r>
              <a:rPr lang="en-GB" dirty="0" smtClean="0"/>
              <a:t>The forward resistance of diode is very small, ranging from 1 to 25</a:t>
            </a:r>
            <a:r>
              <a:rPr lang="el-GR" dirty="0" smtClean="0"/>
              <a:t>Ω</a:t>
            </a:r>
            <a:r>
              <a:rPr lang="en-GB" dirty="0" smtClean="0"/>
              <a:t>.</a:t>
            </a:r>
            <a:endParaRPr lang="en-GB" dirty="0"/>
          </a:p>
        </p:txBody>
      </p:sp>
      <p:sp>
        <p:nvSpPr>
          <p:cNvPr id="133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931FD08C-B75B-41B2-B9F4-B2A27847D42E}" type="slidenum">
              <a:rPr lang="en-US" altLang="en-US" sz="1200" smtClean="0">
                <a:solidFill>
                  <a:srgbClr val="4A566A"/>
                </a:solidFill>
              </a:rPr>
              <a:pPr>
                <a:spcBef>
                  <a:spcPct val="0"/>
                </a:spcBef>
                <a:buClrTx/>
                <a:buSzTx/>
                <a:buFontTx/>
                <a:buNone/>
              </a:pPr>
              <a:t>7</a:t>
            </a:fld>
            <a:endParaRPr lang="en-US" altLang="en-US" sz="1200" smtClean="0">
              <a:solidFill>
                <a:srgbClr val="4A566A"/>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algn="l"/>
            <a:r>
              <a:rPr lang="en-GB" altLang="en-US" sz="3600" b="1" u="sng" smtClean="0"/>
              <a:t>Resistance of crystal diode: (cont.)</a:t>
            </a:r>
          </a:p>
        </p:txBody>
      </p:sp>
      <p:sp>
        <p:nvSpPr>
          <p:cNvPr id="3" name="Content Placeholder 2"/>
          <p:cNvSpPr>
            <a:spLocks noGrp="1"/>
          </p:cNvSpPr>
          <p:nvPr>
            <p:ph idx="1"/>
          </p:nvPr>
        </p:nvSpPr>
        <p:spPr/>
        <p:txBody>
          <a:bodyPr/>
          <a:lstStyle/>
          <a:p>
            <a:pPr marL="0" indent="0">
              <a:buFont typeface="Wingdings 2" panose="05020102010507070707" pitchFamily="18" charset="2"/>
              <a:buNone/>
              <a:defRPr/>
            </a:pPr>
            <a:r>
              <a:rPr lang="en-US" b="1" u="sng" dirty="0" err="1" smtClean="0"/>
              <a:t>d.c.</a:t>
            </a:r>
            <a:r>
              <a:rPr lang="en-US" b="1" u="sng" dirty="0" smtClean="0"/>
              <a:t> forward resistance:</a:t>
            </a:r>
            <a:endParaRPr lang="en-GB" b="1" u="sng" dirty="0" smtClean="0"/>
          </a:p>
          <a:p>
            <a:pPr algn="just">
              <a:defRPr/>
            </a:pPr>
            <a:r>
              <a:rPr lang="en-US" dirty="0"/>
              <a:t>The opposition offered by a diode to the direct current </a:t>
            </a:r>
            <a:r>
              <a:rPr lang="en-US" dirty="0" smtClean="0"/>
              <a:t>flowing in </a:t>
            </a:r>
            <a:r>
              <a:rPr lang="en-US" dirty="0"/>
              <a:t>forward bias condition is known as its </a:t>
            </a:r>
            <a:r>
              <a:rPr lang="en-US" b="1" dirty="0" err="1" smtClean="0"/>
              <a:t>d.c.</a:t>
            </a:r>
            <a:r>
              <a:rPr lang="en-US" b="1" dirty="0" smtClean="0"/>
              <a:t> forward </a:t>
            </a:r>
            <a:r>
              <a:rPr lang="en-US" b="1" dirty="0"/>
              <a:t>resistance</a:t>
            </a:r>
            <a:r>
              <a:rPr lang="en-US" dirty="0"/>
              <a:t> or </a:t>
            </a:r>
            <a:r>
              <a:rPr lang="en-US" dirty="0" smtClean="0"/>
              <a:t>static resistance</a:t>
            </a:r>
            <a:r>
              <a:rPr lang="en-US" dirty="0"/>
              <a:t>. </a:t>
            </a:r>
            <a:endParaRPr lang="en-US" dirty="0" smtClean="0"/>
          </a:p>
          <a:p>
            <a:pPr algn="just">
              <a:defRPr/>
            </a:pPr>
            <a:endParaRPr lang="en-US" dirty="0"/>
          </a:p>
          <a:p>
            <a:pPr algn="just">
              <a:defRPr/>
            </a:pPr>
            <a:r>
              <a:rPr lang="en-US" dirty="0" smtClean="0"/>
              <a:t>It </a:t>
            </a:r>
            <a:r>
              <a:rPr lang="en-US" dirty="0"/>
              <a:t>is measured by taking the ratio of </a:t>
            </a:r>
            <a:r>
              <a:rPr lang="en-US" dirty="0" err="1" smtClean="0"/>
              <a:t>d.c.</a:t>
            </a:r>
            <a:r>
              <a:rPr lang="en-US" dirty="0" smtClean="0"/>
              <a:t>  </a:t>
            </a:r>
            <a:r>
              <a:rPr lang="en-US" dirty="0"/>
              <a:t>voltage across the diode to the </a:t>
            </a:r>
            <a:r>
              <a:rPr lang="en-US" dirty="0" err="1" smtClean="0"/>
              <a:t>d.c.</a:t>
            </a:r>
            <a:r>
              <a:rPr lang="en-US" dirty="0" smtClean="0"/>
              <a:t> </a:t>
            </a:r>
            <a:r>
              <a:rPr lang="en-US" dirty="0"/>
              <a:t>current flowing through it</a:t>
            </a:r>
            <a:r>
              <a:rPr lang="en-US" dirty="0" smtClean="0"/>
              <a:t>.</a:t>
            </a:r>
            <a:endParaRPr lang="en-GB"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01167918-1C3F-424C-B771-E677594BB9E7}" type="slidenum">
              <a:rPr lang="en-US" altLang="en-US" sz="1200" smtClean="0">
                <a:solidFill>
                  <a:srgbClr val="4A566A"/>
                </a:solidFill>
              </a:rPr>
              <a:pPr>
                <a:spcBef>
                  <a:spcPct val="0"/>
                </a:spcBef>
                <a:buClrTx/>
                <a:buSzTx/>
                <a:buFontTx/>
                <a:buNone/>
              </a:pPr>
              <a:t>8</a:t>
            </a:fld>
            <a:endParaRPr lang="en-US" altLang="en-US" sz="1200" smtClean="0">
              <a:solidFill>
                <a:srgbClr val="4A566A"/>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algn="l"/>
            <a:r>
              <a:rPr lang="en-GB" altLang="en-US" sz="3600" b="1" u="sng" smtClean="0"/>
              <a:t>Resistance of crystal diode: (cont.)</a:t>
            </a:r>
          </a:p>
        </p:txBody>
      </p:sp>
      <p:sp>
        <p:nvSpPr>
          <p:cNvPr id="3" name="Content Placeholder 2"/>
          <p:cNvSpPr>
            <a:spLocks noGrp="1"/>
          </p:cNvSpPr>
          <p:nvPr>
            <p:ph idx="1"/>
          </p:nvPr>
        </p:nvSpPr>
        <p:spPr/>
        <p:txBody>
          <a:bodyPr/>
          <a:lstStyle/>
          <a:p>
            <a:pPr marL="0" indent="0">
              <a:buFont typeface="Wingdings 2" panose="05020102010507070707" pitchFamily="18" charset="2"/>
              <a:buNone/>
              <a:defRPr/>
            </a:pPr>
            <a:r>
              <a:rPr lang="en-US" b="1" u="sng" dirty="0" err="1" smtClean="0"/>
              <a:t>d.c.</a:t>
            </a:r>
            <a:r>
              <a:rPr lang="en-US" b="1" u="sng" dirty="0" smtClean="0"/>
              <a:t> forward resistance:  (cont.)</a:t>
            </a:r>
          </a:p>
          <a:p>
            <a:pPr algn="just">
              <a:defRPr/>
            </a:pPr>
            <a:r>
              <a:rPr lang="en-US" sz="2800" dirty="0" smtClean="0"/>
              <a:t>It is clear from the figure given below that when forward voltage is OA, the forward current is OB, the </a:t>
            </a:r>
            <a:r>
              <a:rPr lang="en-US" sz="2800" dirty="0" err="1" smtClean="0"/>
              <a:t>d.c.</a:t>
            </a:r>
            <a:r>
              <a:rPr lang="en-US" sz="2800" dirty="0" smtClean="0"/>
              <a:t> forward resistance is:</a:t>
            </a:r>
            <a:endParaRPr lang="en-GB" dirty="0" smtClean="0"/>
          </a:p>
        </p:txBody>
      </p:sp>
      <p:sp>
        <p:nvSpPr>
          <p:cNvPr id="1536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AD278D14-5E66-4729-98C4-8CFBD898DA25}" type="slidenum">
              <a:rPr lang="en-US" altLang="en-US" sz="1200" smtClean="0">
                <a:solidFill>
                  <a:srgbClr val="4A566A"/>
                </a:solidFill>
              </a:rPr>
              <a:pPr>
                <a:spcBef>
                  <a:spcPct val="0"/>
                </a:spcBef>
                <a:buClrTx/>
                <a:buSzTx/>
                <a:buFontTx/>
                <a:buNone/>
              </a:pPr>
              <a:t>9</a:t>
            </a:fld>
            <a:endParaRPr lang="en-US" altLang="en-US" sz="1200" smtClean="0">
              <a:solidFill>
                <a:srgbClr val="4A566A"/>
              </a:solidFill>
            </a:endParaRPr>
          </a:p>
        </p:txBody>
      </p:sp>
      <p:pic>
        <p:nvPicPr>
          <p:cNvPr id="2" name="Picture 1"/>
          <p:cNvPicPr>
            <a:picLocks noChangeAspect="1"/>
          </p:cNvPicPr>
          <p:nvPr/>
        </p:nvPicPr>
        <p:blipFill>
          <a:blip r:embed="rId2"/>
          <a:stretch>
            <a:fillRect/>
          </a:stretch>
        </p:blipFill>
        <p:spPr>
          <a:xfrm>
            <a:off x="533400" y="2895600"/>
            <a:ext cx="3678238" cy="3267075"/>
          </a:xfrm>
          <a:prstGeom prst="rect">
            <a:avLst/>
          </a:prstGeom>
          <a:ln w="38100" cap="sq">
            <a:solidFill>
              <a:schemeClr val="accent1"/>
            </a:solidFill>
            <a:prstDash val="solid"/>
            <a:miter lim="800000"/>
          </a:ln>
          <a:effectLst>
            <a:outerShdw blurRad="50800" dist="38100" dir="2700000" algn="tl" rotWithShape="0">
              <a:srgbClr val="000000">
                <a:alpha val="43000"/>
              </a:srgbClr>
            </a:outerShdw>
          </a:effectLst>
        </p:spPr>
      </p:pic>
      <p:pic>
        <p:nvPicPr>
          <p:cNvPr id="4" name="Picture 3"/>
          <p:cNvPicPr>
            <a:picLocks noChangeAspect="1"/>
          </p:cNvPicPr>
          <p:nvPr/>
        </p:nvPicPr>
        <p:blipFill>
          <a:blip r:embed="rId3"/>
          <a:stretch>
            <a:fillRect/>
          </a:stretch>
        </p:blipFill>
        <p:spPr>
          <a:xfrm>
            <a:off x="4592638" y="3733800"/>
            <a:ext cx="4057650" cy="769938"/>
          </a:xfrm>
          <a:prstGeom prst="rect">
            <a:avLst/>
          </a:prstGeom>
          <a:ln w="38100" cap="sq">
            <a:solidFill>
              <a:schemeClr val="bg2">
                <a:lumMod val="50000"/>
              </a:schemeClr>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algn="l"/>
            <a:r>
              <a:rPr lang="en-GB" altLang="en-US" sz="3600" b="1" u="sng" smtClean="0"/>
              <a:t>Resistance of crystal diode: (cont.)</a:t>
            </a:r>
          </a:p>
        </p:txBody>
      </p:sp>
      <p:sp>
        <p:nvSpPr>
          <p:cNvPr id="3" name="Content Placeholder 2"/>
          <p:cNvSpPr>
            <a:spLocks noGrp="1"/>
          </p:cNvSpPr>
          <p:nvPr>
            <p:ph idx="1"/>
          </p:nvPr>
        </p:nvSpPr>
        <p:spPr/>
        <p:txBody>
          <a:bodyPr/>
          <a:lstStyle/>
          <a:p>
            <a:pPr marL="0" indent="0">
              <a:buFont typeface="Wingdings 2" panose="05020102010507070707" pitchFamily="18" charset="2"/>
              <a:buNone/>
              <a:defRPr/>
            </a:pPr>
            <a:r>
              <a:rPr lang="en-US" sz="2800" b="1" u="sng" dirty="0" err="1" smtClean="0"/>
              <a:t>a.c</a:t>
            </a:r>
            <a:r>
              <a:rPr lang="en-US" sz="2800" b="1" u="sng" dirty="0" smtClean="0"/>
              <a:t>. </a:t>
            </a:r>
            <a:r>
              <a:rPr lang="en-US" sz="2800" b="1" u="sng" dirty="0"/>
              <a:t>forward </a:t>
            </a:r>
            <a:r>
              <a:rPr lang="en-US" sz="2800" b="1" u="sng" dirty="0" smtClean="0"/>
              <a:t>resistance:</a:t>
            </a:r>
            <a:endParaRPr lang="en-GB" sz="2800" b="1" u="sng" dirty="0" smtClean="0"/>
          </a:p>
          <a:p>
            <a:pPr algn="just">
              <a:defRPr/>
            </a:pPr>
            <a:r>
              <a:rPr lang="en-US" sz="2800" dirty="0"/>
              <a:t>The opposition offered by a diode to the changing current </a:t>
            </a:r>
            <a:r>
              <a:rPr lang="en-US" sz="2800" dirty="0" smtClean="0"/>
              <a:t>flowing in </a:t>
            </a:r>
            <a:r>
              <a:rPr lang="en-US" sz="2800" dirty="0"/>
              <a:t>forward bias condition is known as its </a:t>
            </a:r>
            <a:r>
              <a:rPr lang="en-US" sz="2800" b="1" dirty="0" err="1" smtClean="0"/>
              <a:t>a.c</a:t>
            </a:r>
            <a:r>
              <a:rPr lang="en-US" sz="2800" b="1" dirty="0" smtClean="0"/>
              <a:t>. forward resistance</a:t>
            </a:r>
            <a:r>
              <a:rPr lang="en-US" sz="2800" dirty="0"/>
              <a:t>. </a:t>
            </a:r>
            <a:endParaRPr lang="en-US" sz="2800" dirty="0" smtClean="0"/>
          </a:p>
          <a:p>
            <a:pPr algn="just">
              <a:defRPr/>
            </a:pPr>
            <a:endParaRPr lang="en-US" sz="2800" dirty="0"/>
          </a:p>
          <a:p>
            <a:pPr algn="just">
              <a:defRPr/>
            </a:pPr>
            <a:r>
              <a:rPr lang="en-US" sz="2800" dirty="0" smtClean="0"/>
              <a:t>It </a:t>
            </a:r>
            <a:r>
              <a:rPr lang="en-US" sz="2800" dirty="0"/>
              <a:t>is measured by a ratio of change in voltage across the diode to the resulting change in current through </a:t>
            </a:r>
            <a:r>
              <a:rPr lang="en-US" sz="2800" dirty="0" smtClean="0"/>
              <a:t>it given as:</a:t>
            </a:r>
          </a:p>
          <a:p>
            <a:pPr algn="just">
              <a:defRPr/>
            </a:pPr>
            <a:endParaRPr lang="en-US" dirty="0"/>
          </a:p>
          <a:p>
            <a:pPr algn="just">
              <a:defRPr/>
            </a:pPr>
            <a:endParaRPr lang="en-US" dirty="0" smtClean="0"/>
          </a:p>
          <a:p>
            <a:pPr algn="just">
              <a:defRPr/>
            </a:pPr>
            <a:endParaRPr lang="en-GB" dirty="0"/>
          </a:p>
        </p:txBody>
      </p:sp>
      <p:sp>
        <p:nvSpPr>
          <p:cNvPr id="1638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4EED44BC-3FDC-4655-8194-53BC13C624D6}" type="slidenum">
              <a:rPr lang="en-US" altLang="en-US" sz="1200" smtClean="0">
                <a:solidFill>
                  <a:srgbClr val="4A566A"/>
                </a:solidFill>
              </a:rPr>
              <a:pPr>
                <a:spcBef>
                  <a:spcPct val="0"/>
                </a:spcBef>
                <a:buClrTx/>
                <a:buSzTx/>
                <a:buFontTx/>
                <a:buNone/>
              </a:pPr>
              <a:t>10</a:t>
            </a:fld>
            <a:endParaRPr lang="en-US" altLang="en-US" sz="1200" smtClean="0">
              <a:solidFill>
                <a:srgbClr val="4A566A"/>
              </a:solidFill>
            </a:endParaRPr>
          </a:p>
        </p:txBody>
      </p:sp>
      <p:pic>
        <p:nvPicPr>
          <p:cNvPr id="2" name="Picture 1"/>
          <p:cNvPicPr>
            <a:picLocks noChangeAspect="1"/>
          </p:cNvPicPr>
          <p:nvPr/>
        </p:nvPicPr>
        <p:blipFill>
          <a:blip r:embed="rId2"/>
          <a:stretch>
            <a:fillRect/>
          </a:stretch>
        </p:blipFill>
        <p:spPr>
          <a:xfrm>
            <a:off x="733425" y="4953000"/>
            <a:ext cx="7600950" cy="990600"/>
          </a:xfrm>
          <a:prstGeom prst="rect">
            <a:avLst/>
          </a:prstGeom>
          <a:ln w="38100" cap="sq">
            <a:solidFill>
              <a:schemeClr val="bg2">
                <a:lumMod val="50000"/>
              </a:schemeClr>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algn="l"/>
            <a:r>
              <a:rPr lang="en-GB" altLang="en-US" sz="3600" b="1" u="sng" smtClean="0"/>
              <a:t>Resistance of crystal diode: (cont.)</a:t>
            </a:r>
          </a:p>
        </p:txBody>
      </p:sp>
      <p:sp>
        <p:nvSpPr>
          <p:cNvPr id="3" name="Content Placeholder 2"/>
          <p:cNvSpPr>
            <a:spLocks noGrp="1"/>
          </p:cNvSpPr>
          <p:nvPr>
            <p:ph idx="1"/>
          </p:nvPr>
        </p:nvSpPr>
        <p:spPr>
          <a:xfrm>
            <a:off x="152400" y="838200"/>
            <a:ext cx="5105400" cy="5486400"/>
          </a:xfrm>
        </p:spPr>
        <p:txBody>
          <a:bodyPr/>
          <a:lstStyle/>
          <a:p>
            <a:pPr marL="0" indent="0">
              <a:buFont typeface="Wingdings 2" panose="05020102010507070707" pitchFamily="18" charset="2"/>
              <a:buNone/>
              <a:defRPr/>
            </a:pPr>
            <a:r>
              <a:rPr lang="en-US" sz="2800" b="1" u="sng" dirty="0" err="1" smtClean="0"/>
              <a:t>a.c</a:t>
            </a:r>
            <a:r>
              <a:rPr lang="en-US" sz="2800" b="1" u="sng" dirty="0" smtClean="0"/>
              <a:t>. </a:t>
            </a:r>
            <a:r>
              <a:rPr lang="en-US" sz="2800" b="1" u="sng" dirty="0"/>
              <a:t>forward </a:t>
            </a:r>
            <a:r>
              <a:rPr lang="en-US" sz="2800" b="1" u="sng" dirty="0" smtClean="0"/>
              <a:t>resistance: (cont.) </a:t>
            </a:r>
            <a:endParaRPr lang="en-GB" sz="2800" b="1" u="sng" dirty="0" smtClean="0"/>
          </a:p>
          <a:p>
            <a:pPr algn="just">
              <a:defRPr/>
            </a:pPr>
            <a:r>
              <a:rPr lang="en-US" sz="2400" dirty="0" smtClean="0"/>
              <a:t>The </a:t>
            </a:r>
            <a:r>
              <a:rPr lang="en-US" sz="2400" dirty="0" err="1" smtClean="0"/>
              <a:t>a.c</a:t>
            </a:r>
            <a:r>
              <a:rPr lang="en-US" sz="2400" dirty="0" smtClean="0"/>
              <a:t>. forward resistance is more significant as the diodes are generally used alternating voltages.</a:t>
            </a:r>
          </a:p>
          <a:p>
            <a:pPr algn="just">
              <a:defRPr/>
            </a:pPr>
            <a:endParaRPr lang="en-US" sz="2400" dirty="0"/>
          </a:p>
          <a:p>
            <a:pPr algn="just">
              <a:defRPr/>
            </a:pPr>
            <a:r>
              <a:rPr lang="en-US" sz="2400" dirty="0" smtClean="0"/>
              <a:t>With respect to the graph given in figure given below, the </a:t>
            </a:r>
            <a:r>
              <a:rPr lang="en-US" sz="2400" dirty="0" err="1" smtClean="0"/>
              <a:t>a.c</a:t>
            </a:r>
            <a:r>
              <a:rPr lang="en-US" sz="2400" dirty="0" smtClean="0"/>
              <a:t>. forward resistance is given as:</a:t>
            </a:r>
          </a:p>
          <a:p>
            <a:pPr algn="just">
              <a:defRPr/>
            </a:pPr>
            <a:endParaRPr lang="en-US" sz="2800" dirty="0"/>
          </a:p>
          <a:p>
            <a:pPr algn="just">
              <a:defRPr/>
            </a:pPr>
            <a:endParaRPr lang="en-US" sz="2800" dirty="0" smtClean="0"/>
          </a:p>
          <a:p>
            <a:pPr algn="just">
              <a:defRPr/>
            </a:pPr>
            <a:endParaRPr lang="en-US" dirty="0"/>
          </a:p>
          <a:p>
            <a:pPr algn="just">
              <a:defRPr/>
            </a:pPr>
            <a:endParaRPr lang="en-US" dirty="0" smtClean="0"/>
          </a:p>
          <a:p>
            <a:pPr algn="just">
              <a:defRPr/>
            </a:pPr>
            <a:endParaRPr lang="en-GB" dirty="0"/>
          </a:p>
        </p:txBody>
      </p:sp>
      <p:sp>
        <p:nvSpPr>
          <p:cNvPr id="174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B002F703-9628-4706-A3A5-29E6FDC7794C}" type="slidenum">
              <a:rPr lang="en-US" altLang="en-US" sz="1200" smtClean="0">
                <a:solidFill>
                  <a:srgbClr val="4A566A"/>
                </a:solidFill>
              </a:rPr>
              <a:pPr>
                <a:spcBef>
                  <a:spcPct val="0"/>
                </a:spcBef>
                <a:buClrTx/>
                <a:buSzTx/>
                <a:buFontTx/>
                <a:buNone/>
              </a:pPr>
              <a:t>11</a:t>
            </a:fld>
            <a:endParaRPr lang="en-US" altLang="en-US" sz="1200" smtClean="0">
              <a:solidFill>
                <a:srgbClr val="4A566A"/>
              </a:solidFill>
            </a:endParaRPr>
          </a:p>
        </p:txBody>
      </p:sp>
      <p:pic>
        <p:nvPicPr>
          <p:cNvPr id="4" name="Picture 3"/>
          <p:cNvPicPr>
            <a:picLocks noChangeAspect="1"/>
          </p:cNvPicPr>
          <p:nvPr/>
        </p:nvPicPr>
        <p:blipFill>
          <a:blip r:embed="rId2"/>
          <a:stretch>
            <a:fillRect/>
          </a:stretch>
        </p:blipFill>
        <p:spPr>
          <a:xfrm>
            <a:off x="5410200" y="1676400"/>
            <a:ext cx="3505200" cy="2943225"/>
          </a:xfrm>
          <a:prstGeom prst="rect">
            <a:avLst/>
          </a:prstGeom>
          <a:ln w="38100" cap="sq">
            <a:solidFill>
              <a:schemeClr val="accent1">
                <a:lumMod val="75000"/>
              </a:schemeClr>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a:blip r:embed="rId3"/>
          <a:stretch>
            <a:fillRect/>
          </a:stretch>
        </p:blipFill>
        <p:spPr>
          <a:xfrm>
            <a:off x="328613" y="5181600"/>
            <a:ext cx="8410575" cy="1039813"/>
          </a:xfrm>
          <a:prstGeom prst="rect">
            <a:avLst/>
          </a:prstGeom>
          <a:ln w="38100" cap="sq">
            <a:solidFill>
              <a:schemeClr val="bg2">
                <a:lumMod val="25000"/>
              </a:schemeClr>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algn="l"/>
            <a:r>
              <a:rPr lang="en-GB" altLang="en-US" sz="3600" b="1" u="sng" smtClean="0"/>
              <a:t>Resistance of crystal diode: (cont.)</a:t>
            </a:r>
          </a:p>
        </p:txBody>
      </p:sp>
      <p:sp>
        <p:nvSpPr>
          <p:cNvPr id="3" name="Content Placeholder 2"/>
          <p:cNvSpPr>
            <a:spLocks noGrp="1"/>
          </p:cNvSpPr>
          <p:nvPr>
            <p:ph idx="1"/>
          </p:nvPr>
        </p:nvSpPr>
        <p:spPr/>
        <p:txBody>
          <a:bodyPr/>
          <a:lstStyle/>
          <a:p>
            <a:pPr marL="0" indent="0">
              <a:buFont typeface="Wingdings 2" panose="05020102010507070707" pitchFamily="18" charset="2"/>
              <a:buNone/>
              <a:defRPr/>
            </a:pPr>
            <a:r>
              <a:rPr lang="en-US" sz="2800" b="1" u="sng" dirty="0" err="1" smtClean="0"/>
              <a:t>a.c</a:t>
            </a:r>
            <a:r>
              <a:rPr lang="en-US" sz="2800" b="1" u="sng" dirty="0" smtClean="0"/>
              <a:t>. </a:t>
            </a:r>
            <a:r>
              <a:rPr lang="en-US" sz="2800" b="1" u="sng" dirty="0"/>
              <a:t>forward </a:t>
            </a:r>
            <a:r>
              <a:rPr lang="en-US" sz="2800" b="1" u="sng" dirty="0" smtClean="0"/>
              <a:t>resistance: (cont.) </a:t>
            </a:r>
            <a:endParaRPr lang="en-GB" sz="2800" b="1" u="sng" dirty="0" smtClean="0"/>
          </a:p>
          <a:p>
            <a:pPr algn="just">
              <a:defRPr/>
            </a:pPr>
            <a:r>
              <a:rPr lang="en-US" sz="3200" dirty="0" smtClean="0"/>
              <a:t>The forward resistance of diode is very small ranging from 1 to 25 ohm.</a:t>
            </a:r>
          </a:p>
          <a:p>
            <a:pPr algn="just">
              <a:defRPr/>
            </a:pPr>
            <a:endParaRPr lang="en-US" sz="2800" dirty="0"/>
          </a:p>
          <a:p>
            <a:pPr algn="just">
              <a:defRPr/>
            </a:pPr>
            <a:endParaRPr lang="en-US" sz="2800" dirty="0" smtClean="0"/>
          </a:p>
          <a:p>
            <a:pPr algn="just">
              <a:defRPr/>
            </a:pPr>
            <a:endParaRPr lang="en-US" dirty="0"/>
          </a:p>
          <a:p>
            <a:pPr algn="just">
              <a:defRPr/>
            </a:pPr>
            <a:endParaRPr lang="en-US" dirty="0" smtClean="0"/>
          </a:p>
          <a:p>
            <a:pPr algn="just">
              <a:defRPr/>
            </a:pPr>
            <a:endParaRPr lang="en-GB" dirty="0"/>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40B90591-65CA-433E-94C8-6AA171CC2838}" type="slidenum">
              <a:rPr lang="en-US" altLang="en-US" sz="1200" smtClean="0">
                <a:solidFill>
                  <a:srgbClr val="4A566A"/>
                </a:solidFill>
              </a:rPr>
              <a:pPr>
                <a:spcBef>
                  <a:spcPct val="0"/>
                </a:spcBef>
                <a:buClrTx/>
                <a:buSzTx/>
                <a:buFontTx/>
                <a:buNone/>
              </a:pPr>
              <a:t>12</a:t>
            </a:fld>
            <a:endParaRPr lang="en-US" altLang="en-US" sz="1200" smtClean="0">
              <a:solidFill>
                <a:srgbClr val="4A566A"/>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algn="l"/>
            <a:r>
              <a:rPr lang="en-GB" altLang="en-US" sz="3600" b="1" u="sng" smtClean="0"/>
              <a:t>Resistance of crystal diode: (cont.)</a:t>
            </a:r>
          </a:p>
        </p:txBody>
      </p:sp>
      <p:sp>
        <p:nvSpPr>
          <p:cNvPr id="3" name="Content Placeholder 2"/>
          <p:cNvSpPr>
            <a:spLocks noGrp="1"/>
          </p:cNvSpPr>
          <p:nvPr>
            <p:ph idx="1"/>
          </p:nvPr>
        </p:nvSpPr>
        <p:spPr/>
        <p:txBody>
          <a:bodyPr>
            <a:normAutofit fontScale="62500" lnSpcReduction="20000"/>
          </a:bodyPr>
          <a:lstStyle/>
          <a:p>
            <a:pPr algn="just">
              <a:defRPr/>
            </a:pPr>
            <a:r>
              <a:rPr lang="en-GB" b="1" u="sng" dirty="0" smtClean="0"/>
              <a:t>Reverse Resistance:</a:t>
            </a:r>
          </a:p>
          <a:p>
            <a:pPr marL="0" indent="0" algn="just">
              <a:buFont typeface="Wingdings 2" panose="05020102010507070707" pitchFamily="18" charset="2"/>
              <a:buNone/>
              <a:defRPr/>
            </a:pPr>
            <a:endParaRPr lang="en-GB" b="1" u="sng" dirty="0" smtClean="0"/>
          </a:p>
          <a:p>
            <a:pPr algn="just">
              <a:defRPr/>
            </a:pPr>
            <a:r>
              <a:rPr lang="en-US" dirty="0" smtClean="0"/>
              <a:t>Under the reverse biased condition, the </a:t>
            </a:r>
            <a:r>
              <a:rPr lang="en-US" dirty="0"/>
              <a:t>opposition offered by the diode to the reverse current is known as</a:t>
            </a:r>
            <a:r>
              <a:rPr lang="en-US" b="1" dirty="0"/>
              <a:t> </a:t>
            </a:r>
            <a:r>
              <a:rPr lang="en-US" b="1" dirty="0" smtClean="0"/>
              <a:t>reverse resistance</a:t>
            </a:r>
            <a:r>
              <a:rPr lang="en-US" dirty="0" smtClean="0"/>
              <a:t>.</a:t>
            </a:r>
          </a:p>
          <a:p>
            <a:pPr algn="just">
              <a:defRPr/>
            </a:pPr>
            <a:endParaRPr lang="en-GB" dirty="0" smtClean="0"/>
          </a:p>
          <a:p>
            <a:pPr algn="just">
              <a:defRPr/>
            </a:pPr>
            <a:r>
              <a:rPr lang="en-GB" dirty="0" smtClean="0"/>
              <a:t>It can be </a:t>
            </a:r>
            <a:r>
              <a:rPr lang="en-GB" b="1" dirty="0" err="1" smtClean="0"/>
              <a:t>d.c.</a:t>
            </a:r>
            <a:r>
              <a:rPr lang="en-GB" dirty="0" smtClean="0"/>
              <a:t> reverse resistance or </a:t>
            </a:r>
            <a:r>
              <a:rPr lang="en-GB" b="1" dirty="0" err="1" smtClean="0"/>
              <a:t>a.c</a:t>
            </a:r>
            <a:r>
              <a:rPr lang="en-GB" b="1" dirty="0" smtClean="0"/>
              <a:t>.</a:t>
            </a:r>
            <a:r>
              <a:rPr lang="en-GB" dirty="0" smtClean="0"/>
              <a:t> reverse resistance.</a:t>
            </a:r>
          </a:p>
          <a:p>
            <a:pPr algn="just">
              <a:defRPr/>
            </a:pPr>
            <a:endParaRPr lang="en-GB" dirty="0" smtClean="0"/>
          </a:p>
          <a:p>
            <a:pPr algn="just">
              <a:defRPr/>
            </a:pPr>
            <a:r>
              <a:rPr lang="en-GB" dirty="0" smtClean="0"/>
              <a:t>Ideally, the reverse resistance of a diode is infinite.</a:t>
            </a:r>
          </a:p>
          <a:p>
            <a:pPr algn="just">
              <a:defRPr/>
            </a:pPr>
            <a:endParaRPr lang="en-GB" dirty="0" smtClean="0"/>
          </a:p>
          <a:p>
            <a:pPr algn="just">
              <a:defRPr/>
            </a:pPr>
            <a:r>
              <a:rPr lang="en-GB" dirty="0" smtClean="0"/>
              <a:t>Practically the reverse resistance is not infinite, because for any value of reverse bias, there exist a small leakage current.</a:t>
            </a:r>
          </a:p>
          <a:p>
            <a:pPr algn="just">
              <a:defRPr/>
            </a:pPr>
            <a:endParaRPr lang="en-GB" dirty="0" smtClean="0"/>
          </a:p>
          <a:p>
            <a:pPr algn="just">
              <a:defRPr/>
            </a:pPr>
            <a:r>
              <a:rPr lang="en-GB" dirty="0" smtClean="0"/>
              <a:t>The reverse resistance is very high as compared to forward resistance.</a:t>
            </a:r>
            <a:endParaRPr lang="en-GB" dirty="0"/>
          </a:p>
        </p:txBody>
      </p:sp>
      <p:sp>
        <p:nvSpPr>
          <p:cNvPr id="1946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1DE6DD10-683C-489C-B2A5-46F34DE67037}" type="slidenum">
              <a:rPr lang="en-US" altLang="en-US" sz="1200" smtClean="0">
                <a:solidFill>
                  <a:srgbClr val="4A566A"/>
                </a:solidFill>
              </a:rPr>
              <a:pPr>
                <a:spcBef>
                  <a:spcPct val="0"/>
                </a:spcBef>
                <a:buClrTx/>
                <a:buSzTx/>
                <a:buFontTx/>
                <a:buNone/>
              </a:pPr>
              <a:t>13</a:t>
            </a:fld>
            <a:endParaRPr lang="en-US" altLang="en-US" sz="1200" smtClean="0">
              <a:solidFill>
                <a:srgbClr val="4A566A"/>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algn="l"/>
            <a:r>
              <a:rPr lang="en-US" altLang="en-US" sz="4000" smtClean="0"/>
              <a:t>Equivalent circuit of crystal diode:</a:t>
            </a:r>
          </a:p>
        </p:txBody>
      </p:sp>
      <p:sp>
        <p:nvSpPr>
          <p:cNvPr id="3" name="Content Placeholder 2"/>
          <p:cNvSpPr>
            <a:spLocks noGrp="1"/>
          </p:cNvSpPr>
          <p:nvPr>
            <p:ph idx="1"/>
          </p:nvPr>
        </p:nvSpPr>
        <p:spPr>
          <a:xfrm>
            <a:off x="304800" y="1085850"/>
            <a:ext cx="8534400" cy="5257800"/>
          </a:xfrm>
        </p:spPr>
        <p:txBody>
          <a:bodyPr>
            <a:normAutofit fontScale="92500"/>
          </a:bodyPr>
          <a:lstStyle/>
          <a:p>
            <a:pPr algn="just">
              <a:defRPr/>
            </a:pPr>
            <a:r>
              <a:rPr lang="en-US" dirty="0" smtClean="0"/>
              <a:t>The electrical equivalent circuit of crystal diode is a combination of electric elements.</a:t>
            </a:r>
          </a:p>
          <a:p>
            <a:pPr algn="just">
              <a:defRPr/>
            </a:pPr>
            <a:endParaRPr lang="en-US" dirty="0" smtClean="0"/>
          </a:p>
          <a:p>
            <a:pPr algn="just">
              <a:defRPr/>
            </a:pPr>
            <a:r>
              <a:rPr lang="en-US" dirty="0" smtClean="0"/>
              <a:t>The equivalent circuit of device (crystal diode) acts similarly as the device when connected in circuit.</a:t>
            </a:r>
          </a:p>
          <a:p>
            <a:pPr algn="just">
              <a:defRPr/>
            </a:pPr>
            <a:endParaRPr lang="en-US" dirty="0" smtClean="0"/>
          </a:p>
          <a:p>
            <a:pPr algn="just">
              <a:defRPr/>
            </a:pPr>
            <a:r>
              <a:rPr lang="en-US" dirty="0" smtClean="0"/>
              <a:t>The resulting network can be solved by traditional circuit analysis techniques.</a:t>
            </a:r>
          </a:p>
          <a:p>
            <a:pPr algn="just">
              <a:defRPr/>
            </a:pPr>
            <a:endParaRPr lang="en-US" dirty="0"/>
          </a:p>
        </p:txBody>
      </p:sp>
      <p:sp>
        <p:nvSpPr>
          <p:cNvPr id="204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FC31C35C-9B76-4611-AA44-FF8A0BA72FB1}" type="slidenum">
              <a:rPr lang="en-US" altLang="en-US" smtClean="0">
                <a:solidFill>
                  <a:srgbClr val="4A566A"/>
                </a:solidFill>
              </a:rPr>
              <a:pPr/>
              <a:t>14</a:t>
            </a:fld>
            <a:endParaRPr lang="en-US" altLang="en-US" smtClean="0">
              <a:solidFill>
                <a:srgbClr val="4A566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algn="l"/>
            <a:r>
              <a:rPr lang="en-US" altLang="en-US" sz="3600" smtClean="0"/>
              <a:t>Equivalent circuit of crystal diode: (cont.)</a:t>
            </a:r>
          </a:p>
        </p:txBody>
      </p:sp>
      <p:sp>
        <p:nvSpPr>
          <p:cNvPr id="3" name="Content Placeholder 2"/>
          <p:cNvSpPr>
            <a:spLocks noGrp="1"/>
          </p:cNvSpPr>
          <p:nvPr>
            <p:ph idx="1"/>
          </p:nvPr>
        </p:nvSpPr>
        <p:spPr>
          <a:xfrm>
            <a:off x="304800" y="1085850"/>
            <a:ext cx="8534400" cy="5257800"/>
          </a:xfrm>
        </p:spPr>
        <p:txBody>
          <a:bodyPr/>
          <a:lstStyle/>
          <a:p>
            <a:pPr marL="0" indent="0" algn="just">
              <a:buFont typeface="Wingdings 2" panose="05020102010507070707" pitchFamily="18" charset="2"/>
              <a:buNone/>
              <a:defRPr/>
            </a:pPr>
            <a:r>
              <a:rPr lang="en-US" b="1" dirty="0" smtClean="0"/>
              <a:t>Approximate equivalent circuit:</a:t>
            </a:r>
          </a:p>
          <a:p>
            <a:pPr algn="just">
              <a:defRPr/>
            </a:pPr>
            <a:endParaRPr lang="en-US" b="1" dirty="0" smtClean="0"/>
          </a:p>
          <a:p>
            <a:pPr algn="just">
              <a:defRPr/>
            </a:pPr>
            <a:endParaRPr lang="en-US" dirty="0"/>
          </a:p>
        </p:txBody>
      </p:sp>
      <p:sp>
        <p:nvSpPr>
          <p:cNvPr id="2150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48480A2C-08F8-45BD-B237-900FCDE31002}" type="slidenum">
              <a:rPr lang="en-US" altLang="en-US" smtClean="0">
                <a:solidFill>
                  <a:srgbClr val="4A566A"/>
                </a:solidFill>
              </a:rPr>
              <a:pPr/>
              <a:t>15</a:t>
            </a:fld>
            <a:endParaRPr lang="en-US" altLang="en-US" smtClean="0">
              <a:solidFill>
                <a:srgbClr val="4A566A"/>
              </a:solidFill>
            </a:endParaRPr>
          </a:p>
        </p:txBody>
      </p:sp>
      <p:pic>
        <p:nvPicPr>
          <p:cNvPr id="5" name="Picture 4"/>
          <p:cNvPicPr>
            <a:picLocks noChangeAspect="1"/>
          </p:cNvPicPr>
          <p:nvPr/>
        </p:nvPicPr>
        <p:blipFill>
          <a:blip r:embed="rId2"/>
          <a:stretch>
            <a:fillRect/>
          </a:stretch>
        </p:blipFill>
        <p:spPr>
          <a:xfrm>
            <a:off x="685800" y="4191000"/>
            <a:ext cx="8001000" cy="1790700"/>
          </a:xfrm>
          <a:prstGeom prst="rect">
            <a:avLst/>
          </a:prstGeom>
          <a:ln w="38100" cap="sq">
            <a:solidFill>
              <a:schemeClr val="bg2">
                <a:lumMod val="25000"/>
              </a:schemeClr>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a:blip r:embed="rId3"/>
          <a:stretch>
            <a:fillRect/>
          </a:stretch>
        </p:blipFill>
        <p:spPr>
          <a:xfrm>
            <a:off x="2971800" y="2743200"/>
            <a:ext cx="2886075" cy="685800"/>
          </a:xfrm>
          <a:prstGeom prst="rect">
            <a:avLst/>
          </a:prstGeom>
          <a:ln w="38100" cap="sq">
            <a:solidFill>
              <a:schemeClr val="bg2">
                <a:lumMod val="25000"/>
              </a:schemeClr>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algn="l"/>
            <a:r>
              <a:rPr lang="en-US" altLang="en-US" sz="3600" smtClean="0"/>
              <a:t>Equivalent circuit of crystal diode: (cont.)</a:t>
            </a:r>
          </a:p>
        </p:txBody>
      </p:sp>
      <p:sp>
        <p:nvSpPr>
          <p:cNvPr id="3" name="Content Placeholder 2"/>
          <p:cNvSpPr>
            <a:spLocks noGrp="1"/>
          </p:cNvSpPr>
          <p:nvPr>
            <p:ph idx="1"/>
          </p:nvPr>
        </p:nvSpPr>
        <p:spPr>
          <a:xfrm>
            <a:off x="304800" y="1085850"/>
            <a:ext cx="8534400" cy="5257800"/>
          </a:xfrm>
        </p:spPr>
        <p:txBody>
          <a:bodyPr/>
          <a:lstStyle/>
          <a:p>
            <a:pPr marL="0" indent="0" algn="just">
              <a:buFont typeface="Wingdings 2" panose="05020102010507070707" pitchFamily="18" charset="2"/>
              <a:buNone/>
              <a:defRPr/>
            </a:pPr>
            <a:r>
              <a:rPr lang="en-US" b="1" dirty="0" smtClean="0"/>
              <a:t>Simplified equivalent circuit:</a:t>
            </a:r>
          </a:p>
          <a:p>
            <a:pPr algn="just">
              <a:defRPr/>
            </a:pPr>
            <a:r>
              <a:rPr lang="en-US" sz="2400" dirty="0" smtClean="0"/>
              <a:t>In most applications, the internal resistance of the crystal diode can be ignored in comparison to other elements in the equivalent circuit.</a:t>
            </a:r>
            <a:r>
              <a:rPr lang="en-US" b="1" dirty="0" smtClean="0"/>
              <a:t> </a:t>
            </a:r>
          </a:p>
          <a:p>
            <a:pPr algn="just">
              <a:defRPr/>
            </a:pPr>
            <a:endParaRPr lang="en-US" b="1" dirty="0" smtClean="0"/>
          </a:p>
          <a:p>
            <a:pPr algn="just">
              <a:defRPr/>
            </a:pPr>
            <a:endParaRPr lang="en-US" dirty="0"/>
          </a:p>
        </p:txBody>
      </p:sp>
      <p:sp>
        <p:nvSpPr>
          <p:cNvPr id="2253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50044A3F-946B-4EEB-86CC-DB8D08AA3B0F}" type="slidenum">
              <a:rPr lang="en-US" altLang="en-US" smtClean="0">
                <a:solidFill>
                  <a:srgbClr val="4A566A"/>
                </a:solidFill>
              </a:rPr>
              <a:pPr/>
              <a:t>16</a:t>
            </a:fld>
            <a:endParaRPr lang="en-US" altLang="en-US" smtClean="0">
              <a:solidFill>
                <a:srgbClr val="4A566A"/>
              </a:solidFill>
            </a:endParaRPr>
          </a:p>
        </p:txBody>
      </p:sp>
      <p:pic>
        <p:nvPicPr>
          <p:cNvPr id="7" name="Picture 6"/>
          <p:cNvPicPr>
            <a:picLocks noChangeAspect="1"/>
          </p:cNvPicPr>
          <p:nvPr/>
        </p:nvPicPr>
        <p:blipFill>
          <a:blip r:embed="rId2"/>
          <a:stretch>
            <a:fillRect/>
          </a:stretch>
        </p:blipFill>
        <p:spPr>
          <a:xfrm>
            <a:off x="433388" y="3581400"/>
            <a:ext cx="8201025" cy="1700213"/>
          </a:xfrm>
          <a:prstGeom prst="rect">
            <a:avLst/>
          </a:prstGeom>
          <a:ln w="38100" cap="sq">
            <a:solidFill>
              <a:schemeClr val="bg2">
                <a:lumMod val="25000"/>
              </a:schemeClr>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algn="l"/>
            <a:r>
              <a:rPr lang="en-US" altLang="en-US" sz="3600" smtClean="0"/>
              <a:t>Equivalent circuit of crystal diode: (cont.)</a:t>
            </a:r>
          </a:p>
        </p:txBody>
      </p:sp>
      <p:sp>
        <p:nvSpPr>
          <p:cNvPr id="3" name="Content Placeholder 2"/>
          <p:cNvSpPr>
            <a:spLocks noGrp="1"/>
          </p:cNvSpPr>
          <p:nvPr>
            <p:ph idx="1"/>
          </p:nvPr>
        </p:nvSpPr>
        <p:spPr>
          <a:xfrm>
            <a:off x="304800" y="1085850"/>
            <a:ext cx="8534400" cy="5257800"/>
          </a:xfrm>
        </p:spPr>
        <p:txBody>
          <a:bodyPr/>
          <a:lstStyle/>
          <a:p>
            <a:pPr marL="0" indent="0" algn="just">
              <a:buFont typeface="Wingdings 2" panose="05020102010507070707" pitchFamily="18" charset="2"/>
              <a:buNone/>
              <a:defRPr/>
            </a:pPr>
            <a:r>
              <a:rPr lang="en-US" b="1" dirty="0" smtClean="0"/>
              <a:t>Ideal diode model:</a:t>
            </a:r>
          </a:p>
          <a:p>
            <a:pPr algn="just">
              <a:defRPr/>
            </a:pPr>
            <a:r>
              <a:rPr lang="en-US" sz="2800" dirty="0" smtClean="0"/>
              <a:t>Ideally, the internal resistance and potential barrier is considered negligible. </a:t>
            </a:r>
          </a:p>
          <a:p>
            <a:pPr algn="just">
              <a:defRPr/>
            </a:pPr>
            <a:endParaRPr lang="en-US" sz="2800" dirty="0" smtClean="0"/>
          </a:p>
          <a:p>
            <a:pPr algn="just">
              <a:defRPr/>
            </a:pPr>
            <a:r>
              <a:rPr lang="en-US" sz="2800" dirty="0" smtClean="0"/>
              <a:t>Act as a perfect conductor in forward biased and as perfect insulator when reverse biased.</a:t>
            </a:r>
          </a:p>
          <a:p>
            <a:pPr algn="just">
              <a:defRPr/>
            </a:pPr>
            <a:endParaRPr lang="en-US" sz="2800" dirty="0"/>
          </a:p>
          <a:p>
            <a:pPr algn="just">
              <a:defRPr/>
            </a:pPr>
            <a:r>
              <a:rPr lang="en-US" sz="2800" dirty="0" smtClean="0"/>
              <a:t>Ideal diode never found in practice.</a:t>
            </a:r>
          </a:p>
          <a:p>
            <a:pPr algn="just">
              <a:defRPr/>
            </a:pPr>
            <a:endParaRPr lang="en-US" dirty="0"/>
          </a:p>
        </p:txBody>
      </p:sp>
      <p:sp>
        <p:nvSpPr>
          <p:cNvPr id="2355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7CA03E4D-568E-4407-917A-2E671F69E74C}" type="slidenum">
              <a:rPr lang="en-US" altLang="en-US" smtClean="0">
                <a:solidFill>
                  <a:srgbClr val="4A566A"/>
                </a:solidFill>
              </a:rPr>
              <a:pPr/>
              <a:t>17</a:t>
            </a:fld>
            <a:endParaRPr lang="en-US" altLang="en-US" smtClean="0">
              <a:solidFill>
                <a:srgbClr val="4A566A"/>
              </a:solidFill>
            </a:endParaRPr>
          </a:p>
        </p:txBody>
      </p:sp>
      <p:pic>
        <p:nvPicPr>
          <p:cNvPr id="5" name="Picture 4"/>
          <p:cNvPicPr>
            <a:picLocks noChangeAspect="1"/>
          </p:cNvPicPr>
          <p:nvPr/>
        </p:nvPicPr>
        <p:blipFill>
          <a:blip r:embed="rId2"/>
          <a:stretch>
            <a:fillRect/>
          </a:stretch>
        </p:blipFill>
        <p:spPr>
          <a:xfrm>
            <a:off x="2601913" y="5410200"/>
            <a:ext cx="3863975" cy="809625"/>
          </a:xfrm>
          <a:prstGeom prst="rect">
            <a:avLst/>
          </a:prstGeom>
          <a:ln w="38100" cap="sq">
            <a:solidFill>
              <a:schemeClr val="bg2">
                <a:lumMod val="25000"/>
              </a:schemeClr>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algn="l"/>
            <a:r>
              <a:rPr lang="en-US" altLang="en-US" sz="3600" smtClean="0"/>
              <a:t>Summary of various model of diode:</a:t>
            </a:r>
          </a:p>
        </p:txBody>
      </p:sp>
      <p:pic>
        <p:nvPicPr>
          <p:cNvPr id="6" name="Content Placeholder 5"/>
          <p:cNvPicPr>
            <a:picLocks noGrp="1" noChangeAspect="1"/>
          </p:cNvPicPr>
          <p:nvPr>
            <p:ph idx="1"/>
          </p:nvPr>
        </p:nvPicPr>
        <p:blipFill>
          <a:blip r:embed="rId2"/>
          <a:stretch>
            <a:fillRect/>
          </a:stretch>
        </p:blipFill>
        <p:spPr>
          <a:xfrm>
            <a:off x="228600" y="1263650"/>
            <a:ext cx="8534400" cy="4908550"/>
          </a:xfrm>
          <a:ln w="38100" cap="sq">
            <a:solidFill>
              <a:schemeClr val="accent1">
                <a:lumMod val="50000"/>
              </a:schemeClr>
            </a:solidFill>
            <a:miter lim="800000"/>
          </a:ln>
          <a:effectLst>
            <a:outerShdw blurRad="50800" dist="38100" dir="2700000" algn="tl" rotWithShape="0">
              <a:srgbClr val="000000">
                <a:alpha val="43000"/>
              </a:srgbClr>
            </a:outerShdw>
          </a:effectLst>
        </p:spPr>
      </p:pic>
      <p:sp>
        <p:nvSpPr>
          <p:cNvPr id="2458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AF6878A3-7317-47B5-BC78-9BD0EB7F3C88}" type="slidenum">
              <a:rPr lang="en-US" altLang="en-US" smtClean="0">
                <a:solidFill>
                  <a:srgbClr val="4A566A"/>
                </a:solidFill>
              </a:rPr>
              <a:pPr/>
              <a:t>18</a:t>
            </a:fld>
            <a:endParaRPr lang="en-US" altLang="en-US" smtClean="0">
              <a:solidFill>
                <a:srgbClr val="4A566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algn="l"/>
            <a:r>
              <a:rPr lang="en-GB" altLang="en-US" sz="2800" smtClean="0"/>
              <a:t>Limitations in the Operating Conditions of pn Junction:</a:t>
            </a:r>
          </a:p>
        </p:txBody>
      </p:sp>
      <p:sp>
        <p:nvSpPr>
          <p:cNvPr id="15363" name="Content Placeholder 2"/>
          <p:cNvSpPr>
            <a:spLocks noGrp="1"/>
          </p:cNvSpPr>
          <p:nvPr>
            <p:ph idx="1"/>
          </p:nvPr>
        </p:nvSpPr>
        <p:spPr/>
        <p:txBody>
          <a:bodyPr>
            <a:normAutofit fontScale="92500" lnSpcReduction="20000"/>
          </a:bodyPr>
          <a:lstStyle/>
          <a:p>
            <a:pPr marL="0" indent="0" algn="just">
              <a:buFont typeface="Wingdings 2" panose="05020102010507070707" pitchFamily="18" charset="2"/>
              <a:buNone/>
              <a:defRPr/>
            </a:pPr>
            <a:r>
              <a:rPr lang="en-GB" sz="3200" b="1" dirty="0" smtClean="0"/>
              <a:t>Maximum forward Current:</a:t>
            </a:r>
          </a:p>
          <a:p>
            <a:pPr algn="just">
              <a:defRPr/>
            </a:pPr>
            <a:r>
              <a:rPr lang="en-GB" dirty="0" smtClean="0"/>
              <a:t>The highest forward current at which a </a:t>
            </a:r>
            <a:r>
              <a:rPr lang="en-GB" dirty="0" err="1" smtClean="0"/>
              <a:t>pn</a:t>
            </a:r>
            <a:r>
              <a:rPr lang="en-GB" dirty="0" smtClean="0"/>
              <a:t> diode can conduct without damage to the junction.</a:t>
            </a:r>
          </a:p>
          <a:p>
            <a:pPr algn="just">
              <a:defRPr/>
            </a:pPr>
            <a:endParaRPr lang="en-GB" dirty="0"/>
          </a:p>
          <a:p>
            <a:pPr algn="just">
              <a:defRPr/>
            </a:pPr>
            <a:r>
              <a:rPr lang="en-GB" dirty="0" smtClean="0"/>
              <a:t>The rating of max. forward current is provided by the manufacturer.</a:t>
            </a:r>
          </a:p>
          <a:p>
            <a:pPr algn="just">
              <a:defRPr/>
            </a:pPr>
            <a:endParaRPr lang="en-GB" dirty="0"/>
          </a:p>
          <a:p>
            <a:pPr algn="just">
              <a:defRPr/>
            </a:pPr>
            <a:r>
              <a:rPr lang="en-GB" dirty="0" smtClean="0"/>
              <a:t>If the forward current exceed beyond this rating, the </a:t>
            </a:r>
            <a:r>
              <a:rPr lang="en-GB" dirty="0" err="1" smtClean="0"/>
              <a:t>pn</a:t>
            </a:r>
            <a:r>
              <a:rPr lang="en-GB" dirty="0" smtClean="0"/>
              <a:t>-junction destroyed due to over heating.</a:t>
            </a:r>
          </a:p>
          <a:p>
            <a:pPr algn="just">
              <a:defRPr/>
            </a:pPr>
            <a:endParaRPr lang="en-GB" dirty="0" smtClean="0"/>
          </a:p>
        </p:txBody>
      </p:sp>
      <p:sp>
        <p:nvSpPr>
          <p:cNvPr id="2560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6F70F12F-A4CD-4D21-BEA8-B5C34152DCE7}" type="slidenum">
              <a:rPr lang="en-US" altLang="en-US" sz="1200" smtClean="0">
                <a:solidFill>
                  <a:srgbClr val="4A566A"/>
                </a:solidFill>
              </a:rPr>
              <a:pPr>
                <a:spcBef>
                  <a:spcPct val="0"/>
                </a:spcBef>
                <a:buClrTx/>
                <a:buSzTx/>
                <a:buFontTx/>
                <a:buNone/>
              </a:pPr>
              <a:t>19</a:t>
            </a:fld>
            <a:endParaRPr lang="en-US" altLang="en-US" sz="1200" smtClean="0">
              <a:solidFill>
                <a:srgbClr val="4A566A"/>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algn="l"/>
            <a:r>
              <a:rPr lang="en-GB" altLang="en-US" sz="2800" smtClean="0"/>
              <a:t>Limitations in the operating conditions of pn Junction:</a:t>
            </a:r>
          </a:p>
        </p:txBody>
      </p:sp>
      <p:sp>
        <p:nvSpPr>
          <p:cNvPr id="18435" name="Content Placeholder 2"/>
          <p:cNvSpPr>
            <a:spLocks noGrp="1"/>
          </p:cNvSpPr>
          <p:nvPr>
            <p:ph idx="1"/>
          </p:nvPr>
        </p:nvSpPr>
        <p:spPr/>
        <p:txBody>
          <a:bodyPr/>
          <a:lstStyle/>
          <a:p>
            <a:pPr marL="0" indent="0" algn="just">
              <a:buFont typeface="Wingdings 2" panose="05020102010507070707" pitchFamily="18" charset="2"/>
              <a:buNone/>
              <a:defRPr/>
            </a:pPr>
            <a:r>
              <a:rPr lang="en-GB" altLang="en-US" sz="3200" b="1" dirty="0" smtClean="0"/>
              <a:t>Peak inverse voltage (PIV):</a:t>
            </a:r>
          </a:p>
          <a:p>
            <a:pPr algn="just">
              <a:defRPr/>
            </a:pPr>
            <a:r>
              <a:rPr lang="en-GB" altLang="en-US" dirty="0" smtClean="0"/>
              <a:t>The maximum reverse voltage applied to the </a:t>
            </a:r>
            <a:r>
              <a:rPr lang="en-GB" altLang="en-US" dirty="0" err="1" smtClean="0"/>
              <a:t>pn</a:t>
            </a:r>
            <a:r>
              <a:rPr lang="en-GB" altLang="en-US" dirty="0" smtClean="0"/>
              <a:t>-junction without damage the junction.</a:t>
            </a:r>
          </a:p>
          <a:p>
            <a:pPr algn="just">
              <a:defRPr/>
            </a:pPr>
            <a:endParaRPr lang="en-GB" altLang="en-US" dirty="0" smtClean="0"/>
          </a:p>
          <a:p>
            <a:pPr algn="just">
              <a:defRPr/>
            </a:pPr>
            <a:r>
              <a:rPr lang="en-GB" altLang="en-US" dirty="0" smtClean="0"/>
              <a:t>If the applied voltage to </a:t>
            </a:r>
            <a:r>
              <a:rPr lang="en-GB" altLang="en-US" dirty="0" err="1" smtClean="0"/>
              <a:t>pn</a:t>
            </a:r>
            <a:r>
              <a:rPr lang="en-GB" altLang="en-US" dirty="0" smtClean="0"/>
              <a:t>-junction is &gt; PIV, the </a:t>
            </a:r>
            <a:r>
              <a:rPr lang="en-GB" altLang="en-US" dirty="0" err="1" smtClean="0"/>
              <a:t>pn</a:t>
            </a:r>
            <a:r>
              <a:rPr lang="en-GB" altLang="en-US" dirty="0" smtClean="0"/>
              <a:t>-junction destroyed due to excessive heat. </a:t>
            </a:r>
          </a:p>
          <a:p>
            <a:pPr algn="just">
              <a:defRPr/>
            </a:pPr>
            <a:endParaRPr lang="en-GB" altLang="en-US" dirty="0" smtClean="0"/>
          </a:p>
        </p:txBody>
      </p:sp>
      <p:sp>
        <p:nvSpPr>
          <p:cNvPr id="2662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A55ED6E1-78C7-4971-B382-4DDC498D9965}" type="slidenum">
              <a:rPr lang="en-US" altLang="en-US" sz="1200" smtClean="0">
                <a:solidFill>
                  <a:srgbClr val="4A566A"/>
                </a:solidFill>
              </a:rPr>
              <a:pPr>
                <a:spcBef>
                  <a:spcPct val="0"/>
                </a:spcBef>
                <a:buClrTx/>
                <a:buSzTx/>
                <a:buFontTx/>
                <a:buNone/>
              </a:pPr>
              <a:t>20</a:t>
            </a:fld>
            <a:endParaRPr lang="en-US" altLang="en-US" sz="1200" smtClean="0">
              <a:solidFill>
                <a:srgbClr val="4A566A"/>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algn="l"/>
            <a:r>
              <a:rPr lang="en-GB" altLang="en-US" sz="2800" smtClean="0"/>
              <a:t>Limitations in the Operating Conditions of pn Junction:</a:t>
            </a:r>
          </a:p>
        </p:txBody>
      </p:sp>
      <p:sp>
        <p:nvSpPr>
          <p:cNvPr id="19459" name="Content Placeholder 2"/>
          <p:cNvSpPr>
            <a:spLocks noGrp="1"/>
          </p:cNvSpPr>
          <p:nvPr>
            <p:ph idx="1"/>
          </p:nvPr>
        </p:nvSpPr>
        <p:spPr/>
        <p:txBody>
          <a:bodyPr/>
          <a:lstStyle/>
          <a:p>
            <a:pPr marL="0" indent="0" algn="just">
              <a:buFont typeface="Wingdings 2" panose="05020102010507070707" pitchFamily="18" charset="2"/>
              <a:buNone/>
              <a:defRPr/>
            </a:pPr>
            <a:r>
              <a:rPr lang="en-GB" altLang="en-US" sz="3200" b="1" dirty="0" smtClean="0"/>
              <a:t>Maximum power rating:</a:t>
            </a:r>
          </a:p>
          <a:p>
            <a:pPr algn="just">
              <a:defRPr/>
            </a:pPr>
            <a:r>
              <a:rPr lang="en-GB" altLang="en-US" dirty="0" smtClean="0"/>
              <a:t>The maximum power that can dissipated at the junction of junction without damaging it.</a:t>
            </a:r>
          </a:p>
          <a:p>
            <a:pPr algn="just">
              <a:defRPr/>
            </a:pPr>
            <a:endParaRPr lang="en-GB" altLang="en-US" dirty="0" smtClean="0"/>
          </a:p>
          <a:p>
            <a:pPr algn="just">
              <a:defRPr/>
            </a:pPr>
            <a:r>
              <a:rPr lang="en-GB" altLang="en-US" dirty="0" smtClean="0"/>
              <a:t>The power dissipated at the junction is equal to the product of junction current and the voltage across the junction.</a:t>
            </a:r>
          </a:p>
          <a:p>
            <a:pPr algn="just">
              <a:defRPr/>
            </a:pPr>
            <a:endParaRPr lang="en-GB" altLang="en-US" dirty="0" smtClean="0"/>
          </a:p>
        </p:txBody>
      </p:sp>
      <p:sp>
        <p:nvSpPr>
          <p:cNvPr id="2765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FF17FF28-3A8D-476B-9306-1B230E79F1AB}" type="slidenum">
              <a:rPr lang="en-US" altLang="en-US" sz="1200" smtClean="0">
                <a:solidFill>
                  <a:srgbClr val="4A566A"/>
                </a:solidFill>
              </a:rPr>
              <a:pPr>
                <a:spcBef>
                  <a:spcPct val="0"/>
                </a:spcBef>
                <a:buClrTx/>
                <a:buSzTx/>
                <a:buFontTx/>
                <a:buNone/>
              </a:pPr>
              <a:t>21</a:t>
            </a:fld>
            <a:endParaRPr lang="en-US" altLang="en-US" sz="1200" smtClean="0">
              <a:solidFill>
                <a:srgbClr val="4A566A"/>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algn="l"/>
            <a:r>
              <a:rPr lang="en-GB" altLang="en-US" sz="2800" smtClean="0"/>
              <a:t>Limitations in the Operating Conditions of pn Junction:</a:t>
            </a:r>
          </a:p>
        </p:txBody>
      </p:sp>
      <p:sp>
        <p:nvSpPr>
          <p:cNvPr id="19459" name="Content Placeholder 2"/>
          <p:cNvSpPr>
            <a:spLocks noGrp="1"/>
          </p:cNvSpPr>
          <p:nvPr>
            <p:ph idx="1"/>
          </p:nvPr>
        </p:nvSpPr>
        <p:spPr/>
        <p:txBody>
          <a:bodyPr/>
          <a:lstStyle/>
          <a:p>
            <a:pPr marL="0" indent="0" algn="just">
              <a:buFont typeface="Wingdings 2" panose="05020102010507070707" pitchFamily="18" charset="2"/>
              <a:buNone/>
              <a:defRPr/>
            </a:pPr>
            <a:r>
              <a:rPr lang="en-GB" altLang="en-US" sz="3200" b="1" dirty="0" smtClean="0"/>
              <a:t>Leakage current or reverse </a:t>
            </a:r>
            <a:r>
              <a:rPr lang="en-GB" altLang="en-US" sz="3200" b="1" dirty="0"/>
              <a:t>c</a:t>
            </a:r>
            <a:r>
              <a:rPr lang="en-GB" altLang="en-US" sz="3200" b="1" dirty="0" smtClean="0"/>
              <a:t>urrent:</a:t>
            </a:r>
          </a:p>
          <a:p>
            <a:pPr algn="just">
              <a:defRPr/>
            </a:pPr>
            <a:r>
              <a:rPr lang="en-GB" altLang="en-US" sz="3200" dirty="0" smtClean="0"/>
              <a:t>The current that flows through a reverse biased diode.</a:t>
            </a:r>
          </a:p>
          <a:p>
            <a:pPr algn="just">
              <a:defRPr/>
            </a:pPr>
            <a:endParaRPr lang="en-GB" altLang="en-US" sz="3200" dirty="0"/>
          </a:p>
          <a:p>
            <a:pPr algn="just">
              <a:defRPr/>
            </a:pPr>
            <a:r>
              <a:rPr lang="en-GB" altLang="en-US" sz="3200" dirty="0" smtClean="0"/>
              <a:t>This current is due to the minority carriers.</a:t>
            </a:r>
          </a:p>
          <a:p>
            <a:pPr algn="just">
              <a:defRPr/>
            </a:pPr>
            <a:endParaRPr lang="en-GB" altLang="en-US" sz="3200" dirty="0"/>
          </a:p>
          <a:p>
            <a:pPr algn="just">
              <a:defRPr/>
            </a:pPr>
            <a:r>
              <a:rPr lang="en-GB" altLang="en-US" sz="3200" dirty="0" smtClean="0"/>
              <a:t>In normal operating voltages, this current is very small, almost &lt;1 µm for silicon diodes and &lt; 100 </a:t>
            </a:r>
            <a:r>
              <a:rPr lang="en-GB" altLang="en-US" sz="3200" dirty="0"/>
              <a:t>µm </a:t>
            </a:r>
            <a:r>
              <a:rPr lang="en-GB" altLang="en-US" sz="3200" dirty="0" smtClean="0"/>
              <a:t>.</a:t>
            </a:r>
          </a:p>
          <a:p>
            <a:pPr algn="just">
              <a:defRPr/>
            </a:pPr>
            <a:endParaRPr lang="en-GB" altLang="en-US" sz="3200" dirty="0"/>
          </a:p>
          <a:p>
            <a:pPr algn="just">
              <a:defRPr/>
            </a:pPr>
            <a:endParaRPr lang="en-GB" altLang="en-US" sz="3200" dirty="0" smtClean="0"/>
          </a:p>
          <a:p>
            <a:pPr algn="just">
              <a:defRPr/>
            </a:pPr>
            <a:endParaRPr lang="en-GB" altLang="en-US" sz="3200" b="1" u="sng" dirty="0" smtClean="0"/>
          </a:p>
          <a:p>
            <a:pPr algn="just">
              <a:defRPr/>
            </a:pPr>
            <a:endParaRPr lang="en-GB" altLang="en-US" dirty="0" smtClean="0"/>
          </a:p>
        </p:txBody>
      </p:sp>
      <p:sp>
        <p:nvSpPr>
          <p:cNvPr id="2867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5D890F49-920A-4D48-A5A4-DD15B17D450B}" type="slidenum">
              <a:rPr lang="en-US" altLang="en-US" sz="1200" smtClean="0">
                <a:solidFill>
                  <a:srgbClr val="4A566A"/>
                </a:solidFill>
              </a:rPr>
              <a:pPr>
                <a:spcBef>
                  <a:spcPct val="0"/>
                </a:spcBef>
                <a:buClrTx/>
                <a:buSzTx/>
                <a:buFontTx/>
                <a:buNone/>
              </a:pPr>
              <a:t>22</a:t>
            </a:fld>
            <a:endParaRPr lang="en-US" altLang="en-US" sz="1200" smtClean="0">
              <a:solidFill>
                <a:srgbClr val="4A566A"/>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algn="l"/>
            <a:r>
              <a:rPr lang="en-US" altLang="en-US" smtClean="0"/>
              <a:t>Crystal diode rectifiers:</a:t>
            </a:r>
          </a:p>
        </p:txBody>
      </p:sp>
      <p:sp>
        <p:nvSpPr>
          <p:cNvPr id="3" name="Content Placeholder 2"/>
          <p:cNvSpPr>
            <a:spLocks noGrp="1"/>
          </p:cNvSpPr>
          <p:nvPr>
            <p:ph idx="1"/>
          </p:nvPr>
        </p:nvSpPr>
        <p:spPr/>
        <p:txBody>
          <a:bodyPr>
            <a:normAutofit lnSpcReduction="10000"/>
          </a:bodyPr>
          <a:lstStyle/>
          <a:p>
            <a:pPr>
              <a:defRPr/>
            </a:pPr>
            <a:r>
              <a:rPr lang="en-US" dirty="0" smtClean="0"/>
              <a:t>Rectifiers are the circuit that convert </a:t>
            </a:r>
            <a:r>
              <a:rPr lang="en-US" dirty="0" err="1" smtClean="0"/>
              <a:t>a.c</a:t>
            </a:r>
            <a:r>
              <a:rPr lang="en-US" dirty="0" smtClean="0"/>
              <a:t>. signals into </a:t>
            </a:r>
            <a:r>
              <a:rPr lang="en-US" dirty="0" err="1" smtClean="0"/>
              <a:t>d.c.</a:t>
            </a:r>
            <a:r>
              <a:rPr lang="en-US" dirty="0" smtClean="0"/>
              <a:t> </a:t>
            </a:r>
          </a:p>
          <a:p>
            <a:pPr>
              <a:defRPr/>
            </a:pPr>
            <a:endParaRPr lang="en-US" dirty="0"/>
          </a:p>
          <a:p>
            <a:pPr>
              <a:defRPr/>
            </a:pPr>
            <a:r>
              <a:rPr lang="en-US" dirty="0" smtClean="0"/>
              <a:t>The rectifier circuits are consist of crystal diodes, and mainly divided into two types:</a:t>
            </a:r>
          </a:p>
          <a:p>
            <a:pPr>
              <a:defRPr/>
            </a:pPr>
            <a:endParaRPr lang="en-US" dirty="0"/>
          </a:p>
          <a:p>
            <a:pPr marL="1600200" indent="-742950">
              <a:buFont typeface="+mj-lt"/>
              <a:buAutoNum type="arabicPeriod"/>
              <a:defRPr/>
            </a:pPr>
            <a:r>
              <a:rPr lang="en-US" dirty="0" smtClean="0"/>
              <a:t>Half-wave rectifier</a:t>
            </a:r>
          </a:p>
          <a:p>
            <a:pPr marL="1600200" indent="-742950">
              <a:buFont typeface="+mj-lt"/>
              <a:buAutoNum type="arabicPeriod"/>
              <a:defRPr/>
            </a:pPr>
            <a:r>
              <a:rPr lang="en-US" dirty="0" smtClean="0"/>
              <a:t>Full-wave rectifier</a:t>
            </a:r>
            <a:endParaRPr lang="en-US" dirty="0"/>
          </a:p>
        </p:txBody>
      </p:sp>
      <p:sp>
        <p:nvSpPr>
          <p:cNvPr id="2970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9495A85C-1AB3-4650-B484-54138CF73B64}" type="slidenum">
              <a:rPr lang="en-US" altLang="en-US" smtClean="0">
                <a:solidFill>
                  <a:srgbClr val="4A566A"/>
                </a:solidFill>
              </a:rPr>
              <a:pPr/>
              <a:t>23</a:t>
            </a:fld>
            <a:endParaRPr lang="en-US" altLang="en-US" smtClean="0">
              <a:solidFill>
                <a:srgbClr val="4A566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algn="l"/>
            <a:r>
              <a:rPr lang="en-US" altLang="en-US" smtClean="0"/>
              <a:t>Half-wave rectifier:</a:t>
            </a:r>
          </a:p>
        </p:txBody>
      </p:sp>
      <p:sp>
        <p:nvSpPr>
          <p:cNvPr id="3" name="Content Placeholder 2"/>
          <p:cNvSpPr>
            <a:spLocks noGrp="1"/>
          </p:cNvSpPr>
          <p:nvPr>
            <p:ph idx="1"/>
          </p:nvPr>
        </p:nvSpPr>
        <p:spPr/>
        <p:txBody>
          <a:bodyPr>
            <a:normAutofit fontScale="92500" lnSpcReduction="10000"/>
          </a:bodyPr>
          <a:lstStyle/>
          <a:p>
            <a:pPr algn="just">
              <a:defRPr/>
            </a:pPr>
            <a:r>
              <a:rPr lang="en-US" dirty="0" smtClean="0"/>
              <a:t>Half-wave rectifiers conduct current only during the positive half cycles of input </a:t>
            </a:r>
            <a:r>
              <a:rPr lang="en-US" dirty="0" err="1" smtClean="0"/>
              <a:t>a.c</a:t>
            </a:r>
            <a:r>
              <a:rPr lang="en-US" dirty="0" smtClean="0"/>
              <a:t>. supply.</a:t>
            </a:r>
          </a:p>
          <a:p>
            <a:pPr algn="just">
              <a:defRPr/>
            </a:pPr>
            <a:endParaRPr lang="en-US" dirty="0"/>
          </a:p>
          <a:p>
            <a:pPr algn="just">
              <a:defRPr/>
            </a:pPr>
            <a:r>
              <a:rPr lang="en-US" dirty="0" smtClean="0"/>
              <a:t>The negative half-cycles of </a:t>
            </a:r>
            <a:r>
              <a:rPr lang="en-US" dirty="0" err="1" smtClean="0"/>
              <a:t>a.c</a:t>
            </a:r>
            <a:r>
              <a:rPr lang="en-US" dirty="0" smtClean="0"/>
              <a:t>. supply are suppressed, no current is conducted and no voltage appears across load.</a:t>
            </a:r>
          </a:p>
          <a:p>
            <a:pPr algn="just">
              <a:defRPr/>
            </a:pPr>
            <a:endParaRPr lang="en-US" dirty="0"/>
          </a:p>
          <a:p>
            <a:pPr algn="just">
              <a:defRPr/>
            </a:pPr>
            <a:r>
              <a:rPr lang="en-US" dirty="0" smtClean="0"/>
              <a:t>Current always flow only in one direction through the load though after every half cycle.</a:t>
            </a:r>
            <a:endParaRPr lang="en-US" dirty="0"/>
          </a:p>
        </p:txBody>
      </p:sp>
      <p:sp>
        <p:nvSpPr>
          <p:cNvPr id="3072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290C5B48-524D-4D44-A7FD-062D47ACFE82}" type="slidenum">
              <a:rPr lang="en-US" altLang="en-US" smtClean="0">
                <a:solidFill>
                  <a:srgbClr val="4A566A"/>
                </a:solidFill>
              </a:rPr>
              <a:pPr/>
              <a:t>24</a:t>
            </a:fld>
            <a:endParaRPr lang="en-US" altLang="en-US" smtClean="0">
              <a:solidFill>
                <a:srgbClr val="4A566A"/>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algn="l"/>
            <a:r>
              <a:rPr lang="en-US" altLang="en-US" smtClean="0"/>
              <a:t>Half-wave rectifier: (cont.) </a:t>
            </a:r>
          </a:p>
        </p:txBody>
      </p:sp>
      <p:sp>
        <p:nvSpPr>
          <p:cNvPr id="3" name="Content Placeholder 2"/>
          <p:cNvSpPr>
            <a:spLocks noGrp="1"/>
          </p:cNvSpPr>
          <p:nvPr>
            <p:ph idx="1"/>
          </p:nvPr>
        </p:nvSpPr>
        <p:spPr>
          <a:xfrm>
            <a:off x="152400" y="838200"/>
            <a:ext cx="8763000" cy="5715000"/>
          </a:xfrm>
        </p:spPr>
        <p:txBody>
          <a:bodyPr>
            <a:normAutofit fontScale="85000" lnSpcReduction="20000"/>
          </a:bodyPr>
          <a:lstStyle/>
          <a:p>
            <a:pPr marL="0" indent="0" algn="just">
              <a:buFont typeface="Wingdings 2" panose="05020102010507070707" pitchFamily="18" charset="2"/>
              <a:buNone/>
              <a:defRPr/>
            </a:pPr>
            <a:r>
              <a:rPr lang="en-US" b="1" dirty="0" smtClean="0"/>
              <a:t>Circuit details and working mechanism:</a:t>
            </a:r>
          </a:p>
          <a:p>
            <a:pPr marL="0" indent="0" algn="just">
              <a:buFont typeface="Wingdings 2" panose="05020102010507070707" pitchFamily="18" charset="2"/>
              <a:buNone/>
              <a:defRPr/>
            </a:pPr>
            <a:endParaRPr lang="en-US" dirty="0"/>
          </a:p>
          <a:p>
            <a:pPr marL="0" indent="0" algn="just">
              <a:buFont typeface="Wingdings 2" panose="05020102010507070707" pitchFamily="18" charset="2"/>
              <a:buNone/>
              <a:defRPr/>
            </a:pPr>
            <a:endParaRPr lang="en-US" dirty="0" smtClean="0"/>
          </a:p>
          <a:p>
            <a:pPr marL="0" indent="0" algn="just">
              <a:buFont typeface="Wingdings 2" panose="05020102010507070707" pitchFamily="18" charset="2"/>
              <a:buNone/>
              <a:defRPr/>
            </a:pPr>
            <a:endParaRPr lang="en-US" dirty="0"/>
          </a:p>
          <a:p>
            <a:pPr marL="0" indent="0" algn="just">
              <a:buFont typeface="Wingdings 2" panose="05020102010507070707" pitchFamily="18" charset="2"/>
              <a:buNone/>
              <a:defRPr/>
            </a:pPr>
            <a:endParaRPr lang="en-US" dirty="0" smtClean="0"/>
          </a:p>
          <a:p>
            <a:pPr marL="0" indent="0" algn="just">
              <a:buFont typeface="Wingdings 2" panose="05020102010507070707" pitchFamily="18" charset="2"/>
              <a:buNone/>
              <a:defRPr/>
            </a:pPr>
            <a:endParaRPr lang="en-US" dirty="0"/>
          </a:p>
          <a:p>
            <a:pPr marL="0" indent="0" algn="just">
              <a:buFont typeface="Wingdings 2" panose="05020102010507070707" pitchFamily="18" charset="2"/>
              <a:buNone/>
              <a:defRPr/>
            </a:pPr>
            <a:endParaRPr lang="en-US" dirty="0" smtClean="0"/>
          </a:p>
          <a:p>
            <a:pPr marL="0" indent="0" algn="just">
              <a:buFont typeface="Wingdings 2" panose="05020102010507070707" pitchFamily="18" charset="2"/>
              <a:buNone/>
              <a:defRPr/>
            </a:pPr>
            <a:endParaRPr lang="en-US" dirty="0"/>
          </a:p>
          <a:p>
            <a:pPr algn="just">
              <a:defRPr/>
            </a:pPr>
            <a:r>
              <a:rPr lang="en-US" dirty="0"/>
              <a:t>The output across the load is pulsating </a:t>
            </a:r>
            <a:r>
              <a:rPr lang="en-US" dirty="0" err="1"/>
              <a:t>d.c.</a:t>
            </a:r>
            <a:endParaRPr lang="en-US" dirty="0"/>
          </a:p>
          <a:p>
            <a:pPr algn="just">
              <a:defRPr/>
            </a:pPr>
            <a:endParaRPr lang="en-US" dirty="0"/>
          </a:p>
          <a:p>
            <a:pPr algn="just">
              <a:defRPr/>
            </a:pPr>
            <a:r>
              <a:rPr lang="en-US" dirty="0"/>
              <a:t>These pulsations in the output </a:t>
            </a:r>
            <a:r>
              <a:rPr lang="en-US" dirty="0" smtClean="0"/>
              <a:t>are </a:t>
            </a:r>
            <a:r>
              <a:rPr lang="en-US" dirty="0"/>
              <a:t>further smoothened by using filters.</a:t>
            </a:r>
          </a:p>
          <a:p>
            <a:pPr marL="0" indent="0" algn="just">
              <a:buFont typeface="Wingdings 2" panose="05020102010507070707" pitchFamily="18" charset="2"/>
              <a:buNone/>
              <a:defRPr/>
            </a:pPr>
            <a:endParaRPr lang="en-US" dirty="0" smtClean="0"/>
          </a:p>
          <a:p>
            <a:pPr marL="0" indent="0" algn="just">
              <a:buFont typeface="Wingdings 2" panose="05020102010507070707" pitchFamily="18" charset="2"/>
              <a:buNone/>
              <a:defRPr/>
            </a:pPr>
            <a:endParaRPr lang="en-US" dirty="0"/>
          </a:p>
        </p:txBody>
      </p:sp>
      <p:sp>
        <p:nvSpPr>
          <p:cNvPr id="3174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2DF89BCA-1904-4351-B211-0A792029E1F1}" type="slidenum">
              <a:rPr lang="en-US" altLang="en-US" smtClean="0">
                <a:solidFill>
                  <a:srgbClr val="4A566A"/>
                </a:solidFill>
              </a:rPr>
              <a:pPr/>
              <a:t>25</a:t>
            </a:fld>
            <a:endParaRPr lang="en-US" altLang="en-US" smtClean="0">
              <a:solidFill>
                <a:srgbClr val="4A566A"/>
              </a:solidFill>
            </a:endParaRPr>
          </a:p>
        </p:txBody>
      </p:sp>
      <p:pic>
        <p:nvPicPr>
          <p:cNvPr id="5" name="Picture 4"/>
          <p:cNvPicPr>
            <a:picLocks noChangeAspect="1"/>
          </p:cNvPicPr>
          <p:nvPr/>
        </p:nvPicPr>
        <p:blipFill>
          <a:blip r:embed="rId2"/>
          <a:stretch>
            <a:fillRect/>
          </a:stretch>
        </p:blipFill>
        <p:spPr>
          <a:xfrm>
            <a:off x="365125" y="1600200"/>
            <a:ext cx="8397875" cy="2895600"/>
          </a:xfrm>
          <a:prstGeom prst="rect">
            <a:avLst/>
          </a:prstGeom>
          <a:ln w="38100" cap="sq">
            <a:solidFill>
              <a:schemeClr val="accent1">
                <a:lumMod val="50000"/>
              </a:schemeClr>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algn="l"/>
            <a:r>
              <a:rPr lang="en-US" altLang="en-US" smtClean="0"/>
              <a:t>Half-wave rectifier: (cont.) </a:t>
            </a:r>
          </a:p>
        </p:txBody>
      </p:sp>
      <p:sp>
        <p:nvSpPr>
          <p:cNvPr id="3" name="Content Placeholder 2"/>
          <p:cNvSpPr>
            <a:spLocks noGrp="1"/>
          </p:cNvSpPr>
          <p:nvPr>
            <p:ph idx="1"/>
          </p:nvPr>
        </p:nvSpPr>
        <p:spPr/>
        <p:txBody>
          <a:bodyPr/>
          <a:lstStyle/>
          <a:p>
            <a:pPr marL="0" indent="0" algn="just">
              <a:buFont typeface="Wingdings 2" panose="05020102010507070707" pitchFamily="18" charset="2"/>
              <a:buNone/>
              <a:defRPr/>
            </a:pPr>
            <a:r>
              <a:rPr lang="en-US" dirty="0" smtClean="0"/>
              <a:t>The use of transformer permits two advantage:</a:t>
            </a:r>
          </a:p>
          <a:p>
            <a:pPr marL="1033463" indent="-514350" algn="just">
              <a:buFont typeface="+mj-lt"/>
              <a:buAutoNum type="arabicPeriod"/>
              <a:defRPr/>
            </a:pPr>
            <a:r>
              <a:rPr lang="en-US" sz="3200" dirty="0" smtClean="0"/>
              <a:t>Allow to step-up or step-down the input voltage depend up on the requirements/situation.</a:t>
            </a:r>
          </a:p>
          <a:p>
            <a:pPr marL="1033463" indent="-514350" algn="just">
              <a:buFont typeface="+mj-lt"/>
              <a:buAutoNum type="arabicPeriod"/>
              <a:defRPr/>
            </a:pPr>
            <a:endParaRPr lang="en-US" sz="3200" dirty="0"/>
          </a:p>
          <a:p>
            <a:pPr marL="1033463" indent="-514350" algn="just">
              <a:buFont typeface="+mj-lt"/>
              <a:buAutoNum type="arabicPeriod"/>
              <a:defRPr/>
            </a:pPr>
            <a:r>
              <a:rPr lang="en-US" sz="3200" dirty="0" smtClean="0"/>
              <a:t>It isolates the rectifier circuit from power line and reduces the risk of electric shock.</a:t>
            </a:r>
          </a:p>
          <a:p>
            <a:pPr marL="0" indent="0" algn="just">
              <a:buFont typeface="Wingdings 2" panose="05020102010507070707" pitchFamily="18" charset="2"/>
              <a:buNone/>
              <a:defRPr/>
            </a:pPr>
            <a:endParaRPr lang="en-US" dirty="0"/>
          </a:p>
        </p:txBody>
      </p:sp>
      <p:sp>
        <p:nvSpPr>
          <p:cNvPr id="3277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8837668F-E5D7-486F-B2DB-246B9C53ABE9}" type="slidenum">
              <a:rPr lang="en-US" altLang="en-US" smtClean="0">
                <a:solidFill>
                  <a:srgbClr val="4A566A"/>
                </a:solidFill>
              </a:rPr>
              <a:pPr/>
              <a:t>26</a:t>
            </a:fld>
            <a:endParaRPr lang="en-US" altLang="en-US" smtClean="0">
              <a:solidFill>
                <a:srgbClr val="4A566A"/>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algn="l"/>
            <a:r>
              <a:rPr lang="en-US" altLang="en-US" smtClean="0"/>
              <a:t>Half-wave rectifier: (cont.) </a:t>
            </a:r>
          </a:p>
        </p:txBody>
      </p:sp>
      <p:sp>
        <p:nvSpPr>
          <p:cNvPr id="3" name="Content Placeholder 2"/>
          <p:cNvSpPr>
            <a:spLocks noGrp="1"/>
          </p:cNvSpPr>
          <p:nvPr>
            <p:ph idx="1"/>
          </p:nvPr>
        </p:nvSpPr>
        <p:spPr/>
        <p:txBody>
          <a:bodyPr/>
          <a:lstStyle/>
          <a:p>
            <a:pPr marL="0" indent="0" algn="just">
              <a:buFont typeface="Wingdings 2" panose="05020102010507070707" pitchFamily="18" charset="2"/>
              <a:buNone/>
              <a:defRPr/>
            </a:pPr>
            <a:r>
              <a:rPr lang="en-US" b="1" dirty="0" smtClean="0"/>
              <a:t>Disadvantages: </a:t>
            </a:r>
            <a:r>
              <a:rPr lang="en-US" sz="3200" dirty="0" smtClean="0"/>
              <a:t>The main advantages of half-wave rectifier are:</a:t>
            </a:r>
          </a:p>
          <a:p>
            <a:pPr marL="0" indent="0" algn="just">
              <a:buFont typeface="Wingdings 2" panose="05020102010507070707" pitchFamily="18" charset="2"/>
              <a:buNone/>
              <a:defRPr/>
            </a:pPr>
            <a:endParaRPr lang="en-US" sz="3200" dirty="0" smtClean="0"/>
          </a:p>
          <a:p>
            <a:pPr marL="742950" indent="-742950" algn="just">
              <a:buFont typeface="+mj-lt"/>
              <a:buAutoNum type="arabicPeriod"/>
              <a:defRPr/>
            </a:pPr>
            <a:r>
              <a:rPr lang="en-US" sz="3200" dirty="0" smtClean="0"/>
              <a:t>The </a:t>
            </a:r>
            <a:r>
              <a:rPr lang="en-US" sz="3200" dirty="0" err="1" smtClean="0"/>
              <a:t>a.c</a:t>
            </a:r>
            <a:r>
              <a:rPr lang="en-US" sz="3200" dirty="0" smtClean="0"/>
              <a:t>. supply delivers power only half the time, therefore the output is low.</a:t>
            </a:r>
          </a:p>
          <a:p>
            <a:pPr marL="742950" indent="-742950" algn="just">
              <a:buFont typeface="+mj-lt"/>
              <a:buAutoNum type="arabicPeriod"/>
              <a:defRPr/>
            </a:pPr>
            <a:endParaRPr lang="en-US" sz="3200" dirty="0"/>
          </a:p>
          <a:p>
            <a:pPr marL="742950" indent="-742950" algn="just">
              <a:buFont typeface="+mj-lt"/>
              <a:buAutoNum type="arabicPeriod"/>
              <a:defRPr/>
            </a:pPr>
            <a:r>
              <a:rPr lang="en-US" sz="3200" dirty="0" smtClean="0"/>
              <a:t>Filtering circuits are required to produce steady state current.</a:t>
            </a:r>
          </a:p>
          <a:p>
            <a:pPr marL="742950" indent="-742950" algn="just">
              <a:buFont typeface="+mj-lt"/>
              <a:buAutoNum type="arabicPeriod"/>
              <a:defRPr/>
            </a:pPr>
            <a:endParaRPr lang="en-US" sz="3200" b="1" dirty="0"/>
          </a:p>
          <a:p>
            <a:pPr marL="742950" indent="-742950" algn="just">
              <a:buFont typeface="+mj-lt"/>
              <a:buAutoNum type="arabicPeriod"/>
              <a:defRPr/>
            </a:pPr>
            <a:endParaRPr lang="en-US" sz="3200" b="1" dirty="0" smtClean="0"/>
          </a:p>
        </p:txBody>
      </p:sp>
      <p:sp>
        <p:nvSpPr>
          <p:cNvPr id="337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002476BD-4B55-4684-BC3B-BBB5FAE3A464}" type="slidenum">
              <a:rPr lang="en-US" altLang="en-US" smtClean="0">
                <a:solidFill>
                  <a:srgbClr val="4A566A"/>
                </a:solidFill>
              </a:rPr>
              <a:pPr/>
              <a:t>27</a:t>
            </a:fld>
            <a:endParaRPr lang="en-US" altLang="en-US" smtClean="0">
              <a:solidFill>
                <a:srgbClr val="4A566A"/>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algn="l"/>
            <a:r>
              <a:rPr lang="en-US" altLang="en-US" sz="3600" smtClean="0"/>
              <a:t>Output frequency of half-wave rectifier:</a:t>
            </a:r>
          </a:p>
        </p:txBody>
      </p:sp>
      <p:sp>
        <p:nvSpPr>
          <p:cNvPr id="34819" name="Content Placeholder 2"/>
          <p:cNvSpPr>
            <a:spLocks noGrp="1"/>
          </p:cNvSpPr>
          <p:nvPr>
            <p:ph idx="1"/>
          </p:nvPr>
        </p:nvSpPr>
        <p:spPr>
          <a:xfrm>
            <a:off x="152400" y="838200"/>
            <a:ext cx="4419600" cy="5486400"/>
          </a:xfrm>
        </p:spPr>
        <p:txBody>
          <a:bodyPr/>
          <a:lstStyle/>
          <a:p>
            <a:pPr algn="just"/>
            <a:r>
              <a:rPr lang="en-US" altLang="en-US" sz="3200" smtClean="0"/>
              <a:t>The output frequency of half-wave rectifier is equal to the input frequency (50 Hz).</a:t>
            </a:r>
          </a:p>
          <a:p>
            <a:pPr algn="just"/>
            <a:endParaRPr lang="en-US" altLang="en-US" sz="3200" smtClean="0"/>
          </a:p>
          <a:p>
            <a:pPr algn="just"/>
            <a:endParaRPr lang="en-US" altLang="en-US" sz="3200" smtClean="0"/>
          </a:p>
        </p:txBody>
      </p:sp>
      <p:sp>
        <p:nvSpPr>
          <p:cNvPr id="348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5E2E0DF4-0D4B-40A7-A013-3424799ACFBF}" type="slidenum">
              <a:rPr lang="en-US" altLang="en-US" smtClean="0">
                <a:solidFill>
                  <a:srgbClr val="4A566A"/>
                </a:solidFill>
              </a:rPr>
              <a:pPr/>
              <a:t>28</a:t>
            </a:fld>
            <a:endParaRPr lang="en-US" altLang="en-US" smtClean="0">
              <a:solidFill>
                <a:srgbClr val="4A566A"/>
              </a:solidFill>
            </a:endParaRPr>
          </a:p>
        </p:txBody>
      </p:sp>
      <p:pic>
        <p:nvPicPr>
          <p:cNvPr id="5" name="Picture 4"/>
          <p:cNvPicPr>
            <a:picLocks noChangeAspect="1"/>
          </p:cNvPicPr>
          <p:nvPr/>
        </p:nvPicPr>
        <p:blipFill>
          <a:blip r:embed="rId2"/>
          <a:stretch>
            <a:fillRect/>
          </a:stretch>
        </p:blipFill>
        <p:spPr>
          <a:xfrm>
            <a:off x="4887913" y="1143000"/>
            <a:ext cx="3711575" cy="5045075"/>
          </a:xfrm>
          <a:prstGeom prst="rect">
            <a:avLst/>
          </a:prstGeom>
          <a:ln w="38100" cap="sq">
            <a:solidFill>
              <a:schemeClr val="accent1">
                <a:lumMod val="50000"/>
              </a:schemeClr>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a:blip r:embed="rId3"/>
          <a:stretch>
            <a:fillRect/>
          </a:stretch>
        </p:blipFill>
        <p:spPr>
          <a:xfrm>
            <a:off x="1143000" y="3581400"/>
            <a:ext cx="2590800" cy="858838"/>
          </a:xfrm>
          <a:prstGeom prst="rect">
            <a:avLst/>
          </a:prstGeom>
          <a:ln w="38100" cap="sq">
            <a:solidFill>
              <a:schemeClr val="accent1">
                <a:lumMod val="50000"/>
              </a:schemeClr>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algn="l"/>
            <a:r>
              <a:rPr lang="en-US" altLang="en-US" sz="4400" smtClean="0"/>
              <a:t>Efficiency of half-wave rectifier:</a:t>
            </a:r>
          </a:p>
        </p:txBody>
      </p:sp>
      <p:sp>
        <p:nvSpPr>
          <p:cNvPr id="35843" name="Content Placeholder 2"/>
          <p:cNvSpPr>
            <a:spLocks noGrp="1"/>
          </p:cNvSpPr>
          <p:nvPr>
            <p:ph idx="1"/>
          </p:nvPr>
        </p:nvSpPr>
        <p:spPr/>
        <p:txBody>
          <a:bodyPr/>
          <a:lstStyle/>
          <a:p>
            <a:pPr algn="just"/>
            <a:r>
              <a:rPr lang="en-US" altLang="en-US" sz="2800" smtClean="0"/>
              <a:t>The ratio of d.c power output to the applied input a.c. power is known as rectifier efficiency </a:t>
            </a:r>
            <a:r>
              <a:rPr lang="en-US" altLang="en-US" sz="2800" b="1" i="1" smtClean="0"/>
              <a:t>i.e.</a:t>
            </a:r>
          </a:p>
          <a:p>
            <a:pPr algn="just"/>
            <a:endParaRPr lang="en-US" altLang="en-US" sz="2800" b="1" i="1" smtClean="0"/>
          </a:p>
          <a:p>
            <a:pPr algn="just"/>
            <a:endParaRPr lang="en-US" altLang="en-US" sz="2800" b="1" i="1" smtClean="0"/>
          </a:p>
        </p:txBody>
      </p:sp>
      <p:sp>
        <p:nvSpPr>
          <p:cNvPr id="358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10D15FD3-408B-4B8A-8B2D-AAAF8FC0445F}" type="slidenum">
              <a:rPr lang="en-US" altLang="en-US" smtClean="0">
                <a:solidFill>
                  <a:srgbClr val="4A566A"/>
                </a:solidFill>
              </a:rPr>
              <a:pPr/>
              <a:t>29</a:t>
            </a:fld>
            <a:endParaRPr lang="en-US" altLang="en-US" smtClean="0">
              <a:solidFill>
                <a:srgbClr val="4A566A"/>
              </a:solidFill>
            </a:endParaRPr>
          </a:p>
        </p:txBody>
      </p:sp>
      <p:pic>
        <p:nvPicPr>
          <p:cNvPr id="5" name="Picture 4"/>
          <p:cNvPicPr>
            <a:picLocks noChangeAspect="1"/>
          </p:cNvPicPr>
          <p:nvPr/>
        </p:nvPicPr>
        <p:blipFill>
          <a:blip r:embed="rId2"/>
          <a:stretch>
            <a:fillRect/>
          </a:stretch>
        </p:blipFill>
        <p:spPr>
          <a:xfrm>
            <a:off x="1981200" y="1981200"/>
            <a:ext cx="4648200" cy="679450"/>
          </a:xfrm>
          <a:prstGeom prst="rect">
            <a:avLst/>
          </a:prstGeom>
          <a:ln w="38100" cap="sq">
            <a:solidFill>
              <a:schemeClr val="accent1">
                <a:lumMod val="50000"/>
              </a:schemeClr>
            </a:solidFill>
            <a:prstDash val="solid"/>
            <a:miter lim="800000"/>
          </a:ln>
          <a:effectLst>
            <a:outerShdw blurRad="50800" dist="38100" dir="2700000" algn="tl" rotWithShape="0">
              <a:srgbClr val="000000">
                <a:alpha val="43000"/>
              </a:srgbClr>
            </a:outerShdw>
          </a:effectLst>
        </p:spPr>
      </p:pic>
      <p:pic>
        <p:nvPicPr>
          <p:cNvPr id="7" name="Picture 6"/>
          <p:cNvPicPr>
            <a:picLocks noChangeAspect="1"/>
          </p:cNvPicPr>
          <p:nvPr/>
        </p:nvPicPr>
        <p:blipFill>
          <a:blip r:embed="rId3"/>
          <a:stretch>
            <a:fillRect/>
          </a:stretch>
        </p:blipFill>
        <p:spPr>
          <a:xfrm>
            <a:off x="168275" y="3124200"/>
            <a:ext cx="8853488" cy="2514600"/>
          </a:xfrm>
          <a:prstGeom prst="rect">
            <a:avLst/>
          </a:prstGeom>
          <a:ln w="38100" cap="sq">
            <a:solidFill>
              <a:schemeClr val="accent2">
                <a:lumMod val="75000"/>
              </a:schemeClr>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algn="l"/>
            <a:r>
              <a:rPr lang="en-US" altLang="en-US" sz="4000" smtClean="0"/>
              <a:t>Efficiency of half-wave rectifier: (cont.)</a:t>
            </a:r>
          </a:p>
        </p:txBody>
      </p:sp>
      <p:sp>
        <p:nvSpPr>
          <p:cNvPr id="3" name="Content Placeholder 2"/>
          <p:cNvSpPr>
            <a:spLocks noGrp="1"/>
          </p:cNvSpPr>
          <p:nvPr>
            <p:ph idx="1"/>
          </p:nvPr>
        </p:nvSpPr>
        <p:spPr/>
        <p:txBody>
          <a:bodyPr/>
          <a:lstStyle/>
          <a:p>
            <a:pPr marL="0" indent="0" algn="just">
              <a:buFont typeface="Wingdings 2" panose="05020102010507070707" pitchFamily="18" charset="2"/>
              <a:buNone/>
              <a:defRPr/>
            </a:pPr>
            <a:r>
              <a:rPr lang="en-US" sz="2800" b="1" dirty="0" err="1" smtClean="0"/>
              <a:t>d.c.</a:t>
            </a:r>
            <a:r>
              <a:rPr lang="en-US" sz="2800" b="1" dirty="0" smtClean="0"/>
              <a:t> power:</a:t>
            </a:r>
            <a:r>
              <a:rPr lang="en-US" sz="2800" dirty="0" smtClean="0"/>
              <a:t> The output current is pulsating direct current. Therefore, in order to find the </a:t>
            </a:r>
            <a:r>
              <a:rPr lang="en-US" sz="2800" dirty="0" err="1" smtClean="0"/>
              <a:t>d.c.</a:t>
            </a:r>
            <a:r>
              <a:rPr lang="en-US" sz="2800" dirty="0" smtClean="0"/>
              <a:t> power average current has to be found out.</a:t>
            </a:r>
            <a:endParaRPr lang="en-US" sz="2800" dirty="0"/>
          </a:p>
          <a:p>
            <a:pPr algn="just">
              <a:defRPr/>
            </a:pPr>
            <a:endParaRPr lang="en-US" sz="2800" b="1" i="1" dirty="0"/>
          </a:p>
        </p:txBody>
      </p:sp>
      <p:sp>
        <p:nvSpPr>
          <p:cNvPr id="368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B53318CE-07FB-40FC-BD32-30BF5CA24640}" type="slidenum">
              <a:rPr lang="en-US" altLang="en-US" smtClean="0">
                <a:solidFill>
                  <a:srgbClr val="4A566A"/>
                </a:solidFill>
              </a:rPr>
              <a:pPr/>
              <a:t>30</a:t>
            </a:fld>
            <a:endParaRPr lang="en-US" altLang="en-US" smtClean="0">
              <a:solidFill>
                <a:srgbClr val="4A566A"/>
              </a:solidFill>
            </a:endParaRPr>
          </a:p>
        </p:txBody>
      </p:sp>
      <p:pic>
        <p:nvPicPr>
          <p:cNvPr id="36869"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2625" y="2362200"/>
            <a:ext cx="7702550" cy="339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algn="l"/>
            <a:r>
              <a:rPr lang="en-US" altLang="en-US" sz="4000" smtClean="0"/>
              <a:t>Efficiency of half-wave rectifier: (cont.)</a:t>
            </a:r>
          </a:p>
        </p:txBody>
      </p:sp>
      <p:sp>
        <p:nvSpPr>
          <p:cNvPr id="3" name="Content Placeholder 2"/>
          <p:cNvSpPr>
            <a:spLocks noGrp="1"/>
          </p:cNvSpPr>
          <p:nvPr>
            <p:ph idx="1"/>
          </p:nvPr>
        </p:nvSpPr>
        <p:spPr/>
        <p:txBody>
          <a:bodyPr/>
          <a:lstStyle/>
          <a:p>
            <a:pPr marL="0" indent="0" algn="just">
              <a:buFont typeface="Wingdings 2" panose="05020102010507070707" pitchFamily="18" charset="2"/>
              <a:buNone/>
              <a:defRPr/>
            </a:pPr>
            <a:r>
              <a:rPr lang="en-US" sz="2800" b="1" dirty="0" err="1"/>
              <a:t>a</a:t>
            </a:r>
            <a:r>
              <a:rPr lang="en-US" sz="2800" b="1" dirty="0" err="1" smtClean="0"/>
              <a:t>.c</a:t>
            </a:r>
            <a:r>
              <a:rPr lang="en-US" sz="2800" b="1" dirty="0" smtClean="0"/>
              <a:t>. power input:</a:t>
            </a:r>
            <a:r>
              <a:rPr lang="en-US" sz="2800" dirty="0" smtClean="0"/>
              <a:t> The </a:t>
            </a:r>
            <a:r>
              <a:rPr lang="en-US" sz="2800" dirty="0" err="1" smtClean="0"/>
              <a:t>a.c</a:t>
            </a:r>
            <a:r>
              <a:rPr lang="en-US" sz="2800" dirty="0" smtClean="0"/>
              <a:t>. power input is given by:</a:t>
            </a:r>
          </a:p>
          <a:p>
            <a:pPr marL="0" indent="0" algn="just">
              <a:buFont typeface="Wingdings 2" panose="05020102010507070707" pitchFamily="18" charset="2"/>
              <a:buNone/>
              <a:defRPr/>
            </a:pPr>
            <a:endParaRPr lang="en-US" sz="2800" dirty="0"/>
          </a:p>
          <a:p>
            <a:pPr algn="just">
              <a:defRPr/>
            </a:pPr>
            <a:endParaRPr lang="en-US" sz="2800" b="1" i="1" dirty="0"/>
          </a:p>
        </p:txBody>
      </p:sp>
      <p:sp>
        <p:nvSpPr>
          <p:cNvPr id="3789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DDC00339-8C23-4807-821A-5CFDD2D28C45}" type="slidenum">
              <a:rPr lang="en-US" altLang="en-US" smtClean="0">
                <a:solidFill>
                  <a:srgbClr val="4A566A"/>
                </a:solidFill>
              </a:rPr>
              <a:pPr/>
              <a:t>31</a:t>
            </a:fld>
            <a:endParaRPr lang="en-US" altLang="en-US" smtClean="0">
              <a:solidFill>
                <a:srgbClr val="4A566A"/>
              </a:solidFill>
            </a:endParaRPr>
          </a:p>
        </p:txBody>
      </p:sp>
      <p:pic>
        <p:nvPicPr>
          <p:cNvPr id="37893"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0"/>
            <a:ext cx="875823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algn="l"/>
            <a:r>
              <a:rPr lang="en-US" altLang="en-US" smtClean="0"/>
              <a:t>Applications:</a:t>
            </a:r>
          </a:p>
        </p:txBody>
      </p:sp>
      <p:sp>
        <p:nvSpPr>
          <p:cNvPr id="3" name="Content Placeholder 2"/>
          <p:cNvSpPr>
            <a:spLocks noGrp="1"/>
          </p:cNvSpPr>
          <p:nvPr>
            <p:ph idx="1"/>
          </p:nvPr>
        </p:nvSpPr>
        <p:spPr/>
        <p:txBody>
          <a:bodyPr>
            <a:normAutofit fontScale="77500" lnSpcReduction="20000"/>
          </a:bodyPr>
          <a:lstStyle/>
          <a:p>
            <a:pPr algn="just">
              <a:defRPr/>
            </a:pPr>
            <a:r>
              <a:rPr lang="en-US" dirty="0" smtClean="0"/>
              <a:t>Half </a:t>
            </a:r>
            <a:r>
              <a:rPr lang="en-US" dirty="0"/>
              <a:t>Wave Rectifier used in low power simple battery charger circuit</a:t>
            </a:r>
            <a:r>
              <a:rPr lang="en-US" dirty="0" smtClean="0"/>
              <a:t>.</a:t>
            </a:r>
          </a:p>
          <a:p>
            <a:pPr algn="just">
              <a:defRPr/>
            </a:pPr>
            <a:endParaRPr lang="en-US" dirty="0"/>
          </a:p>
          <a:p>
            <a:pPr algn="just">
              <a:defRPr/>
            </a:pPr>
            <a:r>
              <a:rPr lang="en-US" dirty="0" smtClean="0"/>
              <a:t>Half </a:t>
            </a:r>
            <a:r>
              <a:rPr lang="en-US" dirty="0"/>
              <a:t>Wave Rectifiers are used in Pulse Generator Circuits</a:t>
            </a:r>
            <a:r>
              <a:rPr lang="en-US" dirty="0" smtClean="0"/>
              <a:t>.</a:t>
            </a:r>
          </a:p>
          <a:p>
            <a:pPr algn="just">
              <a:defRPr/>
            </a:pPr>
            <a:endParaRPr lang="en-US" dirty="0"/>
          </a:p>
          <a:p>
            <a:pPr algn="just">
              <a:defRPr/>
            </a:pPr>
            <a:r>
              <a:rPr lang="en-US" dirty="0" smtClean="0"/>
              <a:t>Half </a:t>
            </a:r>
            <a:r>
              <a:rPr lang="en-US" dirty="0"/>
              <a:t>Wave Rectifier is used in signal demodulation circuits</a:t>
            </a:r>
            <a:r>
              <a:rPr lang="en-US" dirty="0" smtClean="0"/>
              <a:t>.</a:t>
            </a:r>
          </a:p>
          <a:p>
            <a:pPr algn="just">
              <a:defRPr/>
            </a:pPr>
            <a:endParaRPr lang="en-US" dirty="0"/>
          </a:p>
          <a:p>
            <a:pPr algn="just">
              <a:defRPr/>
            </a:pPr>
            <a:r>
              <a:rPr lang="en-US" dirty="0" smtClean="0"/>
              <a:t>In </a:t>
            </a:r>
            <a:r>
              <a:rPr lang="en-US" dirty="0"/>
              <a:t>Soldering Iron circuit half wave rectifier used</a:t>
            </a:r>
            <a:r>
              <a:rPr lang="en-US" dirty="0" smtClean="0"/>
              <a:t>.</a:t>
            </a:r>
          </a:p>
          <a:p>
            <a:pPr algn="just">
              <a:defRPr/>
            </a:pPr>
            <a:endParaRPr lang="en-US" dirty="0"/>
          </a:p>
          <a:p>
            <a:pPr algn="just">
              <a:defRPr/>
            </a:pPr>
            <a:r>
              <a:rPr lang="en-US" dirty="0" smtClean="0"/>
              <a:t>Half </a:t>
            </a:r>
            <a:r>
              <a:rPr lang="en-US" dirty="0"/>
              <a:t>Wave Rectifier used in Amplitude Modulation (AM) Radio circuits as a Detector.</a:t>
            </a:r>
          </a:p>
          <a:p>
            <a:pPr>
              <a:defRPr/>
            </a:pPr>
            <a:endParaRPr lang="en-US" dirty="0"/>
          </a:p>
        </p:txBody>
      </p:sp>
      <p:sp>
        <p:nvSpPr>
          <p:cNvPr id="389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anose="02040502050405020303" pitchFamily="18" charset="0"/>
                <a:cs typeface="Arial" panose="020B0604020202020204" pitchFamily="34" charset="0"/>
              </a:defRPr>
            </a:lvl1pPr>
            <a:lvl2pPr marL="742950" indent="-285750">
              <a:defRPr>
                <a:solidFill>
                  <a:schemeClr val="tx1"/>
                </a:solidFill>
                <a:latin typeface="Georgia" panose="02040502050405020303" pitchFamily="18" charset="0"/>
                <a:cs typeface="Arial" panose="020B0604020202020204" pitchFamily="34" charset="0"/>
              </a:defRPr>
            </a:lvl2pPr>
            <a:lvl3pPr marL="1143000" indent="-228600">
              <a:defRPr>
                <a:solidFill>
                  <a:schemeClr val="tx1"/>
                </a:solidFill>
                <a:latin typeface="Georgia" panose="02040502050405020303" pitchFamily="18" charset="0"/>
                <a:cs typeface="Arial" panose="020B0604020202020204" pitchFamily="34" charset="0"/>
              </a:defRPr>
            </a:lvl3pPr>
            <a:lvl4pPr marL="1600200" indent="-228600">
              <a:defRPr>
                <a:solidFill>
                  <a:schemeClr val="tx1"/>
                </a:solidFill>
                <a:latin typeface="Georgia" panose="02040502050405020303" pitchFamily="18" charset="0"/>
                <a:cs typeface="Arial" panose="020B0604020202020204" pitchFamily="34" charset="0"/>
              </a:defRPr>
            </a:lvl4pPr>
            <a:lvl5pPr marL="2057400" indent="-228600">
              <a:defRPr>
                <a:solidFill>
                  <a:schemeClr val="tx1"/>
                </a:solidFill>
                <a:latin typeface="Georgia" panose="020405020504050203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eorgia" panose="02040502050405020303" pitchFamily="18" charset="0"/>
                <a:cs typeface="Arial" panose="020B0604020202020204" pitchFamily="34" charset="0"/>
              </a:defRPr>
            </a:lvl9pPr>
          </a:lstStyle>
          <a:p>
            <a:fld id="{5E65A8A5-91DE-4900-98F6-DEBAF42FC243}" type="slidenum">
              <a:rPr lang="en-US" altLang="en-US" smtClean="0">
                <a:solidFill>
                  <a:srgbClr val="4A566A"/>
                </a:solidFill>
              </a:rPr>
              <a:pPr/>
              <a:t>32</a:t>
            </a:fld>
            <a:endParaRPr lang="en-US" altLang="en-US" smtClean="0">
              <a:solidFill>
                <a:srgbClr val="4A566A"/>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p:cNvSpPr>
            <a:spLocks noGrp="1"/>
          </p:cNvSpPr>
          <p:nvPr>
            <p:ph idx="1"/>
          </p:nvPr>
        </p:nvSpPr>
        <p:spPr/>
        <p:txBody>
          <a:bodyPr/>
          <a:lstStyle/>
          <a:p>
            <a:endParaRPr lang="en-GB" altLang="en-US" smtClean="0"/>
          </a:p>
          <a:p>
            <a:endParaRPr lang="en-GB" altLang="en-US" smtClean="0"/>
          </a:p>
          <a:p>
            <a:endParaRPr lang="en-GB" altLang="en-US" smtClean="0"/>
          </a:p>
          <a:p>
            <a:pPr algn="ctr">
              <a:buFont typeface="Wingdings 2" panose="05020102010507070707" pitchFamily="18" charset="2"/>
              <a:buNone/>
            </a:pPr>
            <a:r>
              <a:rPr lang="en-GB" altLang="en-US" smtClean="0"/>
              <a:t>Any Questions   ????????</a:t>
            </a:r>
          </a:p>
        </p:txBody>
      </p:sp>
      <p:sp>
        <p:nvSpPr>
          <p:cNvPr id="39939"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EB80A"/>
              </a:buClr>
              <a:buSzPct val="95000"/>
              <a:buFont typeface="Wingdings 2" panose="05020102010507070707" pitchFamily="18" charset="2"/>
              <a:buChar char=""/>
              <a:defRPr sz="2600">
                <a:solidFill>
                  <a:schemeClr val="tx1"/>
                </a:solidFill>
                <a:latin typeface="Georgia" panose="0204050205040502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Georgia" panose="0204050205040502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Georgia" panose="02040502050405020303" pitchFamily="18" charset="0"/>
              </a:defRPr>
            </a:lvl3pPr>
            <a:lvl4pPr marL="1600200" indent="-228600">
              <a:spcBef>
                <a:spcPct val="20000"/>
              </a:spcBef>
              <a:buClr>
                <a:srgbClr val="FEB80A"/>
              </a:buClr>
              <a:buSzPct val="65000"/>
              <a:buFont typeface="Wingdings 2" panose="05020102010507070707" pitchFamily="18" charset="2"/>
              <a:buChar char=""/>
              <a:defRPr sz="2000">
                <a:solidFill>
                  <a:schemeClr val="tx1"/>
                </a:solidFill>
                <a:latin typeface="Georgia" panose="02040502050405020303" pitchFamily="18" charset="0"/>
              </a:defRPr>
            </a:lvl4pPr>
            <a:lvl5pPr marL="2057400" indent="-228600">
              <a:spcBef>
                <a:spcPct val="20000"/>
              </a:spcBef>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5pPr>
            <a:lvl6pPr marL="25146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6pPr>
            <a:lvl7pPr marL="29718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7pPr>
            <a:lvl8pPr marL="34290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8pPr>
            <a:lvl9pPr marL="3886200" indent="-228600" eaLnBrk="0" fontAlgn="base" hangingPunct="0">
              <a:spcBef>
                <a:spcPct val="20000"/>
              </a:spcBef>
              <a:spcAft>
                <a:spcPct val="0"/>
              </a:spcAft>
              <a:buClr>
                <a:srgbClr val="00ADDC"/>
              </a:buClr>
              <a:buSzPct val="65000"/>
              <a:buFont typeface="Wingdings 2" panose="05020102010507070707" pitchFamily="18" charset="2"/>
              <a:buChar char=""/>
              <a:defRPr sz="2000">
                <a:solidFill>
                  <a:schemeClr val="tx1"/>
                </a:solidFill>
                <a:latin typeface="Georgia" panose="02040502050405020303" pitchFamily="18" charset="0"/>
              </a:defRPr>
            </a:lvl9pPr>
          </a:lstStyle>
          <a:p>
            <a:pPr>
              <a:spcBef>
                <a:spcPct val="0"/>
              </a:spcBef>
              <a:buClrTx/>
              <a:buSzTx/>
              <a:buFontTx/>
              <a:buNone/>
            </a:pPr>
            <a:fld id="{DE1EEC63-0FE5-495B-975C-9BD7361A2EE4}" type="slidenum">
              <a:rPr lang="en-US" altLang="en-US" sz="1200" smtClean="0">
                <a:solidFill>
                  <a:srgbClr val="4A566A"/>
                </a:solidFill>
              </a:rPr>
              <a:pPr>
                <a:spcBef>
                  <a:spcPct val="0"/>
                </a:spcBef>
                <a:buClrTx/>
                <a:buSzTx/>
                <a:buFontTx/>
                <a:buNone/>
              </a:pPr>
              <a:t>33</a:t>
            </a:fld>
            <a:endParaRPr lang="en-US" altLang="en-US" sz="1200" smtClean="0">
              <a:solidFill>
                <a:srgbClr val="4A566A"/>
              </a:solidFill>
            </a:endParaRPr>
          </a:p>
        </p:txBody>
      </p:sp>
      <p:pic>
        <p:nvPicPr>
          <p:cNvPr id="39940" name="Picture 4" descr="download (9).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3962400"/>
            <a:ext cx="21431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ustom 1">
      <a:dk1>
        <a:srgbClr val="FCB95D"/>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1">
    <a:dk1>
      <a:srgbClr val="FCB95D"/>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themeOverride>
</file>

<file path=ppt/theme/themeOverride2.xml><?xml version="1.0" encoding="utf-8"?>
<a:themeOverride xmlns:a="http://schemas.openxmlformats.org/drawingml/2006/main">
  <a:clrScheme name="Custom 1">
    <a:dk1>
      <a:srgbClr val="FCB95D"/>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themeOverride>
</file>

<file path=docProps/app.xml><?xml version="1.0" encoding="utf-8"?>
<Properties xmlns="http://schemas.openxmlformats.org/officeDocument/2006/extended-properties" xmlns:vt="http://schemas.openxmlformats.org/officeDocument/2006/docPropsVTypes">
  <Template>Flow</Template>
  <TotalTime>25761</TotalTime>
  <Words>1283</Words>
  <Application>Microsoft Office PowerPoint</Application>
  <PresentationFormat>On-screen Show (4:3)</PresentationFormat>
  <Paragraphs>229</Paragraphs>
  <Slides>33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Georgia</vt:lpstr>
      <vt:lpstr>Arial</vt:lpstr>
      <vt:lpstr>Wingdings 2</vt:lpstr>
      <vt:lpstr>Calibri</vt:lpstr>
      <vt:lpstr>Flow</vt:lpstr>
      <vt:lpstr>Electronic Devices and Circuits</vt:lpstr>
      <vt:lpstr>Contents</vt:lpstr>
      <vt:lpstr>Semiconductor diode:</vt:lpstr>
      <vt:lpstr>Semiconductor diode: (cont.)</vt:lpstr>
      <vt:lpstr>Crystal diode as rectifier:</vt:lpstr>
      <vt:lpstr>Resistance of crystal diode:</vt:lpstr>
      <vt:lpstr>Resistance of crystal diode: (cont.)</vt:lpstr>
      <vt:lpstr>Resistance of crystal diode: (cont.)</vt:lpstr>
      <vt:lpstr>Resistance of crystal diode: (cont.)</vt:lpstr>
      <vt:lpstr>Resistance of crystal diode: (cont.)</vt:lpstr>
      <vt:lpstr>Resistance of crystal diode: (cont.)</vt:lpstr>
      <vt:lpstr>Resistance of crystal diode: (cont.)</vt:lpstr>
      <vt:lpstr>Resistance of crystal diode: (cont.)</vt:lpstr>
      <vt:lpstr>Equivalent circuit of crystal diode:</vt:lpstr>
      <vt:lpstr>Equivalent circuit of crystal diode: (cont.)</vt:lpstr>
      <vt:lpstr>Equivalent circuit of crystal diode: (cont.)</vt:lpstr>
      <vt:lpstr>Equivalent circuit of crystal diode: (cont.)</vt:lpstr>
      <vt:lpstr>Summary of various model of diode:</vt:lpstr>
      <vt:lpstr>Limitations in the Operating Conditions of pn Junction:</vt:lpstr>
      <vt:lpstr>Limitations in the operating conditions of pn Junction:</vt:lpstr>
      <vt:lpstr>Limitations in the Operating Conditions of pn Junction:</vt:lpstr>
      <vt:lpstr>Limitations in the Operating Conditions of pn Junction:</vt:lpstr>
      <vt:lpstr>Crystal diode rectifiers:</vt:lpstr>
      <vt:lpstr>Half-wave rectifier:</vt:lpstr>
      <vt:lpstr>Half-wave rectifier: (cont.) </vt:lpstr>
      <vt:lpstr>Half-wave rectifier: (cont.) </vt:lpstr>
      <vt:lpstr>Half-wave rectifier: (cont.) </vt:lpstr>
      <vt:lpstr>Output frequency of half-wave rectifier:</vt:lpstr>
      <vt:lpstr>Efficiency of half-wave rectifier:</vt:lpstr>
      <vt:lpstr>Efficiency of half-wave rectifier: (cont.)</vt:lpstr>
      <vt:lpstr>Efficiency of half-wave rectifier: (cont.)</vt:lpstr>
      <vt:lpstr>Applications: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Physics</dc:title>
  <dc:creator>aziz</dc:creator>
  <cp:lastModifiedBy>Dr. Junaid Ahmed</cp:lastModifiedBy>
  <cp:revision>1675</cp:revision>
  <dcterms:created xsi:type="dcterms:W3CDTF">2006-08-16T00:00:00Z</dcterms:created>
  <dcterms:modified xsi:type="dcterms:W3CDTF">2024-01-16T05:22:48Z</dcterms:modified>
</cp:coreProperties>
</file>
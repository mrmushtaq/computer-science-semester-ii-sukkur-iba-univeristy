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BF85563-B323-466E-B2AC-0E05BF7396DC}"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344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3102178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5266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18BC811-E234-4C66-A922-2992ED80965D}" type="datetimeFigureOut">
              <a:rPr lang="en-US" smtClean="0"/>
              <a:t>4/17/2024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2539827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18BC811-E234-4C66-A922-2992ED80965D}" type="datetimeFigureOut">
              <a:rPr lang="en-US" smtClean="0"/>
              <a:t>4/17/2024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F85563-B323-466E-B2AC-0E05BF7396DC}"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765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18BC811-E234-4C66-A922-2992ED80965D}" type="datetimeFigureOut">
              <a:rPr lang="en-US" smtClean="0"/>
              <a:t>4/17/2024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F85563-B323-466E-B2AC-0E05BF7396DC}"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2270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8BC811-E234-4C66-A922-2992ED80965D}" type="datetimeFigureOut">
              <a:rPr lang="en-US" smtClean="0"/>
              <a:t>4/17/2024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87880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18BC811-E234-4C66-A922-2992ED80965D}" type="datetimeFigureOut">
              <a:rPr lang="en-US" smtClean="0"/>
              <a:t>4/17/2024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1439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18BC811-E234-4C66-A922-2992ED80965D}" type="datetimeFigureOut">
              <a:rPr lang="en-US" smtClean="0"/>
              <a:t>4/17/2024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1110668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18BC811-E234-4C66-A922-2992ED80965D}" type="datetimeFigureOut">
              <a:rPr lang="en-US" smtClean="0"/>
              <a:t>4/17/2024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656435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3657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5265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2505216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9649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1393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31630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BC811-E234-4C66-A922-2992ED80965D}" type="datetimeFigureOut">
              <a:rPr lang="en-US" smtClean="0"/>
              <a:t>4/17/2024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6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18BC811-E234-4C66-A922-2992ED80965D}" type="datetimeFigureOut">
              <a:rPr lang="en-US" smtClean="0"/>
              <a:t>4/17/2024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BF85563-B323-466E-B2AC-0E05BF7396DC}" type="slidenum">
              <a:rPr lang="en-US" smtClean="0"/>
              <a:t>‹#›</a:t>
            </a:fld>
            <a:endParaRPr lang="en-US"/>
          </a:p>
        </p:txBody>
      </p:sp>
    </p:spTree>
    <p:extLst>
      <p:ext uri="{BB962C8B-B14F-4D97-AF65-F5344CB8AC3E}">
        <p14:creationId xmlns:p14="http://schemas.microsoft.com/office/powerpoint/2010/main" val="4318440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electricaltechnology.org/wp-content/uploads/2021/09/Series-Positive-Clipper-with-Positive-bias.png" TargetMode="Externa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electricaltechnology.org/wp-content/uploads/2021/09/Shunt-Positive-Clipper-with-Negative-bias.png"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electricaltechnology.org/wp-content/uploads/2021/09/Shunt-Negative-Clipper-with-Negative-bias.png"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cxnSp>
        <p:nvCxnSpPr>
          <p:cNvPr id="8" name="Straight Connector 7"/>
          <p:cNvCxnSpPr>
            <a:cxnSpLocks/>
          </p:cNvCxnSpPr>
          <p:nvPr/>
        </p:nvCxnSpPr>
        <p:spPr>
          <a:xfrm>
            <a:off x="1219202" y="0"/>
            <a:ext cx="9830" cy="6263148"/>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111045" y="0"/>
            <a:ext cx="108157" cy="6371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flipV="1">
            <a:off x="1" y="589934"/>
            <a:ext cx="12192000" cy="1573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593393" y="835741"/>
            <a:ext cx="3313471" cy="523220"/>
          </a:xfrm>
          <a:prstGeom prst="rect">
            <a:avLst/>
          </a:prstGeom>
          <a:noFill/>
        </p:spPr>
        <p:txBody>
          <a:bodyPr wrap="square" rtlCol="0">
            <a:spAutoFit/>
          </a:bodyPr>
          <a:lstStyle/>
          <a:p>
            <a:pPr algn="ctr"/>
            <a:r>
              <a:rPr lang="en-US" sz="2800" b="1" dirty="0" smtClean="0"/>
              <a:t>Applied Physics</a:t>
            </a:r>
            <a:endParaRPr lang="en-US" sz="2800" b="1" dirty="0"/>
          </a:p>
        </p:txBody>
      </p:sp>
      <p:sp>
        <p:nvSpPr>
          <p:cNvPr id="15" name="TextBox 14"/>
          <p:cNvSpPr txBox="1"/>
          <p:nvPr/>
        </p:nvSpPr>
        <p:spPr>
          <a:xfrm>
            <a:off x="4178708" y="3283974"/>
            <a:ext cx="5309419" cy="1015663"/>
          </a:xfrm>
          <a:prstGeom prst="rect">
            <a:avLst/>
          </a:prstGeom>
          <a:noFill/>
        </p:spPr>
        <p:txBody>
          <a:bodyPr wrap="square" rtlCol="0">
            <a:spAutoFit/>
          </a:bodyPr>
          <a:lstStyle/>
          <a:p>
            <a:r>
              <a:rPr lang="en-US" sz="6000" b="1" u="sng" dirty="0" smtClean="0"/>
              <a:t>Clipper Circuit </a:t>
            </a:r>
            <a:endParaRPr lang="en-US" sz="6000" b="1" u="sng" dirty="0"/>
          </a:p>
        </p:txBody>
      </p:sp>
      <p:sp>
        <p:nvSpPr>
          <p:cNvPr id="16" name="TextBox 15"/>
          <p:cNvSpPr txBox="1"/>
          <p:nvPr/>
        </p:nvSpPr>
        <p:spPr>
          <a:xfrm>
            <a:off x="1337189" y="3510116"/>
            <a:ext cx="1612490" cy="369332"/>
          </a:xfrm>
          <a:prstGeom prst="rect">
            <a:avLst/>
          </a:prstGeom>
          <a:noFill/>
        </p:spPr>
        <p:txBody>
          <a:bodyPr wrap="square" rtlCol="0">
            <a:spAutoFit/>
          </a:bodyPr>
          <a:lstStyle/>
          <a:p>
            <a:r>
              <a:rPr lang="en-US" dirty="0" smtClean="0"/>
              <a:t>Topic :</a:t>
            </a:r>
            <a:endParaRPr lang="en-US" dirty="0"/>
          </a:p>
        </p:txBody>
      </p:sp>
      <p:sp>
        <p:nvSpPr>
          <p:cNvPr id="17" name="TextBox 16"/>
          <p:cNvSpPr txBox="1"/>
          <p:nvPr/>
        </p:nvSpPr>
        <p:spPr>
          <a:xfrm>
            <a:off x="8367252" y="5893816"/>
            <a:ext cx="3424464" cy="369332"/>
          </a:xfrm>
          <a:prstGeom prst="rect">
            <a:avLst/>
          </a:prstGeom>
          <a:noFill/>
        </p:spPr>
        <p:txBody>
          <a:bodyPr wrap="none" rtlCol="0">
            <a:spAutoFit/>
          </a:bodyPr>
          <a:lstStyle/>
          <a:p>
            <a:r>
              <a:rPr lang="en-US" dirty="0" smtClean="0"/>
              <a:t>Mahek </a:t>
            </a:r>
            <a:r>
              <a:rPr lang="en-US" dirty="0" err="1" smtClean="0"/>
              <a:t>kalani</a:t>
            </a:r>
            <a:r>
              <a:rPr lang="en-US" dirty="0" smtClean="0"/>
              <a:t> &amp; </a:t>
            </a:r>
            <a:r>
              <a:rPr lang="en-US" dirty="0" err="1" smtClean="0"/>
              <a:t>Teesha</a:t>
            </a:r>
            <a:r>
              <a:rPr lang="en-US" dirty="0" smtClean="0"/>
              <a:t> preetmani </a:t>
            </a:r>
            <a:endParaRPr lang="en-US" dirty="0"/>
          </a:p>
        </p:txBody>
      </p:sp>
      <p:sp>
        <p:nvSpPr>
          <p:cNvPr id="18" name="TextBox 17"/>
          <p:cNvSpPr txBox="1"/>
          <p:nvPr/>
        </p:nvSpPr>
        <p:spPr>
          <a:xfrm>
            <a:off x="8809703" y="1262785"/>
            <a:ext cx="3382297" cy="369332"/>
          </a:xfrm>
          <a:prstGeom prst="rect">
            <a:avLst/>
          </a:prstGeom>
          <a:noFill/>
        </p:spPr>
        <p:txBody>
          <a:bodyPr wrap="square" rtlCol="0">
            <a:spAutoFit/>
          </a:bodyPr>
          <a:lstStyle/>
          <a:p>
            <a:r>
              <a:rPr lang="en-US" dirty="0" smtClean="0"/>
              <a:t>Computer science department </a:t>
            </a:r>
            <a:endParaRPr lang="en-US" dirty="0"/>
          </a:p>
        </p:txBody>
      </p:sp>
    </p:spTree>
    <p:extLst>
      <p:ext uri="{BB962C8B-B14F-4D97-AF65-F5344CB8AC3E}">
        <p14:creationId xmlns:p14="http://schemas.microsoft.com/office/powerpoint/2010/main" val="35234235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347499" y="1041621"/>
            <a:ext cx="4388637" cy="830997"/>
          </a:xfrm>
          <a:prstGeom prst="rect">
            <a:avLst/>
          </a:prstGeom>
          <a:noFill/>
        </p:spPr>
        <p:txBody>
          <a:bodyPr wrap="none" rtlCol="0">
            <a:spAutoFit/>
          </a:bodyPr>
          <a:lstStyle/>
          <a:p>
            <a:r>
              <a:rPr lang="en-US" sz="4800" b="1" u="sng" dirty="0" smtClean="0"/>
              <a:t>“Clipper circuit” </a:t>
            </a:r>
            <a:endParaRPr lang="en-US" sz="4800" b="1" u="sng" dirty="0"/>
          </a:p>
        </p:txBody>
      </p:sp>
      <p:sp>
        <p:nvSpPr>
          <p:cNvPr id="3" name="TextBox 2"/>
          <p:cNvSpPr txBox="1"/>
          <p:nvPr/>
        </p:nvSpPr>
        <p:spPr>
          <a:xfrm>
            <a:off x="1137036" y="2433099"/>
            <a:ext cx="7354957" cy="1200329"/>
          </a:xfrm>
          <a:prstGeom prst="rect">
            <a:avLst/>
          </a:prstGeom>
          <a:noFill/>
        </p:spPr>
        <p:txBody>
          <a:bodyPr wrap="square" rtlCol="0">
            <a:spAutoFit/>
          </a:bodyPr>
          <a:lstStyle/>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r>
              <a:rPr lang="en-US" dirty="0" smtClean="0"/>
              <a:t>Also knows as Clipping circuit , limiters ,slicers </a:t>
            </a:r>
            <a:r>
              <a:rPr lang="en-US" dirty="0" err="1" smtClean="0"/>
              <a:t>e.t.c</a:t>
            </a:r>
            <a:r>
              <a:rPr lang="en-US" dirty="0" smtClean="0"/>
              <a:t> </a:t>
            </a:r>
          </a:p>
          <a:p>
            <a:pPr marL="285750" indent="-285750">
              <a:buFont typeface="Wingdings" panose="05000000000000000000" pitchFamily="2" charset="2"/>
              <a:buChar char="Ø"/>
            </a:pPr>
            <a:r>
              <a:rPr lang="en-US" dirty="0" smtClean="0"/>
              <a:t> AN application of diode </a:t>
            </a:r>
          </a:p>
          <a:p>
            <a:pPr marL="285750" indent="-285750">
              <a:buFont typeface="Wingdings" panose="05000000000000000000" pitchFamily="2" charset="2"/>
              <a:buChar char="Ø"/>
            </a:pPr>
            <a:endParaRPr lang="en-US" dirty="0"/>
          </a:p>
        </p:txBody>
      </p:sp>
      <p:sp>
        <p:nvSpPr>
          <p:cNvPr id="4" name="TextBox 3"/>
          <p:cNvSpPr txBox="1"/>
          <p:nvPr/>
        </p:nvSpPr>
        <p:spPr>
          <a:xfrm flipH="1">
            <a:off x="1325879" y="3832529"/>
            <a:ext cx="3468758" cy="369332"/>
          </a:xfrm>
          <a:prstGeom prst="rect">
            <a:avLst/>
          </a:prstGeom>
          <a:noFill/>
        </p:spPr>
        <p:txBody>
          <a:bodyPr wrap="square" rtlCol="0">
            <a:spAutoFit/>
          </a:bodyPr>
          <a:lstStyle/>
          <a:p>
            <a:pPr marL="285750" indent="-285750">
              <a:buFont typeface="Wingdings" panose="05000000000000000000" pitchFamily="2" charset="2"/>
              <a:buChar char="v"/>
            </a:pPr>
            <a:r>
              <a:rPr lang="en-US" u="sng" dirty="0" smtClean="0"/>
              <a:t>Definition:</a:t>
            </a:r>
            <a:endParaRPr lang="en-US" u="sng" dirty="0"/>
          </a:p>
        </p:txBody>
      </p:sp>
      <p:sp>
        <p:nvSpPr>
          <p:cNvPr id="5" name="TextBox 4"/>
          <p:cNvSpPr txBox="1"/>
          <p:nvPr/>
        </p:nvSpPr>
        <p:spPr>
          <a:xfrm>
            <a:off x="2719345" y="4333461"/>
            <a:ext cx="7490129" cy="923330"/>
          </a:xfrm>
          <a:prstGeom prst="rect">
            <a:avLst/>
          </a:prstGeom>
          <a:noFill/>
        </p:spPr>
        <p:txBody>
          <a:bodyPr wrap="square" rtlCol="0">
            <a:spAutoFit/>
          </a:bodyPr>
          <a:lstStyle/>
          <a:p>
            <a:r>
              <a:rPr lang="en-US" dirty="0" smtClean="0"/>
              <a:t>An electronic circuit that clip off or removes a portion of an </a:t>
            </a:r>
            <a:r>
              <a:rPr lang="en-US" dirty="0" err="1" smtClean="0"/>
              <a:t>A.c</a:t>
            </a:r>
            <a:r>
              <a:rPr lang="en-US" dirty="0" smtClean="0"/>
              <a:t> signal ,without causing </a:t>
            </a:r>
            <a:r>
              <a:rPr lang="en-US" dirty="0"/>
              <a:t>a</a:t>
            </a:r>
            <a:r>
              <a:rPr lang="en-US" dirty="0" smtClean="0"/>
              <a:t>ny distortion to the remaining part of wave form  is called the clipper circuit .</a:t>
            </a:r>
            <a:endParaRPr lang="en-US" dirty="0"/>
          </a:p>
        </p:txBody>
      </p:sp>
      <p:sp>
        <p:nvSpPr>
          <p:cNvPr id="6" name="TextBox 5"/>
          <p:cNvSpPr txBox="1"/>
          <p:nvPr/>
        </p:nvSpPr>
        <p:spPr>
          <a:xfrm>
            <a:off x="4583926" y="5256791"/>
            <a:ext cx="783204" cy="369332"/>
          </a:xfrm>
          <a:prstGeom prst="rect">
            <a:avLst/>
          </a:prstGeom>
          <a:noFill/>
        </p:spPr>
        <p:txBody>
          <a:bodyPr wrap="square" rtlCol="0">
            <a:spAutoFit/>
          </a:bodyPr>
          <a:lstStyle/>
          <a:p>
            <a:pPr algn="r"/>
            <a:r>
              <a:rPr lang="en-US" dirty="0" smtClean="0"/>
              <a:t>OR</a:t>
            </a:r>
            <a:endParaRPr lang="en-US" dirty="0"/>
          </a:p>
        </p:txBody>
      </p:sp>
      <p:sp>
        <p:nvSpPr>
          <p:cNvPr id="7" name="TextBox 6"/>
          <p:cNvSpPr txBox="1"/>
          <p:nvPr/>
        </p:nvSpPr>
        <p:spPr>
          <a:xfrm>
            <a:off x="1542553" y="5626123"/>
            <a:ext cx="9737602" cy="646331"/>
          </a:xfrm>
          <a:prstGeom prst="rect">
            <a:avLst/>
          </a:prstGeom>
          <a:noFill/>
        </p:spPr>
        <p:txBody>
          <a:bodyPr wrap="none" rtlCol="0">
            <a:spAutoFit/>
          </a:bodyPr>
          <a:lstStyle/>
          <a:p>
            <a:r>
              <a:rPr lang="en-US" dirty="0" smtClean="0"/>
              <a:t>A clipper is a device that removes the either positive half (top) or negative half (bottom ) or some part</a:t>
            </a:r>
          </a:p>
          <a:p>
            <a:r>
              <a:rPr lang="en-US" dirty="0" smtClean="0"/>
              <a:t> of positive or negative halves of </a:t>
            </a:r>
            <a:r>
              <a:rPr lang="en-US" dirty="0" err="1" smtClean="0"/>
              <a:t>A.c</a:t>
            </a:r>
            <a:r>
              <a:rPr lang="en-US" dirty="0" smtClean="0"/>
              <a:t> signal </a:t>
            </a:r>
            <a:endParaRPr lang="en-US" dirty="0"/>
          </a:p>
        </p:txBody>
      </p:sp>
    </p:spTree>
    <p:extLst>
      <p:ext uri="{BB962C8B-B14F-4D97-AF65-F5344CB8AC3E}">
        <p14:creationId xmlns:p14="http://schemas.microsoft.com/office/powerpoint/2010/main" val="2449989308"/>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030" y="604586"/>
            <a:ext cx="2218814" cy="1443306"/>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3641" y="946995"/>
            <a:ext cx="1792592" cy="960014"/>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030" y="2648071"/>
            <a:ext cx="2218814" cy="1443306"/>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709" y="4802874"/>
            <a:ext cx="2218814" cy="144330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0363" y="2856164"/>
            <a:ext cx="2678404" cy="1163652"/>
          </a:xfrm>
          <a:prstGeom prst="rect">
            <a:avLst/>
          </a:prstGeom>
        </p:spPr>
      </p:pic>
      <p:pic>
        <p:nvPicPr>
          <p:cNvPr id="7" name="Picture 6"/>
          <p:cNvPicPr>
            <a:picLocks noChangeAspect="1"/>
          </p:cNvPicPr>
          <p:nvPr/>
        </p:nvPicPr>
        <p:blipFill>
          <a:blip r:embed="rId5"/>
          <a:stretch>
            <a:fillRect/>
          </a:stretch>
        </p:blipFill>
        <p:spPr>
          <a:xfrm>
            <a:off x="6430363" y="4635896"/>
            <a:ext cx="2547667" cy="1375289"/>
          </a:xfrm>
          <a:prstGeom prst="rect">
            <a:avLst/>
          </a:prstGeom>
        </p:spPr>
      </p:pic>
      <p:sp>
        <p:nvSpPr>
          <p:cNvPr id="8" name="Rectangle 7"/>
          <p:cNvSpPr/>
          <p:nvPr/>
        </p:nvSpPr>
        <p:spPr>
          <a:xfrm>
            <a:off x="9183757" y="5319424"/>
            <a:ext cx="2928730" cy="153857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Note : A clipper does not distort the remaining part of waveform </a:t>
            </a:r>
            <a:endParaRPr lang="en-US" dirty="0">
              <a:solidFill>
                <a:schemeClr val="tx1"/>
              </a:solidFill>
            </a:endParaRPr>
          </a:p>
        </p:txBody>
      </p:sp>
    </p:spTree>
    <p:extLst>
      <p:ext uri="{BB962C8B-B14F-4D97-AF65-F5344CB8AC3E}">
        <p14:creationId xmlns:p14="http://schemas.microsoft.com/office/powerpoint/2010/main" val="908974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ounded Rectangle 1"/>
          <p:cNvSpPr/>
          <p:nvPr/>
        </p:nvSpPr>
        <p:spPr>
          <a:xfrm>
            <a:off x="2647785" y="818983"/>
            <a:ext cx="5661327" cy="143918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t>Why Clipper circuit ?</a:t>
            </a:r>
            <a:endParaRPr lang="en-US" sz="4400" dirty="0"/>
          </a:p>
        </p:txBody>
      </p:sp>
      <p:sp>
        <p:nvSpPr>
          <p:cNvPr id="3" name="Smiley Face 2"/>
          <p:cNvSpPr/>
          <p:nvPr/>
        </p:nvSpPr>
        <p:spPr>
          <a:xfrm>
            <a:off x="1248355" y="3069203"/>
            <a:ext cx="222636" cy="198783"/>
          </a:xfrm>
          <a:prstGeom prst="smileyFac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606163" y="3023484"/>
            <a:ext cx="8070574" cy="646331"/>
          </a:xfrm>
          <a:prstGeom prst="rect">
            <a:avLst/>
          </a:prstGeom>
          <a:noFill/>
        </p:spPr>
        <p:txBody>
          <a:bodyPr wrap="square" rtlCol="0">
            <a:spAutoFit/>
          </a:bodyPr>
          <a:lstStyle/>
          <a:p>
            <a:r>
              <a:rPr lang="en-US" dirty="0" smtClean="0">
                <a:latin typeface="Franklin Gothic Demi Cond" panose="020B0706030402020204" pitchFamily="34" charset="0"/>
              </a:rPr>
              <a:t>Electronic device or very sensitive to voltage . If a large amplitude of voltage is applied ,it may </a:t>
            </a:r>
            <a:r>
              <a:rPr lang="en-US" dirty="0" err="1" smtClean="0">
                <a:latin typeface="Franklin Gothic Demi Cond" panose="020B0706030402020204" pitchFamily="34" charset="0"/>
              </a:rPr>
              <a:t>permenantly</a:t>
            </a:r>
            <a:r>
              <a:rPr lang="en-US" dirty="0" smtClean="0">
                <a:latin typeface="Franklin Gothic Demi Cond" panose="020B0706030402020204" pitchFamily="34" charset="0"/>
              </a:rPr>
              <a:t> destroy the device .so it is essential to protect the electronic circuit </a:t>
            </a:r>
            <a:r>
              <a:rPr lang="en-US" dirty="0" smtClean="0">
                <a:latin typeface="Copperplate Gothic Bold" panose="020E0705020206020404" pitchFamily="34" charset="0"/>
              </a:rPr>
              <a:t>. </a:t>
            </a:r>
            <a:endParaRPr lang="en-US" dirty="0">
              <a:latin typeface="Copperplate Gothic Bold" panose="020E0705020206020404" pitchFamily="34" charset="0"/>
            </a:endParaRPr>
          </a:p>
        </p:txBody>
      </p:sp>
      <p:sp>
        <p:nvSpPr>
          <p:cNvPr id="5" name="Smiley Face 4"/>
          <p:cNvSpPr/>
          <p:nvPr/>
        </p:nvSpPr>
        <p:spPr>
          <a:xfrm>
            <a:off x="1272208" y="4436829"/>
            <a:ext cx="198783" cy="214684"/>
          </a:xfrm>
          <a:prstGeom prst="smileyFac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820849" y="4381169"/>
            <a:ext cx="7172076" cy="646331"/>
          </a:xfrm>
          <a:prstGeom prst="rect">
            <a:avLst/>
          </a:prstGeom>
          <a:noFill/>
        </p:spPr>
        <p:txBody>
          <a:bodyPr wrap="square" rtlCol="0">
            <a:spAutoFit/>
          </a:bodyPr>
          <a:lstStyle/>
          <a:p>
            <a:r>
              <a:rPr lang="en-US" dirty="0" smtClean="0">
                <a:latin typeface="Franklin Gothic Demi Cond" panose="020B0706030402020204" pitchFamily="34" charset="0"/>
              </a:rPr>
              <a:t>The protection of electronic device can be </a:t>
            </a:r>
            <a:r>
              <a:rPr lang="en-US" dirty="0" err="1" smtClean="0">
                <a:latin typeface="Franklin Gothic Demi Cond" panose="020B0706030402020204" pitchFamily="34" charset="0"/>
              </a:rPr>
              <a:t>acheived</a:t>
            </a:r>
            <a:r>
              <a:rPr lang="en-US" dirty="0" smtClean="0">
                <a:latin typeface="Franklin Gothic Demi Cond" panose="020B0706030402020204" pitchFamily="34" charset="0"/>
              </a:rPr>
              <a:t>   by the using the clipper circuit (by reducing the voltage )</a:t>
            </a:r>
            <a:endParaRPr lang="en-US" dirty="0">
              <a:latin typeface="Franklin Gothic Demi Cond" panose="020B0706030402020204" pitchFamily="34" charset="0"/>
            </a:endParaRPr>
          </a:p>
        </p:txBody>
      </p:sp>
    </p:spTree>
    <p:extLst>
      <p:ext uri="{BB962C8B-B14F-4D97-AF65-F5344CB8AC3E}">
        <p14:creationId xmlns:p14="http://schemas.microsoft.com/office/powerpoint/2010/main" val="901895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randombar(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530379" y="644056"/>
            <a:ext cx="4335354" cy="523220"/>
          </a:xfrm>
          <a:prstGeom prst="rect">
            <a:avLst/>
          </a:prstGeom>
          <a:noFill/>
        </p:spPr>
        <p:txBody>
          <a:bodyPr wrap="none" rtlCol="0">
            <a:spAutoFit/>
          </a:bodyPr>
          <a:lstStyle/>
          <a:p>
            <a:r>
              <a:rPr lang="en-US" sz="2800" b="1" dirty="0" smtClean="0"/>
              <a:t>“Example of clipper circuit” </a:t>
            </a:r>
            <a:endParaRPr lang="en-US" sz="2800" b="1" dirty="0"/>
          </a:p>
        </p:txBody>
      </p:sp>
      <p:sp>
        <p:nvSpPr>
          <p:cNvPr id="4" name="TextBox 3"/>
          <p:cNvSpPr txBox="1"/>
          <p:nvPr/>
        </p:nvSpPr>
        <p:spPr>
          <a:xfrm>
            <a:off x="1455087" y="2162754"/>
            <a:ext cx="4651515" cy="523220"/>
          </a:xfrm>
          <a:prstGeom prst="rect">
            <a:avLst/>
          </a:prstGeom>
          <a:noFill/>
        </p:spPr>
        <p:txBody>
          <a:bodyPr wrap="square" rtlCol="0">
            <a:spAutoFit/>
          </a:bodyPr>
          <a:lstStyle/>
          <a:p>
            <a:pPr marL="285750" indent="-285750">
              <a:buFont typeface="Wingdings" panose="05000000000000000000" pitchFamily="2" charset="2"/>
              <a:buChar char="v"/>
            </a:pPr>
            <a:r>
              <a:rPr lang="en-US" sz="2800" dirty="0" smtClean="0"/>
              <a:t>Half wave rectifier </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438" y="3184445"/>
            <a:ext cx="9276148" cy="2612056"/>
          </a:xfrm>
          <a:prstGeom prst="rect">
            <a:avLst/>
          </a:prstGeom>
        </p:spPr>
      </p:pic>
    </p:spTree>
    <p:extLst>
      <p:ext uri="{BB962C8B-B14F-4D97-AF65-F5344CB8AC3E}">
        <p14:creationId xmlns:p14="http://schemas.microsoft.com/office/powerpoint/2010/main" val="38629795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2957884" y="317389"/>
            <a:ext cx="4834394" cy="584775"/>
          </a:xfrm>
          <a:prstGeom prst="rect">
            <a:avLst/>
          </a:prstGeom>
          <a:noFill/>
        </p:spPr>
        <p:txBody>
          <a:bodyPr wrap="square" rtlCol="0">
            <a:spAutoFit/>
          </a:bodyPr>
          <a:lstStyle/>
          <a:p>
            <a:r>
              <a:rPr lang="en-US" sz="3200" dirty="0" smtClean="0"/>
              <a:t>Types of clipper circuit </a:t>
            </a:r>
            <a:endParaRPr lang="en-US" sz="3200" dirty="0"/>
          </a:p>
        </p:txBody>
      </p:sp>
      <p:cxnSp>
        <p:nvCxnSpPr>
          <p:cNvPr id="4" name="Straight Arrow Connector 3"/>
          <p:cNvCxnSpPr/>
          <p:nvPr/>
        </p:nvCxnSpPr>
        <p:spPr>
          <a:xfrm>
            <a:off x="5207441" y="825964"/>
            <a:ext cx="0" cy="317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113096" y="1142760"/>
            <a:ext cx="309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5207441" y="1052664"/>
            <a:ext cx="3695369" cy="90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151196" y="1142760"/>
            <a:ext cx="0" cy="38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8895189" y="1044226"/>
            <a:ext cx="7621" cy="412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9474475" y="2381425"/>
            <a:ext cx="2306045" cy="500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Shunt </a:t>
            </a:r>
            <a:r>
              <a:rPr lang="en-US" dirty="0"/>
              <a:t>negative clipper  </a:t>
            </a:r>
          </a:p>
          <a:p>
            <a:pPr algn="ctr"/>
            <a:endParaRPr lang="en-US" dirty="0"/>
          </a:p>
        </p:txBody>
      </p:sp>
      <p:sp>
        <p:nvSpPr>
          <p:cNvPr id="57" name="Rectangle 56"/>
          <p:cNvSpPr/>
          <p:nvPr/>
        </p:nvSpPr>
        <p:spPr>
          <a:xfrm>
            <a:off x="206434" y="2269371"/>
            <a:ext cx="2275770" cy="608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Series positive clipper  </a:t>
            </a:r>
          </a:p>
          <a:p>
            <a:pPr algn="ctr"/>
            <a:endParaRPr lang="en-US" dirty="0"/>
          </a:p>
        </p:txBody>
      </p:sp>
      <p:sp>
        <p:nvSpPr>
          <p:cNvPr id="58" name="Rectangle 57"/>
          <p:cNvSpPr/>
          <p:nvPr/>
        </p:nvSpPr>
        <p:spPr>
          <a:xfrm>
            <a:off x="6788258" y="2379344"/>
            <a:ext cx="2328077" cy="5930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Shunt positive </a:t>
            </a:r>
            <a:r>
              <a:rPr lang="en-US" dirty="0"/>
              <a:t>clipper  </a:t>
            </a:r>
          </a:p>
          <a:p>
            <a:pPr algn="ctr"/>
            <a:endParaRPr lang="en-US" dirty="0"/>
          </a:p>
        </p:txBody>
      </p:sp>
      <p:sp>
        <p:nvSpPr>
          <p:cNvPr id="59" name="Rectangle 58"/>
          <p:cNvSpPr/>
          <p:nvPr/>
        </p:nvSpPr>
        <p:spPr>
          <a:xfrm>
            <a:off x="3302374" y="2341755"/>
            <a:ext cx="2329402" cy="494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Series </a:t>
            </a:r>
            <a:r>
              <a:rPr lang="en-US" dirty="0" smtClean="0"/>
              <a:t>negative clipper  </a:t>
            </a:r>
            <a:endParaRPr lang="en-US" dirty="0"/>
          </a:p>
          <a:p>
            <a:pPr algn="ctr"/>
            <a:endParaRPr lang="en-US" dirty="0"/>
          </a:p>
        </p:txBody>
      </p:sp>
      <p:sp>
        <p:nvSpPr>
          <p:cNvPr id="64" name="Rectangle 63"/>
          <p:cNvSpPr/>
          <p:nvPr/>
        </p:nvSpPr>
        <p:spPr>
          <a:xfrm>
            <a:off x="7727488" y="1456904"/>
            <a:ext cx="2275770" cy="608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Shunt diode  clipper  </a:t>
            </a:r>
            <a:endParaRPr lang="en-US" dirty="0"/>
          </a:p>
          <a:p>
            <a:pPr algn="ctr"/>
            <a:endParaRPr lang="en-US" dirty="0"/>
          </a:p>
        </p:txBody>
      </p:sp>
      <p:sp>
        <p:nvSpPr>
          <p:cNvPr id="65" name="Rectangle 64"/>
          <p:cNvSpPr/>
          <p:nvPr/>
        </p:nvSpPr>
        <p:spPr>
          <a:xfrm>
            <a:off x="1236862" y="1523188"/>
            <a:ext cx="2275770" cy="608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Series </a:t>
            </a:r>
            <a:r>
              <a:rPr lang="en-US" dirty="0" smtClean="0"/>
              <a:t>diode clipper  </a:t>
            </a:r>
            <a:endParaRPr lang="en-US" dirty="0"/>
          </a:p>
          <a:p>
            <a:pPr algn="ctr"/>
            <a:endParaRPr lang="en-US" dirty="0"/>
          </a:p>
        </p:txBody>
      </p:sp>
      <p:sp>
        <p:nvSpPr>
          <p:cNvPr id="73" name="Oval 72"/>
          <p:cNvSpPr/>
          <p:nvPr/>
        </p:nvSpPr>
        <p:spPr>
          <a:xfrm>
            <a:off x="-45997" y="3093305"/>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
        <p:nvSpPr>
          <p:cNvPr id="74" name="Oval 73"/>
          <p:cNvSpPr/>
          <p:nvPr/>
        </p:nvSpPr>
        <p:spPr>
          <a:xfrm>
            <a:off x="9474475" y="3112636"/>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
        <p:nvSpPr>
          <p:cNvPr id="75" name="Oval 74"/>
          <p:cNvSpPr/>
          <p:nvPr/>
        </p:nvSpPr>
        <p:spPr>
          <a:xfrm>
            <a:off x="6424587" y="3112636"/>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
        <p:nvSpPr>
          <p:cNvPr id="76" name="Oval 75"/>
          <p:cNvSpPr/>
          <p:nvPr/>
        </p:nvSpPr>
        <p:spPr>
          <a:xfrm>
            <a:off x="3196131" y="3062107"/>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Tree>
    <p:extLst>
      <p:ext uri="{BB962C8B-B14F-4D97-AF65-F5344CB8AC3E}">
        <p14:creationId xmlns:p14="http://schemas.microsoft.com/office/powerpoint/2010/main" val="21721683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2131" y="1167870"/>
            <a:ext cx="8559249" cy="646331"/>
          </a:xfrm>
          <a:prstGeom prst="rect">
            <a:avLst/>
          </a:prstGeom>
          <a:noFill/>
        </p:spPr>
        <p:txBody>
          <a:bodyPr wrap="square" rtlCol="0">
            <a:spAutoFit/>
          </a:bodyPr>
          <a:lstStyle/>
          <a:p>
            <a:r>
              <a:rPr lang="en-US" dirty="0"/>
              <a:t>In series clipper circuits, the diode is connected in series with the output. In such clippers, the input signal appears at the output when the diode is forward biased and conducting. </a:t>
            </a:r>
          </a:p>
        </p:txBody>
      </p:sp>
      <p:sp>
        <p:nvSpPr>
          <p:cNvPr id="6" name="TextBox 5"/>
          <p:cNvSpPr txBox="1"/>
          <p:nvPr/>
        </p:nvSpPr>
        <p:spPr>
          <a:xfrm>
            <a:off x="652007" y="1976282"/>
            <a:ext cx="7231380" cy="923330"/>
          </a:xfrm>
          <a:prstGeom prst="rect">
            <a:avLst/>
          </a:prstGeom>
          <a:noFill/>
        </p:spPr>
        <p:txBody>
          <a:bodyPr wrap="square" rtlCol="0">
            <a:spAutoFit/>
          </a:bodyPr>
          <a:lstStyle/>
          <a:p>
            <a:pPr marL="285750" indent="-285750">
              <a:buFont typeface="Wingdings" panose="05000000000000000000" pitchFamily="2" charset="2"/>
              <a:buChar char="ü"/>
            </a:pPr>
            <a:r>
              <a:rPr lang="en-US" dirty="0" smtClean="0"/>
              <a:t>It </a:t>
            </a:r>
            <a:r>
              <a:rPr lang="en-US" dirty="0"/>
              <a:t>is divided into positive and negative clippers</a:t>
            </a:r>
            <a:r>
              <a:rPr lang="en-US" dirty="0" smtClean="0"/>
              <a:t>.</a:t>
            </a:r>
          </a:p>
          <a:p>
            <a:endParaRPr lang="en-US" dirty="0"/>
          </a:p>
          <a:p>
            <a:r>
              <a:rPr lang="en-US" dirty="0" smtClean="0"/>
              <a:t> </a:t>
            </a:r>
            <a:endParaRPr lang="en-US" dirty="0"/>
          </a:p>
        </p:txBody>
      </p:sp>
      <p:sp>
        <p:nvSpPr>
          <p:cNvPr id="8" name="Rectangle 7"/>
          <p:cNvSpPr/>
          <p:nvPr/>
        </p:nvSpPr>
        <p:spPr>
          <a:xfrm>
            <a:off x="5650064" y="2595265"/>
            <a:ext cx="45719" cy="376743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04800" y="2595265"/>
            <a:ext cx="5212080" cy="1477328"/>
          </a:xfrm>
          <a:prstGeom prst="rect">
            <a:avLst/>
          </a:prstGeom>
        </p:spPr>
        <p:txBody>
          <a:bodyPr wrap="square">
            <a:spAutoFit/>
          </a:bodyPr>
          <a:lstStyle/>
          <a:p>
            <a:r>
              <a:rPr lang="en-US" b="1" dirty="0"/>
              <a:t>Series Positive Clippers</a:t>
            </a:r>
          </a:p>
          <a:p>
            <a:pPr marL="285750" indent="-285750">
              <a:buFont typeface="Wingdings" panose="05000000000000000000" pitchFamily="2" charset="2"/>
              <a:buChar char="Ø"/>
            </a:pPr>
            <a:r>
              <a:rPr lang="en-US" dirty="0" smtClean="0"/>
              <a:t>Series </a:t>
            </a:r>
            <a:r>
              <a:rPr lang="en-US" dirty="0"/>
              <a:t>positive clippers remove or clips the positive half of the </a:t>
            </a:r>
            <a:r>
              <a:rPr lang="en-US" dirty="0" smtClean="0"/>
              <a:t>waveform</a:t>
            </a:r>
            <a:r>
              <a:rPr lang="en-US" dirty="0"/>
              <a:t>. In a series positive clipper, the diode is in reverse biased and in series with the output as shown in the figure below.</a:t>
            </a:r>
          </a:p>
        </p:txBody>
      </p:sp>
      <p:sp>
        <p:nvSpPr>
          <p:cNvPr id="10" name="Rectangle 9"/>
          <p:cNvSpPr/>
          <p:nvPr/>
        </p:nvSpPr>
        <p:spPr>
          <a:xfrm>
            <a:off x="5753100" y="2624328"/>
            <a:ext cx="6096000" cy="307777"/>
          </a:xfrm>
          <a:prstGeom prst="rect">
            <a:avLst/>
          </a:prstGeom>
        </p:spPr>
        <p:txBody>
          <a:bodyPr>
            <a:spAutoFit/>
          </a:bodyPr>
          <a:lstStyle/>
          <a:p>
            <a:pPr algn="just"/>
            <a:r>
              <a:rPr lang="en-US" sz="1400" b="1" dirty="0">
                <a:solidFill>
                  <a:srgbClr val="2C2F34"/>
                </a:solidFill>
                <a:latin typeface="arial" panose="020B0604020202020204" pitchFamily="34" charset="0"/>
              </a:rPr>
              <a:t>Series Negative </a:t>
            </a:r>
            <a:r>
              <a:rPr lang="en-US" sz="1400" b="1" dirty="0" smtClean="0">
                <a:solidFill>
                  <a:srgbClr val="2C2F34"/>
                </a:solidFill>
                <a:latin typeface="arial" panose="020B0604020202020204" pitchFamily="34" charset="0"/>
              </a:rPr>
              <a:t>Clippers</a:t>
            </a:r>
            <a:endParaRPr lang="en-US" b="1" dirty="0">
              <a:solidFill>
                <a:srgbClr val="2C2F34"/>
              </a:solidFill>
              <a:latin typeface="Arial" panose="020B0604020202020204" pitchFamily="34" charset="0"/>
            </a:endParaRPr>
          </a:p>
        </p:txBody>
      </p:sp>
      <p:pic>
        <p:nvPicPr>
          <p:cNvPr id="11" name="Picture 10"/>
          <p:cNvPicPr>
            <a:picLocks noChangeAspect="1"/>
          </p:cNvPicPr>
          <p:nvPr/>
        </p:nvPicPr>
        <p:blipFill>
          <a:blip r:embed="rId2"/>
          <a:stretch>
            <a:fillRect/>
          </a:stretch>
        </p:blipFill>
        <p:spPr>
          <a:xfrm>
            <a:off x="5939486" y="4141172"/>
            <a:ext cx="5952021" cy="2023349"/>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715" y="4119222"/>
            <a:ext cx="5125497" cy="2067248"/>
          </a:xfrm>
          <a:prstGeom prst="rect">
            <a:avLst/>
          </a:prstGeom>
        </p:spPr>
      </p:pic>
      <p:sp>
        <p:nvSpPr>
          <p:cNvPr id="13" name="Rectangle 12"/>
          <p:cNvSpPr/>
          <p:nvPr/>
        </p:nvSpPr>
        <p:spPr>
          <a:xfrm>
            <a:off x="5828967" y="3023268"/>
            <a:ext cx="6096000" cy="923330"/>
          </a:xfrm>
          <a:prstGeom prst="rect">
            <a:avLst/>
          </a:prstGeom>
        </p:spPr>
        <p:txBody>
          <a:bodyPr>
            <a:spAutoFit/>
          </a:bodyPr>
          <a:lstStyle/>
          <a:p>
            <a:pPr marL="285750" indent="-285750">
              <a:buFont typeface="Wingdings" panose="05000000000000000000" pitchFamily="2" charset="2"/>
              <a:buChar char="Ø"/>
            </a:pPr>
            <a:r>
              <a:rPr lang="en-US" dirty="0">
                <a:solidFill>
                  <a:srgbClr val="2C2F34"/>
                </a:solidFill>
                <a:latin typeface="arial" panose="020B0604020202020204" pitchFamily="34" charset="0"/>
              </a:rPr>
              <a:t>During positive half cycle, the diode is forward biased due to the input voltage. Therefore, the input signal passes through the diode and appears at the output.</a:t>
            </a:r>
            <a:endParaRPr lang="en-US" dirty="0"/>
          </a:p>
        </p:txBody>
      </p:sp>
      <p:sp>
        <p:nvSpPr>
          <p:cNvPr id="14" name="Rounded Rectangle 13"/>
          <p:cNvSpPr/>
          <p:nvPr/>
        </p:nvSpPr>
        <p:spPr>
          <a:xfrm>
            <a:off x="3331597" y="246490"/>
            <a:ext cx="4890052" cy="9213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“Series </a:t>
            </a:r>
            <a:r>
              <a:rPr lang="en-US" sz="2800" dirty="0"/>
              <a:t>diode clipper </a:t>
            </a:r>
            <a:r>
              <a:rPr lang="en-US" sz="2800" dirty="0" smtClean="0"/>
              <a:t>“</a:t>
            </a:r>
            <a:endParaRPr lang="en-US" sz="2800" dirty="0"/>
          </a:p>
          <a:p>
            <a:pPr algn="ctr"/>
            <a:endParaRPr lang="en-US" dirty="0"/>
          </a:p>
        </p:txBody>
      </p:sp>
    </p:spTree>
    <p:extLst>
      <p:ext uri="{BB962C8B-B14F-4D97-AF65-F5344CB8AC3E}">
        <p14:creationId xmlns:p14="http://schemas.microsoft.com/office/powerpoint/2010/main" val="22070320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92140" y="190500"/>
            <a:ext cx="45719" cy="61569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87680" y="350996"/>
            <a:ext cx="5074920" cy="1569660"/>
          </a:xfrm>
          <a:prstGeom prst="rect">
            <a:avLst/>
          </a:prstGeom>
        </p:spPr>
        <p:txBody>
          <a:bodyPr wrap="square">
            <a:spAutoFit/>
          </a:bodyPr>
          <a:lstStyle/>
          <a:p>
            <a:pPr marL="285750" indent="-285750">
              <a:buFont typeface="Wingdings" panose="05000000000000000000" pitchFamily="2" charset="2"/>
              <a:buChar char="Ø"/>
            </a:pPr>
            <a:r>
              <a:rPr lang="en-US" sz="1600" dirty="0">
                <a:solidFill>
                  <a:srgbClr val="2C2F34"/>
                </a:solidFill>
                <a:latin typeface="arial" panose="020B0604020202020204" pitchFamily="34" charset="0"/>
              </a:rPr>
              <a:t>During the negative half-cycle, the voltage at point A is negative than point B. The diode becomes forward bias and the signal pass through it. The signal appears across the </a:t>
            </a:r>
            <a:r>
              <a:rPr lang="en-US" sz="1600" dirty="0" err="1">
                <a:solidFill>
                  <a:srgbClr val="2C2F34"/>
                </a:solidFill>
                <a:latin typeface="arial" panose="020B0604020202020204" pitchFamily="34" charset="0"/>
              </a:rPr>
              <a:t>Rl</a:t>
            </a:r>
            <a:r>
              <a:rPr lang="en-US" sz="1600" dirty="0">
                <a:solidFill>
                  <a:srgbClr val="2C2F34"/>
                </a:solidFill>
                <a:latin typeface="arial" panose="020B0604020202020204" pitchFamily="34" charset="0"/>
              </a:rPr>
              <a:t>. Therefore, the negative half cycle passes through the circuit and appears at the output.</a:t>
            </a:r>
            <a:endParaRPr lang="en-US" sz="1600" dirty="0"/>
          </a:p>
        </p:txBody>
      </p:sp>
      <p:sp>
        <p:nvSpPr>
          <p:cNvPr id="5" name="Rectangle 4"/>
          <p:cNvSpPr/>
          <p:nvPr/>
        </p:nvSpPr>
        <p:spPr>
          <a:xfrm>
            <a:off x="5827642" y="451396"/>
            <a:ext cx="6096000" cy="1200329"/>
          </a:xfrm>
          <a:prstGeom prst="rect">
            <a:avLst/>
          </a:prstGeom>
        </p:spPr>
        <p:txBody>
          <a:bodyPr>
            <a:spAutoFit/>
          </a:bodyPr>
          <a:lstStyle/>
          <a:p>
            <a:pPr marL="285750" indent="-285750">
              <a:buFont typeface="Wingdings" panose="05000000000000000000" pitchFamily="2" charset="2"/>
              <a:buChar char="Ø"/>
            </a:pPr>
            <a:r>
              <a:rPr lang="en-US" dirty="0">
                <a:solidFill>
                  <a:srgbClr val="2C2F34"/>
                </a:solidFill>
                <a:latin typeface="arial" panose="020B0604020202020204" pitchFamily="34" charset="0"/>
              </a:rPr>
              <a:t>During the negative half cycle, the diode becomes reverse-biased and it does not conduct. Therefore, there is no voltage at the output and the negative half cycle is clipped from the input waveform</a:t>
            </a:r>
            <a:endParaRPr lang="en-US" dirty="0"/>
          </a:p>
        </p:txBody>
      </p:sp>
      <p:sp>
        <p:nvSpPr>
          <p:cNvPr id="6" name="Rectangle 5"/>
          <p:cNvSpPr/>
          <p:nvPr/>
        </p:nvSpPr>
        <p:spPr>
          <a:xfrm>
            <a:off x="218675" y="1986959"/>
            <a:ext cx="3890809" cy="369332"/>
          </a:xfrm>
          <a:prstGeom prst="rect">
            <a:avLst/>
          </a:prstGeom>
        </p:spPr>
        <p:txBody>
          <a:bodyPr wrap="none">
            <a:spAutoFit/>
          </a:bodyPr>
          <a:lstStyle/>
          <a:p>
            <a:pPr algn="just"/>
            <a:r>
              <a:rPr lang="en-US" b="1" u="sng" dirty="0">
                <a:solidFill>
                  <a:srgbClr val="2C2F34"/>
                </a:solidFill>
                <a:latin typeface="arial" panose="020B0604020202020204" pitchFamily="34" charset="0"/>
              </a:rPr>
              <a:t>Series Positive Clippers with Bias</a:t>
            </a:r>
            <a:endParaRPr lang="en-US" b="1" i="0" u="sng" dirty="0">
              <a:solidFill>
                <a:srgbClr val="2C2F34"/>
              </a:solidFill>
              <a:effectLst/>
              <a:latin typeface="Arial" panose="020B0604020202020204" pitchFamily="34" charset="0"/>
            </a:endParaRPr>
          </a:p>
        </p:txBody>
      </p:sp>
      <p:sp>
        <p:nvSpPr>
          <p:cNvPr id="7" name="Rectangle 6"/>
          <p:cNvSpPr/>
          <p:nvPr/>
        </p:nvSpPr>
        <p:spPr>
          <a:xfrm>
            <a:off x="332974" y="2422594"/>
            <a:ext cx="5229625" cy="1692771"/>
          </a:xfrm>
          <a:prstGeom prst="rect">
            <a:avLst/>
          </a:prstGeom>
        </p:spPr>
        <p:txBody>
          <a:bodyPr wrap="square">
            <a:spAutoFit/>
          </a:bodyPr>
          <a:lstStyle/>
          <a:p>
            <a:pPr algn="just"/>
            <a:r>
              <a:rPr lang="en-US" sz="1400" b="1" dirty="0">
                <a:solidFill>
                  <a:srgbClr val="2C2F34"/>
                </a:solidFill>
                <a:latin typeface="arial" panose="020B0604020202020204" pitchFamily="34" charset="0"/>
              </a:rPr>
              <a:t>Positive Bias</a:t>
            </a:r>
            <a:endParaRPr lang="en-US"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In such a positive clipper circuit, the positive of the battery is connected to the P side of the diode as shown in the figure below.</a:t>
            </a:r>
            <a:endParaRPr lang="en-US" dirty="0">
              <a:solidFill>
                <a:srgbClr val="2C2F34"/>
              </a:solidFill>
              <a:latin typeface="Arial" panose="020B0604020202020204" pitchFamily="34" charset="0"/>
            </a:endParaRPr>
          </a:p>
          <a:p>
            <a:r>
              <a:rPr lang="en-US" dirty="0">
                <a:solidFill>
                  <a:srgbClr val="0041EE"/>
                </a:solidFill>
                <a:latin typeface="Arial" panose="020B0604020202020204" pitchFamily="34" charset="0"/>
                <a:hlinkClick r:id="rId2"/>
              </a:rPr>
              <a:t/>
            </a:r>
            <a:br>
              <a:rPr lang="en-US" dirty="0">
                <a:solidFill>
                  <a:srgbClr val="0041EE"/>
                </a:solidFill>
                <a:latin typeface="Arial" panose="020B0604020202020204" pitchFamily="34" charset="0"/>
                <a:hlinkClick r:id="rId2"/>
              </a:rPr>
            </a:br>
            <a:endParaRPr lang="en-US" dirty="0"/>
          </a:p>
        </p:txBody>
      </p:sp>
      <p:pic>
        <p:nvPicPr>
          <p:cNvPr id="8" name="Picture 7"/>
          <p:cNvPicPr>
            <a:picLocks noChangeAspect="1"/>
          </p:cNvPicPr>
          <p:nvPr/>
        </p:nvPicPr>
        <p:blipFill>
          <a:blip r:embed="rId3"/>
          <a:stretch>
            <a:fillRect/>
          </a:stretch>
        </p:blipFill>
        <p:spPr>
          <a:xfrm>
            <a:off x="518874" y="4014785"/>
            <a:ext cx="5012532" cy="2332673"/>
          </a:xfrm>
          <a:prstGeom prst="rect">
            <a:avLst/>
          </a:prstGeom>
        </p:spPr>
      </p:pic>
      <p:sp>
        <p:nvSpPr>
          <p:cNvPr id="9" name="Rectangle 8"/>
          <p:cNvSpPr/>
          <p:nvPr/>
        </p:nvSpPr>
        <p:spPr>
          <a:xfrm>
            <a:off x="6119854" y="1862733"/>
            <a:ext cx="6096000" cy="338554"/>
          </a:xfrm>
          <a:prstGeom prst="rect">
            <a:avLst/>
          </a:prstGeom>
        </p:spPr>
        <p:txBody>
          <a:bodyPr>
            <a:spAutoFit/>
          </a:bodyPr>
          <a:lstStyle/>
          <a:p>
            <a:pPr algn="just"/>
            <a:r>
              <a:rPr lang="en-US" sz="1600" b="1" u="sng" dirty="0">
                <a:solidFill>
                  <a:srgbClr val="2C2F34"/>
                </a:solidFill>
                <a:latin typeface="arial" panose="020B0604020202020204" pitchFamily="34" charset="0"/>
              </a:rPr>
              <a:t>Series Negative </a:t>
            </a:r>
            <a:r>
              <a:rPr lang="en-US" sz="1600" b="1" u="sng" dirty="0" smtClean="0">
                <a:solidFill>
                  <a:srgbClr val="2C2F34"/>
                </a:solidFill>
                <a:latin typeface="arial" panose="020B0604020202020204" pitchFamily="34" charset="0"/>
              </a:rPr>
              <a:t>Clippers with bias</a:t>
            </a:r>
            <a:r>
              <a:rPr lang="en-US" sz="1400" b="1" u="sng" dirty="0" smtClean="0">
                <a:solidFill>
                  <a:srgbClr val="2C2F34"/>
                </a:solidFill>
                <a:latin typeface="arial" panose="020B0604020202020204" pitchFamily="34" charset="0"/>
              </a:rPr>
              <a:t> </a:t>
            </a:r>
            <a:endParaRPr lang="en-US" b="1" u="sng" dirty="0">
              <a:solidFill>
                <a:srgbClr val="2C2F34"/>
              </a:solidFill>
              <a:latin typeface="Arial" panose="020B0604020202020204" pitchFamily="34" charset="0"/>
            </a:endParaRPr>
          </a:p>
        </p:txBody>
      </p:sp>
      <p:sp>
        <p:nvSpPr>
          <p:cNvPr id="11" name="Rectangle 10"/>
          <p:cNvSpPr/>
          <p:nvPr/>
        </p:nvSpPr>
        <p:spPr>
          <a:xfrm>
            <a:off x="6096000" y="2381518"/>
            <a:ext cx="5785899" cy="1569660"/>
          </a:xfrm>
          <a:prstGeom prst="rect">
            <a:avLst/>
          </a:prstGeom>
        </p:spPr>
        <p:txBody>
          <a:bodyPr wrap="square">
            <a:spAutoFit/>
          </a:bodyPr>
          <a:lstStyle/>
          <a:p>
            <a:r>
              <a:rPr lang="en-US" sz="1600" dirty="0">
                <a:solidFill>
                  <a:srgbClr val="2C2F34"/>
                </a:solidFill>
                <a:latin typeface="arial" panose="020B0604020202020204" pitchFamily="34" charset="0"/>
              </a:rPr>
              <a:t>During the positive half cycle, the diode is forward biased due to input signal voltage. While it is reversed biased due to the battery voltage. the state of the diode depends on both the voltage sources. Therefore, the diode will be forward biased and conduct only if the input voltage is greater than the battery voltage.</a:t>
            </a:r>
            <a:endParaRPr lang="en-US" sz="1600" dirty="0"/>
          </a:p>
        </p:txBody>
      </p:sp>
      <p:sp>
        <p:nvSpPr>
          <p:cNvPr id="12" name="Rectangle 11"/>
          <p:cNvSpPr/>
          <p:nvPr/>
        </p:nvSpPr>
        <p:spPr>
          <a:xfrm>
            <a:off x="6096000" y="2133243"/>
            <a:ext cx="1620957" cy="369332"/>
          </a:xfrm>
          <a:prstGeom prst="rect">
            <a:avLst/>
          </a:prstGeom>
        </p:spPr>
        <p:txBody>
          <a:bodyPr wrap="none">
            <a:spAutoFit/>
          </a:bodyPr>
          <a:lstStyle/>
          <a:p>
            <a:pPr algn="just"/>
            <a:r>
              <a:rPr lang="en-US" b="1" dirty="0">
                <a:solidFill>
                  <a:srgbClr val="2C2F34"/>
                </a:solidFill>
                <a:latin typeface="arial" panose="020B0604020202020204" pitchFamily="34" charset="0"/>
              </a:rPr>
              <a:t>Positive Bias</a:t>
            </a:r>
            <a:endParaRPr lang="en-US" b="1" dirty="0">
              <a:solidFill>
                <a:srgbClr val="2C2F34"/>
              </a:solidFill>
              <a:latin typeface="Arial" panose="020B0604020202020204" pitchFamily="34" charset="0"/>
            </a:endParaRPr>
          </a:p>
        </p:txBody>
      </p:sp>
      <p:pic>
        <p:nvPicPr>
          <p:cNvPr id="2" name="Picture 1"/>
          <p:cNvPicPr>
            <a:picLocks noChangeAspect="1"/>
          </p:cNvPicPr>
          <p:nvPr/>
        </p:nvPicPr>
        <p:blipFill>
          <a:blip r:embed="rId4"/>
          <a:stretch>
            <a:fillRect/>
          </a:stretch>
        </p:blipFill>
        <p:spPr>
          <a:xfrm>
            <a:off x="6206987" y="3907390"/>
            <a:ext cx="4948693" cy="2547464"/>
          </a:xfrm>
          <a:prstGeom prst="rect">
            <a:avLst/>
          </a:prstGeom>
        </p:spPr>
      </p:pic>
    </p:spTree>
    <p:extLst>
      <p:ext uri="{BB962C8B-B14F-4D97-AF65-F5344CB8AC3E}">
        <p14:creationId xmlns:p14="http://schemas.microsoft.com/office/powerpoint/2010/main" val="36832018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080" y="398056"/>
            <a:ext cx="5539740" cy="1200329"/>
          </a:xfrm>
          <a:prstGeom prst="rect">
            <a:avLst/>
          </a:prstGeom>
        </p:spPr>
        <p:txBody>
          <a:bodyPr wrap="square">
            <a:spAutoFit/>
          </a:bodyPr>
          <a:lstStyle/>
          <a:p>
            <a:r>
              <a:rPr lang="en-US" dirty="0">
                <a:solidFill>
                  <a:srgbClr val="2C2F34"/>
                </a:solidFill>
                <a:latin typeface="arial" panose="020B0604020202020204" pitchFamily="34" charset="0"/>
              </a:rPr>
              <a:t>During the negative half cycle, the diode is forward biased due to the input voltage as well as the battery voltage. Therefore, the input signal passes through the diode and it appears at the output</a:t>
            </a:r>
            <a:endParaRPr lang="en-US" dirty="0"/>
          </a:p>
        </p:txBody>
      </p:sp>
      <p:sp>
        <p:nvSpPr>
          <p:cNvPr id="3" name="Rectangle 2"/>
          <p:cNvSpPr/>
          <p:nvPr/>
        </p:nvSpPr>
        <p:spPr>
          <a:xfrm>
            <a:off x="5852160" y="129540"/>
            <a:ext cx="45720" cy="61569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190019" y="1860807"/>
            <a:ext cx="1697901" cy="369332"/>
          </a:xfrm>
          <a:prstGeom prst="rect">
            <a:avLst/>
          </a:prstGeom>
        </p:spPr>
        <p:txBody>
          <a:bodyPr wrap="none">
            <a:spAutoFit/>
          </a:bodyPr>
          <a:lstStyle/>
          <a:p>
            <a:r>
              <a:rPr lang="en-US" b="1" dirty="0">
                <a:solidFill>
                  <a:srgbClr val="2C2F34"/>
                </a:solidFill>
                <a:latin typeface="arial" panose="020B0604020202020204" pitchFamily="34" charset="0"/>
              </a:rPr>
              <a:t>Negative Bias</a:t>
            </a:r>
            <a:endParaRPr lang="en-US" dirty="0"/>
          </a:p>
        </p:txBody>
      </p:sp>
      <p:sp>
        <p:nvSpPr>
          <p:cNvPr id="5" name="Rectangle 4"/>
          <p:cNvSpPr/>
          <p:nvPr/>
        </p:nvSpPr>
        <p:spPr>
          <a:xfrm>
            <a:off x="368411" y="2230139"/>
            <a:ext cx="5430409" cy="1477328"/>
          </a:xfrm>
          <a:prstGeom prst="rect">
            <a:avLst/>
          </a:prstGeom>
        </p:spPr>
        <p:txBody>
          <a:bodyPr wrap="square">
            <a:spAutoFit/>
          </a:bodyPr>
          <a:lstStyle/>
          <a:p>
            <a:r>
              <a:rPr lang="en-US" dirty="0">
                <a:solidFill>
                  <a:srgbClr val="2C2F34"/>
                </a:solidFill>
                <a:latin typeface="arial" panose="020B0604020202020204" pitchFamily="34" charset="0"/>
              </a:rPr>
              <a:t>During the positive half cycle, the diode is reversed biased due to the input voltage and the negative battery as well. Therefore, in the positive half cycle, the diode does not conduct and only the negative battery voltage appears at the output.</a:t>
            </a:r>
            <a:endParaRPr lang="en-US" dirty="0"/>
          </a:p>
        </p:txBody>
      </p:sp>
      <p:pic>
        <p:nvPicPr>
          <p:cNvPr id="6" name="Picture 5"/>
          <p:cNvPicPr>
            <a:picLocks noChangeAspect="1"/>
          </p:cNvPicPr>
          <p:nvPr/>
        </p:nvPicPr>
        <p:blipFill>
          <a:blip r:embed="rId2"/>
          <a:stretch>
            <a:fillRect/>
          </a:stretch>
        </p:blipFill>
        <p:spPr>
          <a:xfrm>
            <a:off x="116785" y="3707466"/>
            <a:ext cx="5552495" cy="2669481"/>
          </a:xfrm>
          <a:prstGeom prst="rect">
            <a:avLst/>
          </a:prstGeom>
        </p:spPr>
      </p:pic>
      <p:sp>
        <p:nvSpPr>
          <p:cNvPr id="7" name="Rectangle 6"/>
          <p:cNvSpPr/>
          <p:nvPr/>
        </p:nvSpPr>
        <p:spPr>
          <a:xfrm>
            <a:off x="5951220" y="398055"/>
            <a:ext cx="6096000" cy="1200329"/>
          </a:xfrm>
          <a:prstGeom prst="rect">
            <a:avLst/>
          </a:prstGeom>
        </p:spPr>
        <p:txBody>
          <a:bodyPr>
            <a:spAutoFit/>
          </a:bodyPr>
          <a:lstStyle/>
          <a:p>
            <a:r>
              <a:rPr lang="en-US" dirty="0">
                <a:solidFill>
                  <a:srgbClr val="2C2F34"/>
                </a:solidFill>
                <a:latin typeface="arial" panose="020B0604020202020204" pitchFamily="34" charset="0"/>
              </a:rPr>
              <a:t>During the negative half of the cycle, the diode is reversed biased due to both the input voltage as well as the battery voltage. therefore, only battery voltage appears at the output for the whole negative half cycle.</a:t>
            </a:r>
            <a:endParaRPr lang="en-US" dirty="0"/>
          </a:p>
        </p:txBody>
      </p:sp>
      <p:sp>
        <p:nvSpPr>
          <p:cNvPr id="8" name="Rectangle 7"/>
          <p:cNvSpPr/>
          <p:nvPr/>
        </p:nvSpPr>
        <p:spPr>
          <a:xfrm>
            <a:off x="5977212" y="1763631"/>
            <a:ext cx="6096000" cy="1692771"/>
          </a:xfrm>
          <a:prstGeom prst="rect">
            <a:avLst/>
          </a:prstGeom>
        </p:spPr>
        <p:txBody>
          <a:bodyPr>
            <a:spAutoFit/>
          </a:bodyPr>
          <a:lstStyle/>
          <a:p>
            <a:pPr algn="just"/>
            <a:r>
              <a:rPr lang="en-US" sz="1400" b="1" dirty="0">
                <a:solidFill>
                  <a:srgbClr val="2C2F34"/>
                </a:solidFill>
                <a:latin typeface="arial" panose="020B0604020202020204" pitchFamily="34" charset="0"/>
              </a:rPr>
              <a:t>Negative Bias</a:t>
            </a:r>
            <a:endParaRPr lang="en-US"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During the positive half cycle, the diode is forward biased due to both the input signal and the battery voltage. Therefore, the diode conducts the signal for the whole positive half cycle and it appears at the output as it is in the input.</a:t>
            </a:r>
            <a:endParaRPr lang="en-US" b="0" i="0" dirty="0">
              <a:solidFill>
                <a:srgbClr val="2C2F34"/>
              </a:solidFill>
              <a:effectLst/>
              <a:latin typeface="Arial" panose="020B0604020202020204" pitchFamily="34" charset="0"/>
            </a:endParaRPr>
          </a:p>
        </p:txBody>
      </p:sp>
      <p:pic>
        <p:nvPicPr>
          <p:cNvPr id="9" name="Picture 8"/>
          <p:cNvPicPr>
            <a:picLocks noChangeAspect="1"/>
          </p:cNvPicPr>
          <p:nvPr/>
        </p:nvPicPr>
        <p:blipFill>
          <a:blip r:embed="rId3"/>
          <a:stretch>
            <a:fillRect/>
          </a:stretch>
        </p:blipFill>
        <p:spPr>
          <a:xfrm>
            <a:off x="6126506" y="3707466"/>
            <a:ext cx="5797412" cy="2391184"/>
          </a:xfrm>
          <a:prstGeom prst="rect">
            <a:avLst/>
          </a:prstGeom>
        </p:spPr>
      </p:pic>
    </p:spTree>
    <p:extLst>
      <p:ext uri="{BB962C8B-B14F-4D97-AF65-F5344CB8AC3E}">
        <p14:creationId xmlns:p14="http://schemas.microsoft.com/office/powerpoint/2010/main" val="27594320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5530" y="139265"/>
            <a:ext cx="5483750" cy="2308324"/>
          </a:xfrm>
          <a:prstGeom prst="rect">
            <a:avLst/>
          </a:prstGeom>
        </p:spPr>
        <p:txBody>
          <a:bodyPr wrap="square">
            <a:spAutoFit/>
          </a:bodyPr>
          <a:lstStyle/>
          <a:p>
            <a:r>
              <a:rPr lang="en-US" dirty="0">
                <a:solidFill>
                  <a:srgbClr val="2C2F34"/>
                </a:solidFill>
                <a:latin typeface="arial" panose="020B0604020202020204" pitchFamily="34" charset="0"/>
              </a:rPr>
              <a:t>During the negative half-cycle, the input voltage polarity reverses and the diode becomes forward biased. However, the diode is reverse biased due to the negative battery. Therefore, the diode only becomes forward biased if the input voltage increases above the battery voltage and the input signal appear at the output. Otherwise, the negative battery voltage appears at the output.</a:t>
            </a:r>
            <a:endParaRPr lang="en-US" dirty="0"/>
          </a:p>
        </p:txBody>
      </p:sp>
      <p:sp>
        <p:nvSpPr>
          <p:cNvPr id="4" name="Rectangle 3"/>
          <p:cNvSpPr/>
          <p:nvPr/>
        </p:nvSpPr>
        <p:spPr>
          <a:xfrm>
            <a:off x="6013836" y="289042"/>
            <a:ext cx="6096000" cy="1477328"/>
          </a:xfrm>
          <a:prstGeom prst="rect">
            <a:avLst/>
          </a:prstGeom>
        </p:spPr>
        <p:txBody>
          <a:bodyPr>
            <a:spAutoFit/>
          </a:bodyPr>
          <a:lstStyle/>
          <a:p>
            <a:r>
              <a:rPr lang="en-US" dirty="0">
                <a:solidFill>
                  <a:srgbClr val="2C2F34"/>
                </a:solidFill>
                <a:latin typeface="arial" panose="020B0604020202020204" pitchFamily="34" charset="0"/>
              </a:rPr>
              <a:t>During the negative half-cycle, the input voltage forces the diode in reverse bias but the battery voltage still forward biases the diode. During this whole cycle, the diode only conducts when the battery voltage exceeds the input voltage.</a:t>
            </a:r>
            <a:endParaRPr lang="en-US" dirty="0"/>
          </a:p>
        </p:txBody>
      </p:sp>
      <p:sp>
        <p:nvSpPr>
          <p:cNvPr id="5" name="Rectangle 4"/>
          <p:cNvSpPr/>
          <p:nvPr/>
        </p:nvSpPr>
        <p:spPr>
          <a:xfrm>
            <a:off x="789830" y="3569874"/>
            <a:ext cx="10135262" cy="2308324"/>
          </a:xfrm>
          <a:prstGeom prst="rect">
            <a:avLst/>
          </a:prstGeom>
        </p:spPr>
        <p:txBody>
          <a:bodyPr wrap="square">
            <a:spAutoFit/>
          </a:bodyPr>
          <a:lstStyle/>
          <a:p>
            <a:pPr algn="just"/>
            <a:r>
              <a:rPr lang="en-US" dirty="0">
                <a:solidFill>
                  <a:srgbClr val="2C2F34"/>
                </a:solidFill>
                <a:latin typeface="arial" panose="020B0604020202020204" pitchFamily="34" charset="0"/>
              </a:rPr>
              <a:t>In shunt clippers, the diode is connected in parallel with the output. The input signal appears the output when the diode is blocking as opposed to the series clippers</a:t>
            </a:r>
            <a:r>
              <a:rPr lang="en-US" dirty="0" smtClean="0">
                <a:solidFill>
                  <a:srgbClr val="2C2F34"/>
                </a:solidFill>
                <a:latin typeface="arial" panose="020B0604020202020204" pitchFamily="34" charset="0"/>
              </a:rPr>
              <a:t>.</a:t>
            </a:r>
          </a:p>
          <a:p>
            <a:pPr algn="just"/>
            <a:endParaRPr lang="en-US" dirty="0">
              <a:solidFill>
                <a:srgbClr val="2C2F34"/>
              </a:solidFill>
              <a:latin typeface="Arial" panose="020B0604020202020204" pitchFamily="34" charset="0"/>
            </a:endParaRPr>
          </a:p>
          <a:p>
            <a:pPr marL="285750" indent="-285750" algn="just">
              <a:buFont typeface="Wingdings" panose="05000000000000000000" pitchFamily="2" charset="2"/>
              <a:buChar char="ü"/>
            </a:pPr>
            <a:r>
              <a:rPr lang="en-US" dirty="0">
                <a:solidFill>
                  <a:srgbClr val="2C2F34"/>
                </a:solidFill>
                <a:latin typeface="arial" panose="020B0604020202020204" pitchFamily="34" charset="0"/>
              </a:rPr>
              <a:t>The shunt clippers can also be divided into positive and negative clippers</a:t>
            </a:r>
            <a:r>
              <a:rPr lang="en-US" dirty="0" smtClean="0">
                <a:solidFill>
                  <a:srgbClr val="2C2F34"/>
                </a:solidFill>
                <a:latin typeface="arial" panose="020B0604020202020204" pitchFamily="34" charset="0"/>
              </a:rPr>
              <a:t>.</a:t>
            </a:r>
          </a:p>
          <a:p>
            <a:pPr algn="just"/>
            <a:endParaRPr lang="en-US" dirty="0">
              <a:solidFill>
                <a:srgbClr val="2C2F34"/>
              </a:solidFill>
              <a:latin typeface="arial" panose="020B0604020202020204" pitchFamily="34" charset="0"/>
            </a:endParaRPr>
          </a:p>
          <a:p>
            <a:pPr algn="just"/>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Shunt Positive Clippers</a:t>
            </a:r>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Shunt Negative </a:t>
            </a:r>
            <a:r>
              <a:rPr lang="en-US" dirty="0" smtClean="0">
                <a:solidFill>
                  <a:srgbClr val="2C2F34"/>
                </a:solidFill>
                <a:latin typeface="arial" panose="020B0604020202020204" pitchFamily="34" charset="0"/>
              </a:rPr>
              <a:t>Clippers</a:t>
            </a:r>
            <a:endParaRPr lang="en-US" dirty="0">
              <a:solidFill>
                <a:srgbClr val="2C2F34"/>
              </a:solidFill>
              <a:latin typeface="Arial" panose="020B0604020202020204" pitchFamily="34" charset="0"/>
            </a:endParaRPr>
          </a:p>
        </p:txBody>
      </p:sp>
      <p:cxnSp>
        <p:nvCxnSpPr>
          <p:cNvPr id="8" name="Straight Connector 7"/>
          <p:cNvCxnSpPr/>
          <p:nvPr/>
        </p:nvCxnSpPr>
        <p:spPr>
          <a:xfrm>
            <a:off x="5669280" y="0"/>
            <a:ext cx="0" cy="2447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3140765" y="2567565"/>
            <a:ext cx="4619708" cy="882333"/>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2C2F34"/>
                </a:solidFill>
                <a:latin typeface="arial" panose="020B0604020202020204" pitchFamily="34" charset="0"/>
              </a:rPr>
              <a:t>“Shunt Clippers”</a:t>
            </a:r>
            <a:endParaRPr lang="en-US" sz="2800" b="1" dirty="0">
              <a:solidFill>
                <a:srgbClr val="2C2F34"/>
              </a:solidFill>
              <a:latin typeface="Arial" panose="020B0604020202020204" pitchFamily="34" charset="0"/>
            </a:endParaRPr>
          </a:p>
          <a:p>
            <a:pPr algn="ctr"/>
            <a:endParaRPr lang="en-US" dirty="0"/>
          </a:p>
        </p:txBody>
      </p:sp>
    </p:spTree>
    <p:extLst>
      <p:ext uri="{BB962C8B-B14F-4D97-AF65-F5344CB8AC3E}">
        <p14:creationId xmlns:p14="http://schemas.microsoft.com/office/powerpoint/2010/main" val="11287487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6363" y="426515"/>
            <a:ext cx="4752229" cy="1692771"/>
          </a:xfrm>
          <a:prstGeom prst="rect">
            <a:avLst/>
          </a:prstGeom>
        </p:spPr>
        <p:txBody>
          <a:bodyPr wrap="square">
            <a:spAutoFit/>
          </a:bodyPr>
          <a:lstStyle/>
          <a:p>
            <a:pPr algn="just"/>
            <a:r>
              <a:rPr lang="en-US" sz="1400" b="1" dirty="0">
                <a:solidFill>
                  <a:srgbClr val="2C2F34"/>
                </a:solidFill>
                <a:latin typeface="arial" panose="020B0604020202020204" pitchFamily="34" charset="0"/>
              </a:rPr>
              <a:t>Shunt Positive </a:t>
            </a:r>
            <a:r>
              <a:rPr lang="en-US" sz="1400" b="1" dirty="0" smtClean="0">
                <a:solidFill>
                  <a:srgbClr val="2C2F34"/>
                </a:solidFill>
                <a:latin typeface="arial" panose="020B0604020202020204" pitchFamily="34" charset="0"/>
              </a:rPr>
              <a:t>Clippers</a:t>
            </a:r>
          </a:p>
          <a:p>
            <a:pPr algn="just"/>
            <a:endParaRPr lang="en-US"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The shunt positive clipper clips the positive half cycle of the input waveform. The circuit diagram of the shunt positive clipper is given below.</a:t>
            </a:r>
            <a:endParaRPr lang="en-US" b="0" i="0" dirty="0">
              <a:solidFill>
                <a:srgbClr val="2C2F34"/>
              </a:solidFill>
              <a:effectLst/>
              <a:latin typeface="Arial" panose="020B0604020202020204" pitchFamily="34" charset="0"/>
            </a:endParaRPr>
          </a:p>
        </p:txBody>
      </p:sp>
      <p:cxnSp>
        <p:nvCxnSpPr>
          <p:cNvPr id="4" name="Straight Connector 3"/>
          <p:cNvCxnSpPr/>
          <p:nvPr/>
        </p:nvCxnSpPr>
        <p:spPr>
          <a:xfrm>
            <a:off x="5685183" y="0"/>
            <a:ext cx="7951" cy="6416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stretch>
            <a:fillRect/>
          </a:stretch>
        </p:blipFill>
        <p:spPr>
          <a:xfrm>
            <a:off x="0" y="2016318"/>
            <a:ext cx="5597718" cy="3000375"/>
          </a:xfrm>
          <a:prstGeom prst="rect">
            <a:avLst/>
          </a:prstGeom>
        </p:spPr>
      </p:pic>
      <p:sp>
        <p:nvSpPr>
          <p:cNvPr id="7" name="Rectangle 6"/>
          <p:cNvSpPr/>
          <p:nvPr/>
        </p:nvSpPr>
        <p:spPr>
          <a:xfrm>
            <a:off x="0" y="5040506"/>
            <a:ext cx="5557962" cy="1200329"/>
          </a:xfrm>
          <a:prstGeom prst="rect">
            <a:avLst/>
          </a:prstGeom>
        </p:spPr>
        <p:txBody>
          <a:bodyPr wrap="square">
            <a:spAutoFit/>
          </a:bodyPr>
          <a:lstStyle/>
          <a:p>
            <a:r>
              <a:rPr lang="en-US" dirty="0">
                <a:solidFill>
                  <a:srgbClr val="2C2F34"/>
                </a:solidFill>
                <a:latin typeface="arial" panose="020B0604020202020204" pitchFamily="34" charset="0"/>
              </a:rPr>
              <a:t>During the positive half cycle, the diode is forward biased as the voltage at point A is greater than point B. so the diode conducts the input signal and there is no voltage difference at the output.</a:t>
            </a:r>
            <a:endParaRPr lang="en-US" dirty="0"/>
          </a:p>
        </p:txBody>
      </p:sp>
      <p:sp>
        <p:nvSpPr>
          <p:cNvPr id="8" name="Rectangle 7"/>
          <p:cNvSpPr/>
          <p:nvPr/>
        </p:nvSpPr>
        <p:spPr>
          <a:xfrm>
            <a:off x="6530573" y="426515"/>
            <a:ext cx="2852063" cy="369332"/>
          </a:xfrm>
          <a:prstGeom prst="rect">
            <a:avLst/>
          </a:prstGeom>
        </p:spPr>
        <p:txBody>
          <a:bodyPr wrap="none">
            <a:spAutoFit/>
          </a:bodyPr>
          <a:lstStyle/>
          <a:p>
            <a:pPr algn="just"/>
            <a:r>
              <a:rPr lang="en-US" b="1" dirty="0">
                <a:solidFill>
                  <a:srgbClr val="2C2F34"/>
                </a:solidFill>
                <a:latin typeface="arial" panose="020B0604020202020204" pitchFamily="34" charset="0"/>
              </a:rPr>
              <a:t>Shunt Negative Clippers</a:t>
            </a:r>
            <a:endParaRPr lang="en-US" b="1" i="0" dirty="0">
              <a:solidFill>
                <a:srgbClr val="2C2F34"/>
              </a:solidFill>
              <a:effectLst/>
              <a:latin typeface="Arial" panose="020B0604020202020204" pitchFamily="34" charset="0"/>
            </a:endParaRPr>
          </a:p>
        </p:txBody>
      </p:sp>
      <p:pic>
        <p:nvPicPr>
          <p:cNvPr id="9" name="Picture 8"/>
          <p:cNvPicPr>
            <a:picLocks noChangeAspect="1"/>
          </p:cNvPicPr>
          <p:nvPr/>
        </p:nvPicPr>
        <p:blipFill>
          <a:blip r:embed="rId3"/>
          <a:stretch>
            <a:fillRect/>
          </a:stretch>
        </p:blipFill>
        <p:spPr>
          <a:xfrm>
            <a:off x="5780599" y="1992506"/>
            <a:ext cx="6305383" cy="3048000"/>
          </a:xfrm>
          <a:prstGeom prst="rect">
            <a:avLst/>
          </a:prstGeom>
        </p:spPr>
      </p:pic>
      <p:sp>
        <p:nvSpPr>
          <p:cNvPr id="10" name="Rectangle 9"/>
          <p:cNvSpPr/>
          <p:nvPr/>
        </p:nvSpPr>
        <p:spPr>
          <a:xfrm>
            <a:off x="5989982" y="949734"/>
            <a:ext cx="6096000" cy="646331"/>
          </a:xfrm>
          <a:prstGeom prst="rect">
            <a:avLst/>
          </a:prstGeom>
        </p:spPr>
        <p:txBody>
          <a:bodyPr>
            <a:spAutoFit/>
          </a:bodyPr>
          <a:lstStyle/>
          <a:p>
            <a:r>
              <a:rPr lang="en-US" dirty="0">
                <a:solidFill>
                  <a:srgbClr val="2C2F34"/>
                </a:solidFill>
                <a:latin typeface="arial" panose="020B0604020202020204" pitchFamily="34" charset="0"/>
              </a:rPr>
              <a:t>The shunt negative clipper clips the negative half of the input waveform. The circuit diagram is given below</a:t>
            </a:r>
            <a:endParaRPr lang="en-US" dirty="0"/>
          </a:p>
        </p:txBody>
      </p:sp>
      <p:sp>
        <p:nvSpPr>
          <p:cNvPr id="11" name="Rectangle 10"/>
          <p:cNvSpPr/>
          <p:nvPr/>
        </p:nvSpPr>
        <p:spPr>
          <a:xfrm>
            <a:off x="5885290" y="5040506"/>
            <a:ext cx="6096000" cy="923330"/>
          </a:xfrm>
          <a:prstGeom prst="rect">
            <a:avLst/>
          </a:prstGeom>
        </p:spPr>
        <p:txBody>
          <a:bodyPr>
            <a:spAutoFit/>
          </a:bodyPr>
          <a:lstStyle/>
          <a:p>
            <a:r>
              <a:rPr lang="en-US" dirty="0">
                <a:solidFill>
                  <a:srgbClr val="2C2F34"/>
                </a:solidFill>
                <a:latin typeface="arial" panose="020B0604020202020204" pitchFamily="34" charset="0"/>
              </a:rPr>
              <a:t>During the positive half cycle, the diode is reversed biased, thus it blocks the signal that appears across it. therefore, the positive half also appears at the output.</a:t>
            </a:r>
            <a:endParaRPr lang="en-US" dirty="0"/>
          </a:p>
        </p:txBody>
      </p:sp>
    </p:spTree>
    <p:extLst>
      <p:ext uri="{BB962C8B-B14F-4D97-AF65-F5344CB8AC3E}">
        <p14:creationId xmlns:p14="http://schemas.microsoft.com/office/powerpoint/2010/main" val="25815047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5661328" y="0"/>
            <a:ext cx="15903" cy="2425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5918421" y="360604"/>
            <a:ext cx="6096000" cy="1477328"/>
          </a:xfrm>
          <a:prstGeom prst="rect">
            <a:avLst/>
          </a:prstGeom>
        </p:spPr>
        <p:txBody>
          <a:bodyPr>
            <a:spAutoFit/>
          </a:bodyPr>
          <a:lstStyle/>
          <a:p>
            <a:r>
              <a:rPr lang="en-US" dirty="0">
                <a:solidFill>
                  <a:srgbClr val="2C2F34"/>
                </a:solidFill>
                <a:latin typeface="arial" panose="020B0604020202020204" pitchFamily="34" charset="0"/>
              </a:rPr>
              <a:t>During the negative half cycle, the diode is forward biased and it conducts the signal. Therefore, there is no voltage at the output for the negative half cycle. Thus the shunt negative clipper clips or removes the negative half of the input waveform.</a:t>
            </a:r>
            <a:endParaRPr lang="en-US" dirty="0"/>
          </a:p>
        </p:txBody>
      </p:sp>
      <p:sp>
        <p:nvSpPr>
          <p:cNvPr id="6" name="Rectangle 5"/>
          <p:cNvSpPr/>
          <p:nvPr/>
        </p:nvSpPr>
        <p:spPr>
          <a:xfrm>
            <a:off x="0" y="360604"/>
            <a:ext cx="5677231" cy="1754326"/>
          </a:xfrm>
          <a:prstGeom prst="rect">
            <a:avLst/>
          </a:prstGeom>
        </p:spPr>
        <p:txBody>
          <a:bodyPr wrap="square">
            <a:spAutoFit/>
          </a:bodyPr>
          <a:lstStyle/>
          <a:p>
            <a:r>
              <a:rPr lang="en-US" dirty="0">
                <a:solidFill>
                  <a:srgbClr val="2C2F34"/>
                </a:solidFill>
                <a:latin typeface="arial" panose="020B0604020202020204" pitchFamily="34" charset="0"/>
              </a:rPr>
              <a:t>During the negative half-cycle, the voltage polarity of the input signal at points A and B reverses and the diode becomes reverse biased. Therefore, the diode blocks the input signal and the signal voltage appears across the diode that is taken as the output of the clipper.</a:t>
            </a:r>
            <a:endParaRPr lang="en-US" dirty="0"/>
          </a:p>
        </p:txBody>
      </p:sp>
      <p:sp>
        <p:nvSpPr>
          <p:cNvPr id="7" name="Rectangle 6"/>
          <p:cNvSpPr/>
          <p:nvPr/>
        </p:nvSpPr>
        <p:spPr>
          <a:xfrm>
            <a:off x="3037551" y="2371186"/>
            <a:ext cx="4256293" cy="400110"/>
          </a:xfrm>
          <a:prstGeom prst="rect">
            <a:avLst/>
          </a:prstGeom>
        </p:spPr>
        <p:txBody>
          <a:bodyPr wrap="none">
            <a:spAutoFit/>
          </a:bodyPr>
          <a:lstStyle/>
          <a:p>
            <a:pPr algn="just"/>
            <a:r>
              <a:rPr lang="en-US" sz="2000" b="1" dirty="0">
                <a:solidFill>
                  <a:srgbClr val="2C2F34"/>
                </a:solidFill>
                <a:latin typeface="arial" panose="020B0604020202020204" pitchFamily="34" charset="0"/>
              </a:rPr>
              <a:t>Shunt Positive Clippers with Bias</a:t>
            </a:r>
            <a:endParaRPr lang="en-US" sz="2000" b="1" i="0" dirty="0">
              <a:solidFill>
                <a:srgbClr val="2C2F34"/>
              </a:solidFill>
              <a:effectLst/>
              <a:latin typeface="Arial" panose="020B0604020202020204" pitchFamily="34" charset="0"/>
            </a:endParaRPr>
          </a:p>
        </p:txBody>
      </p:sp>
      <p:sp>
        <p:nvSpPr>
          <p:cNvPr id="8" name="Rectangle 7"/>
          <p:cNvSpPr/>
          <p:nvPr/>
        </p:nvSpPr>
        <p:spPr>
          <a:xfrm>
            <a:off x="272995" y="2681404"/>
            <a:ext cx="11351811" cy="1292662"/>
          </a:xfrm>
          <a:prstGeom prst="rect">
            <a:avLst/>
          </a:prstGeom>
        </p:spPr>
        <p:txBody>
          <a:bodyPr wrap="square">
            <a:spAutoFit/>
          </a:bodyPr>
          <a:lstStyle/>
          <a:p>
            <a:pPr algn="just"/>
            <a:r>
              <a:rPr lang="en-US" sz="2400" b="1" dirty="0">
                <a:solidFill>
                  <a:srgbClr val="2C2F34"/>
                </a:solidFill>
                <a:latin typeface="arial" panose="020B0604020202020204" pitchFamily="34" charset="0"/>
              </a:rPr>
              <a:t>Positive Bias</a:t>
            </a:r>
            <a:endParaRPr lang="en-US" sz="3200"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During the positive half cycle, the diode is forward biased due to the input voltage. but it is reversed biased due to the battery voltage. The sum of both voltages will decide the state of the diode. If the input voltage is greater than the battery voltage, the diode will be forward biased otherwise it will remain in reverse bias.</a:t>
            </a:r>
            <a:endParaRPr lang="en-US" b="0" i="0" dirty="0">
              <a:solidFill>
                <a:srgbClr val="2C2F34"/>
              </a:solidFill>
              <a:effectLst/>
              <a:latin typeface="Arial" panose="020B0604020202020204" pitchFamily="34" charset="0"/>
            </a:endParaRPr>
          </a:p>
        </p:txBody>
      </p:sp>
      <p:pic>
        <p:nvPicPr>
          <p:cNvPr id="9" name="Picture 8"/>
          <p:cNvPicPr>
            <a:picLocks noChangeAspect="1"/>
          </p:cNvPicPr>
          <p:nvPr/>
        </p:nvPicPr>
        <p:blipFill>
          <a:blip r:embed="rId2"/>
          <a:stretch>
            <a:fillRect/>
          </a:stretch>
        </p:blipFill>
        <p:spPr>
          <a:xfrm>
            <a:off x="3124200" y="4308021"/>
            <a:ext cx="9067800" cy="2633824"/>
          </a:xfrm>
          <a:prstGeom prst="rect">
            <a:avLst/>
          </a:prstGeom>
        </p:spPr>
      </p:pic>
    </p:spTree>
    <p:extLst>
      <p:ext uri="{BB962C8B-B14F-4D97-AF65-F5344CB8AC3E}">
        <p14:creationId xmlns:p14="http://schemas.microsoft.com/office/powerpoint/2010/main" val="24838179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5405" y="419591"/>
            <a:ext cx="8107679" cy="923330"/>
          </a:xfrm>
          <a:prstGeom prst="rect">
            <a:avLst/>
          </a:prstGeom>
        </p:spPr>
        <p:txBody>
          <a:bodyPr wrap="square">
            <a:spAutoFit/>
          </a:bodyPr>
          <a:lstStyle/>
          <a:p>
            <a:r>
              <a:rPr lang="en-US" dirty="0">
                <a:solidFill>
                  <a:srgbClr val="2C2F34"/>
                </a:solidFill>
                <a:latin typeface="arial" panose="020B0604020202020204" pitchFamily="34" charset="0"/>
              </a:rPr>
              <a:t>During the negative half cycle, the diode is reversed biased due to both input voltage as well as battery voltage. Therefore, the input signal appears for the whole negative half-cycle at the output</a:t>
            </a:r>
            <a:endParaRPr lang="en-US" dirty="0"/>
          </a:p>
        </p:txBody>
      </p:sp>
      <p:sp>
        <p:nvSpPr>
          <p:cNvPr id="3" name="Rectangle 2"/>
          <p:cNvSpPr/>
          <p:nvPr/>
        </p:nvSpPr>
        <p:spPr>
          <a:xfrm>
            <a:off x="1394129" y="2623399"/>
            <a:ext cx="8282608" cy="1477328"/>
          </a:xfrm>
          <a:prstGeom prst="rect">
            <a:avLst/>
          </a:prstGeom>
        </p:spPr>
        <p:txBody>
          <a:bodyPr wrap="square">
            <a:spAutoFit/>
          </a:bodyPr>
          <a:lstStyle/>
          <a:p>
            <a:pPr algn="just"/>
            <a:r>
              <a:rPr lang="en-US" dirty="0">
                <a:solidFill>
                  <a:srgbClr val="2C2F34"/>
                </a:solidFill>
                <a:latin typeface="arial" panose="020B0604020202020204" pitchFamily="34" charset="0"/>
              </a:rPr>
              <a:t>During the positive half cycle, the diode is forward biased for both input signal and battery voltage. Therefore, the diode conducts for the whole cycle and only the battery voltage appears at the output.</a:t>
            </a:r>
            <a:endParaRPr lang="en-US" dirty="0">
              <a:solidFill>
                <a:srgbClr val="2C2F34"/>
              </a:solidFill>
              <a:latin typeface="Arial" panose="020B0604020202020204" pitchFamily="34" charset="0"/>
            </a:endParaRPr>
          </a:p>
          <a:p>
            <a:r>
              <a:rPr lang="en-US" dirty="0">
                <a:solidFill>
                  <a:srgbClr val="0041EE"/>
                </a:solidFill>
                <a:latin typeface="Arial" panose="020B0604020202020204" pitchFamily="34" charset="0"/>
                <a:hlinkClick r:id="rId2"/>
              </a:rPr>
              <a:t/>
            </a:r>
            <a:br>
              <a:rPr lang="en-US" dirty="0">
                <a:solidFill>
                  <a:srgbClr val="0041EE"/>
                </a:solidFill>
                <a:latin typeface="Arial" panose="020B0604020202020204" pitchFamily="34" charset="0"/>
                <a:hlinkClick r:id="rId2"/>
              </a:rPr>
            </a:br>
            <a:endParaRPr lang="en-US" dirty="0"/>
          </a:p>
        </p:txBody>
      </p:sp>
      <p:sp>
        <p:nvSpPr>
          <p:cNvPr id="4" name="Rectangle 3"/>
          <p:cNvSpPr/>
          <p:nvPr/>
        </p:nvSpPr>
        <p:spPr>
          <a:xfrm>
            <a:off x="1509936" y="1956223"/>
            <a:ext cx="3030259" cy="584775"/>
          </a:xfrm>
          <a:prstGeom prst="rect">
            <a:avLst/>
          </a:prstGeom>
        </p:spPr>
        <p:txBody>
          <a:bodyPr wrap="square">
            <a:spAutoFit/>
          </a:bodyPr>
          <a:lstStyle/>
          <a:p>
            <a:r>
              <a:rPr lang="en-US" sz="3200" b="1" dirty="0">
                <a:solidFill>
                  <a:srgbClr val="2C2F34"/>
                </a:solidFill>
                <a:latin typeface="arial" panose="020B0604020202020204" pitchFamily="34" charset="0"/>
              </a:rPr>
              <a:t>Negative Bias</a:t>
            </a:r>
            <a:endParaRPr lang="en-US" sz="3200" dirty="0"/>
          </a:p>
        </p:txBody>
      </p:sp>
      <p:pic>
        <p:nvPicPr>
          <p:cNvPr id="5" name="Picture 4"/>
          <p:cNvPicPr>
            <a:picLocks noChangeAspect="1"/>
          </p:cNvPicPr>
          <p:nvPr/>
        </p:nvPicPr>
        <p:blipFill>
          <a:blip r:embed="rId3"/>
          <a:stretch>
            <a:fillRect/>
          </a:stretch>
        </p:blipFill>
        <p:spPr>
          <a:xfrm>
            <a:off x="2247161" y="3679632"/>
            <a:ext cx="7944165" cy="2933700"/>
          </a:xfrm>
          <a:prstGeom prst="rect">
            <a:avLst/>
          </a:prstGeom>
        </p:spPr>
      </p:pic>
    </p:spTree>
    <p:extLst>
      <p:ext uri="{BB962C8B-B14F-4D97-AF65-F5344CB8AC3E}">
        <p14:creationId xmlns:p14="http://schemas.microsoft.com/office/powerpoint/2010/main" val="23789945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00577" y="365228"/>
            <a:ext cx="7551089" cy="1200329"/>
          </a:xfrm>
          <a:prstGeom prst="rect">
            <a:avLst/>
          </a:prstGeom>
        </p:spPr>
        <p:txBody>
          <a:bodyPr wrap="square">
            <a:spAutoFit/>
          </a:bodyPr>
          <a:lstStyle/>
          <a:p>
            <a:r>
              <a:rPr lang="en-US" dirty="0">
                <a:solidFill>
                  <a:srgbClr val="2C2F34"/>
                </a:solidFill>
                <a:latin typeface="arial" panose="020B0604020202020204" pitchFamily="34" charset="0"/>
              </a:rPr>
              <a:t>During the negative half cycle, the diode is reversed biased for input signal and forward biased for battery voltage. The combined effect of both voltage sources decides the state of the diode. The diode is forward biased when the input voltage is less than the battery voltage</a:t>
            </a:r>
            <a:endParaRPr lang="en-US" dirty="0"/>
          </a:p>
        </p:txBody>
      </p:sp>
      <p:sp>
        <p:nvSpPr>
          <p:cNvPr id="3" name="Rectangle 2"/>
          <p:cNvSpPr/>
          <p:nvPr/>
        </p:nvSpPr>
        <p:spPr>
          <a:xfrm>
            <a:off x="1195346" y="2272515"/>
            <a:ext cx="6096000" cy="400110"/>
          </a:xfrm>
          <a:prstGeom prst="rect">
            <a:avLst/>
          </a:prstGeom>
        </p:spPr>
        <p:txBody>
          <a:bodyPr>
            <a:spAutoFit/>
          </a:bodyPr>
          <a:lstStyle/>
          <a:p>
            <a:pPr algn="just"/>
            <a:r>
              <a:rPr lang="en-US" sz="2000" b="1" dirty="0">
                <a:solidFill>
                  <a:srgbClr val="2C2F34"/>
                </a:solidFill>
                <a:latin typeface="arial" panose="020B0604020202020204" pitchFamily="34" charset="0"/>
              </a:rPr>
              <a:t>Shunt Negative Clippers with </a:t>
            </a:r>
            <a:r>
              <a:rPr lang="en-US" sz="2000" b="1" dirty="0" smtClean="0">
                <a:solidFill>
                  <a:srgbClr val="2C2F34"/>
                </a:solidFill>
                <a:latin typeface="arial" panose="020B0604020202020204" pitchFamily="34" charset="0"/>
              </a:rPr>
              <a:t>Bias</a:t>
            </a:r>
            <a:endParaRPr lang="en-US" sz="2800" b="1" dirty="0">
              <a:solidFill>
                <a:srgbClr val="2C2F34"/>
              </a:solidFill>
              <a:latin typeface="Arial" panose="020B0604020202020204" pitchFamily="34" charset="0"/>
            </a:endParaRPr>
          </a:p>
        </p:txBody>
      </p:sp>
      <p:sp>
        <p:nvSpPr>
          <p:cNvPr id="4" name="Rectangle 3"/>
          <p:cNvSpPr/>
          <p:nvPr/>
        </p:nvSpPr>
        <p:spPr>
          <a:xfrm>
            <a:off x="670560" y="2797301"/>
            <a:ext cx="8242852" cy="1415772"/>
          </a:xfrm>
          <a:prstGeom prst="rect">
            <a:avLst/>
          </a:prstGeom>
        </p:spPr>
        <p:txBody>
          <a:bodyPr wrap="square">
            <a:spAutoFit/>
          </a:bodyPr>
          <a:lstStyle/>
          <a:p>
            <a:pPr algn="just"/>
            <a:r>
              <a:rPr lang="en-US" sz="1400" b="1" dirty="0">
                <a:solidFill>
                  <a:srgbClr val="2C2F34"/>
                </a:solidFill>
                <a:latin typeface="arial" panose="020B0604020202020204" pitchFamily="34" charset="0"/>
              </a:rPr>
              <a:t>Positive Bias</a:t>
            </a:r>
            <a:endParaRPr lang="en-US"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During the positive half cycle, the diode is reversed biased for input voltage but forward biased for battery voltage. So, the diode will be reversed biased only when the input voltage exceeds the battery voltage and then the input signal will appear at the output</a:t>
            </a:r>
            <a:endParaRPr lang="en-US" b="0" i="0" dirty="0">
              <a:solidFill>
                <a:srgbClr val="2C2F34"/>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3387256" y="3904369"/>
            <a:ext cx="8665928" cy="2953631"/>
          </a:xfrm>
          <a:prstGeom prst="rect">
            <a:avLst/>
          </a:prstGeom>
        </p:spPr>
      </p:pic>
    </p:spTree>
    <p:extLst>
      <p:ext uri="{BB962C8B-B14F-4D97-AF65-F5344CB8AC3E}">
        <p14:creationId xmlns:p14="http://schemas.microsoft.com/office/powerpoint/2010/main" val="23437155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hunt Negative Clipper with Negative bias">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4703" y="3483995"/>
            <a:ext cx="7170647" cy="24953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86462" y="2065511"/>
            <a:ext cx="7749871" cy="1200329"/>
          </a:xfrm>
          <a:prstGeom prst="rect">
            <a:avLst/>
          </a:prstGeom>
        </p:spPr>
        <p:txBody>
          <a:bodyPr wrap="square">
            <a:spAutoFit/>
          </a:bodyPr>
          <a:lstStyle/>
          <a:p>
            <a:r>
              <a:rPr lang="en-US" b="1"/>
              <a:t>Negative Bias</a:t>
            </a:r>
          </a:p>
          <a:p>
            <a:r>
              <a:rPr lang="en-US"/>
              <a:t>During the positive half cycle, the diode is reversed biased for both input and battery voltage. thus, the diode blocks the voltage and the signal appears at the output for the whole positive half cycle.</a:t>
            </a:r>
          </a:p>
        </p:txBody>
      </p:sp>
      <p:sp>
        <p:nvSpPr>
          <p:cNvPr id="4" name="Rectangle 3"/>
          <p:cNvSpPr/>
          <p:nvPr/>
        </p:nvSpPr>
        <p:spPr>
          <a:xfrm>
            <a:off x="2001203" y="507055"/>
            <a:ext cx="8184417" cy="923330"/>
          </a:xfrm>
          <a:prstGeom prst="rect">
            <a:avLst/>
          </a:prstGeom>
        </p:spPr>
        <p:txBody>
          <a:bodyPr wrap="square">
            <a:spAutoFit/>
          </a:bodyPr>
          <a:lstStyle/>
          <a:p>
            <a:r>
              <a:rPr lang="en-US" dirty="0">
                <a:solidFill>
                  <a:srgbClr val="2C2F34"/>
                </a:solidFill>
                <a:latin typeface="arial" panose="020B0604020202020204" pitchFamily="34" charset="0"/>
              </a:rPr>
              <a:t>During the negative half cycle, the diode is forward biased for both input signal and battery voltage. Therefore, the diode conducts and only the battery voltage appears at the output for the whole negative cycle.</a:t>
            </a:r>
            <a:endParaRPr lang="en-US" dirty="0"/>
          </a:p>
        </p:txBody>
      </p:sp>
    </p:spTree>
    <p:extLst>
      <p:ext uri="{BB962C8B-B14F-4D97-AF65-F5344CB8AC3E}">
        <p14:creationId xmlns:p14="http://schemas.microsoft.com/office/powerpoint/2010/main" val="28486973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7293" y="516303"/>
            <a:ext cx="8735833" cy="1200329"/>
          </a:xfrm>
          <a:prstGeom prst="rect">
            <a:avLst/>
          </a:prstGeom>
        </p:spPr>
        <p:txBody>
          <a:bodyPr wrap="square">
            <a:spAutoFit/>
          </a:bodyPr>
          <a:lstStyle/>
          <a:p>
            <a:r>
              <a:rPr lang="en-US" dirty="0">
                <a:solidFill>
                  <a:srgbClr val="2C2F34"/>
                </a:solidFill>
                <a:latin typeface="arial" panose="020B0604020202020204" pitchFamily="34" charset="0"/>
              </a:rPr>
              <a:t>During the negative half cycle, the diode conducts when the input voltage exceeds the battery voltage. Therefore, when the voltage is less than the battery voltage, the diode blocks and the signal appears at the output. When the input voltage exceeds, the diode starts conduction and only the battery voltage appears at the output.</a:t>
            </a:r>
            <a:endParaRPr lang="en-US" dirty="0"/>
          </a:p>
        </p:txBody>
      </p:sp>
      <p:sp>
        <p:nvSpPr>
          <p:cNvPr id="3" name="Rectangle 2"/>
          <p:cNvSpPr/>
          <p:nvPr/>
        </p:nvSpPr>
        <p:spPr>
          <a:xfrm>
            <a:off x="1211247" y="1874213"/>
            <a:ext cx="8505245" cy="4462760"/>
          </a:xfrm>
          <a:prstGeom prst="rect">
            <a:avLst/>
          </a:prstGeom>
        </p:spPr>
        <p:txBody>
          <a:bodyPr wrap="square">
            <a:spAutoFit/>
          </a:bodyPr>
          <a:lstStyle/>
          <a:p>
            <a:pPr algn="ctr"/>
            <a:r>
              <a:rPr lang="en-US" sz="2000" b="1" dirty="0" smtClean="0">
                <a:solidFill>
                  <a:srgbClr val="2C2F34"/>
                </a:solidFill>
                <a:latin typeface="arial" panose="020B0604020202020204" pitchFamily="34" charset="0"/>
              </a:rPr>
              <a:t>“Applications </a:t>
            </a:r>
            <a:r>
              <a:rPr lang="en-US" sz="2000" b="1" dirty="0">
                <a:solidFill>
                  <a:srgbClr val="2C2F34"/>
                </a:solidFill>
                <a:latin typeface="arial" panose="020B0604020202020204" pitchFamily="34" charset="0"/>
              </a:rPr>
              <a:t>of </a:t>
            </a:r>
            <a:r>
              <a:rPr lang="en-US" sz="2000" b="1" dirty="0" smtClean="0">
                <a:solidFill>
                  <a:srgbClr val="2C2F34"/>
                </a:solidFill>
                <a:latin typeface="arial" panose="020B0604020202020204" pitchFamily="34" charset="0"/>
              </a:rPr>
              <a:t>Clipper”</a:t>
            </a:r>
          </a:p>
          <a:p>
            <a:pPr algn="ctr"/>
            <a:endParaRPr lang="en-US" sz="1400" b="1" dirty="0">
              <a:solidFill>
                <a:srgbClr val="2C2F34"/>
              </a:solidFill>
              <a:latin typeface="arial" panose="020B0604020202020204" pitchFamily="34" charset="0"/>
            </a:endParaRPr>
          </a:p>
          <a:p>
            <a:pPr algn="ctr"/>
            <a:endParaRPr lang="en-US"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The main purpose of the clipper circuit is to modify the waveform of the signal which can be used in several applications such as in protection against overvoltage, noise removal, transmission, etc</a:t>
            </a:r>
            <a:r>
              <a:rPr lang="en-US" dirty="0" smtClean="0">
                <a:solidFill>
                  <a:srgbClr val="2C2F34"/>
                </a:solidFill>
                <a:latin typeface="arial" panose="020B0604020202020204" pitchFamily="34" charset="0"/>
              </a:rPr>
              <a:t>.</a:t>
            </a:r>
          </a:p>
          <a:p>
            <a:pPr algn="just"/>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 clipper circuit offer overvoltage protection therefore, it is used in power supplies for limiting the voltage</a:t>
            </a:r>
            <a:r>
              <a:rPr lang="en-US" dirty="0" smtClean="0">
                <a:solidFill>
                  <a:srgbClr val="2C2F34"/>
                </a:solidFill>
                <a:latin typeface="arial" panose="020B0604020202020204" pitchFamily="34" charset="0"/>
              </a:rPr>
              <a:t>.</a:t>
            </a:r>
          </a:p>
          <a:p>
            <a:pPr algn="just">
              <a:buFont typeface="Arial" panose="020B0604020202020204" pitchFamily="34" charset="0"/>
              <a:buChar char="•"/>
            </a:pPr>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They are used for filtering noise in transmitters</a:t>
            </a:r>
            <a:r>
              <a:rPr lang="en-US" dirty="0" smtClean="0">
                <a:solidFill>
                  <a:srgbClr val="2C2F34"/>
                </a:solidFill>
                <a:latin typeface="arial" panose="020B0604020202020204" pitchFamily="34" charset="0"/>
              </a:rPr>
              <a:t>.</a:t>
            </a:r>
          </a:p>
          <a:p>
            <a:pPr algn="just">
              <a:buFont typeface="Arial" panose="020B0604020202020204" pitchFamily="34" charset="0"/>
              <a:buChar char="•"/>
            </a:pPr>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They are used in transmitters and receivers of television</a:t>
            </a:r>
            <a:r>
              <a:rPr lang="en-US" dirty="0" smtClean="0">
                <a:solidFill>
                  <a:srgbClr val="2C2F34"/>
                </a:solidFill>
                <a:latin typeface="arial" panose="020B0604020202020204" pitchFamily="34" charset="0"/>
              </a:rPr>
              <a:t>.</a:t>
            </a:r>
          </a:p>
          <a:p>
            <a:pPr algn="just">
              <a:buFont typeface="Arial" panose="020B0604020202020204" pitchFamily="34" charset="0"/>
              <a:buChar char="•"/>
            </a:pPr>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They are used for modifying or generating new waveforms such as square, triangular, etc.</a:t>
            </a:r>
            <a:endParaRPr lang="en-US" b="0" i="0" dirty="0">
              <a:solidFill>
                <a:srgbClr val="2C2F34"/>
              </a:solidFill>
              <a:effectLst/>
              <a:latin typeface="Arial" panose="020B0604020202020204" pitchFamily="34" charset="0"/>
            </a:endParaRPr>
          </a:p>
        </p:txBody>
      </p:sp>
    </p:spTree>
    <p:extLst>
      <p:ext uri="{BB962C8B-B14F-4D97-AF65-F5344CB8AC3E}">
        <p14:creationId xmlns:p14="http://schemas.microsoft.com/office/powerpoint/2010/main" val="10320571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66767" y="2719347"/>
            <a:ext cx="5550011" cy="1015663"/>
          </a:xfrm>
          <a:prstGeom prst="rect">
            <a:avLst/>
          </a:prstGeom>
          <a:noFill/>
        </p:spPr>
        <p:txBody>
          <a:bodyPr wrap="square" rtlCol="0">
            <a:spAutoFit/>
          </a:bodyPr>
          <a:lstStyle/>
          <a:p>
            <a:r>
              <a:rPr lang="en-US" sz="6000" dirty="0" smtClean="0"/>
              <a:t>THANKYOU</a:t>
            </a:r>
            <a:r>
              <a:rPr lang="en-US" dirty="0" smtClean="0"/>
              <a:t> </a:t>
            </a:r>
            <a:endParaRPr lang="en-US" dirty="0"/>
          </a:p>
        </p:txBody>
      </p:sp>
      <p:sp>
        <p:nvSpPr>
          <p:cNvPr id="3" name="Smiley Face 2"/>
          <p:cNvSpPr/>
          <p:nvPr/>
        </p:nvSpPr>
        <p:spPr>
          <a:xfrm>
            <a:off x="8102378" y="2769978"/>
            <a:ext cx="914400" cy="914400"/>
          </a:xfrm>
          <a:prstGeom prst="smileyFace">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52161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docProps/app.xml><?xml version="1.0" encoding="utf-8"?>
<Properties xmlns="http://schemas.openxmlformats.org/officeDocument/2006/extended-properties" xmlns:vt="http://schemas.openxmlformats.org/officeDocument/2006/docPropsVTypes">
  <Template>Organic</Template>
  <TotalTime>409</TotalTime>
  <Words>1611</Words>
  <Application>Microsoft Office PowerPoint</Application>
  <PresentationFormat>Widescreen</PresentationFormat>
  <Paragraphs>110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vt:lpstr>
      <vt:lpstr>Copperplate Gothic Bold</vt:lpstr>
      <vt:lpstr>Franklin Gothic Demi Cond</vt:lpstr>
      <vt:lpstr>Garamond</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tisha preetmani</dc:creator>
  <cp:lastModifiedBy>tisha preetmani</cp:lastModifiedBy>
  <cp:revision>25</cp:revision>
  <dcterms:created xsi:type="dcterms:W3CDTF">2024-04-16T04:57:58Z</dcterms:created>
  <dcterms:modified xsi:type="dcterms:W3CDTF">2024-04-17T04:11:59Z</dcterms:modified>
</cp:coreProperties>
</file>
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9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29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50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28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6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00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53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0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32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10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30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87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DA9A4-6A54-49E3-B7A6-A25B123E041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AC2A1F0-A74C-43D1-9846-CC1810DD17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19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0656"/>
            <a:ext cx="12191999" cy="3300548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/>
              <a:t>FAradAy’s</a:t>
            </a:r>
            <a:r>
              <a:rPr lang="en-US" dirty="0" smtClean="0"/>
              <a:t> Laws of </a:t>
            </a:r>
            <a:r>
              <a:rPr lang="en-US" dirty="0" err="1" smtClean="0"/>
              <a:t>electromegnetic</a:t>
            </a:r>
            <a:r>
              <a:rPr lang="en-US" dirty="0" smtClean="0"/>
              <a:t> induction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4928" y="5081330"/>
            <a:ext cx="8637072" cy="977621"/>
          </a:xfrm>
        </p:spPr>
        <p:txBody>
          <a:bodyPr/>
          <a:lstStyle/>
          <a:p>
            <a:r>
              <a:rPr lang="en-US" b="1" dirty="0" smtClean="0"/>
              <a:t>Presentation by: </a:t>
            </a:r>
          </a:p>
          <a:p>
            <a:pPr algn="ctr"/>
            <a:r>
              <a:rPr lang="en-US" b="1" dirty="0" smtClean="0"/>
              <a:t>Mohammad Durvesh and </a:t>
            </a:r>
            <a:r>
              <a:rPr lang="en-US" b="1" dirty="0" err="1" smtClean="0"/>
              <a:t>Ibrar</a:t>
            </a:r>
            <a:r>
              <a:rPr lang="en-US" b="1" dirty="0" smtClean="0"/>
              <a:t> </a:t>
            </a:r>
            <a:r>
              <a:rPr lang="en-US" b="1" dirty="0" err="1" smtClean="0"/>
              <a:t>ali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964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Table of contents: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Introduction to the Topic</a:t>
            </a:r>
          </a:p>
          <a:p>
            <a:r>
              <a:rPr lang="en-US" b="1" dirty="0" smtClean="0"/>
              <a:t>Components</a:t>
            </a:r>
          </a:p>
          <a:p>
            <a:r>
              <a:rPr lang="en-US" b="1" dirty="0" smtClean="0"/>
              <a:t>Working(Table)</a:t>
            </a:r>
          </a:p>
          <a:p>
            <a:r>
              <a:rPr lang="en-US" b="1" dirty="0" smtClean="0"/>
              <a:t>FAQs(Frequently Asked Questions)</a:t>
            </a:r>
          </a:p>
          <a:p>
            <a:r>
              <a:rPr lang="en-US" b="1" dirty="0" smtClean="0"/>
              <a:t>Applications</a:t>
            </a:r>
          </a:p>
          <a:p>
            <a:r>
              <a:rPr lang="en-US" b="1" dirty="0" smtClean="0"/>
              <a:t>Numericals</a:t>
            </a:r>
          </a:p>
          <a:p>
            <a:r>
              <a:rPr lang="en-US" b="1" dirty="0" smtClean="0"/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2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1190" y="1384663"/>
            <a:ext cx="9840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First </a:t>
            </a:r>
            <a:r>
              <a:rPr lang="en-US" b="1" smtClean="0"/>
              <a:t>Statement of Faraday’s </a:t>
            </a:r>
            <a:r>
              <a:rPr lang="en-US" b="1" dirty="0" smtClean="0"/>
              <a:t>Law of EM Induction:</a:t>
            </a:r>
          </a:p>
          <a:p>
            <a:endParaRPr lang="en-US" dirty="0" smtClean="0"/>
          </a:p>
          <a:p>
            <a:r>
              <a:rPr lang="en-US" dirty="0" smtClean="0"/>
              <a:t>Whenever there is a change in </a:t>
            </a:r>
            <a:r>
              <a:rPr lang="en-US" b="1" dirty="0" smtClean="0"/>
              <a:t>magnetic flux </a:t>
            </a:r>
            <a:r>
              <a:rPr lang="en-US" dirty="0" smtClean="0"/>
              <a:t>linked with a conductor, an EMF is induced in the conductor. If the conductor forms a closed circuit, an induced current flows through it.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01190" y="3553097"/>
            <a:ext cx="9840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Second Statement of Faraday’s Law of EM Induction:</a:t>
            </a:r>
          </a:p>
          <a:p>
            <a:endParaRPr lang="en-US" dirty="0" smtClean="0"/>
          </a:p>
          <a:p>
            <a:r>
              <a:rPr lang="en-US" dirty="0" smtClean="0"/>
              <a:t>Whenever there is a </a:t>
            </a:r>
            <a:r>
              <a:rPr lang="en-US" b="1" dirty="0" smtClean="0"/>
              <a:t>relative motion </a:t>
            </a:r>
            <a:r>
              <a:rPr lang="en-US" dirty="0" smtClean="0"/>
              <a:t>between a coil and magnet, an EMF is induced in coil.</a:t>
            </a:r>
            <a:r>
              <a:rPr lang="en-US" dirty="0"/>
              <a:t> If the conductor forms a closed circuit, an induced current flows through it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8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675" y="1793965"/>
            <a:ext cx="4725080" cy="30240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3771" y="2455818"/>
            <a:ext cx="555606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>
                <a:latin typeface="Arial Narrow" panose="020B0606020202030204" pitchFamily="34" charset="0"/>
              </a:rPr>
              <a:t>Magnetic Flux </a:t>
            </a:r>
            <a:r>
              <a:rPr lang="en-US" sz="3200" b="1" i="1" dirty="0">
                <a:latin typeface="Arial Narrow" panose="020B0606020202030204" pitchFamily="34" charset="0"/>
              </a:rPr>
              <a:t>is the number of field lines passing perpendicular to a surface.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15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0192" y="4292756"/>
            <a:ext cx="98842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l-GR" sz="24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ε</a:t>
            </a:r>
            <a:r>
              <a:rPr lang="en-US" sz="24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-N (∆∅/∆t)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Where:</a:t>
            </a:r>
          </a:p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N = Number of turns in coil</a:t>
            </a:r>
          </a:p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∆∅ =Magnetic Flux</a:t>
            </a:r>
          </a:p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∆t = Time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10193" y="548640"/>
            <a:ext cx="98842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Induced EMF is related with:</a:t>
            </a:r>
          </a:p>
          <a:p>
            <a:endParaRPr lang="en-US" dirty="0"/>
          </a:p>
          <a:p>
            <a:r>
              <a:rPr lang="en-US" dirty="0" smtClean="0"/>
              <a:t>Time(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∆t</a:t>
            </a:r>
            <a:r>
              <a:rPr lang="en-US" dirty="0" smtClean="0"/>
              <a:t>) 		inversely</a:t>
            </a:r>
          </a:p>
          <a:p>
            <a:r>
              <a:rPr lang="en-US" dirty="0" smtClean="0"/>
              <a:t>Strength of Magnet(B)	   directly	 </a:t>
            </a:r>
          </a:p>
          <a:p>
            <a:r>
              <a:rPr lang="en-US" dirty="0" smtClean="0"/>
              <a:t>Angle Between Coil and Magnet(cos</a:t>
            </a:r>
            <a:r>
              <a:rPr lang="el-GR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θ</a:t>
            </a:r>
            <a:r>
              <a:rPr lang="en-US" dirty="0" smtClean="0"/>
              <a:t>) 	</a:t>
            </a:r>
            <a:r>
              <a:rPr lang="en-US" dirty="0"/>
              <a:t> </a:t>
            </a:r>
            <a:r>
              <a:rPr lang="en-US" dirty="0" smtClean="0"/>
              <a:t>     directly</a:t>
            </a:r>
          </a:p>
          <a:p>
            <a:r>
              <a:rPr lang="en-US" dirty="0" smtClean="0"/>
              <a:t>Number of turns of coil(N)	</a:t>
            </a:r>
            <a:r>
              <a:rPr lang="en-US" dirty="0"/>
              <a:t> </a:t>
            </a:r>
            <a:r>
              <a:rPr lang="en-US" dirty="0" smtClean="0"/>
              <a:t>   directly</a:t>
            </a:r>
          </a:p>
          <a:p>
            <a:r>
              <a:rPr lang="en-US" dirty="0" smtClean="0"/>
              <a:t>Area of Coil(A)	directly</a:t>
            </a:r>
          </a:p>
          <a:p>
            <a:endParaRPr lang="en-US" b="1" dirty="0"/>
          </a:p>
          <a:p>
            <a:r>
              <a:rPr lang="en-US" b="1" dirty="0" smtClean="0"/>
              <a:t>Which makes:</a:t>
            </a:r>
          </a:p>
          <a:p>
            <a:r>
              <a:rPr lang="el-GR" b="1" dirty="0">
                <a:latin typeface="Cambria Math" panose="02040503050406030204" pitchFamily="18" charset="0"/>
                <a:ea typeface="Cambria Math" panose="02040503050406030204" pitchFamily="18" charset="0"/>
              </a:rPr>
              <a:t>ε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-NBAcos</a:t>
            </a:r>
            <a:r>
              <a:rPr lang="el-GR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θ</a:t>
            </a:r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/∆t</a:t>
            </a:r>
          </a:p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(we know that: Magnetic flux(∆∅ = </a:t>
            </a:r>
            <a:r>
              <a:rPr lang="en-US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BAcos</a:t>
            </a:r>
            <a:r>
              <a:rPr lang="el-GR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θ</a:t>
            </a:r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 )</a:t>
            </a:r>
          </a:p>
          <a:p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So the formula becomes: 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063931" y="1288868"/>
            <a:ext cx="243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217817" y="1580605"/>
            <a:ext cx="243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776651" y="1859279"/>
            <a:ext cx="243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731622" y="2129245"/>
            <a:ext cx="243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608216" y="2399211"/>
            <a:ext cx="2438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06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5954" y="261257"/>
            <a:ext cx="91614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Components used:</a:t>
            </a:r>
            <a:endParaRPr lang="en-US" sz="2000" b="1" dirty="0" smtClean="0"/>
          </a:p>
          <a:p>
            <a:endParaRPr lang="en-US" sz="2000" dirty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7" y="2168433"/>
            <a:ext cx="1371433" cy="13163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77" y="2168433"/>
            <a:ext cx="2400163" cy="1316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744" y="1970422"/>
            <a:ext cx="4209141" cy="19158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916" y="4885506"/>
            <a:ext cx="1729782" cy="18451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747" y="4885507"/>
            <a:ext cx="1845129" cy="18451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023" y="1515291"/>
            <a:ext cx="2281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/>
              <a:t>Magnet</a:t>
            </a:r>
            <a:endParaRPr lang="en-US" b="1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8325394" y="1341120"/>
            <a:ext cx="2612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Coil and Wire</a:t>
            </a:r>
            <a:endParaRPr lang="en-US" b="1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3823063" y="4148922"/>
            <a:ext cx="2603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Galvanometer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96993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4765" y="313508"/>
            <a:ext cx="262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Working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67" y="1605948"/>
            <a:ext cx="5544638" cy="40372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6" y="1605948"/>
            <a:ext cx="6209211" cy="403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1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3474" y="557349"/>
            <a:ext cx="1107730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/>
              <a:t>FAQs(F</a:t>
            </a:r>
            <a:r>
              <a:rPr lang="en-US" sz="2800" u="sng" dirty="0" smtClean="0"/>
              <a:t>requently </a:t>
            </a:r>
            <a:r>
              <a:rPr lang="en-US" sz="2800" b="1" u="sng" dirty="0" smtClean="0"/>
              <a:t>A</a:t>
            </a:r>
            <a:r>
              <a:rPr lang="en-US" sz="2800" u="sng" dirty="0" smtClean="0"/>
              <a:t>sked </a:t>
            </a:r>
            <a:r>
              <a:rPr lang="en-US" sz="2800" b="1" u="sng" dirty="0" smtClean="0"/>
              <a:t>Q</a:t>
            </a:r>
            <a:r>
              <a:rPr lang="en-US" sz="2800" u="sng" dirty="0" smtClean="0"/>
              <a:t>uestion</a:t>
            </a:r>
            <a:r>
              <a:rPr lang="en-US" sz="2800" b="1" u="sng" dirty="0" smtClean="0"/>
              <a:t>s)</a:t>
            </a:r>
            <a:endParaRPr lang="en-US" b="1" u="sng" dirty="0" smtClean="0"/>
          </a:p>
          <a:p>
            <a:endParaRPr lang="en-US" dirty="0"/>
          </a:p>
          <a:p>
            <a:r>
              <a:rPr lang="en-US" b="1" dirty="0" smtClean="0"/>
              <a:t>Q.  </a:t>
            </a:r>
            <a:r>
              <a:rPr lang="en-US" b="1" dirty="0"/>
              <a:t>Why are Faraday’s </a:t>
            </a:r>
            <a:r>
              <a:rPr lang="en-US" b="1" dirty="0" smtClean="0"/>
              <a:t>Laws </a:t>
            </a:r>
            <a:r>
              <a:rPr lang="en-US" b="1" dirty="0"/>
              <a:t>important?</a:t>
            </a:r>
          </a:p>
          <a:p>
            <a:r>
              <a:rPr lang="en-US" b="1" dirty="0" smtClean="0"/>
              <a:t>Answer: </a:t>
            </a:r>
            <a:r>
              <a:rPr lang="en-US" dirty="0" smtClean="0"/>
              <a:t>Faraday’s laws are </a:t>
            </a:r>
            <a:r>
              <a:rPr lang="en-US" dirty="0"/>
              <a:t>used to define the EMF produce inside a coil if it rotates in a magnetic field. This concept is widely used in modern-day physics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 smtClean="0"/>
              <a:t>Q.  What </a:t>
            </a:r>
            <a:r>
              <a:rPr lang="en-US" b="1" dirty="0"/>
              <a:t>is meant by EMF?</a:t>
            </a:r>
          </a:p>
          <a:p>
            <a:r>
              <a:rPr lang="en-US" b="1" dirty="0" smtClean="0"/>
              <a:t>Answer: </a:t>
            </a:r>
            <a:r>
              <a:rPr lang="en-US" dirty="0" smtClean="0"/>
              <a:t>EMF refers to </a:t>
            </a:r>
            <a:r>
              <a:rPr lang="en-US" dirty="0"/>
              <a:t>Electromotive </a:t>
            </a:r>
            <a:r>
              <a:rPr lang="en-US" dirty="0" smtClean="0"/>
              <a:t>Force and </a:t>
            </a:r>
            <a:r>
              <a:rPr lang="en-US" dirty="0"/>
              <a:t>is the energy required to flow the current in the circuit</a:t>
            </a:r>
            <a:r>
              <a:rPr lang="en-US" dirty="0" smtClean="0"/>
              <a:t>.</a:t>
            </a:r>
          </a:p>
          <a:p>
            <a:endParaRPr lang="en-US" b="1" dirty="0"/>
          </a:p>
          <a:p>
            <a:pPr marL="342900" indent="-342900">
              <a:buAutoNum type="alphaUcPeriod" startAt="17"/>
            </a:pPr>
            <a:r>
              <a:rPr lang="en-US" b="1" dirty="0" smtClean="0"/>
              <a:t>What is meant by induced current?</a:t>
            </a:r>
          </a:p>
          <a:p>
            <a:r>
              <a:rPr lang="en-US" b="1" dirty="0" smtClean="0"/>
              <a:t>Answer:  </a:t>
            </a:r>
            <a:r>
              <a:rPr lang="en-US" dirty="0" smtClean="0"/>
              <a:t>Induced current is generated due to the EMF induced in circuit due to the relative motion between coil and magnet.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3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142" y="1358537"/>
            <a:ext cx="107289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Applications</a:t>
            </a:r>
          </a:p>
          <a:p>
            <a:endParaRPr lang="en-US" dirty="0" smtClean="0"/>
          </a:p>
          <a:p>
            <a:endParaRPr lang="en-US" dirty="0"/>
          </a:p>
          <a:p>
            <a:pPr fontAlgn="base"/>
            <a:r>
              <a:rPr lang="en-US" sz="2400" b="1" dirty="0"/>
              <a:t>Various applications of the Faraday laws </a:t>
            </a:r>
            <a:r>
              <a:rPr lang="en-US" sz="2400" b="1" dirty="0" smtClean="0"/>
              <a:t>are</a:t>
            </a:r>
            <a:r>
              <a:rPr lang="en-US" sz="2400" b="1" dirty="0"/>
              <a:t>:</a:t>
            </a:r>
            <a:endParaRPr lang="en-US" sz="2400" b="1" dirty="0" smtClean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 smtClean="0"/>
              <a:t>Faraday’s </a:t>
            </a:r>
            <a:r>
              <a:rPr lang="en-US" sz="2400" dirty="0"/>
              <a:t>Law is used in electrical equipment like transformers and electric motors.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 smtClean="0"/>
              <a:t>Faraday’s </a:t>
            </a:r>
            <a:r>
              <a:rPr lang="en-US" sz="2400" dirty="0"/>
              <a:t>law is also helpful in designing musical instruments like the electric guitar, electric violin, and </a:t>
            </a:r>
            <a:r>
              <a:rPr lang="en-US" sz="2400" dirty="0" smtClean="0"/>
              <a:t>others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 smtClean="0"/>
              <a:t>It </a:t>
            </a:r>
            <a:r>
              <a:rPr lang="en-US" sz="2400" dirty="0"/>
              <a:t>explains the forces acting on the electric circuit by the electromagnetic field.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8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9269" y="322218"/>
            <a:ext cx="10772502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Solved Numericals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1.  </a:t>
            </a:r>
            <a:r>
              <a:rPr lang="en-US" b="1" dirty="0"/>
              <a:t>The magnetic flux linked with a </a:t>
            </a:r>
            <a:r>
              <a:rPr lang="en-US" b="1" dirty="0" smtClean="0"/>
              <a:t>coil 4 turns </a:t>
            </a:r>
            <a:r>
              <a:rPr lang="en-US" b="1" dirty="0"/>
              <a:t>is changed from 2Wb to 0.2Wb in 0.5 seconds. Calculate the induced </a:t>
            </a:r>
            <a:r>
              <a:rPr lang="en-US" b="1" dirty="0" smtClean="0"/>
              <a:t>EMF.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Solution:</a:t>
            </a:r>
          </a:p>
          <a:p>
            <a:endParaRPr lang="en-US" dirty="0"/>
          </a:p>
          <a:p>
            <a:r>
              <a:rPr lang="en-US" dirty="0"/>
              <a:t>Δⲫ = </a:t>
            </a:r>
            <a:r>
              <a:rPr lang="en-US" dirty="0" smtClean="0"/>
              <a:t>2-0.2 </a:t>
            </a:r>
            <a:r>
              <a:rPr lang="en-US" dirty="0"/>
              <a:t>= </a:t>
            </a:r>
            <a:r>
              <a:rPr lang="en-US" dirty="0" smtClean="0"/>
              <a:t>1.8wb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Δt</a:t>
            </a:r>
            <a:r>
              <a:rPr lang="en-US" dirty="0"/>
              <a:t> = 0.5 sec</a:t>
            </a:r>
          </a:p>
          <a:p>
            <a:endParaRPr lang="en-US" dirty="0"/>
          </a:p>
          <a:p>
            <a:r>
              <a:rPr lang="en-US" dirty="0"/>
              <a:t>E = </a:t>
            </a:r>
            <a:r>
              <a:rPr lang="en-US" dirty="0" smtClean="0"/>
              <a:t>-N(Δⲫ/</a:t>
            </a:r>
            <a:r>
              <a:rPr lang="en-US" dirty="0" err="1" smtClean="0"/>
              <a:t>Δt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E= </a:t>
            </a:r>
            <a:r>
              <a:rPr lang="en-US" dirty="0" smtClean="0"/>
              <a:t>-4(1.8/0.5) </a:t>
            </a:r>
            <a:r>
              <a:rPr lang="en-US" dirty="0"/>
              <a:t>volts</a:t>
            </a:r>
          </a:p>
          <a:p>
            <a:endParaRPr lang="en-US" dirty="0"/>
          </a:p>
          <a:p>
            <a:r>
              <a:rPr lang="en-US" dirty="0"/>
              <a:t>E= </a:t>
            </a:r>
            <a:r>
              <a:rPr lang="en-US" dirty="0" smtClean="0"/>
              <a:t>4x3.6= -14.4 </a:t>
            </a:r>
            <a:r>
              <a:rPr lang="en-US" dirty="0"/>
              <a:t>volts</a:t>
            </a:r>
          </a:p>
          <a:p>
            <a:endParaRPr lang="en-US" dirty="0"/>
          </a:p>
          <a:p>
            <a:r>
              <a:rPr lang="en-US" dirty="0"/>
              <a:t>Therefore, induced </a:t>
            </a:r>
            <a:r>
              <a:rPr lang="en-US" dirty="0" err="1"/>
              <a:t>emf</a:t>
            </a:r>
            <a:r>
              <a:rPr lang="en-US" dirty="0"/>
              <a:t> will be </a:t>
            </a:r>
            <a:r>
              <a:rPr lang="en-US" dirty="0" smtClean="0"/>
              <a:t>-14.4 </a:t>
            </a:r>
            <a:r>
              <a:rPr lang="en-US" dirty="0"/>
              <a:t>volts.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7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395" y="870857"/>
            <a:ext cx="109205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 Calculate </a:t>
            </a:r>
            <a:r>
              <a:rPr lang="en-US" b="1" dirty="0"/>
              <a:t>the </a:t>
            </a:r>
            <a:r>
              <a:rPr lang="en-US" b="1" dirty="0" smtClean="0"/>
              <a:t>EMF </a:t>
            </a:r>
            <a:r>
              <a:rPr lang="en-US" b="1" dirty="0"/>
              <a:t>induced in the wire. When a small piece of metal </a:t>
            </a:r>
            <a:r>
              <a:rPr lang="en-US" b="1" dirty="0" smtClean="0"/>
              <a:t>wire with 2 turns is </a:t>
            </a:r>
            <a:r>
              <a:rPr lang="en-US" b="1" dirty="0"/>
              <a:t>dragged across the gap between the pole pieces of a magnet in </a:t>
            </a:r>
            <a:r>
              <a:rPr lang="en-US" b="1" dirty="0" smtClean="0"/>
              <a:t>0.5sec</a:t>
            </a:r>
            <a:r>
              <a:rPr lang="en-US" b="1" dirty="0"/>
              <a:t>. The magnetic flux between the pole pieces is known to be </a:t>
            </a:r>
            <a:r>
              <a:rPr lang="en-US" b="1" dirty="0" smtClean="0"/>
              <a:t>9×10^-</a:t>
            </a:r>
            <a:r>
              <a:rPr lang="en-US" b="1" dirty="0"/>
              <a:t>4 </a:t>
            </a:r>
            <a:r>
              <a:rPr lang="en-US" b="1" dirty="0" err="1"/>
              <a:t>Wb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r>
              <a:rPr lang="en-US" b="1" dirty="0"/>
              <a:t>Solution:</a:t>
            </a:r>
          </a:p>
          <a:p>
            <a:endParaRPr lang="en-US" dirty="0"/>
          </a:p>
          <a:p>
            <a:r>
              <a:rPr lang="en-US" dirty="0" err="1"/>
              <a:t>dt</a:t>
            </a:r>
            <a:r>
              <a:rPr lang="en-US" dirty="0"/>
              <a:t> = 0.5 s</a:t>
            </a:r>
          </a:p>
          <a:p>
            <a:endParaRPr lang="en-US" dirty="0"/>
          </a:p>
          <a:p>
            <a:r>
              <a:rPr lang="en-US" dirty="0"/>
              <a:t>dⲫ = </a:t>
            </a:r>
            <a:r>
              <a:rPr lang="en-US" dirty="0" smtClean="0"/>
              <a:t>9×10^-4 = 9×10^-</a:t>
            </a:r>
            <a:r>
              <a:rPr lang="en-US" dirty="0"/>
              <a:t>4 </a:t>
            </a:r>
            <a:r>
              <a:rPr lang="en-US" dirty="0" err="1"/>
              <a:t>Wb</a:t>
            </a:r>
            <a:endParaRPr lang="en-US" dirty="0"/>
          </a:p>
          <a:p>
            <a:endParaRPr lang="en-US" dirty="0"/>
          </a:p>
          <a:p>
            <a:r>
              <a:rPr lang="en-US" dirty="0"/>
              <a:t>E = -</a:t>
            </a:r>
            <a:r>
              <a:rPr lang="en-US" dirty="0" smtClean="0"/>
              <a:t>N(dⲫ/</a:t>
            </a:r>
            <a:r>
              <a:rPr lang="en-US" dirty="0" err="1" smtClean="0"/>
              <a:t>dt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/>
              <a:t>E= </a:t>
            </a:r>
            <a:r>
              <a:rPr lang="en-US" dirty="0" smtClean="0"/>
              <a:t>-2(9×10^-4/0.5)</a:t>
            </a:r>
            <a:endParaRPr lang="en-US" dirty="0"/>
          </a:p>
          <a:p>
            <a:endParaRPr lang="en-US" dirty="0"/>
          </a:p>
          <a:p>
            <a:r>
              <a:rPr lang="en-US" dirty="0"/>
              <a:t>E= </a:t>
            </a:r>
            <a:r>
              <a:rPr lang="en-US" dirty="0" smtClean="0"/>
              <a:t>-0.0036 </a:t>
            </a:r>
            <a:r>
              <a:rPr lang="en-US" dirty="0"/>
              <a:t>V</a:t>
            </a:r>
          </a:p>
          <a:p>
            <a:endParaRPr lang="en-US" dirty="0"/>
          </a:p>
          <a:p>
            <a:r>
              <a:rPr lang="en-US" dirty="0"/>
              <a:t>Therefore, the induced </a:t>
            </a:r>
            <a:r>
              <a:rPr lang="en-US" dirty="0" err="1"/>
              <a:t>emf</a:t>
            </a:r>
            <a:r>
              <a:rPr lang="en-US" dirty="0"/>
              <a:t> </a:t>
            </a:r>
            <a:r>
              <a:rPr lang="en-US" dirty="0" smtClean="0"/>
              <a:t>-0.0036V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1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612" y="1236617"/>
            <a:ext cx="988422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Conclusion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2800" dirty="0" smtClean="0"/>
              <a:t>Faraday in his laws states that an EMF is induced when there is a </a:t>
            </a:r>
            <a:r>
              <a:rPr lang="en-US" sz="2800" b="1" dirty="0" smtClean="0"/>
              <a:t>relative motion </a:t>
            </a:r>
            <a:r>
              <a:rPr lang="en-US" sz="2800" dirty="0" smtClean="0"/>
              <a:t>between the magnet and the conducting coil or when there is change in </a:t>
            </a:r>
            <a:r>
              <a:rPr lang="en-US" sz="2800" b="1" dirty="0" smtClean="0"/>
              <a:t>magnetic flux</a:t>
            </a:r>
            <a:r>
              <a:rPr lang="en-US" sz="2800" dirty="0" smtClean="0"/>
              <a:t>. If it is a </a:t>
            </a:r>
            <a:r>
              <a:rPr lang="en-US" sz="2800" b="1" dirty="0" smtClean="0"/>
              <a:t>closed circuit, </a:t>
            </a:r>
            <a:r>
              <a:rPr lang="en-US" sz="2800" dirty="0" smtClean="0"/>
              <a:t>an induced current is observed flowing through the circuit. </a:t>
            </a:r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3010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1817" y="2917371"/>
            <a:ext cx="1034578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Any Questions?</a:t>
            </a:r>
          </a:p>
          <a:p>
            <a:pPr algn="ctr"/>
            <a:endParaRPr lang="en-US" sz="4000" b="1" dirty="0"/>
          </a:p>
          <a:p>
            <a:pPr algn="ctr"/>
            <a:endParaRPr lang="en-US" sz="4000" b="1" dirty="0" smtClean="0"/>
          </a:p>
          <a:p>
            <a:pPr algn="ctr"/>
            <a:endParaRPr lang="en-US" sz="4000" b="1" dirty="0"/>
          </a:p>
          <a:p>
            <a:pPr algn="ctr"/>
            <a:endParaRPr lang="en-US" sz="4000" b="1" dirty="0" smtClean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9335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164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  <a:p>
            <a:pPr algn="ctr"/>
            <a:r>
              <a:rPr lang="en-US" sz="3200" b="1" dirty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6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148</TotalTime>
  <Words>618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Narrow</vt:lpstr>
      <vt:lpstr>Cambria Math</vt:lpstr>
      <vt:lpstr>Gill Sans MT</vt:lpstr>
      <vt:lpstr>Gallery</vt:lpstr>
      <vt:lpstr>FAradAy’s Laws of electromegnetic induction</vt:lpstr>
      <vt:lpstr>Table of contents: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FAradAy’s Laws of electromegnetic induction</dc:title>
  <dc:creator>DELL</dc:creator>
  <cp:lastModifiedBy>DELL</cp:lastModifiedBy>
  <cp:revision>30</cp:revision>
  <dcterms:created xsi:type="dcterms:W3CDTF">2024-04-26T05:37:17Z</dcterms:created>
  <dcterms:modified xsi:type="dcterms:W3CDTF">2024-04-29T07:19:29Z</dcterms:modified>
</cp:coreProperties>
</file>
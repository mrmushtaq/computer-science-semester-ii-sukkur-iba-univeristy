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6" r:id="rId2"/>
    <p:sldId id="1033" r:id="rId3"/>
    <p:sldId id="1020" r:id="rId4"/>
    <p:sldId id="1079" r:id="rId5"/>
    <p:sldId id="1065" r:id="rId6"/>
    <p:sldId id="1081" r:id="rId7"/>
    <p:sldId id="1082" r:id="rId8"/>
    <p:sldId id="1083" r:id="rId9"/>
    <p:sldId id="1084" r:id="rId10"/>
    <p:sldId id="1067" r:id="rId11"/>
    <p:sldId id="1068" r:id="rId12"/>
    <p:sldId id="1070" r:id="rId13"/>
    <p:sldId id="1074" r:id="rId14"/>
    <p:sldId id="1075" r:id="rId15"/>
    <p:sldId id="1076" r:id="rId16"/>
    <p:sldId id="1077" r:id="rId17"/>
    <p:sldId id="1078" r:id="rId18"/>
    <p:sldId id="1080" r:id="rId19"/>
    <p:sldId id="678" r:id="rId20"/>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DE1"/>
    <a:srgbClr val="484848"/>
    <a:srgbClr val="FFC000"/>
    <a:srgbClr val="FF0000"/>
    <a:srgbClr val="70AD47"/>
    <a:srgbClr val="FAFAFA"/>
    <a:srgbClr val="FFFFFF"/>
    <a:srgbClr val="E2F0D9"/>
    <a:srgbClr val="FBE5D6"/>
    <a:srgbClr val="D0CE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420" autoAdjust="0"/>
    <p:restoredTop sz="96340" autoAdjust="0"/>
  </p:normalViewPr>
  <p:slideViewPr>
    <p:cSldViewPr snapToGrid="0">
      <p:cViewPr varScale="1">
        <p:scale>
          <a:sx n="111" d="100"/>
          <a:sy n="111" d="100"/>
        </p:scale>
        <p:origin x="1140" y="102"/>
      </p:cViewPr>
      <p:guideLst/>
    </p:cSldViewPr>
  </p:slideViewPr>
  <p:notesTextViewPr>
    <p:cViewPr>
      <p:scale>
        <a:sx n="200" d="100"/>
        <a:sy n="200" d="100"/>
      </p:scale>
      <p:origin x="0" y="0"/>
    </p:cViewPr>
  </p:notesTextViewPr>
  <p:sorterViewPr>
    <p:cViewPr>
      <p:scale>
        <a:sx n="100" d="100"/>
        <a:sy n="100" d="100"/>
      </p:scale>
      <p:origin x="0" y="0"/>
    </p:cViewPr>
  </p:sorterViewPr>
  <p:notesViewPr>
    <p:cSldViewPr snapToGrid="0">
      <p:cViewPr varScale="1">
        <p:scale>
          <a:sx n="88" d="100"/>
          <a:sy n="88" d="100"/>
        </p:scale>
        <p:origin x="3822"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FD1AB2-1E52-4454-BCEE-9054C007360F}" type="datetimeFigureOut">
              <a:rPr lang="en-US" smtClean="0"/>
              <a:t>3/5/2024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F5D87E1-FBE1-4318-A64C-658158339758}" type="slidenum">
              <a:rPr lang="en-US" smtClean="0"/>
              <a:t>‹#›</a:t>
            </a:fld>
            <a:endParaRPr lang="en-US"/>
          </a:p>
        </p:txBody>
      </p:sp>
    </p:spTree>
    <p:extLst>
      <p:ext uri="{BB962C8B-B14F-4D97-AF65-F5344CB8AC3E}">
        <p14:creationId xmlns:p14="http://schemas.microsoft.com/office/powerpoint/2010/main" val="22865064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EB5B66-5FF8-4871-9FDA-E245DCA4E581}" type="datetimeFigureOut">
              <a:rPr lang="en-US" smtClean="0"/>
              <a:t>3/5/2024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4D1CD0-B6EC-4FCC-A098-B065C4933AD6}" type="slidenum">
              <a:rPr lang="en-US" smtClean="0"/>
              <a:t>‹#›</a:t>
            </a:fld>
            <a:endParaRPr lang="en-US"/>
          </a:p>
        </p:txBody>
      </p:sp>
    </p:spTree>
    <p:extLst>
      <p:ext uri="{BB962C8B-B14F-4D97-AF65-F5344CB8AC3E}">
        <p14:creationId xmlns:p14="http://schemas.microsoft.com/office/powerpoint/2010/main" val="1511615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a:t>
            </a:fld>
            <a:endParaRPr lang="en-US"/>
          </a:p>
        </p:txBody>
      </p:sp>
    </p:spTree>
    <p:extLst>
      <p:ext uri="{BB962C8B-B14F-4D97-AF65-F5344CB8AC3E}">
        <p14:creationId xmlns:p14="http://schemas.microsoft.com/office/powerpoint/2010/main" val="1962005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2</a:t>
            </a:fld>
            <a:endParaRPr lang="en-US"/>
          </a:p>
        </p:txBody>
      </p:sp>
    </p:spTree>
    <p:extLst>
      <p:ext uri="{BB962C8B-B14F-4D97-AF65-F5344CB8AC3E}">
        <p14:creationId xmlns:p14="http://schemas.microsoft.com/office/powerpoint/2010/main" val="1488953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3</a:t>
            </a:fld>
            <a:endParaRPr lang="en-US"/>
          </a:p>
        </p:txBody>
      </p:sp>
    </p:spTree>
    <p:extLst>
      <p:ext uri="{BB962C8B-B14F-4D97-AF65-F5344CB8AC3E}">
        <p14:creationId xmlns:p14="http://schemas.microsoft.com/office/powerpoint/2010/main" val="1706984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4</a:t>
            </a:fld>
            <a:endParaRPr lang="en-US"/>
          </a:p>
        </p:txBody>
      </p:sp>
    </p:spTree>
    <p:extLst>
      <p:ext uri="{BB962C8B-B14F-4D97-AF65-F5344CB8AC3E}">
        <p14:creationId xmlns:p14="http://schemas.microsoft.com/office/powerpoint/2010/main" val="2996960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5</a:t>
            </a:fld>
            <a:endParaRPr lang="en-US"/>
          </a:p>
        </p:txBody>
      </p:sp>
    </p:spTree>
    <p:extLst>
      <p:ext uri="{BB962C8B-B14F-4D97-AF65-F5344CB8AC3E}">
        <p14:creationId xmlns:p14="http://schemas.microsoft.com/office/powerpoint/2010/main" val="2500155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6</a:t>
            </a:fld>
            <a:endParaRPr lang="en-US"/>
          </a:p>
        </p:txBody>
      </p:sp>
    </p:spTree>
    <p:extLst>
      <p:ext uri="{BB962C8B-B14F-4D97-AF65-F5344CB8AC3E}">
        <p14:creationId xmlns:p14="http://schemas.microsoft.com/office/powerpoint/2010/main" val="779235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7</a:t>
            </a:fld>
            <a:endParaRPr lang="en-US"/>
          </a:p>
        </p:txBody>
      </p:sp>
    </p:spTree>
    <p:extLst>
      <p:ext uri="{BB962C8B-B14F-4D97-AF65-F5344CB8AC3E}">
        <p14:creationId xmlns:p14="http://schemas.microsoft.com/office/powerpoint/2010/main" val="1980099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8</a:t>
            </a:fld>
            <a:endParaRPr lang="en-US"/>
          </a:p>
        </p:txBody>
      </p:sp>
    </p:spTree>
    <p:extLst>
      <p:ext uri="{BB962C8B-B14F-4D97-AF65-F5344CB8AC3E}">
        <p14:creationId xmlns:p14="http://schemas.microsoft.com/office/powerpoint/2010/main" val="20929116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9</a:t>
            </a:fld>
            <a:endParaRPr lang="en-US"/>
          </a:p>
        </p:txBody>
      </p:sp>
    </p:spTree>
    <p:extLst>
      <p:ext uri="{BB962C8B-B14F-4D97-AF65-F5344CB8AC3E}">
        <p14:creationId xmlns:p14="http://schemas.microsoft.com/office/powerpoint/2010/main" val="34230650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10</a:t>
            </a:fld>
            <a:endParaRPr lang="en-US"/>
          </a:p>
        </p:txBody>
      </p:sp>
    </p:spTree>
    <p:extLst>
      <p:ext uri="{BB962C8B-B14F-4D97-AF65-F5344CB8AC3E}">
        <p14:creationId xmlns:p14="http://schemas.microsoft.com/office/powerpoint/2010/main" val="594800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11</a:t>
            </a:fld>
            <a:endParaRPr lang="en-US"/>
          </a:p>
        </p:txBody>
      </p:sp>
    </p:spTree>
    <p:extLst>
      <p:ext uri="{BB962C8B-B14F-4D97-AF65-F5344CB8AC3E}">
        <p14:creationId xmlns:p14="http://schemas.microsoft.com/office/powerpoint/2010/main" val="8721558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12</a:t>
            </a:fld>
            <a:endParaRPr lang="en-US"/>
          </a:p>
        </p:txBody>
      </p:sp>
    </p:spTree>
    <p:extLst>
      <p:ext uri="{BB962C8B-B14F-4D97-AF65-F5344CB8AC3E}">
        <p14:creationId xmlns:p14="http://schemas.microsoft.com/office/powerpoint/2010/main" val="2430045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13</a:t>
            </a:fld>
            <a:endParaRPr lang="en-US"/>
          </a:p>
        </p:txBody>
      </p:sp>
    </p:spTree>
    <p:extLst>
      <p:ext uri="{BB962C8B-B14F-4D97-AF65-F5344CB8AC3E}">
        <p14:creationId xmlns:p14="http://schemas.microsoft.com/office/powerpoint/2010/main" val="27833825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14</a:t>
            </a:fld>
            <a:endParaRPr lang="en-US"/>
          </a:p>
        </p:txBody>
      </p:sp>
    </p:spTree>
    <p:extLst>
      <p:ext uri="{BB962C8B-B14F-4D97-AF65-F5344CB8AC3E}">
        <p14:creationId xmlns:p14="http://schemas.microsoft.com/office/powerpoint/2010/main" val="12256715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15</a:t>
            </a:fld>
            <a:endParaRPr lang="en-US"/>
          </a:p>
        </p:txBody>
      </p:sp>
    </p:spTree>
    <p:extLst>
      <p:ext uri="{BB962C8B-B14F-4D97-AF65-F5344CB8AC3E}">
        <p14:creationId xmlns:p14="http://schemas.microsoft.com/office/powerpoint/2010/main" val="11417454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16</a:t>
            </a:fld>
            <a:endParaRPr lang="en-US"/>
          </a:p>
        </p:txBody>
      </p:sp>
    </p:spTree>
    <p:extLst>
      <p:ext uri="{BB962C8B-B14F-4D97-AF65-F5344CB8AC3E}">
        <p14:creationId xmlns:p14="http://schemas.microsoft.com/office/powerpoint/2010/main" val="39092130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17</a:t>
            </a:fld>
            <a:endParaRPr lang="en-US"/>
          </a:p>
        </p:txBody>
      </p:sp>
    </p:spTree>
    <p:extLst>
      <p:ext uri="{BB962C8B-B14F-4D97-AF65-F5344CB8AC3E}">
        <p14:creationId xmlns:p14="http://schemas.microsoft.com/office/powerpoint/2010/main" val="39724420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18</a:t>
            </a:fld>
            <a:endParaRPr lang="en-US"/>
          </a:p>
        </p:txBody>
      </p:sp>
    </p:spTree>
    <p:extLst>
      <p:ext uri="{BB962C8B-B14F-4D97-AF65-F5344CB8AC3E}">
        <p14:creationId xmlns:p14="http://schemas.microsoft.com/office/powerpoint/2010/main" val="17716004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19</a:t>
            </a:fld>
            <a:endParaRPr lang="en-US"/>
          </a:p>
        </p:txBody>
      </p:sp>
    </p:spTree>
    <p:extLst>
      <p:ext uri="{BB962C8B-B14F-4D97-AF65-F5344CB8AC3E}">
        <p14:creationId xmlns:p14="http://schemas.microsoft.com/office/powerpoint/2010/main" val="877215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CD9F5C8-980B-4153-9A81-0CA7AD338922}" type="datetime1">
              <a:rPr lang="en-US" smtClean="0"/>
              <a:t>3/5/2024</a:t>
            </a:fld>
            <a:endParaRPr lang="en-US"/>
          </a:p>
        </p:txBody>
      </p:sp>
      <p:sp>
        <p:nvSpPr>
          <p:cNvPr id="5" name="Footer Placeholder 4"/>
          <p:cNvSpPr>
            <a:spLocks noGrp="1"/>
          </p:cNvSpPr>
          <p:nvPr>
            <p:ph type="ftr" sz="quarter" idx="11"/>
          </p:nvPr>
        </p:nvSpPr>
        <p:spPr/>
        <p:txBody>
          <a:bodyPr/>
          <a:lstStyle>
            <a:lvl1pPr>
              <a:defRPr/>
            </a:lvl1pPr>
          </a:lstStyle>
          <a:p>
            <a:r>
              <a:rPr lang="en-US" dirty="0" smtClean="0"/>
              <a:t>Department of Computer Science</a:t>
            </a:r>
            <a:endParaRPr lang="en-US" dirty="0"/>
          </a:p>
        </p:txBody>
      </p:sp>
      <p:sp>
        <p:nvSpPr>
          <p:cNvPr id="6" name="Slide Number Placeholder 5"/>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737088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A36914-E001-4052-8B78-7CC800F2A524}" type="datetime1">
              <a:rPr lang="en-US" smtClean="0"/>
              <a:t>3/5/2024</a:t>
            </a:fld>
            <a:endParaRPr lang="en-US"/>
          </a:p>
        </p:txBody>
      </p:sp>
      <p:sp>
        <p:nvSpPr>
          <p:cNvPr id="5" name="Footer Placeholder 4"/>
          <p:cNvSpPr>
            <a:spLocks noGrp="1"/>
          </p:cNvSpPr>
          <p:nvPr>
            <p:ph type="ftr" sz="quarter" idx="11"/>
          </p:nvPr>
        </p:nvSpPr>
        <p:spPr/>
        <p:txBody>
          <a:bodyPr/>
          <a:lstStyle/>
          <a:p>
            <a:r>
              <a:rPr lang="en-US" smtClean="0"/>
              <a:t>Department of Computer Science</a:t>
            </a:r>
            <a:endParaRPr lang="en-US"/>
          </a:p>
        </p:txBody>
      </p:sp>
      <p:sp>
        <p:nvSpPr>
          <p:cNvPr id="6" name="Slide Number Placeholder 5"/>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3891490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4E48D6-5D40-4487-825E-E32A08DEA8DB}" type="datetime1">
              <a:rPr lang="en-US" smtClean="0"/>
              <a:t>3/5/2024</a:t>
            </a:fld>
            <a:endParaRPr lang="en-US"/>
          </a:p>
        </p:txBody>
      </p:sp>
      <p:sp>
        <p:nvSpPr>
          <p:cNvPr id="5" name="Footer Placeholder 4"/>
          <p:cNvSpPr>
            <a:spLocks noGrp="1"/>
          </p:cNvSpPr>
          <p:nvPr>
            <p:ph type="ftr" sz="quarter" idx="11"/>
          </p:nvPr>
        </p:nvSpPr>
        <p:spPr/>
        <p:txBody>
          <a:bodyPr/>
          <a:lstStyle/>
          <a:p>
            <a:r>
              <a:rPr lang="en-US"/>
              <a:t>Department of Electrical Engineering</a:t>
            </a:r>
          </a:p>
        </p:txBody>
      </p:sp>
      <p:sp>
        <p:nvSpPr>
          <p:cNvPr id="6" name="Slide Number Placeholder 5"/>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236795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DB75972-FA09-4761-957D-7741E81AEC97}" type="datetime1">
              <a:rPr lang="en-US" smtClean="0"/>
              <a:t>3/5/2024</a:t>
            </a:fld>
            <a:endParaRPr lang="en-US"/>
          </a:p>
        </p:txBody>
      </p:sp>
      <p:sp>
        <p:nvSpPr>
          <p:cNvPr id="6" name="Footer Placeholder 5"/>
          <p:cNvSpPr>
            <a:spLocks noGrp="1"/>
          </p:cNvSpPr>
          <p:nvPr>
            <p:ph type="ftr" sz="quarter" idx="11"/>
          </p:nvPr>
        </p:nvSpPr>
        <p:spPr/>
        <p:txBody>
          <a:bodyPr/>
          <a:lstStyle/>
          <a:p>
            <a:r>
              <a:rPr lang="en-US"/>
              <a:t>Department of Electrical Engineering</a:t>
            </a:r>
          </a:p>
        </p:txBody>
      </p:sp>
      <p:sp>
        <p:nvSpPr>
          <p:cNvPr id="7" name="Slide Number Placeholder 6"/>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2322206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C21059-D645-4EBA-ABF5-B0F4E5F12AEB}" type="datetime1">
              <a:rPr lang="en-US" smtClean="0"/>
              <a:t>3/5/2024</a:t>
            </a:fld>
            <a:endParaRPr lang="en-US"/>
          </a:p>
        </p:txBody>
      </p:sp>
      <p:sp>
        <p:nvSpPr>
          <p:cNvPr id="8" name="Footer Placeholder 7"/>
          <p:cNvSpPr>
            <a:spLocks noGrp="1"/>
          </p:cNvSpPr>
          <p:nvPr>
            <p:ph type="ftr" sz="quarter" idx="11"/>
          </p:nvPr>
        </p:nvSpPr>
        <p:spPr/>
        <p:txBody>
          <a:bodyPr/>
          <a:lstStyle/>
          <a:p>
            <a:r>
              <a:rPr lang="en-US"/>
              <a:t>Department of Electrical Engineering</a:t>
            </a:r>
          </a:p>
        </p:txBody>
      </p:sp>
      <p:sp>
        <p:nvSpPr>
          <p:cNvPr id="9" name="Slide Number Placeholder 8"/>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2060542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fld id="{5E2CFB06-B06C-47B1-BCD5-EB6FF6D01F51}" type="datetime1">
              <a:rPr lang="en-US" smtClean="0"/>
              <a:t>3/5/2024</a:t>
            </a:fld>
            <a:endParaRPr lang="en-US"/>
          </a:p>
        </p:txBody>
      </p:sp>
      <p:sp>
        <p:nvSpPr>
          <p:cNvPr id="7" name="Footer Placeholder 6"/>
          <p:cNvSpPr>
            <a:spLocks noGrp="1"/>
          </p:cNvSpPr>
          <p:nvPr>
            <p:ph type="ftr" sz="quarter" idx="11"/>
          </p:nvPr>
        </p:nvSpPr>
        <p:spPr/>
        <p:txBody>
          <a:bodyPr/>
          <a:lstStyle/>
          <a:p>
            <a:r>
              <a:rPr lang="en-US" smtClean="0"/>
              <a:t>Department of Electrical Engineering</a:t>
            </a:r>
            <a:endParaRPr lang="en-US"/>
          </a:p>
        </p:txBody>
      </p:sp>
      <p:sp>
        <p:nvSpPr>
          <p:cNvPr id="8" name="Slide Number Placeholder 7"/>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1259594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B44E02-239A-4F53-A42C-C9964CFEC0BE}" type="datetime1">
              <a:rPr lang="en-US" smtClean="0"/>
              <a:t>3/5/2024</a:t>
            </a:fld>
            <a:endParaRPr lang="en-US"/>
          </a:p>
        </p:txBody>
      </p:sp>
      <p:sp>
        <p:nvSpPr>
          <p:cNvPr id="3" name="Footer Placeholder 2"/>
          <p:cNvSpPr>
            <a:spLocks noGrp="1"/>
          </p:cNvSpPr>
          <p:nvPr>
            <p:ph type="ftr" sz="quarter" idx="11"/>
          </p:nvPr>
        </p:nvSpPr>
        <p:spPr/>
        <p:txBody>
          <a:bodyPr/>
          <a:lstStyle/>
          <a:p>
            <a:r>
              <a:rPr lang="en-US"/>
              <a:t>Department of Electrical Engineering</a:t>
            </a:r>
          </a:p>
        </p:txBody>
      </p:sp>
      <p:sp>
        <p:nvSpPr>
          <p:cNvPr id="4" name="Slide Number Placeholder 3"/>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2225237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BBC54A9-984B-48B6-8C13-84263C80F923}" type="datetime1">
              <a:rPr lang="en-US" smtClean="0"/>
              <a:t>3/5/2024</a:t>
            </a:fld>
            <a:endParaRPr lang="en-US"/>
          </a:p>
        </p:txBody>
      </p:sp>
      <p:sp>
        <p:nvSpPr>
          <p:cNvPr id="6" name="Footer Placeholder 5"/>
          <p:cNvSpPr>
            <a:spLocks noGrp="1"/>
          </p:cNvSpPr>
          <p:nvPr>
            <p:ph type="ftr" sz="quarter" idx="11"/>
          </p:nvPr>
        </p:nvSpPr>
        <p:spPr/>
        <p:txBody>
          <a:bodyPr/>
          <a:lstStyle/>
          <a:p>
            <a:r>
              <a:rPr lang="en-US"/>
              <a:t>Department of Electrical Engineering</a:t>
            </a:r>
          </a:p>
        </p:txBody>
      </p:sp>
      <p:sp>
        <p:nvSpPr>
          <p:cNvPr id="7" name="Slide Number Placeholder 6"/>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2333722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696741-07AF-4A59-AB29-CFC90116DA55}" type="datetime1">
              <a:rPr lang="en-US" smtClean="0"/>
              <a:t>3/5/2024</a:t>
            </a:fld>
            <a:endParaRPr lang="en-US"/>
          </a:p>
        </p:txBody>
      </p:sp>
      <p:sp>
        <p:nvSpPr>
          <p:cNvPr id="6" name="Footer Placeholder 5"/>
          <p:cNvSpPr>
            <a:spLocks noGrp="1"/>
          </p:cNvSpPr>
          <p:nvPr>
            <p:ph type="ftr" sz="quarter" idx="11"/>
          </p:nvPr>
        </p:nvSpPr>
        <p:spPr/>
        <p:txBody>
          <a:bodyPr/>
          <a:lstStyle/>
          <a:p>
            <a:r>
              <a:rPr lang="en-US"/>
              <a:t>Department of Electrical Engineering</a:t>
            </a:r>
          </a:p>
        </p:txBody>
      </p:sp>
      <p:sp>
        <p:nvSpPr>
          <p:cNvPr id="7" name="Slide Number Placeholder 6"/>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4267416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C9F9E5-283D-40CA-8916-DC8411ABDFAD}" type="datetime1">
              <a:rPr lang="en-US" smtClean="0"/>
              <a:t>3/5/2024</a:t>
            </a:fld>
            <a:endParaRPr lang="en-US"/>
          </a:p>
        </p:txBody>
      </p:sp>
      <p:sp>
        <p:nvSpPr>
          <p:cNvPr id="5" name="Footer Placeholder 4"/>
          <p:cNvSpPr>
            <a:spLocks noGrp="1"/>
          </p:cNvSpPr>
          <p:nvPr>
            <p:ph type="ftr" sz="quarter" idx="11"/>
          </p:nvPr>
        </p:nvSpPr>
        <p:spPr/>
        <p:txBody>
          <a:bodyPr/>
          <a:lstStyle/>
          <a:p>
            <a:r>
              <a:rPr lang="en-US"/>
              <a:t>Department of Electrical Engineering</a:t>
            </a:r>
          </a:p>
        </p:txBody>
      </p:sp>
      <p:sp>
        <p:nvSpPr>
          <p:cNvPr id="6" name="Slide Number Placeholder 5"/>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584541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8CCD2E-81D9-4BFC-BFEA-F47D2929F778}" type="datetime1">
              <a:rPr lang="en-US" smtClean="0"/>
              <a:t>3/5/2024</a:t>
            </a:fld>
            <a:endParaRPr lang="en-US"/>
          </a:p>
        </p:txBody>
      </p:sp>
      <p:sp>
        <p:nvSpPr>
          <p:cNvPr id="5" name="Footer Placeholder 4"/>
          <p:cNvSpPr>
            <a:spLocks noGrp="1"/>
          </p:cNvSpPr>
          <p:nvPr>
            <p:ph type="ftr" sz="quarter" idx="11"/>
          </p:nvPr>
        </p:nvSpPr>
        <p:spPr/>
        <p:txBody>
          <a:bodyPr/>
          <a:lstStyle/>
          <a:p>
            <a:r>
              <a:rPr lang="en-US"/>
              <a:t>Department of Electrical Engineering</a:t>
            </a:r>
          </a:p>
        </p:txBody>
      </p:sp>
      <p:sp>
        <p:nvSpPr>
          <p:cNvPr id="6" name="Slide Number Placeholder 5"/>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578944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2CFB06-B06C-47B1-BCD5-EB6FF6D01F51}" type="datetime1">
              <a:rPr lang="en-US" smtClean="0"/>
              <a:t>3/5/2024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smtClean="0"/>
              <a:t>Department of Computer Science</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3F66FA-1D38-4225-99EF-DA3E159AA041}" type="slidenum">
              <a:rPr lang="en-US" smtClean="0"/>
              <a:t>‹#›</a:t>
            </a:fld>
            <a:endParaRPr lang="en-US"/>
          </a:p>
        </p:txBody>
      </p:sp>
    </p:spTree>
    <p:extLst>
      <p:ext uri="{BB962C8B-B14F-4D97-AF65-F5344CB8AC3E}">
        <p14:creationId xmlns:p14="http://schemas.microsoft.com/office/powerpoint/2010/main" val="184094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1.png"/><Relationship Id="rId7" Type="http://schemas.openxmlformats.org/officeDocument/2006/relationships/image" Target="../media/image80.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10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hyperlink" Target="https://www.youtube.com/watch?v=S3KqgjQtQaw"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801504" y="375373"/>
            <a:ext cx="9962865" cy="446244"/>
          </a:xfrm>
        </p:spPr>
        <p:txBody>
          <a:bodyPr>
            <a:normAutofit fontScale="90000"/>
          </a:bodyPr>
          <a:lstStyle/>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0" y="638013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1</a:t>
            </a:fld>
            <a:endParaRPr lang="en-US" dirty="0"/>
          </a:p>
        </p:txBody>
      </p:sp>
      <p:pic>
        <p:nvPicPr>
          <p:cNvPr id="11" name="Picture 10"/>
          <p:cNvPicPr/>
          <p:nvPr/>
        </p:nvPicPr>
        <p:blipFill>
          <a:blip r:embed="rId3">
            <a:extLst>
              <a:ext uri="{28A0092B-C50C-407E-A947-70E740481C1C}">
                <a14:useLocalDpi xmlns:a14="http://schemas.microsoft.com/office/drawing/2010/main" val="0"/>
              </a:ext>
            </a:extLst>
          </a:blip>
          <a:stretch>
            <a:fillRect/>
          </a:stretch>
        </p:blipFill>
        <p:spPr>
          <a:xfrm>
            <a:off x="10523549" y="0"/>
            <a:ext cx="1660501" cy="1196990"/>
          </a:xfrm>
          <a:prstGeom prst="rect">
            <a:avLst/>
          </a:prstGeom>
        </p:spPr>
      </p:pic>
      <p:sp>
        <p:nvSpPr>
          <p:cNvPr id="12" name="Title 1"/>
          <p:cNvSpPr txBox="1">
            <a:spLocks/>
          </p:cNvSpPr>
          <p:nvPr/>
        </p:nvSpPr>
        <p:spPr>
          <a:xfrm>
            <a:off x="3067790" y="1433848"/>
            <a:ext cx="6048470" cy="18251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latin typeface="Times New Roman" panose="02020603050405020304" pitchFamily="18" charset="0"/>
                <a:cs typeface="Times New Roman" panose="02020603050405020304" pitchFamily="18" charset="0"/>
              </a:rPr>
              <a:t>Week </a:t>
            </a: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07</a:t>
            </a: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Electric Fields</a:t>
            </a:r>
            <a:endParaRPr lang="en-US" sz="3600" b="1" dirty="0">
              <a:latin typeface="Times New Roman" panose="02020603050405020304" pitchFamily="18" charset="0"/>
              <a:cs typeface="Times New Roman" panose="02020603050405020304" pitchFamily="18" charset="0"/>
            </a:endParaRPr>
          </a:p>
        </p:txBody>
      </p:sp>
      <p:sp>
        <p:nvSpPr>
          <p:cNvPr id="13" name="Subtitle 2"/>
          <p:cNvSpPr txBox="1">
            <a:spLocks/>
          </p:cNvSpPr>
          <p:nvPr/>
        </p:nvSpPr>
        <p:spPr>
          <a:xfrm>
            <a:off x="1515316" y="4307970"/>
            <a:ext cx="9128394" cy="188650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500" b="1" dirty="0" smtClean="0">
                <a:latin typeface="Times New Roman" panose="02020603050405020304" pitchFamily="18" charset="0"/>
                <a:cs typeface="Times New Roman" panose="02020603050405020304" pitchFamily="18" charset="0"/>
              </a:rPr>
              <a:t>By: Engr. Asif Ali</a:t>
            </a:r>
            <a:endParaRPr lang="en-US" sz="2400" b="1" dirty="0">
              <a:latin typeface="Times New Roman" panose="02020603050405020304" pitchFamily="18" charset="0"/>
              <a:cs typeface="Times New Roman" panose="02020603050405020304" pitchFamily="18" charset="0"/>
            </a:endParaRPr>
          </a:p>
        </p:txBody>
      </p:sp>
      <p:sp>
        <p:nvSpPr>
          <p:cNvPr id="17" name="Title 1"/>
          <p:cNvSpPr txBox="1">
            <a:spLocks/>
          </p:cNvSpPr>
          <p:nvPr/>
        </p:nvSpPr>
        <p:spPr>
          <a:xfrm>
            <a:off x="2847509" y="223210"/>
            <a:ext cx="6489031" cy="7505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cs typeface="Times New Roman" panose="02020603050405020304" pitchFamily="18" charset="0"/>
              </a:rPr>
              <a:t>Applied Physics</a:t>
            </a:r>
          </a:p>
          <a:p>
            <a:pPr algn="ctr"/>
            <a:r>
              <a:rPr lang="en-US" sz="1800" b="1" dirty="0">
                <a:latin typeface="Times New Roman" panose="02020603050405020304" pitchFamily="18" charset="0"/>
                <a:cs typeface="Times New Roman" panose="02020603050405020304" pitchFamily="18" charset="0"/>
              </a:rPr>
              <a:t>(Computer Science Department)</a:t>
            </a:r>
          </a:p>
        </p:txBody>
      </p:sp>
      <p:pic>
        <p:nvPicPr>
          <p:cNvPr id="19" name="Picture 18"/>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21"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p:spTree>
    <p:extLst>
      <p:ext uri="{BB962C8B-B14F-4D97-AF65-F5344CB8AC3E}">
        <p14:creationId xmlns:p14="http://schemas.microsoft.com/office/powerpoint/2010/main" val="638906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49523" y="375373"/>
            <a:ext cx="8558737" cy="446244"/>
          </a:xfrm>
        </p:spPr>
        <p:txBody>
          <a:bodyPr>
            <a:noAutofit/>
          </a:bodyPr>
          <a:lstStyle/>
          <a:p>
            <a:r>
              <a:rPr lang="en-US" sz="3000" dirty="0"/>
              <a:t>Agenda</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2</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377709" y="2219630"/>
            <a:ext cx="11238186" cy="2308324"/>
          </a:xfrm>
          <a:prstGeom prst="rect">
            <a:avLst/>
          </a:prstGeom>
          <a:noFill/>
        </p:spPr>
        <p:txBody>
          <a:bodyPr wrap="square" rtlCol="0">
            <a:spAutoFit/>
          </a:bodyPr>
          <a:lstStyle/>
          <a:p>
            <a:pPr algn="just"/>
            <a:endParaRPr lang="en-US" sz="2400" dirty="0">
              <a:solidFill>
                <a:srgbClr val="282625"/>
              </a:solidFill>
              <a:latin typeface="+mj-lt"/>
            </a:endParaRPr>
          </a:p>
          <a:p>
            <a:pPr marL="285750" indent="-285750" algn="just">
              <a:buFont typeface="Arial" panose="020B0604020202020204" pitchFamily="34" charset="0"/>
              <a:buChar char="•"/>
            </a:pPr>
            <a:r>
              <a:rPr lang="en-US" sz="2400" dirty="0">
                <a:solidFill>
                  <a:srgbClr val="282625"/>
                </a:solidFill>
                <a:latin typeface="+mj-lt"/>
              </a:rPr>
              <a:t>The Electric Field</a:t>
            </a:r>
          </a:p>
          <a:p>
            <a:pPr marL="285750" indent="-285750" algn="just">
              <a:buFont typeface="Arial" panose="020B0604020202020204" pitchFamily="34" charset="0"/>
              <a:buChar char="•"/>
            </a:pPr>
            <a:endParaRPr lang="en-US" sz="2400" dirty="0">
              <a:solidFill>
                <a:srgbClr val="282625"/>
              </a:solidFill>
              <a:latin typeface="+mj-lt"/>
            </a:endParaRPr>
          </a:p>
          <a:p>
            <a:pPr marL="285750" indent="-285750" algn="just">
              <a:buFont typeface="Arial" panose="020B0604020202020204" pitchFamily="34" charset="0"/>
              <a:buChar char="•"/>
            </a:pPr>
            <a:r>
              <a:rPr lang="en-US" sz="2400" dirty="0">
                <a:latin typeface="+mj-lt"/>
              </a:rPr>
              <a:t>Electric Field Lines</a:t>
            </a:r>
          </a:p>
          <a:p>
            <a:pPr marL="285750" indent="-285750" algn="just">
              <a:buFont typeface="Arial" panose="020B0604020202020204" pitchFamily="34" charset="0"/>
              <a:buChar char="•"/>
            </a:pPr>
            <a:endParaRPr lang="en-US" sz="2400" dirty="0">
              <a:latin typeface="+mj-lt"/>
            </a:endParaRPr>
          </a:p>
          <a:p>
            <a:pPr marL="285750" indent="-285750" algn="just">
              <a:buFont typeface="Arial" panose="020B0604020202020204" pitchFamily="34" charset="0"/>
              <a:buChar char="•"/>
            </a:pPr>
            <a:r>
              <a:rPr lang="en-US" sz="2400" dirty="0">
                <a:latin typeface="+mj-lt"/>
              </a:rPr>
              <a:t>The Electric Field Due to a Point Charge</a:t>
            </a:r>
          </a:p>
        </p:txBody>
      </p:sp>
    </p:spTree>
    <p:extLst>
      <p:ext uri="{BB962C8B-B14F-4D97-AF65-F5344CB8AC3E}">
        <p14:creationId xmlns:p14="http://schemas.microsoft.com/office/powerpoint/2010/main" val="3377518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8">
                                            <p:txEl>
                                              <p:pRg st="1" end="1"/>
                                            </p:txEl>
                                          </p:spTgt>
                                        </p:tgtEl>
                                        <p:attrNameLst>
                                          <p:attrName>style.visibility</p:attrName>
                                        </p:attrNameLst>
                                      </p:cBhvr>
                                      <p:to>
                                        <p:strVal val="visible"/>
                                      </p:to>
                                    </p:set>
                                    <p:animEffect transition="in" filter="fade">
                                      <p:cBhvr>
                                        <p:cTn id="7" dur="1000"/>
                                        <p:tgtEl>
                                          <p:spTgt spid="138">
                                            <p:txEl>
                                              <p:pRg st="1" end="1"/>
                                            </p:txEl>
                                          </p:spTgt>
                                        </p:tgtEl>
                                      </p:cBhvr>
                                    </p:animEffect>
                                    <p:anim calcmode="lin" valueType="num">
                                      <p:cBhvr>
                                        <p:cTn id="8" dur="1000" fill="hold"/>
                                        <p:tgtEl>
                                          <p:spTgt spid="13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3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8">
                                            <p:txEl>
                                              <p:pRg st="3" end="3"/>
                                            </p:txEl>
                                          </p:spTgt>
                                        </p:tgtEl>
                                        <p:attrNameLst>
                                          <p:attrName>style.visibility</p:attrName>
                                        </p:attrNameLst>
                                      </p:cBhvr>
                                      <p:to>
                                        <p:strVal val="visible"/>
                                      </p:to>
                                    </p:set>
                                    <p:animEffect transition="in" filter="fade">
                                      <p:cBhvr>
                                        <p:cTn id="14" dur="1000"/>
                                        <p:tgtEl>
                                          <p:spTgt spid="138">
                                            <p:txEl>
                                              <p:pRg st="3" end="3"/>
                                            </p:txEl>
                                          </p:spTgt>
                                        </p:tgtEl>
                                      </p:cBhvr>
                                    </p:animEffect>
                                    <p:anim calcmode="lin" valueType="num">
                                      <p:cBhvr>
                                        <p:cTn id="15" dur="1000" fill="hold"/>
                                        <p:tgtEl>
                                          <p:spTgt spid="13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3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8">
                                            <p:txEl>
                                              <p:pRg st="5" end="5"/>
                                            </p:txEl>
                                          </p:spTgt>
                                        </p:tgtEl>
                                        <p:attrNameLst>
                                          <p:attrName>style.visibility</p:attrName>
                                        </p:attrNameLst>
                                      </p:cBhvr>
                                      <p:to>
                                        <p:strVal val="visible"/>
                                      </p:to>
                                    </p:set>
                                    <p:animEffect transition="in" filter="fade">
                                      <p:cBhvr>
                                        <p:cTn id="21" dur="1000"/>
                                        <p:tgtEl>
                                          <p:spTgt spid="138">
                                            <p:txEl>
                                              <p:pRg st="5" end="5"/>
                                            </p:txEl>
                                          </p:spTgt>
                                        </p:tgtEl>
                                      </p:cBhvr>
                                    </p:animEffect>
                                    <p:anim calcmode="lin" valueType="num">
                                      <p:cBhvr>
                                        <p:cTn id="22" dur="1000" fill="hold"/>
                                        <p:tgtEl>
                                          <p:spTgt spid="138">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13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3</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377709" y="1322966"/>
            <a:ext cx="11334000" cy="4031873"/>
          </a:xfrm>
          <a:prstGeom prst="rect">
            <a:avLst/>
          </a:prstGeom>
          <a:noFill/>
        </p:spPr>
        <p:txBody>
          <a:bodyPr wrap="square" rtlCol="0">
            <a:spAutoFit/>
          </a:bodyPr>
          <a:lstStyle/>
          <a:p>
            <a:pPr marL="285750" indent="-285750" algn="just">
              <a:buFont typeface="Arial" panose="020B0604020202020204" pitchFamily="34" charset="0"/>
              <a:buChar char="•"/>
            </a:pPr>
            <a:endParaRPr lang="en-US" sz="3200" dirty="0" smtClean="0">
              <a:latin typeface="+mj-lt"/>
            </a:endParaRPr>
          </a:p>
          <a:p>
            <a:pPr algn="just"/>
            <a:endParaRPr lang="en-US" sz="3200" dirty="0">
              <a:latin typeface="+mj-lt"/>
            </a:endParaRPr>
          </a:p>
          <a:p>
            <a:pPr algn="just"/>
            <a:endParaRPr lang="en-US" sz="3200" dirty="0" smtClean="0">
              <a:latin typeface="+mj-lt"/>
            </a:endParaRPr>
          </a:p>
          <a:p>
            <a:pPr algn="just"/>
            <a:endParaRPr lang="en-US" sz="3200" dirty="0">
              <a:latin typeface="+mj-lt"/>
            </a:endParaRPr>
          </a:p>
          <a:p>
            <a:pPr algn="just"/>
            <a:endParaRPr lang="en-US" sz="3200" dirty="0" smtClean="0">
              <a:latin typeface="+mj-lt"/>
            </a:endParaRPr>
          </a:p>
          <a:p>
            <a:pPr algn="just"/>
            <a:endParaRPr lang="en-US" sz="3200" dirty="0">
              <a:latin typeface="+mj-lt"/>
            </a:endParaRPr>
          </a:p>
          <a:p>
            <a:pPr algn="just"/>
            <a:endParaRPr lang="en-US" sz="3200" dirty="0" smtClean="0">
              <a:latin typeface="+mj-lt"/>
            </a:endParaRPr>
          </a:p>
          <a:p>
            <a:pPr algn="ctr"/>
            <a:r>
              <a:rPr lang="en-US" sz="3200" dirty="0" smtClean="0">
                <a:latin typeface="+mj-lt"/>
              </a:rPr>
              <a:t>Do you know about electric field ?</a:t>
            </a:r>
            <a:endParaRPr lang="en-US" sz="3200" dirty="0">
              <a:latin typeface="+mj-lt"/>
            </a:endParaRPr>
          </a:p>
        </p:txBody>
      </p:sp>
      <p:pic>
        <p:nvPicPr>
          <p:cNvPr id="5" name="Picture 4">
            <a:extLst>
              <a:ext uri="{FF2B5EF4-FFF2-40B4-BE49-F238E27FC236}">
                <a16:creationId xmlns="" xmlns:a16="http://schemas.microsoft.com/office/drawing/2014/main" id="{2809F6F8-637E-6B2E-748E-738651DEDD66}"/>
              </a:ext>
            </a:extLst>
          </p:cNvPr>
          <p:cNvPicPr>
            <a:picLocks noChangeAspect="1"/>
          </p:cNvPicPr>
          <p:nvPr/>
        </p:nvPicPr>
        <p:blipFill>
          <a:blip r:embed="rId4"/>
          <a:stretch>
            <a:fillRect/>
          </a:stretch>
        </p:blipFill>
        <p:spPr>
          <a:xfrm>
            <a:off x="3865467" y="2396146"/>
            <a:ext cx="3529413" cy="1398602"/>
          </a:xfrm>
          <a:prstGeom prst="rect">
            <a:avLst/>
          </a:prstGeom>
        </p:spPr>
      </p:pic>
    </p:spTree>
    <p:extLst>
      <p:ext uri="{BB962C8B-B14F-4D97-AF65-F5344CB8AC3E}">
        <p14:creationId xmlns:p14="http://schemas.microsoft.com/office/powerpoint/2010/main" val="1228689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4</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377709" y="1322966"/>
            <a:ext cx="11334000" cy="3693319"/>
          </a:xfrm>
          <a:prstGeom prst="rect">
            <a:avLst/>
          </a:prstGeom>
          <a:noFill/>
        </p:spPr>
        <p:txBody>
          <a:bodyPr wrap="square" rtlCol="0">
            <a:spAutoFit/>
          </a:bodyPr>
          <a:lstStyle/>
          <a:p>
            <a:pPr marL="285750" indent="-285750" algn="just">
              <a:buFont typeface="Arial" panose="020B0604020202020204" pitchFamily="34" charset="0"/>
              <a:buChar char="•"/>
            </a:pPr>
            <a:endParaRPr lang="en-US" dirty="0">
              <a:solidFill>
                <a:srgbClr val="282625"/>
              </a:solidFill>
              <a:latin typeface="+mj-lt"/>
            </a:endParaRPr>
          </a:p>
          <a:p>
            <a:pPr marL="285750" indent="-285750" algn="just">
              <a:buFont typeface="Arial" panose="020B0604020202020204" pitchFamily="34" charset="0"/>
              <a:buChar char="•"/>
            </a:pPr>
            <a:r>
              <a:rPr lang="en-US" dirty="0" smtClean="0">
                <a:solidFill>
                  <a:srgbClr val="282625"/>
                </a:solidFill>
                <a:latin typeface="+mj-lt"/>
              </a:rPr>
              <a:t>We </a:t>
            </a:r>
            <a:r>
              <a:rPr lang="en-US" dirty="0">
                <a:solidFill>
                  <a:srgbClr val="282625"/>
                </a:solidFill>
                <a:latin typeface="+mj-lt"/>
              </a:rPr>
              <a:t>know that an electrostatic force acts on particle 1 due to the presence of particle 2. </a:t>
            </a:r>
          </a:p>
          <a:p>
            <a:pPr marL="285750" indent="-285750" algn="just">
              <a:buFont typeface="Arial" panose="020B0604020202020204" pitchFamily="34" charset="0"/>
              <a:buChar char="•"/>
            </a:pPr>
            <a:endParaRPr lang="en-US" dirty="0">
              <a:solidFill>
                <a:srgbClr val="282625"/>
              </a:solidFill>
              <a:latin typeface="+mj-lt"/>
            </a:endParaRPr>
          </a:p>
          <a:p>
            <a:pPr marL="285750" indent="-285750" algn="just">
              <a:buFont typeface="Arial" panose="020B0604020202020204" pitchFamily="34" charset="0"/>
              <a:buChar char="•"/>
            </a:pPr>
            <a:r>
              <a:rPr lang="en-US" dirty="0">
                <a:solidFill>
                  <a:srgbClr val="282625"/>
                </a:solidFill>
                <a:latin typeface="+mj-lt"/>
              </a:rPr>
              <a:t>We also know the force direction and, given some data, we can calculate the force magnitude. </a:t>
            </a:r>
          </a:p>
          <a:p>
            <a:pPr marL="285750" indent="-285750" algn="just">
              <a:buFont typeface="Arial" panose="020B0604020202020204" pitchFamily="34" charset="0"/>
              <a:buChar char="•"/>
            </a:pPr>
            <a:endParaRPr lang="en-US" dirty="0">
              <a:solidFill>
                <a:srgbClr val="282625"/>
              </a:solidFill>
              <a:latin typeface="+mj-lt"/>
            </a:endParaRPr>
          </a:p>
          <a:p>
            <a:pPr marL="285750" indent="-285750" algn="just">
              <a:buFont typeface="Arial" panose="020B0604020202020204" pitchFamily="34" charset="0"/>
              <a:buChar char="•"/>
            </a:pPr>
            <a:r>
              <a:rPr lang="en-US" dirty="0">
                <a:solidFill>
                  <a:srgbClr val="282625"/>
                </a:solidFill>
                <a:latin typeface="+mj-lt"/>
              </a:rPr>
              <a:t>However, here is a leftover nagging question. </a:t>
            </a:r>
          </a:p>
          <a:p>
            <a:pPr marL="285750" indent="-285750" algn="just">
              <a:buFont typeface="Arial" panose="020B0604020202020204" pitchFamily="34" charset="0"/>
              <a:buChar char="•"/>
            </a:pPr>
            <a:endParaRPr lang="en-US" dirty="0">
              <a:solidFill>
                <a:srgbClr val="282625"/>
              </a:solidFill>
              <a:latin typeface="+mj-lt"/>
            </a:endParaRPr>
          </a:p>
          <a:p>
            <a:pPr marL="285750" indent="-285750" algn="just">
              <a:buFont typeface="Arial" panose="020B0604020202020204" pitchFamily="34" charset="0"/>
              <a:buChar char="•"/>
            </a:pPr>
            <a:r>
              <a:rPr lang="en-US" dirty="0">
                <a:solidFill>
                  <a:srgbClr val="282625"/>
                </a:solidFill>
                <a:latin typeface="+mj-lt"/>
              </a:rPr>
              <a:t>How does particle 1 “know” of the presence of particle 2? That is, since the particles do not touch, how can particle 2 push on particle 1—how can there be such an action at a distance?</a:t>
            </a:r>
          </a:p>
          <a:p>
            <a:pPr marL="285750" indent="-285750" algn="just">
              <a:buFont typeface="Arial" panose="020B0604020202020204" pitchFamily="34" charset="0"/>
              <a:buChar char="•"/>
            </a:pPr>
            <a:endParaRPr lang="en-US" dirty="0">
              <a:solidFill>
                <a:srgbClr val="282625"/>
              </a:solidFill>
              <a:latin typeface="+mj-lt"/>
            </a:endParaRPr>
          </a:p>
          <a:p>
            <a:pPr marL="285750" indent="-285750" algn="just">
              <a:buFont typeface="Arial" panose="020B0604020202020204" pitchFamily="34" charset="0"/>
              <a:buChar char="•"/>
            </a:pPr>
            <a:r>
              <a:rPr lang="en-US" dirty="0">
                <a:solidFill>
                  <a:srgbClr val="282625"/>
                </a:solidFill>
              </a:rPr>
              <a:t>One purpose of physics is to record observations about our world, such as the magnitude and direction of the push on particle 1. </a:t>
            </a:r>
          </a:p>
          <a:p>
            <a:pPr marL="285750" indent="-285750" algn="just">
              <a:buFont typeface="Arial" panose="020B0604020202020204" pitchFamily="34" charset="0"/>
              <a:buChar char="•"/>
            </a:pPr>
            <a:endParaRPr lang="en-US" dirty="0">
              <a:latin typeface="+mj-lt"/>
            </a:endParaRPr>
          </a:p>
        </p:txBody>
      </p:sp>
      <p:pic>
        <p:nvPicPr>
          <p:cNvPr id="5" name="Picture 4">
            <a:extLst>
              <a:ext uri="{FF2B5EF4-FFF2-40B4-BE49-F238E27FC236}">
                <a16:creationId xmlns="" xmlns:a16="http://schemas.microsoft.com/office/drawing/2014/main" id="{2809F6F8-637E-6B2E-748E-738651DEDD66}"/>
              </a:ext>
            </a:extLst>
          </p:cNvPr>
          <p:cNvPicPr>
            <a:picLocks noChangeAspect="1"/>
          </p:cNvPicPr>
          <p:nvPr/>
        </p:nvPicPr>
        <p:blipFill>
          <a:blip r:embed="rId4"/>
          <a:stretch>
            <a:fillRect/>
          </a:stretch>
        </p:blipFill>
        <p:spPr>
          <a:xfrm>
            <a:off x="4331293" y="4867929"/>
            <a:ext cx="3529413" cy="1398602"/>
          </a:xfrm>
          <a:prstGeom prst="rect">
            <a:avLst/>
          </a:prstGeom>
        </p:spPr>
      </p:pic>
    </p:spTree>
    <p:extLst>
      <p:ext uri="{BB962C8B-B14F-4D97-AF65-F5344CB8AC3E}">
        <p14:creationId xmlns:p14="http://schemas.microsoft.com/office/powerpoint/2010/main" val="2953224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38">
                                            <p:txEl>
                                              <p:pRg st="1" end="1"/>
                                            </p:txEl>
                                          </p:spTgt>
                                        </p:tgtEl>
                                        <p:attrNameLst>
                                          <p:attrName>style.visibility</p:attrName>
                                        </p:attrNameLst>
                                      </p:cBhvr>
                                      <p:to>
                                        <p:strVal val="visible"/>
                                      </p:to>
                                    </p:set>
                                    <p:animEffect transition="in" filter="fade">
                                      <p:cBhvr>
                                        <p:cTn id="12" dur="1000"/>
                                        <p:tgtEl>
                                          <p:spTgt spid="138">
                                            <p:txEl>
                                              <p:pRg st="1" end="1"/>
                                            </p:txEl>
                                          </p:spTgt>
                                        </p:tgtEl>
                                      </p:cBhvr>
                                    </p:animEffect>
                                    <p:anim calcmode="lin" valueType="num">
                                      <p:cBhvr>
                                        <p:cTn id="13" dur="1000" fill="hold"/>
                                        <p:tgtEl>
                                          <p:spTgt spid="13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3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8">
                                            <p:txEl>
                                              <p:pRg st="3" end="3"/>
                                            </p:txEl>
                                          </p:spTgt>
                                        </p:tgtEl>
                                        <p:attrNameLst>
                                          <p:attrName>style.visibility</p:attrName>
                                        </p:attrNameLst>
                                      </p:cBhvr>
                                      <p:to>
                                        <p:strVal val="visible"/>
                                      </p:to>
                                    </p:set>
                                    <p:animEffect transition="in" filter="fade">
                                      <p:cBhvr>
                                        <p:cTn id="19" dur="1000"/>
                                        <p:tgtEl>
                                          <p:spTgt spid="138">
                                            <p:txEl>
                                              <p:pRg st="3" end="3"/>
                                            </p:txEl>
                                          </p:spTgt>
                                        </p:tgtEl>
                                      </p:cBhvr>
                                    </p:animEffect>
                                    <p:anim calcmode="lin" valueType="num">
                                      <p:cBhvr>
                                        <p:cTn id="20" dur="1000" fill="hold"/>
                                        <p:tgtEl>
                                          <p:spTgt spid="13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3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38">
                                            <p:txEl>
                                              <p:pRg st="5" end="5"/>
                                            </p:txEl>
                                          </p:spTgt>
                                        </p:tgtEl>
                                        <p:attrNameLst>
                                          <p:attrName>style.visibility</p:attrName>
                                        </p:attrNameLst>
                                      </p:cBhvr>
                                      <p:to>
                                        <p:strVal val="visible"/>
                                      </p:to>
                                    </p:set>
                                    <p:animEffect transition="in" filter="fade">
                                      <p:cBhvr>
                                        <p:cTn id="26" dur="1000"/>
                                        <p:tgtEl>
                                          <p:spTgt spid="138">
                                            <p:txEl>
                                              <p:pRg st="5" end="5"/>
                                            </p:txEl>
                                          </p:spTgt>
                                        </p:tgtEl>
                                      </p:cBhvr>
                                    </p:animEffect>
                                    <p:anim calcmode="lin" valueType="num">
                                      <p:cBhvr>
                                        <p:cTn id="27" dur="1000" fill="hold"/>
                                        <p:tgtEl>
                                          <p:spTgt spid="138">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13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38">
                                            <p:txEl>
                                              <p:pRg st="7" end="7"/>
                                            </p:txEl>
                                          </p:spTgt>
                                        </p:tgtEl>
                                        <p:attrNameLst>
                                          <p:attrName>style.visibility</p:attrName>
                                        </p:attrNameLst>
                                      </p:cBhvr>
                                      <p:to>
                                        <p:strVal val="visible"/>
                                      </p:to>
                                    </p:set>
                                    <p:animEffect transition="in" filter="fade">
                                      <p:cBhvr>
                                        <p:cTn id="33" dur="1000"/>
                                        <p:tgtEl>
                                          <p:spTgt spid="138">
                                            <p:txEl>
                                              <p:pRg st="7" end="7"/>
                                            </p:txEl>
                                          </p:spTgt>
                                        </p:tgtEl>
                                      </p:cBhvr>
                                    </p:animEffect>
                                    <p:anim calcmode="lin" valueType="num">
                                      <p:cBhvr>
                                        <p:cTn id="34" dur="1000" fill="hold"/>
                                        <p:tgtEl>
                                          <p:spTgt spid="138">
                                            <p:txEl>
                                              <p:pRg st="7" end="7"/>
                                            </p:txEl>
                                          </p:spTgt>
                                        </p:tgtEl>
                                        <p:attrNameLst>
                                          <p:attrName>ppt_x</p:attrName>
                                        </p:attrNameLst>
                                      </p:cBhvr>
                                      <p:tavLst>
                                        <p:tav tm="0">
                                          <p:val>
                                            <p:strVal val="#ppt_x"/>
                                          </p:val>
                                        </p:tav>
                                        <p:tav tm="100000">
                                          <p:val>
                                            <p:strVal val="#ppt_x"/>
                                          </p:val>
                                        </p:tav>
                                      </p:tavLst>
                                    </p:anim>
                                    <p:anim calcmode="lin" valueType="num">
                                      <p:cBhvr>
                                        <p:cTn id="35" dur="1000" fill="hold"/>
                                        <p:tgtEl>
                                          <p:spTgt spid="13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38">
                                            <p:txEl>
                                              <p:pRg st="9" end="9"/>
                                            </p:txEl>
                                          </p:spTgt>
                                        </p:tgtEl>
                                        <p:attrNameLst>
                                          <p:attrName>style.visibility</p:attrName>
                                        </p:attrNameLst>
                                      </p:cBhvr>
                                      <p:to>
                                        <p:strVal val="visible"/>
                                      </p:to>
                                    </p:set>
                                    <p:animEffect transition="in" filter="fade">
                                      <p:cBhvr>
                                        <p:cTn id="40" dur="1000"/>
                                        <p:tgtEl>
                                          <p:spTgt spid="138">
                                            <p:txEl>
                                              <p:pRg st="9" end="9"/>
                                            </p:txEl>
                                          </p:spTgt>
                                        </p:tgtEl>
                                      </p:cBhvr>
                                    </p:animEffect>
                                    <p:anim calcmode="lin" valueType="num">
                                      <p:cBhvr>
                                        <p:cTn id="41" dur="1000" fill="hold"/>
                                        <p:tgtEl>
                                          <p:spTgt spid="138">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138">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5</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377709" y="1322966"/>
            <a:ext cx="11334000" cy="3139321"/>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mj-lt"/>
              </a:rPr>
              <a:t>The explanation that we shall examine here is this: Particle 2 sets up an </a:t>
            </a:r>
            <a:r>
              <a:rPr lang="en-US" b="1" i="1" dirty="0">
                <a:latin typeface="+mj-lt"/>
              </a:rPr>
              <a:t>electric field </a:t>
            </a:r>
            <a:r>
              <a:rPr lang="en-US" dirty="0">
                <a:latin typeface="+mj-lt"/>
              </a:rPr>
              <a:t>at all points in the surrounding space, even if the space is a vacuum.</a:t>
            </a: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r>
              <a:rPr lang="en-US" dirty="0">
                <a:latin typeface="+mj-lt"/>
              </a:rPr>
              <a:t>If we place particle 1 at any point in that space, particle 1 knows of the presence of particle 2 because it is affected by the </a:t>
            </a:r>
            <a:r>
              <a:rPr lang="en-US" b="1" i="1" dirty="0">
                <a:latin typeface="+mj-lt"/>
              </a:rPr>
              <a:t>electric field </a:t>
            </a:r>
            <a:r>
              <a:rPr lang="en-US" dirty="0">
                <a:latin typeface="+mj-lt"/>
              </a:rPr>
              <a:t>particle 2 has already set up at that point.</a:t>
            </a: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r>
              <a:rPr lang="en-US" dirty="0">
                <a:latin typeface="+mj-lt"/>
              </a:rPr>
              <a:t>Our goals in this chapter are to (1) define electric field, </a:t>
            </a: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r>
              <a:rPr lang="en-US" dirty="0">
                <a:latin typeface="+mj-lt"/>
              </a:rPr>
              <a:t>(2) discuss how to calculate it for various arrangements of charged particles and objects, and </a:t>
            </a: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r>
              <a:rPr lang="en-US" dirty="0">
                <a:latin typeface="+mj-lt"/>
              </a:rPr>
              <a:t>(3) discuss how an electric field can affect a charged particle (as in making it move).</a:t>
            </a:r>
          </a:p>
        </p:txBody>
      </p:sp>
      <p:pic>
        <p:nvPicPr>
          <p:cNvPr id="5" name="Picture 4">
            <a:extLst>
              <a:ext uri="{FF2B5EF4-FFF2-40B4-BE49-F238E27FC236}">
                <a16:creationId xmlns="" xmlns:a16="http://schemas.microsoft.com/office/drawing/2014/main" id="{2809F6F8-637E-6B2E-748E-738651DEDD66}"/>
              </a:ext>
            </a:extLst>
          </p:cNvPr>
          <p:cNvPicPr>
            <a:picLocks noChangeAspect="1"/>
          </p:cNvPicPr>
          <p:nvPr/>
        </p:nvPicPr>
        <p:blipFill>
          <a:blip r:embed="rId4"/>
          <a:stretch>
            <a:fillRect/>
          </a:stretch>
        </p:blipFill>
        <p:spPr>
          <a:xfrm>
            <a:off x="4331293" y="4867929"/>
            <a:ext cx="3529413" cy="1398602"/>
          </a:xfrm>
          <a:prstGeom prst="rect">
            <a:avLst/>
          </a:prstGeom>
        </p:spPr>
      </p:pic>
    </p:spTree>
    <p:extLst>
      <p:ext uri="{BB962C8B-B14F-4D97-AF65-F5344CB8AC3E}">
        <p14:creationId xmlns:p14="http://schemas.microsoft.com/office/powerpoint/2010/main" val="1609683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38">
                                            <p:txEl>
                                              <p:pRg st="0" end="0"/>
                                            </p:txEl>
                                          </p:spTgt>
                                        </p:tgtEl>
                                        <p:attrNameLst>
                                          <p:attrName>style.visibility</p:attrName>
                                        </p:attrNameLst>
                                      </p:cBhvr>
                                      <p:to>
                                        <p:strVal val="visible"/>
                                      </p:to>
                                    </p:set>
                                    <p:animEffect transition="in" filter="fade">
                                      <p:cBhvr>
                                        <p:cTn id="12" dur="1000"/>
                                        <p:tgtEl>
                                          <p:spTgt spid="138">
                                            <p:txEl>
                                              <p:pRg st="0" end="0"/>
                                            </p:txEl>
                                          </p:spTgt>
                                        </p:tgtEl>
                                      </p:cBhvr>
                                    </p:animEffect>
                                    <p:anim calcmode="lin" valueType="num">
                                      <p:cBhvr>
                                        <p:cTn id="13" dur="1000" fill="hold"/>
                                        <p:tgtEl>
                                          <p:spTgt spid="138">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8">
                                            <p:txEl>
                                              <p:pRg st="2" end="2"/>
                                            </p:txEl>
                                          </p:spTgt>
                                        </p:tgtEl>
                                        <p:attrNameLst>
                                          <p:attrName>style.visibility</p:attrName>
                                        </p:attrNameLst>
                                      </p:cBhvr>
                                      <p:to>
                                        <p:strVal val="visible"/>
                                      </p:to>
                                    </p:set>
                                    <p:animEffect transition="in" filter="fade">
                                      <p:cBhvr>
                                        <p:cTn id="19" dur="1000"/>
                                        <p:tgtEl>
                                          <p:spTgt spid="138">
                                            <p:txEl>
                                              <p:pRg st="2" end="2"/>
                                            </p:txEl>
                                          </p:spTgt>
                                        </p:tgtEl>
                                      </p:cBhvr>
                                    </p:animEffect>
                                    <p:anim calcmode="lin" valueType="num">
                                      <p:cBhvr>
                                        <p:cTn id="20" dur="1000" fill="hold"/>
                                        <p:tgtEl>
                                          <p:spTgt spid="138">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38">
                                            <p:txEl>
                                              <p:pRg st="4" end="4"/>
                                            </p:txEl>
                                          </p:spTgt>
                                        </p:tgtEl>
                                        <p:attrNameLst>
                                          <p:attrName>style.visibility</p:attrName>
                                        </p:attrNameLst>
                                      </p:cBhvr>
                                      <p:to>
                                        <p:strVal val="visible"/>
                                      </p:to>
                                    </p:set>
                                    <p:animEffect transition="in" filter="fade">
                                      <p:cBhvr>
                                        <p:cTn id="26" dur="1000"/>
                                        <p:tgtEl>
                                          <p:spTgt spid="138">
                                            <p:txEl>
                                              <p:pRg st="4" end="4"/>
                                            </p:txEl>
                                          </p:spTgt>
                                        </p:tgtEl>
                                      </p:cBhvr>
                                    </p:animEffect>
                                    <p:anim calcmode="lin" valueType="num">
                                      <p:cBhvr>
                                        <p:cTn id="27" dur="1000" fill="hold"/>
                                        <p:tgtEl>
                                          <p:spTgt spid="13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13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38">
                                            <p:txEl>
                                              <p:pRg st="6" end="6"/>
                                            </p:txEl>
                                          </p:spTgt>
                                        </p:tgtEl>
                                        <p:attrNameLst>
                                          <p:attrName>style.visibility</p:attrName>
                                        </p:attrNameLst>
                                      </p:cBhvr>
                                      <p:to>
                                        <p:strVal val="visible"/>
                                      </p:to>
                                    </p:set>
                                    <p:animEffect transition="in" filter="fade">
                                      <p:cBhvr>
                                        <p:cTn id="33" dur="1000"/>
                                        <p:tgtEl>
                                          <p:spTgt spid="138">
                                            <p:txEl>
                                              <p:pRg st="6" end="6"/>
                                            </p:txEl>
                                          </p:spTgt>
                                        </p:tgtEl>
                                      </p:cBhvr>
                                    </p:animEffect>
                                    <p:anim calcmode="lin" valueType="num">
                                      <p:cBhvr>
                                        <p:cTn id="34" dur="1000" fill="hold"/>
                                        <p:tgtEl>
                                          <p:spTgt spid="138">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13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38">
                                            <p:txEl>
                                              <p:pRg st="8" end="8"/>
                                            </p:txEl>
                                          </p:spTgt>
                                        </p:tgtEl>
                                        <p:attrNameLst>
                                          <p:attrName>style.visibility</p:attrName>
                                        </p:attrNameLst>
                                      </p:cBhvr>
                                      <p:to>
                                        <p:strVal val="visible"/>
                                      </p:to>
                                    </p:set>
                                    <p:animEffect transition="in" filter="fade">
                                      <p:cBhvr>
                                        <p:cTn id="40" dur="1000"/>
                                        <p:tgtEl>
                                          <p:spTgt spid="138">
                                            <p:txEl>
                                              <p:pRg st="8" end="8"/>
                                            </p:txEl>
                                          </p:spTgt>
                                        </p:tgtEl>
                                      </p:cBhvr>
                                    </p:animEffect>
                                    <p:anim calcmode="lin" valueType="num">
                                      <p:cBhvr>
                                        <p:cTn id="41" dur="1000" fill="hold"/>
                                        <p:tgtEl>
                                          <p:spTgt spid="138">
                                            <p:txEl>
                                              <p:pRg st="8" end="8"/>
                                            </p:txEl>
                                          </p:spTgt>
                                        </p:tgtEl>
                                        <p:attrNameLst>
                                          <p:attrName>ppt_x</p:attrName>
                                        </p:attrNameLst>
                                      </p:cBhvr>
                                      <p:tavLst>
                                        <p:tav tm="0">
                                          <p:val>
                                            <p:strVal val="#ppt_x"/>
                                          </p:val>
                                        </p:tav>
                                        <p:tav tm="100000">
                                          <p:val>
                                            <p:strVal val="#ppt_x"/>
                                          </p:val>
                                        </p:tav>
                                      </p:tavLst>
                                    </p:anim>
                                    <p:anim calcmode="lin" valueType="num">
                                      <p:cBhvr>
                                        <p:cTn id="42" dur="1000" fill="hold"/>
                                        <p:tgtEl>
                                          <p:spTgt spid="138">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6</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210638"/>
            <a:ext cx="12192000" cy="5138699"/>
          </a:xfrm>
          <a:prstGeom prst="rect">
            <a:avLst/>
          </a:prstGeom>
        </p:spPr>
      </p:pic>
    </p:spTree>
    <p:extLst>
      <p:ext uri="{BB962C8B-B14F-4D97-AF65-F5344CB8AC3E}">
        <p14:creationId xmlns:p14="http://schemas.microsoft.com/office/powerpoint/2010/main" val="34481428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7</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22" y="1203814"/>
            <a:ext cx="12098956" cy="5181869"/>
          </a:xfrm>
          <a:prstGeom prst="rect">
            <a:avLst/>
          </a:prstGeom>
        </p:spPr>
      </p:pic>
    </p:spTree>
    <p:extLst>
      <p:ext uri="{BB962C8B-B14F-4D97-AF65-F5344CB8AC3E}">
        <p14:creationId xmlns:p14="http://schemas.microsoft.com/office/powerpoint/2010/main" val="8938561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8</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p:pic>
        <p:nvPicPr>
          <p:cNvPr id="2" name="Picture 1"/>
          <p:cNvPicPr>
            <a:picLocks noChangeAspect="1"/>
          </p:cNvPicPr>
          <p:nvPr/>
        </p:nvPicPr>
        <p:blipFill rotWithShape="1">
          <a:blip r:embed="rId4">
            <a:extLst>
              <a:ext uri="{28A0092B-C50C-407E-A947-70E740481C1C}">
                <a14:useLocalDpi xmlns:a14="http://schemas.microsoft.com/office/drawing/2010/main" val="0"/>
              </a:ext>
            </a:extLst>
          </a:blip>
          <a:srcRect t="2563"/>
          <a:stretch/>
        </p:blipFill>
        <p:spPr>
          <a:xfrm>
            <a:off x="0" y="1475117"/>
            <a:ext cx="12192000" cy="4592012"/>
          </a:xfrm>
          <a:prstGeom prst="rect">
            <a:avLst/>
          </a:prstGeom>
        </p:spPr>
      </p:pic>
      <p:sp>
        <p:nvSpPr>
          <p:cNvPr id="4" name="TextBox 3"/>
          <p:cNvSpPr txBox="1"/>
          <p:nvPr/>
        </p:nvSpPr>
        <p:spPr>
          <a:xfrm>
            <a:off x="3390181" y="276045"/>
            <a:ext cx="4572000" cy="523220"/>
          </a:xfrm>
          <a:prstGeom prst="rect">
            <a:avLst/>
          </a:prstGeom>
          <a:noFill/>
        </p:spPr>
        <p:txBody>
          <a:bodyPr wrap="square" rtlCol="0">
            <a:spAutoFit/>
          </a:bodyPr>
          <a:lstStyle/>
          <a:p>
            <a:pPr algn="ctr"/>
            <a:r>
              <a:rPr lang="en-US" sz="2800" dirty="0" smtClean="0"/>
              <a:t>Electric Field</a:t>
            </a:r>
            <a:endParaRPr lang="en-US" sz="2800" dirty="0"/>
          </a:p>
        </p:txBody>
      </p:sp>
      <p:cxnSp>
        <p:nvCxnSpPr>
          <p:cNvPr id="6" name="Straight Arrow Connector 5"/>
          <p:cNvCxnSpPr/>
          <p:nvPr/>
        </p:nvCxnSpPr>
        <p:spPr>
          <a:xfrm flipV="1">
            <a:off x="259919" y="2191109"/>
            <a:ext cx="690114" cy="1725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7" name="Straight Arrow Connector 16"/>
          <p:cNvCxnSpPr/>
          <p:nvPr/>
        </p:nvCxnSpPr>
        <p:spPr>
          <a:xfrm>
            <a:off x="2234242" y="1703253"/>
            <a:ext cx="62972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921714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9</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p:sp>
        <p:nvSpPr>
          <p:cNvPr id="4" name="TextBox 3"/>
          <p:cNvSpPr txBox="1"/>
          <p:nvPr/>
        </p:nvSpPr>
        <p:spPr>
          <a:xfrm>
            <a:off x="3390181" y="276045"/>
            <a:ext cx="4572000" cy="523220"/>
          </a:xfrm>
          <a:prstGeom prst="rect">
            <a:avLst/>
          </a:prstGeom>
          <a:noFill/>
        </p:spPr>
        <p:txBody>
          <a:bodyPr wrap="square" rtlCol="0">
            <a:spAutoFit/>
          </a:bodyPr>
          <a:lstStyle/>
          <a:p>
            <a:pPr algn="ctr"/>
            <a:r>
              <a:rPr lang="en-US" sz="2800" dirty="0" smtClean="0"/>
              <a:t>Electric Field</a:t>
            </a:r>
            <a:endParaRPr lang="en-US" sz="2800" dirty="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99" y="1219499"/>
            <a:ext cx="12192000" cy="4825572"/>
          </a:xfrm>
          <a:prstGeom prst="rect">
            <a:avLst/>
          </a:prstGeom>
        </p:spPr>
      </p:pic>
      <p:cxnSp>
        <p:nvCxnSpPr>
          <p:cNvPr id="18" name="Straight Arrow Connector 17"/>
          <p:cNvCxnSpPr/>
          <p:nvPr/>
        </p:nvCxnSpPr>
        <p:spPr>
          <a:xfrm flipV="1">
            <a:off x="259919" y="1932316"/>
            <a:ext cx="690114" cy="1725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9" name="Straight Arrow Connector 18"/>
          <p:cNvCxnSpPr/>
          <p:nvPr/>
        </p:nvCxnSpPr>
        <p:spPr>
          <a:xfrm>
            <a:off x="2165230" y="1444461"/>
            <a:ext cx="62972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081223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49523" y="375373"/>
            <a:ext cx="8558737" cy="446244"/>
          </a:xfrm>
        </p:spPr>
        <p:txBody>
          <a:bodyPr>
            <a:noAutofit/>
          </a:bodyPr>
          <a:lstStyle/>
          <a:p>
            <a:pPr algn="ctr"/>
            <a:r>
              <a:rPr lang="en-US" sz="3000" dirty="0"/>
              <a:t>The Electric Field</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10</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mc:AlternateContent xmlns:mc="http://schemas.openxmlformats.org/markup-compatibility/2006" xmlns:a14="http://schemas.microsoft.com/office/drawing/2010/main">
        <mc:Choice Requires="a14">
          <p:sp>
            <p:nvSpPr>
              <p:cNvPr id="138" name="TextBox 137">
                <a:extLst>
                  <a:ext uri="{FF2B5EF4-FFF2-40B4-BE49-F238E27FC236}">
                    <a16:creationId xmlns="" xmlns:a16="http://schemas.microsoft.com/office/drawing/2014/main" id="{C2343543-116F-B45F-A578-D76F670D75AA}"/>
                  </a:ext>
                </a:extLst>
              </p:cNvPr>
              <p:cNvSpPr txBox="1"/>
              <p:nvPr/>
            </p:nvSpPr>
            <p:spPr>
              <a:xfrm>
                <a:off x="377708" y="1489220"/>
                <a:ext cx="6946727" cy="2064924"/>
              </a:xfrm>
              <a:prstGeom prst="rect">
                <a:avLst/>
              </a:prstGeom>
              <a:noFill/>
            </p:spPr>
            <p:txBody>
              <a:bodyPr wrap="square" rtlCol="0">
                <a:spAutoFit/>
              </a:bodyPr>
              <a:lstStyle/>
              <a:p>
                <a:pPr marL="285750" indent="-285750" algn="just">
                  <a:buFont typeface="Arial" panose="020B0604020202020204" pitchFamily="34" charset="0"/>
                  <a:buChar char="•"/>
                </a:pPr>
                <a:r>
                  <a:rPr lang="en-US" dirty="0" smtClean="0">
                    <a:latin typeface="+mj-lt"/>
                  </a:rPr>
                  <a:t>In Figure-01 at </a:t>
                </a:r>
                <a:r>
                  <a:rPr lang="en-US" dirty="0">
                    <a:latin typeface="+mj-lt"/>
                  </a:rPr>
                  <a:t>P, we place a particle with a small positive charge q0, called a </a:t>
                </a:r>
                <a:r>
                  <a:rPr lang="en-US" b="1" i="1" dirty="0">
                    <a:latin typeface="+mj-lt"/>
                  </a:rPr>
                  <a:t>test charge </a:t>
                </a:r>
                <a:r>
                  <a:rPr lang="en-US" dirty="0">
                    <a:latin typeface="+mj-lt"/>
                  </a:rPr>
                  <a:t>because we use it to test the field. (We want the charge to be small so that it does not disturb the object’s charge distribution.) </a:t>
                </a: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r>
                  <a:rPr lang="en-US" dirty="0">
                    <a:latin typeface="+mj-lt"/>
                  </a:rPr>
                  <a:t>We then measure the electrostatic force </a:t>
                </a:r>
                <a14:m>
                  <m:oMath xmlns:m="http://schemas.openxmlformats.org/officeDocument/2006/math">
                    <m:acc>
                      <m:accPr>
                        <m:chr m:val="⃗"/>
                        <m:ctrlPr>
                          <a:rPr lang="en-US" i="1">
                            <a:solidFill>
                              <a:srgbClr val="282625"/>
                            </a:solidFill>
                            <a:latin typeface="Cambria Math" panose="02040503050406030204" pitchFamily="18" charset="0"/>
                          </a:rPr>
                        </m:ctrlPr>
                      </m:accPr>
                      <m:e>
                        <m:r>
                          <a:rPr lang="en-US" b="1" i="1" smtClean="0">
                            <a:solidFill>
                              <a:srgbClr val="282625"/>
                            </a:solidFill>
                            <a:latin typeface="Cambria Math" panose="02040503050406030204" pitchFamily="18" charset="0"/>
                          </a:rPr>
                          <m:t>𝑭</m:t>
                        </m:r>
                      </m:e>
                    </m:acc>
                  </m:oMath>
                </a14:m>
                <a:r>
                  <a:rPr lang="en-US" dirty="0">
                    <a:latin typeface="+mj-lt"/>
                  </a:rPr>
                  <a:t> that acts on the test charge. The electric field at that point is then</a:t>
                </a:r>
              </a:p>
            </p:txBody>
          </p:sp>
        </mc:Choice>
        <mc:Fallback xmlns="">
          <p:sp>
            <p:nvSpPr>
              <p:cNvPr id="138" name="TextBox 137">
                <a:extLst>
                  <a:ext uri="{FF2B5EF4-FFF2-40B4-BE49-F238E27FC236}">
                    <a16:creationId xmlns:a16="http://schemas.microsoft.com/office/drawing/2014/main" xmlns="" xmlns:a14="http://schemas.microsoft.com/office/drawing/2010/main" id="{C2343543-116F-B45F-A578-D76F670D75AA}"/>
                  </a:ext>
                </a:extLst>
              </p:cNvPr>
              <p:cNvSpPr txBox="1">
                <a:spLocks noRot="1" noChangeAspect="1" noMove="1" noResize="1" noEditPoints="1" noAdjustHandles="1" noChangeArrowheads="1" noChangeShapeType="1" noTextEdit="1"/>
              </p:cNvSpPr>
              <p:nvPr/>
            </p:nvSpPr>
            <p:spPr>
              <a:xfrm>
                <a:off x="377708" y="1489220"/>
                <a:ext cx="6946727" cy="2064924"/>
              </a:xfrm>
              <a:prstGeom prst="rect">
                <a:avLst/>
              </a:prstGeom>
              <a:blipFill rotWithShape="0">
                <a:blip r:embed="rId4"/>
                <a:stretch>
                  <a:fillRect l="-614" t="-1475" r="-614" b="-3835"/>
                </a:stretch>
              </a:blipFill>
            </p:spPr>
            <p:txBody>
              <a:bodyPr/>
              <a:lstStyle/>
              <a:p>
                <a:r>
                  <a:rPr lang="en-US">
                    <a:noFill/>
                  </a:rPr>
                  <a:t> </a:t>
                </a:r>
              </a:p>
            </p:txBody>
          </p:sp>
        </mc:Fallback>
      </mc:AlternateContent>
      <p:pic>
        <p:nvPicPr>
          <p:cNvPr id="4" name="Picture 3">
            <a:extLst>
              <a:ext uri="{FF2B5EF4-FFF2-40B4-BE49-F238E27FC236}">
                <a16:creationId xmlns="" xmlns:a16="http://schemas.microsoft.com/office/drawing/2014/main" id="{D8E893AF-AC7D-FA4A-0DE0-EDEB188685CA}"/>
              </a:ext>
            </a:extLst>
          </p:cNvPr>
          <p:cNvPicPr>
            <a:picLocks noChangeAspect="1"/>
          </p:cNvPicPr>
          <p:nvPr/>
        </p:nvPicPr>
        <p:blipFill>
          <a:blip r:embed="rId5"/>
          <a:stretch>
            <a:fillRect/>
          </a:stretch>
        </p:blipFill>
        <p:spPr>
          <a:xfrm>
            <a:off x="7655749" y="3855042"/>
            <a:ext cx="3772072" cy="1981430"/>
          </a:xfrm>
          <a:prstGeom prst="rect">
            <a:avLst/>
          </a:prstGeom>
        </p:spPr>
      </p:pic>
      <p:pic>
        <p:nvPicPr>
          <p:cNvPr id="8" name="Picture 7">
            <a:extLst>
              <a:ext uri="{FF2B5EF4-FFF2-40B4-BE49-F238E27FC236}">
                <a16:creationId xmlns="" xmlns:a16="http://schemas.microsoft.com/office/drawing/2014/main" id="{C4C95A4C-D856-6320-63FD-3519303F52AE}"/>
              </a:ext>
            </a:extLst>
          </p:cNvPr>
          <p:cNvPicPr>
            <a:picLocks noChangeAspect="1"/>
          </p:cNvPicPr>
          <p:nvPr/>
        </p:nvPicPr>
        <p:blipFill>
          <a:blip r:embed="rId6"/>
          <a:stretch>
            <a:fillRect/>
          </a:stretch>
        </p:blipFill>
        <p:spPr>
          <a:xfrm>
            <a:off x="2387901" y="4172573"/>
            <a:ext cx="2926340" cy="952994"/>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 xmlns:a16="http://schemas.microsoft.com/office/drawing/2014/main" id="{AEB78536-0F27-35D5-1FB3-C295DC0AD756}"/>
                  </a:ext>
                </a:extLst>
              </p:cNvPr>
              <p:cNvSpPr txBox="1"/>
              <p:nvPr/>
            </p:nvSpPr>
            <p:spPr>
              <a:xfrm>
                <a:off x="383158" y="3402802"/>
                <a:ext cx="6119090" cy="575479"/>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sz="2800" i="1" smtClean="0">
                              <a:solidFill>
                                <a:srgbClr val="282625"/>
                              </a:solidFill>
                              <a:latin typeface="Cambria Math" panose="02040503050406030204" pitchFamily="18" charset="0"/>
                            </a:rPr>
                          </m:ctrlPr>
                        </m:accPr>
                        <m:e>
                          <m:r>
                            <a:rPr lang="en-US" sz="2800" b="0" i="1" smtClean="0">
                              <a:solidFill>
                                <a:srgbClr val="282625"/>
                              </a:solidFill>
                              <a:latin typeface="Cambria Math" panose="02040503050406030204" pitchFamily="18" charset="0"/>
                            </a:rPr>
                            <m:t>𝐹</m:t>
                          </m:r>
                        </m:e>
                      </m:acc>
                      <m:r>
                        <a:rPr lang="en-US" sz="2800" b="0" i="1" smtClean="0">
                          <a:solidFill>
                            <a:srgbClr val="282625"/>
                          </a:solidFill>
                          <a:latin typeface="Cambria Math" panose="02040503050406030204" pitchFamily="18" charset="0"/>
                        </a:rPr>
                        <m:t>=</m:t>
                      </m:r>
                      <m:sSub>
                        <m:sSubPr>
                          <m:ctrlPr>
                            <a:rPr lang="en-US" sz="2800" i="1" smtClean="0">
                              <a:solidFill>
                                <a:srgbClr val="282625"/>
                              </a:solidFill>
                              <a:latin typeface="Cambria Math" panose="02040503050406030204" pitchFamily="18" charset="0"/>
                            </a:rPr>
                          </m:ctrlPr>
                        </m:sSubPr>
                        <m:e>
                          <m:r>
                            <a:rPr lang="en-US" sz="2800" b="0" i="1" smtClean="0">
                              <a:solidFill>
                                <a:srgbClr val="282625"/>
                              </a:solidFill>
                              <a:latin typeface="Cambria Math" panose="02040503050406030204" pitchFamily="18" charset="0"/>
                            </a:rPr>
                            <m:t>𝑞</m:t>
                          </m:r>
                        </m:e>
                        <m:sub>
                          <m:r>
                            <a:rPr lang="en-US" sz="2800" b="0" i="1" smtClean="0">
                              <a:solidFill>
                                <a:srgbClr val="282625"/>
                              </a:solidFill>
                              <a:latin typeface="Cambria Math" panose="02040503050406030204" pitchFamily="18" charset="0"/>
                            </a:rPr>
                            <m:t>0</m:t>
                          </m:r>
                        </m:sub>
                      </m:sSub>
                      <m:acc>
                        <m:accPr>
                          <m:chr m:val="⃗"/>
                          <m:ctrlPr>
                            <a:rPr lang="en-US" sz="2800" i="1">
                              <a:solidFill>
                                <a:srgbClr val="282625"/>
                              </a:solidFill>
                              <a:latin typeface="Cambria Math" panose="02040503050406030204" pitchFamily="18" charset="0"/>
                            </a:rPr>
                          </m:ctrlPr>
                        </m:accPr>
                        <m:e>
                          <m:r>
                            <a:rPr lang="en-US" sz="2800" b="0" i="1">
                              <a:solidFill>
                                <a:srgbClr val="282625"/>
                              </a:solidFill>
                              <a:latin typeface="Cambria Math" panose="02040503050406030204" pitchFamily="18" charset="0"/>
                            </a:rPr>
                            <m:t>𝐸</m:t>
                          </m:r>
                        </m:e>
                      </m:acc>
                    </m:oMath>
                  </m:oMathPara>
                </a14:m>
                <a:endParaRPr lang="en-US" sz="2800" dirty="0"/>
              </a:p>
            </p:txBody>
          </p:sp>
        </mc:Choice>
        <mc:Fallback xmlns="">
          <p:sp>
            <p:nvSpPr>
              <p:cNvPr id="17" name="TextBox 16">
                <a:extLst>
                  <a:ext uri="{FF2B5EF4-FFF2-40B4-BE49-F238E27FC236}">
                    <a16:creationId xmlns:a16="http://schemas.microsoft.com/office/drawing/2014/main" id="{AEB78536-0F27-35D5-1FB3-C295DC0AD756}"/>
                  </a:ext>
                </a:extLst>
              </p:cNvPr>
              <p:cNvSpPr txBox="1">
                <a:spLocks noRot="1" noChangeAspect="1" noMove="1" noResize="1" noEditPoints="1" noAdjustHandles="1" noChangeArrowheads="1" noChangeShapeType="1" noTextEdit="1"/>
              </p:cNvSpPr>
              <p:nvPr/>
            </p:nvSpPr>
            <p:spPr>
              <a:xfrm>
                <a:off x="383158" y="3402802"/>
                <a:ext cx="6119090" cy="57547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 xmlns:a16="http://schemas.microsoft.com/office/drawing/2014/main" id="{D8352E5C-B99E-9E9E-B97A-7C45997CA63E}"/>
                  </a:ext>
                </a:extLst>
              </p:cNvPr>
              <p:cNvSpPr txBox="1"/>
              <p:nvPr/>
            </p:nvSpPr>
            <p:spPr>
              <a:xfrm>
                <a:off x="377708" y="5294236"/>
                <a:ext cx="6946727" cy="679930"/>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mj-lt"/>
                  </a:rPr>
                  <a:t>Because the test charge is positive, the two vectors in Eq. are in the same direction, so the direction of </a:t>
                </a:r>
                <a14:m>
                  <m:oMath xmlns:m="http://schemas.openxmlformats.org/officeDocument/2006/math">
                    <m:acc>
                      <m:accPr>
                        <m:chr m:val="⃗"/>
                        <m:ctrlPr>
                          <a:rPr lang="en-US" i="1">
                            <a:solidFill>
                              <a:srgbClr val="282625"/>
                            </a:solidFill>
                            <a:latin typeface="Cambria Math" panose="02040503050406030204" pitchFamily="18" charset="0"/>
                          </a:rPr>
                        </m:ctrlPr>
                      </m:accPr>
                      <m:e>
                        <m:r>
                          <a:rPr lang="en-US" b="1" i="1">
                            <a:solidFill>
                              <a:srgbClr val="282625"/>
                            </a:solidFill>
                            <a:latin typeface="Cambria Math" panose="02040503050406030204" pitchFamily="18" charset="0"/>
                          </a:rPr>
                          <m:t>𝑬</m:t>
                        </m:r>
                      </m:e>
                    </m:acc>
                  </m:oMath>
                </a14:m>
                <a:r>
                  <a:rPr lang="en-US" dirty="0">
                    <a:latin typeface="+mj-lt"/>
                  </a:rPr>
                  <a:t> is the direction we measure for </a:t>
                </a:r>
                <a14:m>
                  <m:oMath xmlns:m="http://schemas.openxmlformats.org/officeDocument/2006/math">
                    <m:acc>
                      <m:accPr>
                        <m:chr m:val="⃗"/>
                        <m:ctrlPr>
                          <a:rPr lang="en-US" i="1">
                            <a:solidFill>
                              <a:srgbClr val="282625"/>
                            </a:solidFill>
                            <a:latin typeface="Cambria Math" panose="02040503050406030204" pitchFamily="18" charset="0"/>
                          </a:rPr>
                        </m:ctrlPr>
                      </m:accPr>
                      <m:e>
                        <m:r>
                          <a:rPr lang="en-US" b="1" i="1">
                            <a:solidFill>
                              <a:srgbClr val="282625"/>
                            </a:solidFill>
                            <a:latin typeface="Cambria Math" panose="02040503050406030204" pitchFamily="18" charset="0"/>
                          </a:rPr>
                          <m:t>𝑭</m:t>
                        </m:r>
                      </m:e>
                    </m:acc>
                  </m:oMath>
                </a14:m>
                <a:r>
                  <a:rPr lang="en-US" dirty="0"/>
                  <a:t> </a:t>
                </a:r>
                <a:endParaRPr lang="en-US" dirty="0">
                  <a:latin typeface="+mj-lt"/>
                </a:endParaRPr>
              </a:p>
            </p:txBody>
          </p:sp>
        </mc:Choice>
        <mc:Fallback xmlns="">
          <p:sp>
            <p:nvSpPr>
              <p:cNvPr id="18" name="TextBox 17">
                <a:extLst>
                  <a:ext uri="{FF2B5EF4-FFF2-40B4-BE49-F238E27FC236}">
                    <a16:creationId xmlns:a16="http://schemas.microsoft.com/office/drawing/2014/main" id="{D8352E5C-B99E-9E9E-B97A-7C45997CA63E}"/>
                  </a:ext>
                </a:extLst>
              </p:cNvPr>
              <p:cNvSpPr txBox="1">
                <a:spLocks noRot="1" noChangeAspect="1" noMove="1" noResize="1" noEditPoints="1" noAdjustHandles="1" noChangeArrowheads="1" noChangeShapeType="1" noTextEdit="1"/>
              </p:cNvSpPr>
              <p:nvPr/>
            </p:nvSpPr>
            <p:spPr>
              <a:xfrm>
                <a:off x="377708" y="5294236"/>
                <a:ext cx="6946727" cy="679930"/>
              </a:xfrm>
              <a:prstGeom prst="rect">
                <a:avLst/>
              </a:prstGeom>
              <a:blipFill>
                <a:blip r:embed="rId8"/>
                <a:stretch>
                  <a:fillRect l="-614" t="-4464" r="-614" b="-13393"/>
                </a:stretch>
              </a:blipFill>
            </p:spPr>
            <p:txBody>
              <a:bodyPr/>
              <a:lstStyle/>
              <a:p>
                <a:r>
                  <a:rPr lang="en-US">
                    <a:noFill/>
                  </a:rPr>
                  <a:t> </a:t>
                </a:r>
              </a:p>
            </p:txBody>
          </p:sp>
        </mc:Fallback>
      </mc:AlternateContent>
      <p:pic>
        <p:nvPicPr>
          <p:cNvPr id="19" name="Picture 18">
            <a:extLst>
              <a:ext uri="{FF2B5EF4-FFF2-40B4-BE49-F238E27FC236}">
                <a16:creationId xmlns="" xmlns:a16="http://schemas.microsoft.com/office/drawing/2014/main" id="{83E880A1-9842-86C3-811D-53B7EBB4B2F1}"/>
              </a:ext>
            </a:extLst>
          </p:cNvPr>
          <p:cNvPicPr>
            <a:picLocks noChangeAspect="1"/>
          </p:cNvPicPr>
          <p:nvPr/>
        </p:nvPicPr>
        <p:blipFill>
          <a:blip r:embed="rId9"/>
          <a:stretch>
            <a:fillRect/>
          </a:stretch>
        </p:blipFill>
        <p:spPr>
          <a:xfrm>
            <a:off x="7846500" y="1557721"/>
            <a:ext cx="3880775" cy="1720671"/>
          </a:xfrm>
          <a:prstGeom prst="rect">
            <a:avLst/>
          </a:prstGeom>
        </p:spPr>
      </p:pic>
      <p:sp>
        <p:nvSpPr>
          <p:cNvPr id="2" name="TextBox 1"/>
          <p:cNvSpPr txBox="1"/>
          <p:nvPr/>
        </p:nvSpPr>
        <p:spPr>
          <a:xfrm>
            <a:off x="9126747" y="3402802"/>
            <a:ext cx="1104181" cy="369332"/>
          </a:xfrm>
          <a:prstGeom prst="rect">
            <a:avLst/>
          </a:prstGeom>
          <a:noFill/>
        </p:spPr>
        <p:txBody>
          <a:bodyPr wrap="square" rtlCol="0">
            <a:spAutoFit/>
          </a:bodyPr>
          <a:lstStyle/>
          <a:p>
            <a:r>
              <a:rPr lang="en-US" dirty="0" smtClean="0"/>
              <a:t>Figure-01</a:t>
            </a:r>
            <a:endParaRPr lang="en-US" dirty="0"/>
          </a:p>
        </p:txBody>
      </p:sp>
      <p:sp>
        <p:nvSpPr>
          <p:cNvPr id="20" name="TextBox 19"/>
          <p:cNvSpPr txBox="1"/>
          <p:nvPr/>
        </p:nvSpPr>
        <p:spPr>
          <a:xfrm>
            <a:off x="8989694" y="5857998"/>
            <a:ext cx="1104181" cy="369332"/>
          </a:xfrm>
          <a:prstGeom prst="rect">
            <a:avLst/>
          </a:prstGeom>
          <a:noFill/>
        </p:spPr>
        <p:txBody>
          <a:bodyPr wrap="square" rtlCol="0">
            <a:spAutoFit/>
          </a:bodyPr>
          <a:lstStyle/>
          <a:p>
            <a:r>
              <a:rPr lang="en-US" dirty="0" smtClean="0"/>
              <a:t>Figure-02</a:t>
            </a:r>
            <a:endParaRPr lang="en-US" dirty="0"/>
          </a:p>
        </p:txBody>
      </p:sp>
    </p:spTree>
    <p:extLst>
      <p:ext uri="{BB962C8B-B14F-4D97-AF65-F5344CB8AC3E}">
        <p14:creationId xmlns:p14="http://schemas.microsoft.com/office/powerpoint/2010/main" val="433200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38">
                                            <p:txEl>
                                              <p:pRg st="0" end="0"/>
                                            </p:txEl>
                                          </p:spTgt>
                                        </p:tgtEl>
                                        <p:attrNameLst>
                                          <p:attrName>style.visibility</p:attrName>
                                        </p:attrNameLst>
                                      </p:cBhvr>
                                      <p:to>
                                        <p:strVal val="visible"/>
                                      </p:to>
                                    </p:set>
                                    <p:animEffect transition="in" filter="fade">
                                      <p:cBhvr>
                                        <p:cTn id="12" dur="1000"/>
                                        <p:tgtEl>
                                          <p:spTgt spid="138">
                                            <p:txEl>
                                              <p:pRg st="0" end="0"/>
                                            </p:txEl>
                                          </p:spTgt>
                                        </p:tgtEl>
                                      </p:cBhvr>
                                    </p:animEffect>
                                    <p:anim calcmode="lin" valueType="num">
                                      <p:cBhvr>
                                        <p:cTn id="13" dur="1000" fill="hold"/>
                                        <p:tgtEl>
                                          <p:spTgt spid="138">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8">
                                            <p:txEl>
                                              <p:pRg st="2" end="2"/>
                                            </p:txEl>
                                          </p:spTgt>
                                        </p:tgtEl>
                                        <p:attrNameLst>
                                          <p:attrName>style.visibility</p:attrName>
                                        </p:attrNameLst>
                                      </p:cBhvr>
                                      <p:to>
                                        <p:strVal val="visible"/>
                                      </p:to>
                                    </p:set>
                                    <p:animEffect transition="in" filter="fade">
                                      <p:cBhvr>
                                        <p:cTn id="19" dur="1000"/>
                                        <p:tgtEl>
                                          <p:spTgt spid="138">
                                            <p:txEl>
                                              <p:pRg st="2" end="2"/>
                                            </p:txEl>
                                          </p:spTgt>
                                        </p:tgtEl>
                                      </p:cBhvr>
                                    </p:animEffect>
                                    <p:anim calcmode="lin" valueType="num">
                                      <p:cBhvr>
                                        <p:cTn id="20" dur="1000" fill="hold"/>
                                        <p:tgtEl>
                                          <p:spTgt spid="138">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randombar(horizontal)">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randombar(horizontal)">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8">
                                            <p:txEl>
                                              <p:pRg st="0" end="0"/>
                                            </p:txEl>
                                          </p:spTgt>
                                        </p:tgtEl>
                                        <p:attrNameLst>
                                          <p:attrName>style.visibility</p:attrName>
                                        </p:attrNameLst>
                                      </p:cBhvr>
                                      <p:to>
                                        <p:strVal val="visible"/>
                                      </p:to>
                                    </p:set>
                                    <p:animEffect transition="in" filter="fade">
                                      <p:cBhvr>
                                        <p:cTn id="36" dur="1000"/>
                                        <p:tgtEl>
                                          <p:spTgt spid="18">
                                            <p:txEl>
                                              <p:pRg st="0" end="0"/>
                                            </p:txEl>
                                          </p:spTgt>
                                        </p:tgtEl>
                                      </p:cBhvr>
                                    </p:animEffect>
                                    <p:anim calcmode="lin" valueType="num">
                                      <p:cBhvr>
                                        <p:cTn id="37"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38" dur="1000" fill="hold"/>
                                        <p:tgtEl>
                                          <p:spTgt spid="18">
                                            <p:txEl>
                                              <p:pRg st="0" end="0"/>
                                            </p:txEl>
                                          </p:spTgt>
                                        </p:tgtEl>
                                        <p:attrNameLst>
                                          <p:attrName>ppt_y</p:attrName>
                                        </p:attrNameLst>
                                      </p:cBhvr>
                                      <p:tavLst>
                                        <p:tav tm="0">
                                          <p:val>
                                            <p:strVal val="#ppt_y+.1"/>
                                          </p:val>
                                        </p:tav>
                                        <p:tav tm="100000">
                                          <p:val>
                                            <p:strVal val="#ppt_y"/>
                                          </p:val>
                                        </p:tav>
                                      </p:tavLst>
                                    </p:anim>
                                  </p:childTnLst>
                                </p:cTn>
                              </p:par>
                              <p:par>
                                <p:cTn id="39" presetID="14" presetClass="entr" presetSubtype="1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randombar(horizontal)">
                                      <p:cBhvr>
                                        <p:cTn id="4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49523" y="375373"/>
            <a:ext cx="8558737" cy="446244"/>
          </a:xfrm>
        </p:spPr>
        <p:txBody>
          <a:bodyPr>
            <a:noAutofit/>
          </a:bodyPr>
          <a:lstStyle/>
          <a:p>
            <a:r>
              <a:rPr lang="en-US" sz="3000" dirty="0"/>
              <a:t>The Electric Field</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11</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mc:AlternateContent xmlns:mc="http://schemas.openxmlformats.org/markup-compatibility/2006" xmlns:a14="http://schemas.microsoft.com/office/drawing/2010/main">
        <mc:Choice Requires="a14">
          <p:sp>
            <p:nvSpPr>
              <p:cNvPr id="138" name="TextBox 137">
                <a:extLst>
                  <a:ext uri="{FF2B5EF4-FFF2-40B4-BE49-F238E27FC236}">
                    <a16:creationId xmlns="" xmlns:a16="http://schemas.microsoft.com/office/drawing/2014/main" id="{C2343543-116F-B45F-A578-D76F670D75AA}"/>
                  </a:ext>
                </a:extLst>
              </p:cNvPr>
              <p:cNvSpPr txBox="1"/>
              <p:nvPr/>
            </p:nvSpPr>
            <p:spPr>
              <a:xfrm>
                <a:off x="377708" y="1489220"/>
                <a:ext cx="6946727" cy="4524315"/>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mj-lt"/>
                  </a:rPr>
                  <a:t>The magnitude of </a:t>
                </a:r>
                <a14:m>
                  <m:oMath xmlns:m="http://schemas.openxmlformats.org/officeDocument/2006/math">
                    <m:acc>
                      <m:accPr>
                        <m:chr m:val="⃗"/>
                        <m:ctrlPr>
                          <a:rPr lang="en-US" i="1">
                            <a:solidFill>
                              <a:srgbClr val="282625"/>
                            </a:solidFill>
                            <a:latin typeface="Cambria Math" panose="02040503050406030204" pitchFamily="18" charset="0"/>
                          </a:rPr>
                        </m:ctrlPr>
                      </m:accPr>
                      <m:e>
                        <m:r>
                          <a:rPr lang="en-US" b="1" i="1">
                            <a:solidFill>
                              <a:srgbClr val="282625"/>
                            </a:solidFill>
                            <a:latin typeface="Cambria Math" panose="02040503050406030204" pitchFamily="18" charset="0"/>
                          </a:rPr>
                          <m:t>𝑬</m:t>
                        </m:r>
                      </m:e>
                    </m:acc>
                  </m:oMath>
                </a14:m>
                <a:r>
                  <a:rPr lang="en-US">
                    <a:latin typeface="+mj-lt"/>
                  </a:rPr>
                  <a:t> </a:t>
                </a:r>
                <a:r>
                  <a:rPr lang="en-US" dirty="0">
                    <a:latin typeface="+mj-lt"/>
                  </a:rPr>
                  <a:t>at point P is F/q0. </a:t>
                </a: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r>
                  <a:rPr lang="en-US" dirty="0">
                    <a:latin typeface="+mj-lt"/>
                  </a:rPr>
                  <a:t>As shown in Fig. 22-2, we always represent an electric field with an arrow with its tail anchored on the point where the measurement is made. (Another common error is to mix up the terms force and field because they both start with the letter f. Electric force is a push or pull. Electric field is an abstract property set up by a charged object.) </a:t>
                </a: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r>
                  <a:rPr lang="en-US" dirty="0">
                    <a:latin typeface="+mj-lt"/>
                  </a:rPr>
                  <a:t>From Eq., we see that the SI unit for the electric field is the newton per coulomb (N/C).</a:t>
                </a: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r>
                  <a:rPr lang="en-US" dirty="0">
                    <a:latin typeface="+mj-lt"/>
                  </a:rPr>
                  <a:t>We can shift the test charge around to various other points, to measure the electric fields there, so that we can figure out the distribution of the electric field set up by the charged object.</a:t>
                </a: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r>
                  <a:rPr lang="en-US" dirty="0">
                    <a:latin typeface="+mj-lt"/>
                  </a:rPr>
                  <a:t>That field exists independent of the test charge.</a:t>
                </a:r>
              </a:p>
            </p:txBody>
          </p:sp>
        </mc:Choice>
        <mc:Fallback xmlns="">
          <p:sp>
            <p:nvSpPr>
              <p:cNvPr id="138" name="TextBox 137">
                <a:extLst>
                  <a:ext uri="{FF2B5EF4-FFF2-40B4-BE49-F238E27FC236}">
                    <a16:creationId xmlns:a16="http://schemas.microsoft.com/office/drawing/2014/main" id="{C2343543-116F-B45F-A578-D76F670D75AA}"/>
                  </a:ext>
                </a:extLst>
              </p:cNvPr>
              <p:cNvSpPr txBox="1">
                <a:spLocks noRot="1" noChangeAspect="1" noMove="1" noResize="1" noEditPoints="1" noAdjustHandles="1" noChangeArrowheads="1" noChangeShapeType="1" noTextEdit="1"/>
              </p:cNvSpPr>
              <p:nvPr/>
            </p:nvSpPr>
            <p:spPr>
              <a:xfrm>
                <a:off x="377708" y="1489220"/>
                <a:ext cx="6946727" cy="4524315"/>
              </a:xfrm>
              <a:prstGeom prst="rect">
                <a:avLst/>
              </a:prstGeom>
              <a:blipFill>
                <a:blip r:embed="rId4"/>
                <a:stretch>
                  <a:fillRect l="-614" r="-614" b="-2022"/>
                </a:stretch>
              </a:blipFill>
            </p:spPr>
            <p:txBody>
              <a:bodyPr/>
              <a:lstStyle/>
              <a:p>
                <a:r>
                  <a:rPr lang="en-US">
                    <a:noFill/>
                  </a:rPr>
                  <a:t> </a:t>
                </a:r>
              </a:p>
            </p:txBody>
          </p:sp>
        </mc:Fallback>
      </mc:AlternateContent>
      <p:pic>
        <p:nvPicPr>
          <p:cNvPr id="4" name="Picture 3">
            <a:extLst>
              <a:ext uri="{FF2B5EF4-FFF2-40B4-BE49-F238E27FC236}">
                <a16:creationId xmlns="" xmlns:a16="http://schemas.microsoft.com/office/drawing/2014/main" id="{D8E893AF-AC7D-FA4A-0DE0-EDEB188685CA}"/>
              </a:ext>
            </a:extLst>
          </p:cNvPr>
          <p:cNvPicPr>
            <a:picLocks noChangeAspect="1"/>
          </p:cNvPicPr>
          <p:nvPr/>
        </p:nvPicPr>
        <p:blipFill>
          <a:blip r:embed="rId5"/>
          <a:stretch>
            <a:fillRect/>
          </a:stretch>
        </p:blipFill>
        <p:spPr>
          <a:xfrm>
            <a:off x="7690255" y="1889438"/>
            <a:ext cx="3772072" cy="3578963"/>
          </a:xfrm>
          <a:prstGeom prst="rect">
            <a:avLst/>
          </a:prstGeom>
        </p:spPr>
      </p:pic>
    </p:spTree>
    <p:extLst>
      <p:ext uri="{BB962C8B-B14F-4D97-AF65-F5344CB8AC3E}">
        <p14:creationId xmlns:p14="http://schemas.microsoft.com/office/powerpoint/2010/main" val="375913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38">
                                            <p:txEl>
                                              <p:pRg st="0" end="0"/>
                                            </p:txEl>
                                          </p:spTgt>
                                        </p:tgtEl>
                                        <p:attrNameLst>
                                          <p:attrName>style.visibility</p:attrName>
                                        </p:attrNameLst>
                                      </p:cBhvr>
                                      <p:to>
                                        <p:strVal val="visible"/>
                                      </p:to>
                                    </p:set>
                                    <p:animEffect transition="in" filter="fade">
                                      <p:cBhvr>
                                        <p:cTn id="12" dur="1000"/>
                                        <p:tgtEl>
                                          <p:spTgt spid="138">
                                            <p:txEl>
                                              <p:pRg st="0" end="0"/>
                                            </p:txEl>
                                          </p:spTgt>
                                        </p:tgtEl>
                                      </p:cBhvr>
                                    </p:animEffect>
                                    <p:anim calcmode="lin" valueType="num">
                                      <p:cBhvr>
                                        <p:cTn id="13" dur="1000" fill="hold"/>
                                        <p:tgtEl>
                                          <p:spTgt spid="138">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8">
                                            <p:txEl>
                                              <p:pRg st="2" end="2"/>
                                            </p:txEl>
                                          </p:spTgt>
                                        </p:tgtEl>
                                        <p:attrNameLst>
                                          <p:attrName>style.visibility</p:attrName>
                                        </p:attrNameLst>
                                      </p:cBhvr>
                                      <p:to>
                                        <p:strVal val="visible"/>
                                      </p:to>
                                    </p:set>
                                    <p:animEffect transition="in" filter="fade">
                                      <p:cBhvr>
                                        <p:cTn id="19" dur="1000"/>
                                        <p:tgtEl>
                                          <p:spTgt spid="138">
                                            <p:txEl>
                                              <p:pRg st="2" end="2"/>
                                            </p:txEl>
                                          </p:spTgt>
                                        </p:tgtEl>
                                      </p:cBhvr>
                                    </p:animEffect>
                                    <p:anim calcmode="lin" valueType="num">
                                      <p:cBhvr>
                                        <p:cTn id="20" dur="1000" fill="hold"/>
                                        <p:tgtEl>
                                          <p:spTgt spid="138">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38">
                                            <p:txEl>
                                              <p:pRg st="4" end="4"/>
                                            </p:txEl>
                                          </p:spTgt>
                                        </p:tgtEl>
                                        <p:attrNameLst>
                                          <p:attrName>style.visibility</p:attrName>
                                        </p:attrNameLst>
                                      </p:cBhvr>
                                      <p:to>
                                        <p:strVal val="visible"/>
                                      </p:to>
                                    </p:set>
                                    <p:animEffect transition="in" filter="fade">
                                      <p:cBhvr>
                                        <p:cTn id="26" dur="1000"/>
                                        <p:tgtEl>
                                          <p:spTgt spid="138">
                                            <p:txEl>
                                              <p:pRg st="4" end="4"/>
                                            </p:txEl>
                                          </p:spTgt>
                                        </p:tgtEl>
                                      </p:cBhvr>
                                    </p:animEffect>
                                    <p:anim calcmode="lin" valueType="num">
                                      <p:cBhvr>
                                        <p:cTn id="27" dur="1000" fill="hold"/>
                                        <p:tgtEl>
                                          <p:spTgt spid="13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13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38">
                                            <p:txEl>
                                              <p:pRg st="6" end="6"/>
                                            </p:txEl>
                                          </p:spTgt>
                                        </p:tgtEl>
                                        <p:attrNameLst>
                                          <p:attrName>style.visibility</p:attrName>
                                        </p:attrNameLst>
                                      </p:cBhvr>
                                      <p:to>
                                        <p:strVal val="visible"/>
                                      </p:to>
                                    </p:set>
                                    <p:animEffect transition="in" filter="fade">
                                      <p:cBhvr>
                                        <p:cTn id="33" dur="1000"/>
                                        <p:tgtEl>
                                          <p:spTgt spid="138">
                                            <p:txEl>
                                              <p:pRg st="6" end="6"/>
                                            </p:txEl>
                                          </p:spTgt>
                                        </p:tgtEl>
                                      </p:cBhvr>
                                    </p:animEffect>
                                    <p:anim calcmode="lin" valueType="num">
                                      <p:cBhvr>
                                        <p:cTn id="34" dur="1000" fill="hold"/>
                                        <p:tgtEl>
                                          <p:spTgt spid="138">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13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38">
                                            <p:txEl>
                                              <p:pRg st="8" end="8"/>
                                            </p:txEl>
                                          </p:spTgt>
                                        </p:tgtEl>
                                        <p:attrNameLst>
                                          <p:attrName>style.visibility</p:attrName>
                                        </p:attrNameLst>
                                      </p:cBhvr>
                                      <p:to>
                                        <p:strVal val="visible"/>
                                      </p:to>
                                    </p:set>
                                    <p:animEffect transition="in" filter="fade">
                                      <p:cBhvr>
                                        <p:cTn id="40" dur="1000"/>
                                        <p:tgtEl>
                                          <p:spTgt spid="138">
                                            <p:txEl>
                                              <p:pRg st="8" end="8"/>
                                            </p:txEl>
                                          </p:spTgt>
                                        </p:tgtEl>
                                      </p:cBhvr>
                                    </p:animEffect>
                                    <p:anim calcmode="lin" valueType="num">
                                      <p:cBhvr>
                                        <p:cTn id="41" dur="1000" fill="hold"/>
                                        <p:tgtEl>
                                          <p:spTgt spid="138">
                                            <p:txEl>
                                              <p:pRg st="8" end="8"/>
                                            </p:txEl>
                                          </p:spTgt>
                                        </p:tgtEl>
                                        <p:attrNameLst>
                                          <p:attrName>ppt_x</p:attrName>
                                        </p:attrNameLst>
                                      </p:cBhvr>
                                      <p:tavLst>
                                        <p:tav tm="0">
                                          <p:val>
                                            <p:strVal val="#ppt_x"/>
                                          </p:val>
                                        </p:tav>
                                        <p:tav tm="100000">
                                          <p:val>
                                            <p:strVal val="#ppt_x"/>
                                          </p:val>
                                        </p:tav>
                                      </p:tavLst>
                                    </p:anim>
                                    <p:anim calcmode="lin" valueType="num">
                                      <p:cBhvr>
                                        <p:cTn id="42" dur="1000" fill="hold"/>
                                        <p:tgtEl>
                                          <p:spTgt spid="138">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49523" y="375373"/>
            <a:ext cx="8558737" cy="446244"/>
          </a:xfrm>
        </p:spPr>
        <p:txBody>
          <a:bodyPr>
            <a:noAutofit/>
          </a:bodyPr>
          <a:lstStyle/>
          <a:p>
            <a:r>
              <a:rPr lang="en-US" sz="3000" dirty="0"/>
              <a:t>Electric Field Lines</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12</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262358" y="1472776"/>
            <a:ext cx="7482437" cy="4278094"/>
          </a:xfrm>
          <a:prstGeom prst="rect">
            <a:avLst/>
          </a:prstGeom>
          <a:noFill/>
        </p:spPr>
        <p:txBody>
          <a:bodyPr wrap="square" rtlCol="0">
            <a:spAutoFit/>
          </a:bodyPr>
          <a:lstStyle/>
          <a:p>
            <a:pPr algn="just"/>
            <a:endParaRPr lang="en-US" dirty="0">
              <a:latin typeface="+mj-lt"/>
            </a:endParaRPr>
          </a:p>
          <a:p>
            <a:pPr marL="285750" indent="-285750" algn="just">
              <a:buFont typeface="Arial" panose="020B0604020202020204" pitchFamily="34" charset="0"/>
              <a:buChar char="•"/>
            </a:pPr>
            <a:r>
              <a:rPr lang="en-US" sz="2000" b="1" u="sng" dirty="0">
                <a:latin typeface="+mj-lt"/>
              </a:rPr>
              <a:t>Revision of Concept:</a:t>
            </a: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r>
              <a:rPr lang="en-US" b="1" dirty="0">
                <a:latin typeface="+mj-lt"/>
              </a:rPr>
              <a:t>Electric </a:t>
            </a:r>
            <a:r>
              <a:rPr lang="en-US" b="1" dirty="0" smtClean="0">
                <a:latin typeface="+mj-lt"/>
              </a:rPr>
              <a:t>field: </a:t>
            </a:r>
            <a:r>
              <a:rPr lang="en-US" dirty="0" smtClean="0">
                <a:latin typeface="+mj-lt"/>
              </a:rPr>
              <a:t>The</a:t>
            </a:r>
            <a:r>
              <a:rPr lang="en-US" dirty="0" smtClean="0"/>
              <a:t> </a:t>
            </a:r>
            <a:r>
              <a:rPr lang="en-US" dirty="0"/>
              <a:t>force experienced by a charged particle at any point in space due to the presence of other charged particles</a:t>
            </a:r>
            <a:r>
              <a:rPr lang="en-US" dirty="0" smtClean="0"/>
              <a:t>.</a:t>
            </a:r>
          </a:p>
          <a:p>
            <a:pPr marL="285750" indent="-285750" algn="just">
              <a:buFont typeface="Arial" panose="020B0604020202020204" pitchFamily="34" charset="0"/>
              <a:buChar char="•"/>
            </a:pPr>
            <a:endParaRPr lang="en-US" dirty="0" smtClean="0"/>
          </a:p>
          <a:p>
            <a:pPr marL="285750" indent="-285750" algn="just">
              <a:buFont typeface="Arial" panose="020B0604020202020204" pitchFamily="34" charset="0"/>
              <a:buChar char="•"/>
            </a:pPr>
            <a:r>
              <a:rPr lang="en-US" dirty="0" smtClean="0"/>
              <a:t>E = F / q </a:t>
            </a:r>
          </a:p>
          <a:p>
            <a:pPr marL="285750" indent="-285750" algn="just">
              <a:buFont typeface="Arial" panose="020B0604020202020204" pitchFamily="34" charset="0"/>
              <a:buChar char="•"/>
            </a:pPr>
            <a:endParaRPr lang="en-US" b="1" dirty="0" smtClean="0">
              <a:latin typeface="+mj-lt"/>
            </a:endParaRPr>
          </a:p>
          <a:p>
            <a:pPr marL="285750" indent="-285750" algn="just">
              <a:buFont typeface="Arial" panose="020B0604020202020204" pitchFamily="34" charset="0"/>
              <a:buChar char="•"/>
            </a:pPr>
            <a:r>
              <a:rPr lang="en-US" b="1" dirty="0" smtClean="0">
                <a:latin typeface="+mj-lt"/>
              </a:rPr>
              <a:t>OR// </a:t>
            </a:r>
            <a:r>
              <a:rPr lang="en-US" dirty="0" smtClean="0">
                <a:latin typeface="+mj-lt"/>
              </a:rPr>
              <a:t>The </a:t>
            </a:r>
            <a:r>
              <a:rPr lang="en-US" dirty="0">
                <a:latin typeface="+mj-lt"/>
              </a:rPr>
              <a:t>region around an electric charge in which it can influence other charges is known as the electric field</a:t>
            </a:r>
            <a:r>
              <a:rPr lang="en-US" dirty="0" smtClean="0">
                <a:latin typeface="+mj-lt"/>
              </a:rPr>
              <a:t>.</a:t>
            </a: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r>
              <a:rPr lang="en-US" b="1" dirty="0"/>
              <a:t>Electric field lines</a:t>
            </a:r>
            <a:r>
              <a:rPr lang="en-US" dirty="0"/>
              <a:t>: Electric field lines are the visual representation of the electric field. These lines are such that the tangent to them any point, gives the direction of the electric field intensity.</a:t>
            </a:r>
            <a:endParaRPr lang="en-US" dirty="0">
              <a:latin typeface="+mj-lt"/>
            </a:endParaRPr>
          </a:p>
        </p:txBody>
      </p:sp>
      <p:pic>
        <p:nvPicPr>
          <p:cNvPr id="3" name="Picture 2">
            <a:extLst>
              <a:ext uri="{FF2B5EF4-FFF2-40B4-BE49-F238E27FC236}">
                <a16:creationId xmlns="" xmlns:a16="http://schemas.microsoft.com/office/drawing/2014/main" id="{10ECD27E-ADD7-E518-9A86-7BE6FB8C804B}"/>
              </a:ext>
            </a:extLst>
          </p:cNvPr>
          <p:cNvPicPr>
            <a:picLocks noChangeAspect="1"/>
          </p:cNvPicPr>
          <p:nvPr/>
        </p:nvPicPr>
        <p:blipFill rotWithShape="1">
          <a:blip r:embed="rId4"/>
          <a:srcRect l="5735"/>
          <a:stretch/>
        </p:blipFill>
        <p:spPr>
          <a:xfrm>
            <a:off x="7942833" y="2016711"/>
            <a:ext cx="4078733" cy="3528778"/>
          </a:xfrm>
          <a:prstGeom prst="rect">
            <a:avLst/>
          </a:prstGeom>
        </p:spPr>
      </p:pic>
      <p:cxnSp>
        <p:nvCxnSpPr>
          <p:cNvPr id="4" name="Straight Arrow Connector 3"/>
          <p:cNvCxnSpPr/>
          <p:nvPr/>
        </p:nvCxnSpPr>
        <p:spPr>
          <a:xfrm flipV="1">
            <a:off x="562830" y="3217653"/>
            <a:ext cx="267419"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p:cNvCxnSpPr/>
          <p:nvPr/>
        </p:nvCxnSpPr>
        <p:spPr>
          <a:xfrm flipV="1">
            <a:off x="950033" y="3217652"/>
            <a:ext cx="267419"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544475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38">
                                            <p:txEl>
                                              <p:pRg st="1" end="1"/>
                                            </p:txEl>
                                          </p:spTgt>
                                        </p:tgtEl>
                                        <p:attrNameLst>
                                          <p:attrName>style.visibility</p:attrName>
                                        </p:attrNameLst>
                                      </p:cBhvr>
                                      <p:to>
                                        <p:strVal val="visible"/>
                                      </p:to>
                                    </p:set>
                                    <p:animEffect transition="in" filter="fade">
                                      <p:cBhvr>
                                        <p:cTn id="12" dur="1000"/>
                                        <p:tgtEl>
                                          <p:spTgt spid="138">
                                            <p:txEl>
                                              <p:pRg st="1" end="1"/>
                                            </p:txEl>
                                          </p:spTgt>
                                        </p:tgtEl>
                                      </p:cBhvr>
                                    </p:animEffect>
                                    <p:anim calcmode="lin" valueType="num">
                                      <p:cBhvr>
                                        <p:cTn id="13" dur="1000" fill="hold"/>
                                        <p:tgtEl>
                                          <p:spTgt spid="13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3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8">
                                            <p:txEl>
                                              <p:pRg st="3" end="3"/>
                                            </p:txEl>
                                          </p:spTgt>
                                        </p:tgtEl>
                                        <p:attrNameLst>
                                          <p:attrName>style.visibility</p:attrName>
                                        </p:attrNameLst>
                                      </p:cBhvr>
                                      <p:to>
                                        <p:strVal val="visible"/>
                                      </p:to>
                                    </p:set>
                                    <p:animEffect transition="in" filter="fade">
                                      <p:cBhvr>
                                        <p:cTn id="19" dur="1000"/>
                                        <p:tgtEl>
                                          <p:spTgt spid="138">
                                            <p:txEl>
                                              <p:pRg st="3" end="3"/>
                                            </p:txEl>
                                          </p:spTgt>
                                        </p:tgtEl>
                                      </p:cBhvr>
                                    </p:animEffect>
                                    <p:anim calcmode="lin" valueType="num">
                                      <p:cBhvr>
                                        <p:cTn id="20" dur="1000" fill="hold"/>
                                        <p:tgtEl>
                                          <p:spTgt spid="13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3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38">
                                            <p:txEl>
                                              <p:pRg st="5" end="5"/>
                                            </p:txEl>
                                          </p:spTgt>
                                        </p:tgtEl>
                                        <p:attrNameLst>
                                          <p:attrName>style.visibility</p:attrName>
                                        </p:attrNameLst>
                                      </p:cBhvr>
                                      <p:to>
                                        <p:strVal val="visible"/>
                                      </p:to>
                                    </p:set>
                                    <p:animEffect transition="in" filter="fade">
                                      <p:cBhvr>
                                        <p:cTn id="26" dur="1000"/>
                                        <p:tgtEl>
                                          <p:spTgt spid="138">
                                            <p:txEl>
                                              <p:pRg st="5" end="5"/>
                                            </p:txEl>
                                          </p:spTgt>
                                        </p:tgtEl>
                                      </p:cBhvr>
                                    </p:animEffect>
                                    <p:anim calcmode="lin" valueType="num">
                                      <p:cBhvr>
                                        <p:cTn id="27" dur="1000" fill="hold"/>
                                        <p:tgtEl>
                                          <p:spTgt spid="138">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13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38">
                                            <p:txEl>
                                              <p:pRg st="7" end="7"/>
                                            </p:txEl>
                                          </p:spTgt>
                                        </p:tgtEl>
                                        <p:attrNameLst>
                                          <p:attrName>style.visibility</p:attrName>
                                        </p:attrNameLst>
                                      </p:cBhvr>
                                      <p:to>
                                        <p:strVal val="visible"/>
                                      </p:to>
                                    </p:set>
                                    <p:animEffect transition="in" filter="fade">
                                      <p:cBhvr>
                                        <p:cTn id="33" dur="1000"/>
                                        <p:tgtEl>
                                          <p:spTgt spid="138">
                                            <p:txEl>
                                              <p:pRg st="7" end="7"/>
                                            </p:txEl>
                                          </p:spTgt>
                                        </p:tgtEl>
                                      </p:cBhvr>
                                    </p:animEffect>
                                    <p:anim calcmode="lin" valueType="num">
                                      <p:cBhvr>
                                        <p:cTn id="34" dur="1000" fill="hold"/>
                                        <p:tgtEl>
                                          <p:spTgt spid="138">
                                            <p:txEl>
                                              <p:pRg st="7" end="7"/>
                                            </p:txEl>
                                          </p:spTgt>
                                        </p:tgtEl>
                                        <p:attrNameLst>
                                          <p:attrName>ppt_x</p:attrName>
                                        </p:attrNameLst>
                                      </p:cBhvr>
                                      <p:tavLst>
                                        <p:tav tm="0">
                                          <p:val>
                                            <p:strVal val="#ppt_x"/>
                                          </p:val>
                                        </p:tav>
                                        <p:tav tm="100000">
                                          <p:val>
                                            <p:strVal val="#ppt_x"/>
                                          </p:val>
                                        </p:tav>
                                      </p:tavLst>
                                    </p:anim>
                                    <p:anim calcmode="lin" valueType="num">
                                      <p:cBhvr>
                                        <p:cTn id="35" dur="1000" fill="hold"/>
                                        <p:tgtEl>
                                          <p:spTgt spid="13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38">
                                            <p:txEl>
                                              <p:pRg st="10" end="10"/>
                                            </p:txEl>
                                          </p:spTgt>
                                        </p:tgtEl>
                                        <p:attrNameLst>
                                          <p:attrName>style.visibility</p:attrName>
                                        </p:attrNameLst>
                                      </p:cBhvr>
                                      <p:to>
                                        <p:strVal val="visible"/>
                                      </p:to>
                                    </p:set>
                                    <p:animEffect transition="in" filter="fade">
                                      <p:cBhvr>
                                        <p:cTn id="40" dur="1000"/>
                                        <p:tgtEl>
                                          <p:spTgt spid="138">
                                            <p:txEl>
                                              <p:pRg st="10" end="10"/>
                                            </p:txEl>
                                          </p:spTgt>
                                        </p:tgtEl>
                                      </p:cBhvr>
                                    </p:animEffect>
                                    <p:anim calcmode="lin" valueType="num">
                                      <p:cBhvr>
                                        <p:cTn id="41" dur="1000" fill="hold"/>
                                        <p:tgtEl>
                                          <p:spTgt spid="138">
                                            <p:txEl>
                                              <p:pRg st="10" end="10"/>
                                            </p:txEl>
                                          </p:spTgt>
                                        </p:tgtEl>
                                        <p:attrNameLst>
                                          <p:attrName>ppt_x</p:attrName>
                                        </p:attrNameLst>
                                      </p:cBhvr>
                                      <p:tavLst>
                                        <p:tav tm="0">
                                          <p:val>
                                            <p:strVal val="#ppt_x"/>
                                          </p:val>
                                        </p:tav>
                                        <p:tav tm="100000">
                                          <p:val>
                                            <p:strVal val="#ppt_x"/>
                                          </p:val>
                                        </p:tav>
                                      </p:tavLst>
                                    </p:anim>
                                    <p:anim calcmode="lin" valueType="num">
                                      <p:cBhvr>
                                        <p:cTn id="42" dur="1000" fill="hold"/>
                                        <p:tgtEl>
                                          <p:spTgt spid="138">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49523" y="375373"/>
            <a:ext cx="8558737" cy="446244"/>
          </a:xfrm>
        </p:spPr>
        <p:txBody>
          <a:bodyPr>
            <a:noAutofit/>
          </a:bodyPr>
          <a:lstStyle/>
          <a:p>
            <a:r>
              <a:rPr lang="en-US" sz="3000" dirty="0"/>
              <a:t>The Electric Field Due to a Point Charge</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13</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401197" y="1684076"/>
            <a:ext cx="11255387" cy="954107"/>
          </a:xfrm>
          <a:prstGeom prst="rect">
            <a:avLst/>
          </a:prstGeom>
          <a:noFill/>
        </p:spPr>
        <p:txBody>
          <a:bodyPr wrap="square" rtlCol="0">
            <a:spAutoFit/>
          </a:bodyPr>
          <a:lstStyle/>
          <a:p>
            <a:pPr marL="285750" indent="-285750" algn="just">
              <a:buFont typeface="Arial" panose="020B0604020202020204" pitchFamily="34" charset="0"/>
              <a:buChar char="•"/>
            </a:pPr>
            <a:endParaRPr lang="en-US" sz="2800" dirty="0">
              <a:latin typeface="+mj-lt"/>
            </a:endParaRPr>
          </a:p>
          <a:p>
            <a:pPr algn="ctr"/>
            <a:r>
              <a:rPr lang="en-US" sz="2800" dirty="0" smtClean="0">
                <a:latin typeface="+mj-lt"/>
              </a:rPr>
              <a:t>Coulomb’s law</a:t>
            </a:r>
            <a:endParaRPr lang="en-US" sz="2800" dirty="0">
              <a:latin typeface="+mj-lt"/>
            </a:endParaRPr>
          </a:p>
        </p:txBody>
      </p:sp>
      <p:pic>
        <p:nvPicPr>
          <p:cNvPr id="4" name="Picture 3">
            <a:extLst>
              <a:ext uri="{FF2B5EF4-FFF2-40B4-BE49-F238E27FC236}">
                <a16:creationId xmlns="" xmlns:a16="http://schemas.microsoft.com/office/drawing/2014/main" id="{2695C3D3-C45B-D363-32ED-AAC8C9928810}"/>
              </a:ext>
            </a:extLst>
          </p:cNvPr>
          <p:cNvPicPr>
            <a:picLocks noChangeAspect="1"/>
          </p:cNvPicPr>
          <p:nvPr/>
        </p:nvPicPr>
        <p:blipFill>
          <a:blip r:embed="rId4"/>
          <a:stretch>
            <a:fillRect/>
          </a:stretch>
        </p:blipFill>
        <p:spPr>
          <a:xfrm>
            <a:off x="4647412" y="2723924"/>
            <a:ext cx="2897175" cy="1089140"/>
          </a:xfrm>
          <a:prstGeom prst="rect">
            <a:avLst/>
          </a:prstGeom>
        </p:spPr>
      </p:pic>
      <p:sp>
        <p:nvSpPr>
          <p:cNvPr id="5" name="TextBox 4">
            <a:extLst>
              <a:ext uri="{FF2B5EF4-FFF2-40B4-BE49-F238E27FC236}">
                <a16:creationId xmlns:mc="http://schemas.openxmlformats.org/markup-compatibility/2006" xmlns:a14="http://schemas.microsoft.com/office/drawing/2010/main" xmlns="" xmlns:a16="http://schemas.microsoft.com/office/drawing/2014/main" id="{6C349E74-D0CA-7513-5ACD-B6F225105A04}"/>
              </a:ext>
            </a:extLst>
          </p:cNvPr>
          <p:cNvSpPr txBox="1"/>
          <p:nvPr/>
        </p:nvSpPr>
        <p:spPr>
          <a:xfrm>
            <a:off x="262358" y="3825113"/>
            <a:ext cx="11255387" cy="369332"/>
          </a:xfrm>
          <a:prstGeom prst="rect">
            <a:avLst/>
          </a:prstGeom>
          <a:noFill/>
        </p:spPr>
        <p:txBody>
          <a:bodyPr wrap="square" rtlCol="0">
            <a:spAutoFit/>
          </a:bodyPr>
          <a:lstStyle/>
          <a:p>
            <a:pPr algn="ctr"/>
            <a:r>
              <a:rPr lang="en-US" dirty="0" smtClean="0">
                <a:latin typeface="+mj-lt"/>
              </a:rPr>
              <a:t>Force exerted due to the electric field by one charge to another.</a:t>
            </a:r>
            <a:endParaRPr lang="en-US" dirty="0">
              <a:latin typeface="+mj-lt"/>
            </a:endParaRPr>
          </a:p>
        </p:txBody>
      </p:sp>
      <p:pic>
        <p:nvPicPr>
          <p:cNvPr id="11" name="Picture 10">
            <a:extLst>
              <a:ext uri="{FF2B5EF4-FFF2-40B4-BE49-F238E27FC236}">
                <a16:creationId xmlns="" xmlns:a16="http://schemas.microsoft.com/office/drawing/2014/main" id="{D5789E59-769D-0575-F9FA-5E0CFD055370}"/>
              </a:ext>
            </a:extLst>
          </p:cNvPr>
          <p:cNvPicPr>
            <a:picLocks noChangeAspect="1"/>
          </p:cNvPicPr>
          <p:nvPr/>
        </p:nvPicPr>
        <p:blipFill>
          <a:blip r:embed="rId5"/>
          <a:stretch>
            <a:fillRect/>
          </a:stretch>
        </p:blipFill>
        <p:spPr>
          <a:xfrm>
            <a:off x="3144259" y="5148178"/>
            <a:ext cx="5903480" cy="1119035"/>
          </a:xfrm>
          <a:prstGeom prst="rect">
            <a:avLst/>
          </a:prstGeom>
        </p:spPr>
      </p:pic>
    </p:spTree>
    <p:extLst>
      <p:ext uri="{BB962C8B-B14F-4D97-AF65-F5344CB8AC3E}">
        <p14:creationId xmlns:p14="http://schemas.microsoft.com/office/powerpoint/2010/main" val="3042081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8">
                                            <p:txEl>
                                              <p:pRg st="1" end="1"/>
                                            </p:txEl>
                                          </p:spTgt>
                                        </p:tgtEl>
                                        <p:attrNameLst>
                                          <p:attrName>style.visibility</p:attrName>
                                        </p:attrNameLst>
                                      </p:cBhvr>
                                      <p:to>
                                        <p:strVal val="visible"/>
                                      </p:to>
                                    </p:set>
                                    <p:animEffect transition="in" filter="fade">
                                      <p:cBhvr>
                                        <p:cTn id="7" dur="1000"/>
                                        <p:tgtEl>
                                          <p:spTgt spid="138">
                                            <p:txEl>
                                              <p:pRg st="1" end="1"/>
                                            </p:txEl>
                                          </p:spTgt>
                                        </p:tgtEl>
                                      </p:cBhvr>
                                    </p:animEffect>
                                    <p:anim calcmode="lin" valueType="num">
                                      <p:cBhvr>
                                        <p:cTn id="8" dur="1000" fill="hold"/>
                                        <p:tgtEl>
                                          <p:spTgt spid="13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3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randombar(horizontal)">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Effect transition="in" filter="fade">
                                      <p:cBhvr>
                                        <p:cTn id="19" dur="1000"/>
                                        <p:tgtEl>
                                          <p:spTgt spid="5">
                                            <p:txEl>
                                              <p:pRg st="0" end="0"/>
                                            </p:txEl>
                                          </p:spTgt>
                                        </p:tgtEl>
                                      </p:cBhvr>
                                    </p:animEffect>
                                    <p:anim calcmode="lin" valueType="num">
                                      <p:cBhvr>
                                        <p:cTn id="20"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randombar(horizontal)">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49523" y="375373"/>
            <a:ext cx="8558737" cy="446244"/>
          </a:xfrm>
        </p:spPr>
        <p:txBody>
          <a:bodyPr>
            <a:noAutofit/>
          </a:bodyPr>
          <a:lstStyle/>
          <a:p>
            <a:r>
              <a:rPr lang="en-US" sz="3000" dirty="0"/>
              <a:t>The Electric Field Due to a Point Charge</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14</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262358" y="1680048"/>
            <a:ext cx="11255387" cy="2585323"/>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mj-lt"/>
              </a:rPr>
              <a:t>Let’s think through the directions again. </a:t>
            </a: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r>
              <a:rPr lang="en-US" dirty="0">
                <a:latin typeface="+mj-lt"/>
              </a:rPr>
              <a:t>The direction of matches that of the force on the positive test charge: directly away from the point charge if q is positive and directly toward it if q is negative. </a:t>
            </a: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r>
              <a:rPr lang="en-US" dirty="0">
                <a:latin typeface="+mj-lt"/>
              </a:rPr>
              <a:t>So, if given another charged particle, we can immediately determine the directions of the electric field vectors near it by just looking at the sign of the charge q. </a:t>
            </a: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r>
              <a:rPr lang="en-US" dirty="0">
                <a:latin typeface="+mj-lt"/>
              </a:rPr>
              <a:t>We can find the magnitude at any given distance </a:t>
            </a:r>
            <a:r>
              <a:rPr lang="en-US" b="1" dirty="0">
                <a:latin typeface="+mj-lt"/>
              </a:rPr>
              <a:t>r</a:t>
            </a:r>
            <a:r>
              <a:rPr lang="en-US" dirty="0">
                <a:latin typeface="+mj-lt"/>
              </a:rPr>
              <a:t> by converting Eq. 22-2 to a magnitude form:</a:t>
            </a:r>
          </a:p>
        </p:txBody>
      </p:sp>
      <p:pic>
        <p:nvPicPr>
          <p:cNvPr id="3" name="Picture 2">
            <a:extLst>
              <a:ext uri="{FF2B5EF4-FFF2-40B4-BE49-F238E27FC236}">
                <a16:creationId xmlns="" xmlns:a16="http://schemas.microsoft.com/office/drawing/2014/main" id="{32142C4E-2418-1BAF-BF19-EDCFE537730E}"/>
              </a:ext>
            </a:extLst>
          </p:cNvPr>
          <p:cNvPicPr>
            <a:picLocks noChangeAspect="1"/>
          </p:cNvPicPr>
          <p:nvPr/>
        </p:nvPicPr>
        <p:blipFill>
          <a:blip r:embed="rId4"/>
          <a:stretch>
            <a:fillRect/>
          </a:stretch>
        </p:blipFill>
        <p:spPr>
          <a:xfrm>
            <a:off x="3186288" y="4490296"/>
            <a:ext cx="5685206" cy="1068480"/>
          </a:xfrm>
          <a:prstGeom prst="rect">
            <a:avLst/>
          </a:prstGeom>
        </p:spPr>
      </p:pic>
    </p:spTree>
    <p:extLst>
      <p:ext uri="{BB962C8B-B14F-4D97-AF65-F5344CB8AC3E}">
        <p14:creationId xmlns:p14="http://schemas.microsoft.com/office/powerpoint/2010/main" val="1963132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animEffect transition="in" filter="fade">
                                      <p:cBhvr>
                                        <p:cTn id="7" dur="1000"/>
                                        <p:tgtEl>
                                          <p:spTgt spid="138">
                                            <p:txEl>
                                              <p:pRg st="0" end="0"/>
                                            </p:txEl>
                                          </p:spTgt>
                                        </p:tgtEl>
                                      </p:cBhvr>
                                    </p:animEffect>
                                    <p:anim calcmode="lin" valueType="num">
                                      <p:cBhvr>
                                        <p:cTn id="8" dur="1000" fill="hold"/>
                                        <p:tgtEl>
                                          <p:spTgt spid="1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8">
                                            <p:txEl>
                                              <p:pRg st="2" end="2"/>
                                            </p:txEl>
                                          </p:spTgt>
                                        </p:tgtEl>
                                        <p:attrNameLst>
                                          <p:attrName>style.visibility</p:attrName>
                                        </p:attrNameLst>
                                      </p:cBhvr>
                                      <p:to>
                                        <p:strVal val="visible"/>
                                      </p:to>
                                    </p:set>
                                    <p:animEffect transition="in" filter="fade">
                                      <p:cBhvr>
                                        <p:cTn id="14" dur="1000"/>
                                        <p:tgtEl>
                                          <p:spTgt spid="138">
                                            <p:txEl>
                                              <p:pRg st="2" end="2"/>
                                            </p:txEl>
                                          </p:spTgt>
                                        </p:tgtEl>
                                      </p:cBhvr>
                                    </p:animEffect>
                                    <p:anim calcmode="lin" valueType="num">
                                      <p:cBhvr>
                                        <p:cTn id="15" dur="1000" fill="hold"/>
                                        <p:tgtEl>
                                          <p:spTgt spid="13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8">
                                            <p:txEl>
                                              <p:pRg st="4" end="4"/>
                                            </p:txEl>
                                          </p:spTgt>
                                        </p:tgtEl>
                                        <p:attrNameLst>
                                          <p:attrName>style.visibility</p:attrName>
                                        </p:attrNameLst>
                                      </p:cBhvr>
                                      <p:to>
                                        <p:strVal val="visible"/>
                                      </p:to>
                                    </p:set>
                                    <p:animEffect transition="in" filter="fade">
                                      <p:cBhvr>
                                        <p:cTn id="21" dur="1000"/>
                                        <p:tgtEl>
                                          <p:spTgt spid="138">
                                            <p:txEl>
                                              <p:pRg st="4" end="4"/>
                                            </p:txEl>
                                          </p:spTgt>
                                        </p:tgtEl>
                                      </p:cBhvr>
                                    </p:animEffect>
                                    <p:anim calcmode="lin" valueType="num">
                                      <p:cBhvr>
                                        <p:cTn id="22" dur="1000" fill="hold"/>
                                        <p:tgtEl>
                                          <p:spTgt spid="13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3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38">
                                            <p:txEl>
                                              <p:pRg st="6" end="6"/>
                                            </p:txEl>
                                          </p:spTgt>
                                        </p:tgtEl>
                                        <p:attrNameLst>
                                          <p:attrName>style.visibility</p:attrName>
                                        </p:attrNameLst>
                                      </p:cBhvr>
                                      <p:to>
                                        <p:strVal val="visible"/>
                                      </p:to>
                                    </p:set>
                                    <p:animEffect transition="in" filter="fade">
                                      <p:cBhvr>
                                        <p:cTn id="28" dur="1000"/>
                                        <p:tgtEl>
                                          <p:spTgt spid="138">
                                            <p:txEl>
                                              <p:pRg st="6" end="6"/>
                                            </p:txEl>
                                          </p:spTgt>
                                        </p:tgtEl>
                                      </p:cBhvr>
                                    </p:animEffect>
                                    <p:anim calcmode="lin" valueType="num">
                                      <p:cBhvr>
                                        <p:cTn id="29" dur="1000" fill="hold"/>
                                        <p:tgtEl>
                                          <p:spTgt spid="138">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13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randombar(horizontal)">
                                      <p:cBhvr>
                                        <p:cTn id="3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49523" y="375373"/>
            <a:ext cx="8558737" cy="446244"/>
          </a:xfrm>
        </p:spPr>
        <p:txBody>
          <a:bodyPr>
            <a:noAutofit/>
          </a:bodyPr>
          <a:lstStyle/>
          <a:p>
            <a:r>
              <a:rPr lang="en-US" sz="3000" dirty="0"/>
              <a:t>The Electric Field Due to a Point Charge</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15</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262358" y="3560486"/>
            <a:ext cx="11255387" cy="1200329"/>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mj-lt"/>
              </a:rPr>
              <a:t>We write |q| to avoid the danger of getting a negative E when q is negative, and then thinking the negative sign has something to do with direction. </a:t>
            </a:r>
          </a:p>
          <a:p>
            <a:pPr algn="just"/>
            <a:endParaRPr lang="en-US" dirty="0">
              <a:latin typeface="+mj-lt"/>
            </a:endParaRPr>
          </a:p>
          <a:p>
            <a:pPr marL="285750" indent="-285750" algn="just">
              <a:buFont typeface="Arial" panose="020B0604020202020204" pitchFamily="34" charset="0"/>
              <a:buChar char="•"/>
            </a:pPr>
            <a:r>
              <a:rPr lang="en-US" dirty="0">
                <a:latin typeface="+mj-lt"/>
              </a:rPr>
              <a:t>We must think about the direction separately. </a:t>
            </a:r>
          </a:p>
        </p:txBody>
      </p:sp>
      <p:pic>
        <p:nvPicPr>
          <p:cNvPr id="3" name="Picture 2">
            <a:extLst>
              <a:ext uri="{FF2B5EF4-FFF2-40B4-BE49-F238E27FC236}">
                <a16:creationId xmlns="" xmlns:a16="http://schemas.microsoft.com/office/drawing/2014/main" id="{32142C4E-2418-1BAF-BF19-EDCFE537730E}"/>
              </a:ext>
            </a:extLst>
          </p:cNvPr>
          <p:cNvPicPr>
            <a:picLocks noChangeAspect="1"/>
          </p:cNvPicPr>
          <p:nvPr/>
        </p:nvPicPr>
        <p:blipFill>
          <a:blip r:embed="rId4"/>
          <a:stretch>
            <a:fillRect/>
          </a:stretch>
        </p:blipFill>
        <p:spPr>
          <a:xfrm>
            <a:off x="3186288" y="1946512"/>
            <a:ext cx="5685206" cy="1068480"/>
          </a:xfrm>
          <a:prstGeom prst="rect">
            <a:avLst/>
          </a:prstGeom>
        </p:spPr>
      </p:pic>
    </p:spTree>
    <p:extLst>
      <p:ext uri="{BB962C8B-B14F-4D97-AF65-F5344CB8AC3E}">
        <p14:creationId xmlns:p14="http://schemas.microsoft.com/office/powerpoint/2010/main" val="1426192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38">
                                            <p:txEl>
                                              <p:pRg st="0" end="0"/>
                                            </p:txEl>
                                          </p:spTgt>
                                        </p:tgtEl>
                                        <p:attrNameLst>
                                          <p:attrName>style.visibility</p:attrName>
                                        </p:attrNameLst>
                                      </p:cBhvr>
                                      <p:to>
                                        <p:strVal val="visible"/>
                                      </p:to>
                                    </p:set>
                                    <p:animEffect transition="in" filter="fade">
                                      <p:cBhvr>
                                        <p:cTn id="12" dur="1000"/>
                                        <p:tgtEl>
                                          <p:spTgt spid="138">
                                            <p:txEl>
                                              <p:pRg st="0" end="0"/>
                                            </p:txEl>
                                          </p:spTgt>
                                        </p:tgtEl>
                                      </p:cBhvr>
                                    </p:animEffect>
                                    <p:anim calcmode="lin" valueType="num">
                                      <p:cBhvr>
                                        <p:cTn id="13" dur="1000" fill="hold"/>
                                        <p:tgtEl>
                                          <p:spTgt spid="138">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8">
                                            <p:txEl>
                                              <p:pRg st="2" end="2"/>
                                            </p:txEl>
                                          </p:spTgt>
                                        </p:tgtEl>
                                        <p:attrNameLst>
                                          <p:attrName>style.visibility</p:attrName>
                                        </p:attrNameLst>
                                      </p:cBhvr>
                                      <p:to>
                                        <p:strVal val="visible"/>
                                      </p:to>
                                    </p:set>
                                    <p:animEffect transition="in" filter="fade">
                                      <p:cBhvr>
                                        <p:cTn id="19" dur="1000"/>
                                        <p:tgtEl>
                                          <p:spTgt spid="138">
                                            <p:txEl>
                                              <p:pRg st="2" end="2"/>
                                            </p:txEl>
                                          </p:spTgt>
                                        </p:tgtEl>
                                      </p:cBhvr>
                                    </p:animEffect>
                                    <p:anim calcmode="lin" valueType="num">
                                      <p:cBhvr>
                                        <p:cTn id="20" dur="1000" fill="hold"/>
                                        <p:tgtEl>
                                          <p:spTgt spid="138">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3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49523" y="375373"/>
            <a:ext cx="8558737" cy="446244"/>
          </a:xfrm>
        </p:spPr>
        <p:txBody>
          <a:bodyPr>
            <a:noAutofit/>
          </a:bodyPr>
          <a:lstStyle/>
          <a:p>
            <a:r>
              <a:rPr lang="en-US" sz="3000" dirty="0"/>
              <a:t>The Electric Field Due to a Point Charge</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16</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mc:AlternateContent xmlns:mc="http://schemas.openxmlformats.org/markup-compatibility/2006" xmlns:a14="http://schemas.microsoft.com/office/drawing/2010/main">
        <mc:Choice Requires="a14">
          <p:sp>
            <p:nvSpPr>
              <p:cNvPr id="138" name="TextBox 137">
                <a:extLst>
                  <a:ext uri="{FF2B5EF4-FFF2-40B4-BE49-F238E27FC236}">
                    <a16:creationId xmlns="" xmlns:a16="http://schemas.microsoft.com/office/drawing/2014/main" id="{C2343543-116F-B45F-A578-D76F670D75AA}"/>
                  </a:ext>
                </a:extLst>
              </p:cNvPr>
              <p:cNvSpPr txBox="1"/>
              <p:nvPr/>
            </p:nvSpPr>
            <p:spPr>
              <a:xfrm>
                <a:off x="262358" y="1408413"/>
                <a:ext cx="11255387" cy="1536639"/>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mj-lt"/>
                  </a:rPr>
                  <a:t>In general, if several electric fields are set up at a given point by several charged particles, we can find the net field by placing a positive test particle at the point and then writing out the force acting on it due to each particle, such as </a:t>
                </a:r>
                <a14:m>
                  <m:oMath xmlns:m="http://schemas.openxmlformats.org/officeDocument/2006/math">
                    <m:acc>
                      <m:accPr>
                        <m:chr m:val="⃗"/>
                        <m:ctrlPr>
                          <a:rPr lang="en-US" b="1" i="1">
                            <a:solidFill>
                              <a:srgbClr val="282625"/>
                            </a:solidFill>
                            <a:latin typeface="Cambria Math" panose="02040503050406030204" pitchFamily="18" charset="0"/>
                          </a:rPr>
                        </m:ctrlPr>
                      </m:accPr>
                      <m:e>
                        <m:sSub>
                          <m:sSubPr>
                            <m:ctrlPr>
                              <a:rPr lang="en-US" b="1" i="1" smtClean="0">
                                <a:solidFill>
                                  <a:srgbClr val="282625"/>
                                </a:solidFill>
                                <a:latin typeface="Cambria Math" panose="02040503050406030204" pitchFamily="18" charset="0"/>
                              </a:rPr>
                            </m:ctrlPr>
                          </m:sSubPr>
                          <m:e>
                            <m:r>
                              <a:rPr lang="en-US" b="1" i="1" smtClean="0">
                                <a:solidFill>
                                  <a:srgbClr val="282625"/>
                                </a:solidFill>
                                <a:latin typeface="Cambria Math" panose="02040503050406030204" pitchFamily="18" charset="0"/>
                              </a:rPr>
                              <m:t>𝑭</m:t>
                            </m:r>
                          </m:e>
                          <m:sub>
                            <m:r>
                              <a:rPr lang="en-US" b="1" i="1" smtClean="0">
                                <a:solidFill>
                                  <a:srgbClr val="282625"/>
                                </a:solidFill>
                                <a:latin typeface="Cambria Math" panose="02040503050406030204" pitchFamily="18" charset="0"/>
                              </a:rPr>
                              <m:t>𝟎𝟏</m:t>
                            </m:r>
                          </m:sub>
                        </m:sSub>
                      </m:e>
                    </m:acc>
                  </m:oMath>
                </a14:m>
                <a:r>
                  <a:rPr lang="en-US" dirty="0"/>
                  <a:t> </a:t>
                </a:r>
                <a:r>
                  <a:rPr lang="en-US" dirty="0">
                    <a:latin typeface="+mj-lt"/>
                  </a:rPr>
                  <a:t>due to particle 1. </a:t>
                </a: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r>
                  <a:rPr lang="en-US" dirty="0">
                    <a:latin typeface="+mj-lt"/>
                  </a:rPr>
                  <a:t>Forces obey the principle of superposition, so we just add the forces as vectors:</a:t>
                </a:r>
              </a:p>
            </p:txBody>
          </p:sp>
        </mc:Choice>
        <mc:Fallback xmlns="">
          <p:sp>
            <p:nvSpPr>
              <p:cNvPr id="138" name="TextBox 137">
                <a:extLst>
                  <a:ext uri="{FF2B5EF4-FFF2-40B4-BE49-F238E27FC236}">
                    <a16:creationId xmlns:a16="http://schemas.microsoft.com/office/drawing/2014/main" id="{C2343543-116F-B45F-A578-D76F670D75AA}"/>
                  </a:ext>
                </a:extLst>
              </p:cNvPr>
              <p:cNvSpPr txBox="1">
                <a:spLocks noRot="1" noChangeAspect="1" noMove="1" noResize="1" noEditPoints="1" noAdjustHandles="1" noChangeArrowheads="1" noChangeShapeType="1" noTextEdit="1"/>
              </p:cNvSpPr>
              <p:nvPr/>
            </p:nvSpPr>
            <p:spPr>
              <a:xfrm>
                <a:off x="262358" y="1408413"/>
                <a:ext cx="11255387" cy="1536639"/>
              </a:xfrm>
              <a:prstGeom prst="rect">
                <a:avLst/>
              </a:prstGeom>
              <a:blipFill>
                <a:blip r:embed="rId4"/>
                <a:stretch>
                  <a:fillRect l="-325" t="-1984" r="-488" b="-3968"/>
                </a:stretch>
              </a:blipFill>
            </p:spPr>
            <p:txBody>
              <a:bodyPr/>
              <a:lstStyle/>
              <a:p>
                <a:r>
                  <a:rPr lang="en-US">
                    <a:noFill/>
                  </a:rPr>
                  <a:t> </a:t>
                </a:r>
              </a:p>
            </p:txBody>
          </p:sp>
        </mc:Fallback>
      </mc:AlternateContent>
      <p:pic>
        <p:nvPicPr>
          <p:cNvPr id="4" name="Picture 3">
            <a:extLst>
              <a:ext uri="{FF2B5EF4-FFF2-40B4-BE49-F238E27FC236}">
                <a16:creationId xmlns="" xmlns:a16="http://schemas.microsoft.com/office/drawing/2014/main" id="{83D08BE1-3ED6-647F-F236-617907553180}"/>
              </a:ext>
            </a:extLst>
          </p:cNvPr>
          <p:cNvPicPr>
            <a:picLocks noChangeAspect="1"/>
          </p:cNvPicPr>
          <p:nvPr/>
        </p:nvPicPr>
        <p:blipFill>
          <a:blip r:embed="rId5"/>
          <a:stretch>
            <a:fillRect/>
          </a:stretch>
        </p:blipFill>
        <p:spPr>
          <a:xfrm>
            <a:off x="3885261" y="2978003"/>
            <a:ext cx="4421478" cy="544497"/>
          </a:xfrm>
          <a:prstGeom prst="rect">
            <a:avLst/>
          </a:prstGeom>
        </p:spPr>
      </p:pic>
      <p:sp>
        <p:nvSpPr>
          <p:cNvPr id="5" name="TextBox 4">
            <a:extLst>
              <a:ext uri="{FF2B5EF4-FFF2-40B4-BE49-F238E27FC236}">
                <a16:creationId xmlns="" xmlns:a16="http://schemas.microsoft.com/office/drawing/2014/main" id="{BB07AE02-9704-A29B-F2B0-3A3CB2FDE9EF}"/>
              </a:ext>
            </a:extLst>
          </p:cNvPr>
          <p:cNvSpPr txBox="1"/>
          <p:nvPr/>
        </p:nvSpPr>
        <p:spPr>
          <a:xfrm>
            <a:off x="262358" y="3757529"/>
            <a:ext cx="11255387" cy="369332"/>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mj-lt"/>
              </a:rPr>
              <a:t>To change over to electric field, we repeatedly use Eq. 22-1 for each of the individual forces:</a:t>
            </a:r>
          </a:p>
        </p:txBody>
      </p:sp>
      <p:pic>
        <p:nvPicPr>
          <p:cNvPr id="11" name="Picture 10">
            <a:extLst>
              <a:ext uri="{FF2B5EF4-FFF2-40B4-BE49-F238E27FC236}">
                <a16:creationId xmlns="" xmlns:a16="http://schemas.microsoft.com/office/drawing/2014/main" id="{7DFB55FD-2195-6BEE-0452-01EF0B871869}"/>
              </a:ext>
            </a:extLst>
          </p:cNvPr>
          <p:cNvPicPr>
            <a:picLocks noChangeAspect="1"/>
          </p:cNvPicPr>
          <p:nvPr/>
        </p:nvPicPr>
        <p:blipFill>
          <a:blip r:embed="rId6"/>
          <a:stretch>
            <a:fillRect/>
          </a:stretch>
        </p:blipFill>
        <p:spPr>
          <a:xfrm>
            <a:off x="3351979" y="4294952"/>
            <a:ext cx="4790065" cy="1446431"/>
          </a:xfrm>
          <a:prstGeom prst="rect">
            <a:avLst/>
          </a:prstGeom>
        </p:spPr>
      </p:pic>
    </p:spTree>
    <p:extLst>
      <p:ext uri="{BB962C8B-B14F-4D97-AF65-F5344CB8AC3E}">
        <p14:creationId xmlns:p14="http://schemas.microsoft.com/office/powerpoint/2010/main" val="2784239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animEffect transition="in" filter="fade">
                                      <p:cBhvr>
                                        <p:cTn id="7" dur="1000"/>
                                        <p:tgtEl>
                                          <p:spTgt spid="138">
                                            <p:txEl>
                                              <p:pRg st="0" end="0"/>
                                            </p:txEl>
                                          </p:spTgt>
                                        </p:tgtEl>
                                      </p:cBhvr>
                                    </p:animEffect>
                                    <p:anim calcmode="lin" valueType="num">
                                      <p:cBhvr>
                                        <p:cTn id="8" dur="1000" fill="hold"/>
                                        <p:tgtEl>
                                          <p:spTgt spid="1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8">
                                            <p:txEl>
                                              <p:pRg st="2" end="2"/>
                                            </p:txEl>
                                          </p:spTgt>
                                        </p:tgtEl>
                                        <p:attrNameLst>
                                          <p:attrName>style.visibility</p:attrName>
                                        </p:attrNameLst>
                                      </p:cBhvr>
                                      <p:to>
                                        <p:strVal val="visible"/>
                                      </p:to>
                                    </p:set>
                                    <p:animEffect transition="in" filter="fade">
                                      <p:cBhvr>
                                        <p:cTn id="14" dur="1000"/>
                                        <p:tgtEl>
                                          <p:spTgt spid="138">
                                            <p:txEl>
                                              <p:pRg st="2" end="2"/>
                                            </p:txEl>
                                          </p:spTgt>
                                        </p:tgtEl>
                                      </p:cBhvr>
                                    </p:animEffect>
                                    <p:anim calcmode="lin" valueType="num">
                                      <p:cBhvr>
                                        <p:cTn id="15" dur="1000" fill="hold"/>
                                        <p:tgtEl>
                                          <p:spTgt spid="13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randombar(horizontal)">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fade">
                                      <p:cBhvr>
                                        <p:cTn id="26" dur="1000"/>
                                        <p:tgtEl>
                                          <p:spTgt spid="5">
                                            <p:txEl>
                                              <p:pRg st="0" end="0"/>
                                            </p:txEl>
                                          </p:spTgt>
                                        </p:tgtEl>
                                      </p:cBhvr>
                                    </p:animEffect>
                                    <p:anim calcmode="lin" valueType="num">
                                      <p:cBhvr>
                                        <p:cTn id="27"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randombar(horizontal)">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49523" y="375373"/>
            <a:ext cx="8558737" cy="446244"/>
          </a:xfrm>
        </p:spPr>
        <p:txBody>
          <a:bodyPr>
            <a:noAutofit/>
          </a:bodyPr>
          <a:lstStyle/>
          <a:p>
            <a:r>
              <a:rPr lang="en-US" sz="3000" dirty="0"/>
              <a:t>The Electric Field Due to a Point Charge</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17</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BB07AE02-9704-A29B-F2B0-3A3CB2FDE9EF}"/>
                  </a:ext>
                </a:extLst>
              </p:cNvPr>
              <p:cNvSpPr txBox="1"/>
              <p:nvPr/>
            </p:nvSpPr>
            <p:spPr>
              <a:xfrm>
                <a:off x="262358" y="4127751"/>
                <a:ext cx="11255387" cy="1259640"/>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mj-lt"/>
                  </a:rPr>
                  <a:t>This tells us that electric fields also obey the principle of superposition. </a:t>
                </a:r>
              </a:p>
              <a:p>
                <a:pPr marL="285750" indent="-285750" algn="just">
                  <a:buFont typeface="Arial" panose="020B0604020202020204" pitchFamily="34" charset="0"/>
                  <a:buChar char="•"/>
                </a:pPr>
                <a:endParaRPr lang="en-US" dirty="0">
                  <a:latin typeface="+mj-lt"/>
                </a:endParaRPr>
              </a:p>
              <a:p>
                <a:pPr marL="285750" indent="-285750" algn="just">
                  <a:buFont typeface="Arial" panose="020B0604020202020204" pitchFamily="34" charset="0"/>
                  <a:buChar char="•"/>
                </a:pPr>
                <a:r>
                  <a:rPr lang="en-US" dirty="0">
                    <a:latin typeface="+mj-lt"/>
                  </a:rPr>
                  <a:t>If you want the net electric field at a given point due to several particles, find the electric field due to each particle (such as </a:t>
                </a:r>
                <a14:m>
                  <m:oMath xmlns:m="http://schemas.openxmlformats.org/officeDocument/2006/math">
                    <m:acc>
                      <m:accPr>
                        <m:chr m:val="⃗"/>
                        <m:ctrlPr>
                          <a:rPr lang="en-US" b="1" i="1">
                            <a:solidFill>
                              <a:srgbClr val="282625"/>
                            </a:solidFill>
                            <a:latin typeface="Cambria Math" panose="02040503050406030204" pitchFamily="18" charset="0"/>
                          </a:rPr>
                        </m:ctrlPr>
                      </m:accPr>
                      <m:e>
                        <m:sSub>
                          <m:sSubPr>
                            <m:ctrlPr>
                              <a:rPr lang="en-US" b="1" i="1">
                                <a:solidFill>
                                  <a:srgbClr val="282625"/>
                                </a:solidFill>
                                <a:latin typeface="Cambria Math" panose="02040503050406030204" pitchFamily="18" charset="0"/>
                              </a:rPr>
                            </m:ctrlPr>
                          </m:sSubPr>
                          <m:e>
                            <m:r>
                              <a:rPr lang="en-US" b="1" i="1" smtClean="0">
                                <a:solidFill>
                                  <a:srgbClr val="282625"/>
                                </a:solidFill>
                                <a:latin typeface="Cambria Math" panose="02040503050406030204" pitchFamily="18" charset="0"/>
                              </a:rPr>
                              <m:t>𝑬</m:t>
                            </m:r>
                          </m:e>
                          <m:sub>
                            <m:r>
                              <a:rPr lang="en-US" b="1" i="1">
                                <a:solidFill>
                                  <a:srgbClr val="282625"/>
                                </a:solidFill>
                                <a:latin typeface="Cambria Math" panose="02040503050406030204" pitchFamily="18" charset="0"/>
                              </a:rPr>
                              <m:t>𝟏</m:t>
                            </m:r>
                          </m:sub>
                        </m:sSub>
                      </m:e>
                    </m:acc>
                  </m:oMath>
                </a14:m>
                <a:r>
                  <a:rPr lang="en-US" dirty="0">
                    <a:latin typeface="+mj-lt"/>
                  </a:rPr>
                  <a:t> due to particle 1) and then sum the fields as vectors.</a:t>
                </a:r>
              </a:p>
            </p:txBody>
          </p:sp>
        </mc:Choice>
        <mc:Fallback xmlns="">
          <p:sp>
            <p:nvSpPr>
              <p:cNvPr id="5" name="TextBox 4">
                <a:extLst>
                  <a:ext uri="{FF2B5EF4-FFF2-40B4-BE49-F238E27FC236}">
                    <a16:creationId xmlns:a16="http://schemas.microsoft.com/office/drawing/2014/main" id="{BB07AE02-9704-A29B-F2B0-3A3CB2FDE9EF}"/>
                  </a:ext>
                </a:extLst>
              </p:cNvPr>
              <p:cNvSpPr txBox="1">
                <a:spLocks noRot="1" noChangeAspect="1" noMove="1" noResize="1" noEditPoints="1" noAdjustHandles="1" noChangeArrowheads="1" noChangeShapeType="1" noTextEdit="1"/>
              </p:cNvSpPr>
              <p:nvPr/>
            </p:nvSpPr>
            <p:spPr>
              <a:xfrm>
                <a:off x="262358" y="4127751"/>
                <a:ext cx="11255387" cy="1259640"/>
              </a:xfrm>
              <a:prstGeom prst="rect">
                <a:avLst/>
              </a:prstGeom>
              <a:blipFill>
                <a:blip r:embed="rId4"/>
                <a:stretch>
                  <a:fillRect l="-325" t="-2415" r="-488" b="-4831"/>
                </a:stretch>
              </a:blipFill>
            </p:spPr>
            <p:txBody>
              <a:bodyPr/>
              <a:lstStyle/>
              <a:p>
                <a:r>
                  <a:rPr lang="en-US">
                    <a:noFill/>
                  </a:rPr>
                  <a:t> </a:t>
                </a:r>
              </a:p>
            </p:txBody>
          </p:sp>
        </mc:Fallback>
      </mc:AlternateContent>
      <p:pic>
        <p:nvPicPr>
          <p:cNvPr id="11" name="Picture 10">
            <a:extLst>
              <a:ext uri="{FF2B5EF4-FFF2-40B4-BE49-F238E27FC236}">
                <a16:creationId xmlns="" xmlns:a16="http://schemas.microsoft.com/office/drawing/2014/main" id="{7DFB55FD-2195-6BEE-0452-01EF0B871869}"/>
              </a:ext>
            </a:extLst>
          </p:cNvPr>
          <p:cNvPicPr>
            <a:picLocks noChangeAspect="1"/>
          </p:cNvPicPr>
          <p:nvPr/>
        </p:nvPicPr>
        <p:blipFill>
          <a:blip r:embed="rId5"/>
          <a:stretch>
            <a:fillRect/>
          </a:stretch>
        </p:blipFill>
        <p:spPr>
          <a:xfrm>
            <a:off x="3351979" y="1945979"/>
            <a:ext cx="4790065" cy="1446431"/>
          </a:xfrm>
          <a:prstGeom prst="rect">
            <a:avLst/>
          </a:prstGeom>
        </p:spPr>
      </p:pic>
    </p:spTree>
    <p:extLst>
      <p:ext uri="{BB962C8B-B14F-4D97-AF65-F5344CB8AC3E}">
        <p14:creationId xmlns:p14="http://schemas.microsoft.com/office/powerpoint/2010/main" val="1866973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1000"/>
                                        <p:tgtEl>
                                          <p:spTgt spid="5">
                                            <p:txEl>
                                              <p:pRg st="0" end="0"/>
                                            </p:txEl>
                                          </p:spTgt>
                                        </p:tgtEl>
                                      </p:cBhvr>
                                    </p:animEffect>
                                    <p:anim calcmode="lin" valueType="num">
                                      <p:cBhvr>
                                        <p:cTn id="13"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fade">
                                      <p:cBhvr>
                                        <p:cTn id="19" dur="1000"/>
                                        <p:tgtEl>
                                          <p:spTgt spid="5">
                                            <p:txEl>
                                              <p:pRg st="2" end="2"/>
                                            </p:txEl>
                                          </p:spTgt>
                                        </p:tgtEl>
                                      </p:cBhvr>
                                    </p:animEffect>
                                    <p:anim calcmode="lin" valueType="num">
                                      <p:cBhvr>
                                        <p:cTn id="20"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49523" y="375373"/>
            <a:ext cx="8558737" cy="446244"/>
          </a:xfrm>
        </p:spPr>
        <p:txBody>
          <a:bodyPr>
            <a:noAutofit/>
          </a:bodyPr>
          <a:lstStyle/>
          <a:p>
            <a:pPr algn="ctr"/>
            <a:r>
              <a:rPr lang="en-US" sz="3000" dirty="0" smtClean="0"/>
              <a:t>References</a:t>
            </a:r>
            <a:endParaRPr lang="en-US" sz="3000" dirty="0"/>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18</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p:sp>
        <p:nvSpPr>
          <p:cNvPr id="5" name="TextBox 4">
            <a:extLst>
              <a:ext uri="{FF2B5EF4-FFF2-40B4-BE49-F238E27FC236}">
                <a16:creationId xmlns:mc="http://schemas.openxmlformats.org/markup-compatibility/2006" xmlns:a14="http://schemas.microsoft.com/office/drawing/2010/main" xmlns="" xmlns:a16="http://schemas.microsoft.com/office/drawing/2014/main" id="{BB07AE02-9704-A29B-F2B0-3A3CB2FDE9EF}"/>
              </a:ext>
            </a:extLst>
          </p:cNvPr>
          <p:cNvSpPr txBox="1"/>
          <p:nvPr/>
        </p:nvSpPr>
        <p:spPr>
          <a:xfrm>
            <a:off x="401197" y="1649275"/>
            <a:ext cx="11255387" cy="923330"/>
          </a:xfrm>
          <a:prstGeom prst="rect">
            <a:avLst/>
          </a:prstGeom>
          <a:noFill/>
        </p:spPr>
        <p:txBody>
          <a:bodyPr wrap="square" rtlCol="0">
            <a:spAutoFit/>
          </a:bodyPr>
          <a:lstStyle/>
          <a:p>
            <a:pPr marL="342900" indent="-342900" algn="just">
              <a:buAutoNum type="arabicPeriod"/>
            </a:pPr>
            <a:r>
              <a:rPr lang="en-US" dirty="0" smtClean="0">
                <a:latin typeface="+mj-lt"/>
                <a:hlinkClick r:id="rId4"/>
              </a:rPr>
              <a:t>https</a:t>
            </a:r>
            <a:r>
              <a:rPr lang="en-US" dirty="0">
                <a:latin typeface="+mj-lt"/>
                <a:hlinkClick r:id="rId4"/>
              </a:rPr>
              <a:t>://</a:t>
            </a:r>
            <a:r>
              <a:rPr lang="en-US" dirty="0" smtClean="0">
                <a:latin typeface="+mj-lt"/>
                <a:hlinkClick r:id="rId4"/>
              </a:rPr>
              <a:t>www.youtube.com/watch?v=S3KqgjQtQaw</a:t>
            </a:r>
            <a:endParaRPr lang="en-US" dirty="0" smtClean="0">
              <a:latin typeface="+mj-lt"/>
            </a:endParaRPr>
          </a:p>
          <a:p>
            <a:pPr algn="just"/>
            <a:endParaRPr lang="en-US" dirty="0" smtClean="0">
              <a:latin typeface="+mj-lt"/>
            </a:endParaRPr>
          </a:p>
          <a:p>
            <a:pPr marL="342900" indent="-342900" algn="just">
              <a:buAutoNum type="arabicPeriod"/>
            </a:pPr>
            <a:endParaRPr lang="en-US" dirty="0">
              <a:latin typeface="+mj-lt"/>
            </a:endParaRPr>
          </a:p>
        </p:txBody>
      </p:sp>
    </p:spTree>
    <p:extLst>
      <p:ext uri="{BB962C8B-B14F-4D97-AF65-F5344CB8AC3E}">
        <p14:creationId xmlns:p14="http://schemas.microsoft.com/office/powerpoint/2010/main" val="1536545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11"/>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12"/>
          </p:nvPr>
        </p:nvSpPr>
        <p:spPr>
          <a:xfrm>
            <a:off x="8610600" y="6356350"/>
            <a:ext cx="2743200" cy="365125"/>
          </a:xfrm>
        </p:spPr>
        <p:txBody>
          <a:bodyPr/>
          <a:lstStyle/>
          <a:p>
            <a:fld id="{613F66FA-1D38-4225-99EF-DA3E159AA041}" type="slidenum">
              <a:rPr lang="en-US" smtClean="0"/>
              <a:t>19</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14"/>
          <p:cNvSpPr txBox="1">
            <a:spLocks/>
          </p:cNvSpPr>
          <p:nvPr/>
        </p:nvSpPr>
        <p:spPr>
          <a:xfrm>
            <a:off x="4253470" y="6410941"/>
            <a:ext cx="298708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Engr. Asif Ali </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 xmlns:a16="http://schemas.microsoft.com/office/drawing/2014/main" id="{24958B33-F684-4742-9E9C-DC1A5C0E2812}"/>
              </a:ext>
            </a:extLst>
          </p:cNvPr>
          <p:cNvSpPr/>
          <p:nvPr/>
        </p:nvSpPr>
        <p:spPr>
          <a:xfrm>
            <a:off x="830250" y="2244060"/>
            <a:ext cx="10558271" cy="2369880"/>
          </a:xfrm>
          <a:prstGeom prst="rect">
            <a:avLst/>
          </a:prstGeom>
        </p:spPr>
        <p:txBody>
          <a:bodyPr wrap="square">
            <a:spAutoFit/>
          </a:bodyPr>
          <a:lstStyle/>
          <a:p>
            <a:pPr algn="ctr"/>
            <a:r>
              <a:rPr lang="en-US" sz="8800" dirty="0">
                <a:latin typeface="Times New Roman" panose="02020603050405020304" pitchFamily="18" charset="0"/>
                <a:cs typeface="Times New Roman" panose="02020603050405020304" pitchFamily="18" charset="0"/>
              </a:rPr>
              <a:t>Thank You</a:t>
            </a:r>
          </a:p>
          <a:p>
            <a:pPr algn="ctr"/>
            <a:r>
              <a:rPr lang="en-US" sz="6000" dirty="0">
                <a:latin typeface="Times New Roman" panose="02020603050405020304" pitchFamily="18" charset="0"/>
                <a:cs typeface="Times New Roman" panose="02020603050405020304" pitchFamily="18" charset="0"/>
              </a:rPr>
              <a:t>(Questions Are Welcome)</a:t>
            </a:r>
          </a:p>
        </p:txBody>
      </p: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03</a:t>
            </a:r>
          </a:p>
        </p:txBody>
      </p:sp>
    </p:spTree>
    <p:extLst>
      <p:ext uri="{BB962C8B-B14F-4D97-AF65-F5344CB8AC3E}">
        <p14:creationId xmlns:p14="http://schemas.microsoft.com/office/powerpoint/2010/main" val="25337945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61379382-e81e-4306-8f3c-e795af520f4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17510</TotalTime>
  <Words>981</Words>
  <Application>Microsoft Office PowerPoint</Application>
  <PresentationFormat>Widescreen</PresentationFormat>
  <Paragraphs>197</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Cambria Math</vt:lpstr>
      <vt:lpstr>Times New Roman</vt:lpstr>
      <vt:lpstr>Office Theme</vt:lpstr>
      <vt:lpstr> </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Electric Field</vt:lpstr>
      <vt:lpstr>The Electric Field</vt:lpstr>
      <vt:lpstr>Electric Field Lines</vt:lpstr>
      <vt:lpstr>The Electric Field Due to a Point Charge</vt:lpstr>
      <vt:lpstr>The Electric Field Due to a Point Charge</vt:lpstr>
      <vt:lpstr>The Electric Field Due to a Point Charge</vt:lpstr>
      <vt:lpstr>The Electric Field Due to a Point Charge</vt:lpstr>
      <vt:lpstr>The Electric Field Due to a Point Charge</vt:lpstr>
      <vt:lpstr>References</vt:lpstr>
      <vt:lpstr>PowerPoint Presentation</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Fawad</dc:creator>
  <cp:lastModifiedBy>Engr Asif Ali</cp:lastModifiedBy>
  <cp:revision>3864</cp:revision>
  <cp:lastPrinted>2019-02-14T05:58:33Z</cp:lastPrinted>
  <dcterms:created xsi:type="dcterms:W3CDTF">2018-08-18T08:19:07Z</dcterms:created>
  <dcterms:modified xsi:type="dcterms:W3CDTF">2024-03-04T19:35:01Z</dcterms:modified>
</cp:coreProperties>
</file>
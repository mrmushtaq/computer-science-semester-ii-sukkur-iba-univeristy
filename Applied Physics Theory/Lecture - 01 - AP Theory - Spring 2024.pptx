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6" r:id="rId2"/>
    <p:sldId id="1033" r:id="rId3"/>
    <p:sldId id="1021" r:id="rId4"/>
    <p:sldId id="1060" r:id="rId5"/>
    <p:sldId id="1061" r:id="rId6"/>
    <p:sldId id="1062" r:id="rId7"/>
    <p:sldId id="1059" r:id="rId8"/>
    <p:sldId id="1051" r:id="rId9"/>
    <p:sldId id="1052" r:id="rId10"/>
    <p:sldId id="1053" r:id="rId11"/>
    <p:sldId id="1054" r:id="rId12"/>
    <p:sldId id="1020" r:id="rId13"/>
    <p:sldId id="1056" r:id="rId14"/>
    <p:sldId id="1057" r:id="rId15"/>
    <p:sldId id="1023" r:id="rId16"/>
    <p:sldId id="1025" r:id="rId17"/>
    <p:sldId id="1058" r:id="rId18"/>
    <p:sldId id="1026" r:id="rId19"/>
    <p:sldId id="1040" r:id="rId20"/>
    <p:sldId id="1041" r:id="rId21"/>
    <p:sldId id="1042" r:id="rId22"/>
    <p:sldId id="1045" r:id="rId23"/>
    <p:sldId id="1048" r:id="rId24"/>
    <p:sldId id="678" r:id="rId25"/>
    <p:sldId id="105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4848"/>
    <a:srgbClr val="FFC000"/>
    <a:srgbClr val="FF0000"/>
    <a:srgbClr val="70AD47"/>
    <a:srgbClr val="FAFAFA"/>
    <a:srgbClr val="FFFFFF"/>
    <a:srgbClr val="E2F0D9"/>
    <a:srgbClr val="FBE5D6"/>
    <a:srgbClr val="D0CECE"/>
    <a:srgbClr val="73F1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91" autoAdjust="0"/>
    <p:restoredTop sz="96340" autoAdjust="0"/>
  </p:normalViewPr>
  <p:slideViewPr>
    <p:cSldViewPr snapToGrid="0">
      <p:cViewPr varScale="1">
        <p:scale>
          <a:sx n="111" d="100"/>
          <a:sy n="111" d="100"/>
        </p:scale>
        <p:origin x="930" y="102"/>
      </p:cViewPr>
      <p:guideLst/>
    </p:cSldViewPr>
  </p:slideViewPr>
  <p:notesTextViewPr>
    <p:cViewPr>
      <p:scale>
        <a:sx n="200" d="100"/>
        <a:sy n="200" d="100"/>
      </p:scale>
      <p:origin x="0" y="0"/>
    </p:cViewPr>
  </p:notesTextViewPr>
  <p:notesViewPr>
    <p:cSldViewPr snapToGrid="0">
      <p:cViewPr varScale="1">
        <p:scale>
          <a:sx n="67" d="100"/>
          <a:sy n="67" d="100"/>
        </p:scale>
        <p:origin x="312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D1AB2-1E52-4454-BCEE-9054C007360F}" type="datetimeFigureOut">
              <a:rPr lang="en-US" smtClean="0"/>
              <a:t>2/27/2024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D87E1-FBE1-4318-A64C-658158339758}" type="slidenum">
              <a:rPr lang="en-US" smtClean="0"/>
              <a:t>‹#›</a:t>
            </a:fld>
            <a:endParaRPr lang="en-US"/>
          </a:p>
        </p:txBody>
      </p:sp>
    </p:spTree>
    <p:extLst>
      <p:ext uri="{BB962C8B-B14F-4D97-AF65-F5344CB8AC3E}">
        <p14:creationId xmlns:p14="http://schemas.microsoft.com/office/powerpoint/2010/main" val="22865064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B5B66-5FF8-4871-9FDA-E245DCA4E581}" type="datetimeFigureOut">
              <a:rPr lang="en-US" smtClean="0"/>
              <a:t>2/27/2024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4D1CD0-B6EC-4FCC-A098-B065C4933AD6}" type="slidenum">
              <a:rPr lang="en-US" smtClean="0"/>
              <a:t>‹#›</a:t>
            </a:fld>
            <a:endParaRPr lang="en-US"/>
          </a:p>
        </p:txBody>
      </p:sp>
    </p:spTree>
    <p:extLst>
      <p:ext uri="{BB962C8B-B14F-4D97-AF65-F5344CB8AC3E}">
        <p14:creationId xmlns:p14="http://schemas.microsoft.com/office/powerpoint/2010/main" val="1511615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F4D1CD0-B6EC-4FCC-A098-B065C4933AD6}" type="slidenum">
              <a:rPr lang="en-US" smtClean="0"/>
              <a:t>1</a:t>
            </a:fld>
            <a:endParaRPr lang="en-US"/>
          </a:p>
        </p:txBody>
      </p:sp>
    </p:spTree>
    <p:extLst>
      <p:ext uri="{BB962C8B-B14F-4D97-AF65-F5344CB8AC3E}">
        <p14:creationId xmlns:p14="http://schemas.microsoft.com/office/powerpoint/2010/main" val="1962005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2</a:t>
            </a:fld>
            <a:endParaRPr lang="en-US"/>
          </a:p>
        </p:txBody>
      </p:sp>
    </p:spTree>
    <p:extLst>
      <p:ext uri="{BB962C8B-B14F-4D97-AF65-F5344CB8AC3E}">
        <p14:creationId xmlns:p14="http://schemas.microsoft.com/office/powerpoint/2010/main" val="1488953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3</a:t>
            </a:fld>
            <a:endParaRPr lang="en-US"/>
          </a:p>
        </p:txBody>
      </p:sp>
    </p:spTree>
    <p:extLst>
      <p:ext uri="{BB962C8B-B14F-4D97-AF65-F5344CB8AC3E}">
        <p14:creationId xmlns:p14="http://schemas.microsoft.com/office/powerpoint/2010/main" val="3865833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4</a:t>
            </a:fld>
            <a:endParaRPr lang="en-US"/>
          </a:p>
        </p:txBody>
      </p:sp>
    </p:spTree>
    <p:extLst>
      <p:ext uri="{BB962C8B-B14F-4D97-AF65-F5344CB8AC3E}">
        <p14:creationId xmlns:p14="http://schemas.microsoft.com/office/powerpoint/2010/main" val="3802843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5</a:t>
            </a:fld>
            <a:endParaRPr lang="en-US"/>
          </a:p>
        </p:txBody>
      </p:sp>
    </p:spTree>
    <p:extLst>
      <p:ext uri="{BB962C8B-B14F-4D97-AF65-F5344CB8AC3E}">
        <p14:creationId xmlns:p14="http://schemas.microsoft.com/office/powerpoint/2010/main" val="3522714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6</a:t>
            </a:fld>
            <a:endParaRPr lang="en-US"/>
          </a:p>
        </p:txBody>
      </p:sp>
    </p:spTree>
    <p:extLst>
      <p:ext uri="{BB962C8B-B14F-4D97-AF65-F5344CB8AC3E}">
        <p14:creationId xmlns:p14="http://schemas.microsoft.com/office/powerpoint/2010/main" val="592235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12</a:t>
            </a:fld>
            <a:endParaRPr lang="en-US"/>
          </a:p>
        </p:txBody>
      </p:sp>
    </p:spTree>
    <p:extLst>
      <p:ext uri="{BB962C8B-B14F-4D97-AF65-F5344CB8AC3E}">
        <p14:creationId xmlns:p14="http://schemas.microsoft.com/office/powerpoint/2010/main" val="1706984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15</a:t>
            </a:fld>
            <a:endParaRPr lang="en-US"/>
          </a:p>
        </p:txBody>
      </p:sp>
    </p:spTree>
    <p:extLst>
      <p:ext uri="{BB962C8B-B14F-4D97-AF65-F5344CB8AC3E}">
        <p14:creationId xmlns:p14="http://schemas.microsoft.com/office/powerpoint/2010/main" val="477052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16</a:t>
            </a:fld>
            <a:endParaRPr lang="en-US"/>
          </a:p>
        </p:txBody>
      </p:sp>
    </p:spTree>
    <p:extLst>
      <p:ext uri="{BB962C8B-B14F-4D97-AF65-F5344CB8AC3E}">
        <p14:creationId xmlns:p14="http://schemas.microsoft.com/office/powerpoint/2010/main" val="3154675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17</a:t>
            </a:fld>
            <a:endParaRPr lang="en-US"/>
          </a:p>
        </p:txBody>
      </p:sp>
    </p:spTree>
    <p:extLst>
      <p:ext uri="{BB962C8B-B14F-4D97-AF65-F5344CB8AC3E}">
        <p14:creationId xmlns:p14="http://schemas.microsoft.com/office/powerpoint/2010/main" val="2896831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18</a:t>
            </a:fld>
            <a:endParaRPr lang="en-US"/>
          </a:p>
        </p:txBody>
      </p:sp>
    </p:spTree>
    <p:extLst>
      <p:ext uri="{BB962C8B-B14F-4D97-AF65-F5344CB8AC3E}">
        <p14:creationId xmlns:p14="http://schemas.microsoft.com/office/powerpoint/2010/main" val="3924839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19</a:t>
            </a:fld>
            <a:endParaRPr lang="en-US"/>
          </a:p>
        </p:txBody>
      </p:sp>
    </p:spTree>
    <p:extLst>
      <p:ext uri="{BB962C8B-B14F-4D97-AF65-F5344CB8AC3E}">
        <p14:creationId xmlns:p14="http://schemas.microsoft.com/office/powerpoint/2010/main" val="2259735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20</a:t>
            </a:fld>
            <a:endParaRPr lang="en-US"/>
          </a:p>
        </p:txBody>
      </p:sp>
    </p:spTree>
    <p:extLst>
      <p:ext uri="{BB962C8B-B14F-4D97-AF65-F5344CB8AC3E}">
        <p14:creationId xmlns:p14="http://schemas.microsoft.com/office/powerpoint/2010/main" val="2592599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21</a:t>
            </a:fld>
            <a:endParaRPr lang="en-US"/>
          </a:p>
        </p:txBody>
      </p:sp>
    </p:spTree>
    <p:extLst>
      <p:ext uri="{BB962C8B-B14F-4D97-AF65-F5344CB8AC3E}">
        <p14:creationId xmlns:p14="http://schemas.microsoft.com/office/powerpoint/2010/main" val="2461582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22</a:t>
            </a:fld>
            <a:endParaRPr lang="en-US"/>
          </a:p>
        </p:txBody>
      </p:sp>
    </p:spTree>
    <p:extLst>
      <p:ext uri="{BB962C8B-B14F-4D97-AF65-F5344CB8AC3E}">
        <p14:creationId xmlns:p14="http://schemas.microsoft.com/office/powerpoint/2010/main" val="2466242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23</a:t>
            </a:fld>
            <a:endParaRPr lang="en-US"/>
          </a:p>
        </p:txBody>
      </p:sp>
    </p:spTree>
    <p:extLst>
      <p:ext uri="{BB962C8B-B14F-4D97-AF65-F5344CB8AC3E}">
        <p14:creationId xmlns:p14="http://schemas.microsoft.com/office/powerpoint/2010/main" val="17248233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t>24</a:t>
            </a:fld>
            <a:endParaRPr lang="en-US"/>
          </a:p>
        </p:txBody>
      </p:sp>
    </p:spTree>
    <p:extLst>
      <p:ext uri="{BB962C8B-B14F-4D97-AF65-F5344CB8AC3E}">
        <p14:creationId xmlns:p14="http://schemas.microsoft.com/office/powerpoint/2010/main" val="877215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CD9F5C8-980B-4153-9A81-0CA7AD338922}" type="datetime1">
              <a:rPr lang="en-US" smtClean="0"/>
              <a:t>2/27/2024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73708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A36914-E001-4052-8B78-7CC800F2A524}" type="datetime1">
              <a:rPr lang="en-US" smtClean="0"/>
              <a:t>2/27/2024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3891490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4E48D6-5D40-4487-825E-E32A08DEA8DB}" type="datetime1">
              <a:rPr lang="en-US" smtClean="0"/>
              <a:t>2/27/2024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3679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DB75972-FA09-4761-957D-7741E81AEC97}" type="datetime1">
              <a:rPr lang="en-US" smtClean="0"/>
              <a:t>2/27/2024</a:t>
            </a:fld>
            <a:endParaRPr lang="en-US"/>
          </a:p>
        </p:txBody>
      </p:sp>
      <p:sp>
        <p:nvSpPr>
          <p:cNvPr id="6" name="Footer Placeholder 5"/>
          <p:cNvSpPr>
            <a:spLocks noGrp="1"/>
          </p:cNvSpPr>
          <p:nvPr>
            <p:ph type="ftr" sz="quarter" idx="11"/>
          </p:nvPr>
        </p:nvSpPr>
        <p:spPr/>
        <p:txBody>
          <a:bodyPr/>
          <a:lstStyle/>
          <a:p>
            <a:r>
              <a:rPr lang="en-US"/>
              <a:t>Department of Electrical Engineering</a:t>
            </a:r>
          </a:p>
        </p:txBody>
      </p:sp>
      <p:sp>
        <p:nvSpPr>
          <p:cNvPr id="7" name="Slide Number Placeholder 6"/>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32220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C21059-D645-4EBA-ABF5-B0F4E5F12AEB}" type="datetime1">
              <a:rPr lang="en-US" smtClean="0"/>
              <a:t>2/27/2024</a:t>
            </a:fld>
            <a:endParaRPr lang="en-US"/>
          </a:p>
        </p:txBody>
      </p:sp>
      <p:sp>
        <p:nvSpPr>
          <p:cNvPr id="8" name="Footer Placeholder 7"/>
          <p:cNvSpPr>
            <a:spLocks noGrp="1"/>
          </p:cNvSpPr>
          <p:nvPr>
            <p:ph type="ftr" sz="quarter" idx="11"/>
          </p:nvPr>
        </p:nvSpPr>
        <p:spPr/>
        <p:txBody>
          <a:bodyPr/>
          <a:lstStyle/>
          <a:p>
            <a:r>
              <a:rPr lang="en-US"/>
              <a:t>Department of Electrical Engineering</a:t>
            </a:r>
          </a:p>
        </p:txBody>
      </p:sp>
      <p:sp>
        <p:nvSpPr>
          <p:cNvPr id="9" name="Slide Number Placeholder 8"/>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060542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9594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B44E02-239A-4F53-A42C-C9964CFEC0BE}" type="datetime1">
              <a:rPr lang="en-US" smtClean="0"/>
              <a:t>2/27/2024</a:t>
            </a:fld>
            <a:endParaRPr lang="en-US"/>
          </a:p>
        </p:txBody>
      </p:sp>
      <p:sp>
        <p:nvSpPr>
          <p:cNvPr id="3" name="Footer Placeholder 2"/>
          <p:cNvSpPr>
            <a:spLocks noGrp="1"/>
          </p:cNvSpPr>
          <p:nvPr>
            <p:ph type="ftr" sz="quarter" idx="11"/>
          </p:nvPr>
        </p:nvSpPr>
        <p:spPr/>
        <p:txBody>
          <a:bodyPr/>
          <a:lstStyle/>
          <a:p>
            <a:r>
              <a:rPr lang="en-US"/>
              <a:t>Department of Electrical Engineering</a:t>
            </a:r>
          </a:p>
        </p:txBody>
      </p:sp>
      <p:sp>
        <p:nvSpPr>
          <p:cNvPr id="4" name="Slide Number Placeholder 3"/>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225237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BC54A9-984B-48B6-8C13-84263C80F923}" type="datetime1">
              <a:rPr lang="en-US" smtClean="0"/>
              <a:t>2/27/2024</a:t>
            </a:fld>
            <a:endParaRPr lang="en-US"/>
          </a:p>
        </p:txBody>
      </p:sp>
      <p:sp>
        <p:nvSpPr>
          <p:cNvPr id="6" name="Footer Placeholder 5"/>
          <p:cNvSpPr>
            <a:spLocks noGrp="1"/>
          </p:cNvSpPr>
          <p:nvPr>
            <p:ph type="ftr" sz="quarter" idx="11"/>
          </p:nvPr>
        </p:nvSpPr>
        <p:spPr/>
        <p:txBody>
          <a:bodyPr/>
          <a:lstStyle/>
          <a:p>
            <a:r>
              <a:rPr lang="en-US"/>
              <a:t>Department of Electrical Engineering</a:t>
            </a:r>
          </a:p>
        </p:txBody>
      </p:sp>
      <p:sp>
        <p:nvSpPr>
          <p:cNvPr id="7" name="Slide Number Placeholder 6"/>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2333722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696741-07AF-4A59-AB29-CFC90116DA55}" type="datetime1">
              <a:rPr lang="en-US" smtClean="0"/>
              <a:t>2/27/2024</a:t>
            </a:fld>
            <a:endParaRPr lang="en-US"/>
          </a:p>
        </p:txBody>
      </p:sp>
      <p:sp>
        <p:nvSpPr>
          <p:cNvPr id="6" name="Footer Placeholder 5"/>
          <p:cNvSpPr>
            <a:spLocks noGrp="1"/>
          </p:cNvSpPr>
          <p:nvPr>
            <p:ph type="ftr" sz="quarter" idx="11"/>
          </p:nvPr>
        </p:nvSpPr>
        <p:spPr/>
        <p:txBody>
          <a:bodyPr/>
          <a:lstStyle/>
          <a:p>
            <a:r>
              <a:rPr lang="en-US"/>
              <a:t>Department of Electrical Engineering</a:t>
            </a:r>
          </a:p>
        </p:txBody>
      </p:sp>
      <p:sp>
        <p:nvSpPr>
          <p:cNvPr id="7" name="Slide Number Placeholder 6"/>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4267416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9F9E5-283D-40CA-8916-DC8411ABDFAD}" type="datetime1">
              <a:rPr lang="en-US" smtClean="0"/>
              <a:t>2/27/2024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58454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8CCD2E-81D9-4BFC-BFEA-F47D2929F778}" type="datetime1">
              <a:rPr lang="en-US" smtClean="0"/>
              <a:t>2/27/2024</a:t>
            </a:fld>
            <a:endParaRPr lang="en-US"/>
          </a:p>
        </p:txBody>
      </p:sp>
      <p:sp>
        <p:nvSpPr>
          <p:cNvPr id="5" name="Footer Placeholder 4"/>
          <p:cNvSpPr>
            <a:spLocks noGrp="1"/>
          </p:cNvSpPr>
          <p:nvPr>
            <p:ph type="ftr" sz="quarter" idx="11"/>
          </p:nvPr>
        </p:nvSpPr>
        <p:spPr/>
        <p:txBody>
          <a:bodyPr/>
          <a:lstStyle/>
          <a:p>
            <a:r>
              <a:rPr lang="en-US"/>
              <a:t>Department of Electrical Engineering</a:t>
            </a:r>
          </a:p>
        </p:txBody>
      </p:sp>
      <p:sp>
        <p:nvSpPr>
          <p:cNvPr id="6" name="Slide Number Placeholder 5"/>
          <p:cNvSpPr>
            <a:spLocks noGrp="1"/>
          </p:cNvSpPr>
          <p:nvPr>
            <p:ph type="sldNum" sz="quarter" idx="12"/>
          </p:nvPr>
        </p:nvSpPr>
        <p:spPr/>
        <p:txBody>
          <a:bodyPr/>
          <a:lstStyle/>
          <a:p>
            <a:fld id="{613F66FA-1D38-4225-99EF-DA3E159AA041}" type="slidenum">
              <a:rPr lang="en-US" smtClean="0"/>
              <a:t>‹#›</a:t>
            </a:fld>
            <a:endParaRPr lang="en-US"/>
          </a:p>
        </p:txBody>
      </p:sp>
    </p:spTree>
    <p:extLst>
      <p:ext uri="{BB962C8B-B14F-4D97-AF65-F5344CB8AC3E}">
        <p14:creationId xmlns:p14="http://schemas.microsoft.com/office/powerpoint/2010/main" val="57894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CFB06-B06C-47B1-BCD5-EB6FF6D01F51}" type="datetime1">
              <a:rPr lang="en-US" smtClean="0"/>
              <a:t>2/27/2024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Electrical Engineering</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3F66FA-1D38-4225-99EF-DA3E159AA041}" type="slidenum">
              <a:rPr lang="en-US" smtClean="0"/>
              <a:t>‹#›</a:t>
            </a:fld>
            <a:endParaRPr lang="en-US"/>
          </a:p>
        </p:txBody>
      </p:sp>
    </p:spTree>
    <p:extLst>
      <p:ext uri="{BB962C8B-B14F-4D97-AF65-F5344CB8AC3E}">
        <p14:creationId xmlns:p14="http://schemas.microsoft.com/office/powerpoint/2010/main" val="184094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6.xml"/><Relationship Id="rId7" Type="http://schemas.openxmlformats.org/officeDocument/2006/relationships/image" Target="../media/image4.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jpeg"/><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w_ZqTGxtHrk" TargetMode="External"/><Relationship Id="rId2" Type="http://schemas.openxmlformats.org/officeDocument/2006/relationships/hyperlink" Target="https://www.youtube.com/watch?v=gxpl2J6EdIk" TargetMode="External"/><Relationship Id="rId1" Type="http://schemas.openxmlformats.org/officeDocument/2006/relationships/slideLayout" Target="../slideLayouts/slideLayout2.xml"/><Relationship Id="rId4" Type="http://schemas.openxmlformats.org/officeDocument/2006/relationships/hyperlink" Target="https://www.youtube.com/watch?v=iHBNWiHJaQ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801504" y="375373"/>
            <a:ext cx="9962865" cy="446244"/>
          </a:xfrm>
        </p:spPr>
        <p:txBody>
          <a:bodyPr>
            <a:normAutofit fontScale="90000"/>
          </a:bodyPr>
          <a:lstStyle/>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cxnSp>
        <p:nvCxnSpPr>
          <p:cNvPr id="14" name="Straight Connector 13"/>
          <p:cNvCxnSpPr/>
          <p:nvPr/>
        </p:nvCxnSpPr>
        <p:spPr>
          <a:xfrm flipV="1">
            <a:off x="0" y="638013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1</a:t>
            </a:fld>
            <a:endParaRPr lang="en-US" dirty="0"/>
          </a:p>
        </p:txBody>
      </p:sp>
      <p:pic>
        <p:nvPicPr>
          <p:cNvPr id="11" name="Picture 10"/>
          <p:cNvPicPr/>
          <p:nvPr/>
        </p:nvPicPr>
        <p:blipFill>
          <a:blip r:embed="rId3">
            <a:extLst>
              <a:ext uri="{28A0092B-C50C-407E-A947-70E740481C1C}">
                <a14:useLocalDpi xmlns:a14="http://schemas.microsoft.com/office/drawing/2010/main" val="0"/>
              </a:ext>
            </a:extLst>
          </a:blip>
          <a:stretch>
            <a:fillRect/>
          </a:stretch>
        </p:blipFill>
        <p:spPr>
          <a:xfrm>
            <a:off x="10523549" y="0"/>
            <a:ext cx="1660501" cy="1196990"/>
          </a:xfrm>
          <a:prstGeom prst="rect">
            <a:avLst/>
          </a:prstGeom>
        </p:spPr>
      </p:pic>
      <p:sp>
        <p:nvSpPr>
          <p:cNvPr id="12" name="Title 1"/>
          <p:cNvSpPr txBox="1">
            <a:spLocks/>
          </p:cNvSpPr>
          <p:nvPr/>
        </p:nvSpPr>
        <p:spPr>
          <a:xfrm>
            <a:off x="3067790" y="1433848"/>
            <a:ext cx="6048470" cy="1825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Lecture – 01</a:t>
            </a:r>
          </a:p>
          <a:p>
            <a:pPr algn="ctr"/>
            <a:r>
              <a:rPr lang="en-US" b="1" dirty="0" smtClean="0">
                <a:latin typeface="Times New Roman" panose="02020603050405020304" pitchFamily="18" charset="0"/>
                <a:cs typeface="Times New Roman" panose="02020603050405020304" pitchFamily="18" charset="0"/>
              </a:rPr>
              <a:t>Introduction and </a:t>
            </a:r>
            <a:endParaRPr lang="en-US" b="1" dirty="0">
              <a:latin typeface="Times New Roman" panose="02020603050405020304" pitchFamily="18" charset="0"/>
              <a:cs typeface="Times New Roman" panose="02020603050405020304" pitchFamily="18" charset="0"/>
            </a:endParaRPr>
          </a:p>
          <a:p>
            <a:pPr algn="ctr"/>
            <a:r>
              <a:rPr lang="en-US" b="1" dirty="0" smtClean="0">
                <a:latin typeface="Times New Roman" panose="02020603050405020304" pitchFamily="18" charset="0"/>
                <a:cs typeface="Times New Roman" panose="02020603050405020304" pitchFamily="18" charset="0"/>
              </a:rPr>
              <a:t>Coulomb’s Law</a:t>
            </a:r>
            <a:endParaRPr lang="en-US" sz="3600" b="1" dirty="0">
              <a:latin typeface="Times New Roman" panose="02020603050405020304" pitchFamily="18" charset="0"/>
              <a:cs typeface="Times New Roman" panose="02020603050405020304" pitchFamily="18" charset="0"/>
            </a:endParaRPr>
          </a:p>
        </p:txBody>
      </p:sp>
      <p:sp>
        <p:nvSpPr>
          <p:cNvPr id="13" name="Subtitle 2"/>
          <p:cNvSpPr txBox="1">
            <a:spLocks/>
          </p:cNvSpPr>
          <p:nvPr/>
        </p:nvSpPr>
        <p:spPr>
          <a:xfrm>
            <a:off x="1515316" y="4307970"/>
            <a:ext cx="9128394" cy="188650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500" b="1" dirty="0" smtClean="0">
                <a:latin typeface="Times New Roman" panose="02020603050405020304" pitchFamily="18" charset="0"/>
                <a:cs typeface="Times New Roman" panose="02020603050405020304" pitchFamily="18" charset="0"/>
              </a:rPr>
              <a:t>By: Engr</a:t>
            </a:r>
            <a:r>
              <a:rPr lang="en-US" sz="3500" b="1" dirty="0">
                <a:latin typeface="Times New Roman" panose="02020603050405020304" pitchFamily="18" charset="0"/>
                <a:cs typeface="Times New Roman" panose="02020603050405020304" pitchFamily="18" charset="0"/>
              </a:rPr>
              <a:t>. </a:t>
            </a:r>
            <a:r>
              <a:rPr lang="en-US" sz="3500" b="1" dirty="0" smtClean="0">
                <a:latin typeface="Times New Roman" panose="02020603050405020304" pitchFamily="18" charset="0"/>
                <a:cs typeface="Times New Roman" panose="02020603050405020304" pitchFamily="18" charset="0"/>
              </a:rPr>
              <a:t>Asif Ali</a:t>
            </a:r>
            <a:endParaRPr lang="en-US" sz="3500" b="1" dirty="0">
              <a:latin typeface="Times New Roman" panose="02020603050405020304" pitchFamily="18" charset="0"/>
              <a:cs typeface="Times New Roman" panose="02020603050405020304" pitchFamily="18" charset="0"/>
            </a:endParaRPr>
          </a:p>
          <a:p>
            <a:pPr marL="0" indent="0" algn="ctr">
              <a:buNone/>
            </a:pPr>
            <a:endParaRPr lang="en-US" sz="2400" b="1" dirty="0">
              <a:latin typeface="Times New Roman" panose="02020603050405020304" pitchFamily="18" charset="0"/>
              <a:cs typeface="Times New Roman" panose="02020603050405020304" pitchFamily="18" charset="0"/>
            </a:endParaRPr>
          </a:p>
        </p:txBody>
      </p:sp>
      <p:sp>
        <p:nvSpPr>
          <p:cNvPr id="17" name="Title 1"/>
          <p:cNvSpPr txBox="1">
            <a:spLocks/>
          </p:cNvSpPr>
          <p:nvPr/>
        </p:nvSpPr>
        <p:spPr>
          <a:xfrm>
            <a:off x="2847509" y="223210"/>
            <a:ext cx="6489031" cy="7505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Applied Physics</a:t>
            </a:r>
          </a:p>
          <a:p>
            <a:pPr algn="ctr"/>
            <a:r>
              <a:rPr lang="en-US" sz="1800" b="1" dirty="0">
                <a:latin typeface="Times New Roman" panose="02020603050405020304" pitchFamily="18" charset="0"/>
                <a:cs typeface="Times New Roman" panose="02020603050405020304" pitchFamily="18" charset="0"/>
              </a:rPr>
              <a:t>(Computer Science Department)</a:t>
            </a:r>
          </a:p>
        </p:txBody>
      </p:sp>
      <p:pic>
        <p:nvPicPr>
          <p:cNvPr id="19" name="Picture 18"/>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Footer Placeholder 14"/>
          <p:cNvSpPr txBox="1">
            <a:spLocks/>
          </p:cNvSpPr>
          <p:nvPr/>
        </p:nvSpPr>
        <p:spPr>
          <a:xfrm>
            <a:off x="4253470" y="6410941"/>
            <a:ext cx="4090999"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i="1" dirty="0">
                <a:solidFill>
                  <a:schemeClr val="accent1">
                    <a:lumMod val="50000"/>
                  </a:schemeClr>
                </a:solidFill>
                <a:latin typeface="Times New Roman" panose="02020603050405020304" pitchFamily="18" charset="0"/>
                <a:cs typeface="Times New Roman" panose="02020603050405020304" pitchFamily="18" charset="0"/>
              </a:rPr>
              <a:t>Engr. </a:t>
            </a:r>
            <a:r>
              <a:rPr lang="en-US" sz="1600" i="1" dirty="0" smtClean="0">
                <a:solidFill>
                  <a:schemeClr val="accent1">
                    <a:lumMod val="50000"/>
                  </a:schemeClr>
                </a:solidFill>
                <a:latin typeface="Times New Roman" panose="02020603050405020304" pitchFamily="18" charset="0"/>
                <a:cs typeface="Times New Roman" panose="02020603050405020304" pitchFamily="18" charset="0"/>
              </a:rPr>
              <a:t>Asif Ali</a:t>
            </a:r>
            <a:endParaRPr lang="en-US" sz="1600" i="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1"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Tree>
    <p:extLst>
      <p:ext uri="{BB962C8B-B14F-4D97-AF65-F5344CB8AC3E}">
        <p14:creationId xmlns:p14="http://schemas.microsoft.com/office/powerpoint/2010/main" val="6389068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r>
              <a:rPr lang="en-US" sz="3000" dirty="0"/>
              <a:t>Agenda</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2</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377709" y="1305230"/>
            <a:ext cx="11238186" cy="3416320"/>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solidFill>
                  <a:srgbClr val="282625"/>
                </a:solidFill>
                <a:latin typeface="+mj-lt"/>
              </a:rPr>
              <a:t>Theory Outline</a:t>
            </a:r>
          </a:p>
          <a:p>
            <a:pPr marL="285750" indent="-285750" algn="just">
              <a:buFont typeface="Arial" panose="020B0604020202020204" pitchFamily="34" charset="0"/>
              <a:buChar char="•"/>
            </a:pPr>
            <a:endParaRPr lang="en-US" sz="2400" dirty="0">
              <a:solidFill>
                <a:srgbClr val="282625"/>
              </a:solidFill>
              <a:latin typeface="+mj-lt"/>
            </a:endParaRPr>
          </a:p>
          <a:p>
            <a:pPr marL="285750" indent="-285750" algn="just">
              <a:buFont typeface="Arial" panose="020B0604020202020204" pitchFamily="34" charset="0"/>
              <a:buChar char="•"/>
            </a:pPr>
            <a:r>
              <a:rPr lang="en-US" sz="2400" dirty="0">
                <a:solidFill>
                  <a:srgbClr val="282625"/>
                </a:solidFill>
                <a:latin typeface="+mj-lt"/>
              </a:rPr>
              <a:t>Basics of Physics</a:t>
            </a:r>
          </a:p>
          <a:p>
            <a:pPr marL="285750" indent="-285750" algn="just">
              <a:buFont typeface="Arial" panose="020B0604020202020204" pitchFamily="34" charset="0"/>
              <a:buChar char="•"/>
            </a:pPr>
            <a:endParaRPr lang="en-US" sz="2400" dirty="0">
              <a:solidFill>
                <a:srgbClr val="282625"/>
              </a:solidFill>
              <a:latin typeface="+mj-lt"/>
            </a:endParaRPr>
          </a:p>
          <a:p>
            <a:pPr marL="285750" indent="-285750" algn="just">
              <a:buFont typeface="Arial" panose="020B0604020202020204" pitchFamily="34" charset="0"/>
              <a:buChar char="•"/>
            </a:pPr>
            <a:r>
              <a:rPr lang="en-US" sz="2400" dirty="0">
                <a:solidFill>
                  <a:srgbClr val="282625"/>
                </a:solidFill>
                <a:latin typeface="+mj-lt"/>
              </a:rPr>
              <a:t>Electric Charge</a:t>
            </a:r>
          </a:p>
          <a:p>
            <a:pPr marL="285750" indent="-285750" algn="just">
              <a:buFont typeface="Arial" panose="020B0604020202020204" pitchFamily="34" charset="0"/>
              <a:buChar char="•"/>
            </a:pPr>
            <a:endParaRPr lang="en-US" sz="2400" dirty="0">
              <a:solidFill>
                <a:srgbClr val="282625"/>
              </a:solidFill>
              <a:latin typeface="+mj-lt"/>
            </a:endParaRPr>
          </a:p>
          <a:p>
            <a:pPr marL="285750" indent="-285750" algn="just">
              <a:buFont typeface="Arial" panose="020B0604020202020204" pitchFamily="34" charset="0"/>
              <a:buChar char="•"/>
            </a:pPr>
            <a:r>
              <a:rPr lang="en-US" sz="2400" dirty="0">
                <a:solidFill>
                  <a:srgbClr val="282625"/>
                </a:solidFill>
                <a:latin typeface="+mj-lt"/>
              </a:rPr>
              <a:t>Conductors and Insulators</a:t>
            </a:r>
          </a:p>
          <a:p>
            <a:pPr marL="285750" indent="-285750" algn="just">
              <a:buFont typeface="Arial" panose="020B0604020202020204" pitchFamily="34" charset="0"/>
              <a:buChar char="•"/>
            </a:pPr>
            <a:endParaRPr lang="en-US" sz="2400" dirty="0">
              <a:solidFill>
                <a:srgbClr val="282625"/>
              </a:solidFill>
              <a:latin typeface="+mj-lt"/>
            </a:endParaRPr>
          </a:p>
          <a:p>
            <a:pPr marL="285750" indent="-285750" algn="just">
              <a:buFont typeface="Arial" panose="020B0604020202020204" pitchFamily="34" charset="0"/>
              <a:buChar char="•"/>
            </a:pPr>
            <a:r>
              <a:rPr lang="en-US" sz="2400" dirty="0"/>
              <a:t>Coulomb’s Law</a:t>
            </a:r>
            <a:endParaRPr lang="en-US" sz="2400" dirty="0">
              <a:latin typeface="+mj-lt"/>
            </a:endParaRPr>
          </a:p>
        </p:txBody>
      </p:sp>
    </p:spTree>
    <p:extLst>
      <p:ext uri="{BB962C8B-B14F-4D97-AF65-F5344CB8AC3E}">
        <p14:creationId xmlns:p14="http://schemas.microsoft.com/office/powerpoint/2010/main" val="337751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2" end="2"/>
                                            </p:txEl>
                                          </p:spTgt>
                                        </p:tgtEl>
                                        <p:attrNameLst>
                                          <p:attrName>style.visibility</p:attrName>
                                        </p:attrNameLst>
                                      </p:cBhvr>
                                      <p:to>
                                        <p:strVal val="visible"/>
                                      </p:to>
                                    </p:set>
                                    <p:animEffect transition="in" filter="fade">
                                      <p:cBhvr>
                                        <p:cTn id="14" dur="1000"/>
                                        <p:tgtEl>
                                          <p:spTgt spid="138">
                                            <p:txEl>
                                              <p:pRg st="2" end="2"/>
                                            </p:txEl>
                                          </p:spTgt>
                                        </p:tgtEl>
                                      </p:cBhvr>
                                    </p:animEffect>
                                    <p:anim calcmode="lin" valueType="num">
                                      <p:cBhvr>
                                        <p:cTn id="15"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
                                            <p:txEl>
                                              <p:pRg st="4" end="4"/>
                                            </p:txEl>
                                          </p:spTgt>
                                        </p:tgtEl>
                                        <p:attrNameLst>
                                          <p:attrName>style.visibility</p:attrName>
                                        </p:attrNameLst>
                                      </p:cBhvr>
                                      <p:to>
                                        <p:strVal val="visible"/>
                                      </p:to>
                                    </p:set>
                                    <p:animEffect transition="in" filter="fade">
                                      <p:cBhvr>
                                        <p:cTn id="21" dur="1000"/>
                                        <p:tgtEl>
                                          <p:spTgt spid="138">
                                            <p:txEl>
                                              <p:pRg st="4" end="4"/>
                                            </p:txEl>
                                          </p:spTgt>
                                        </p:tgtEl>
                                      </p:cBhvr>
                                    </p:animEffect>
                                    <p:anim calcmode="lin" valueType="num">
                                      <p:cBhvr>
                                        <p:cTn id="22"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8">
                                            <p:txEl>
                                              <p:pRg st="6" end="6"/>
                                            </p:txEl>
                                          </p:spTgt>
                                        </p:tgtEl>
                                        <p:attrNameLst>
                                          <p:attrName>style.visibility</p:attrName>
                                        </p:attrNameLst>
                                      </p:cBhvr>
                                      <p:to>
                                        <p:strVal val="visible"/>
                                      </p:to>
                                    </p:set>
                                    <p:animEffect transition="in" filter="fade">
                                      <p:cBhvr>
                                        <p:cTn id="28" dur="1000"/>
                                        <p:tgtEl>
                                          <p:spTgt spid="138">
                                            <p:txEl>
                                              <p:pRg st="6" end="6"/>
                                            </p:txEl>
                                          </p:spTgt>
                                        </p:tgtEl>
                                      </p:cBhvr>
                                    </p:animEffect>
                                    <p:anim calcmode="lin" valueType="num">
                                      <p:cBhvr>
                                        <p:cTn id="29" dur="1000" fill="hold"/>
                                        <p:tgtEl>
                                          <p:spTgt spid="138">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8">
                                            <p:txEl>
                                              <p:pRg st="8" end="8"/>
                                            </p:txEl>
                                          </p:spTgt>
                                        </p:tgtEl>
                                        <p:attrNameLst>
                                          <p:attrName>style.visibility</p:attrName>
                                        </p:attrNameLst>
                                      </p:cBhvr>
                                      <p:to>
                                        <p:strVal val="visible"/>
                                      </p:to>
                                    </p:set>
                                    <p:animEffect transition="in" filter="fade">
                                      <p:cBhvr>
                                        <p:cTn id="35" dur="1000"/>
                                        <p:tgtEl>
                                          <p:spTgt spid="138">
                                            <p:txEl>
                                              <p:pRg st="8" end="8"/>
                                            </p:txEl>
                                          </p:spTgt>
                                        </p:tgtEl>
                                      </p:cBhvr>
                                    </p:animEffect>
                                    <p:anim calcmode="lin" valueType="num">
                                      <p:cBhvr>
                                        <p:cTn id="36" dur="1000" fill="hold"/>
                                        <p:tgtEl>
                                          <p:spTgt spid="138">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13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Theory Outline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3</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graphicFrame>
        <p:nvGraphicFramePr>
          <p:cNvPr id="2" name="Table 1"/>
          <p:cNvGraphicFramePr>
            <a:graphicFrameLocks noGrp="1"/>
          </p:cNvGraphicFramePr>
          <p:nvPr>
            <p:extLst>
              <p:ext uri="{D42A27DB-BD31-4B8C-83A1-F6EECF244321}">
                <p14:modId xmlns:p14="http://schemas.microsoft.com/office/powerpoint/2010/main" val="3273623537"/>
              </p:ext>
            </p:extLst>
          </p:nvPr>
        </p:nvGraphicFramePr>
        <p:xfrm>
          <a:off x="1540491" y="1659946"/>
          <a:ext cx="10346709" cy="4297680"/>
        </p:xfrm>
        <a:graphic>
          <a:graphicData uri="http://schemas.openxmlformats.org/drawingml/2006/table">
            <a:tbl>
              <a:tblPr firstRow="1" bandRow="1">
                <a:tableStyleId>{5C22544A-7EE6-4342-B048-85BDC9FD1C3A}</a:tableStyleId>
              </a:tblPr>
              <a:tblGrid>
                <a:gridCol w="2069342"/>
                <a:gridCol w="1415634"/>
                <a:gridCol w="3400370"/>
                <a:gridCol w="1691557"/>
                <a:gridCol w="1769806"/>
              </a:tblGrid>
              <a:tr h="758789">
                <a:tc>
                  <a:txBody>
                    <a:bodyPr/>
                    <a:lstStyle/>
                    <a:p>
                      <a:r>
                        <a:rPr lang="en-US" dirty="0" smtClean="0"/>
                        <a:t>Session</a:t>
                      </a:r>
                      <a:r>
                        <a:rPr lang="en-US" baseline="0" dirty="0" smtClean="0"/>
                        <a:t> No</a:t>
                      </a:r>
                      <a:endParaRPr lang="en-US" dirty="0"/>
                    </a:p>
                  </a:txBody>
                  <a:tcPr/>
                </a:tc>
                <a:tc>
                  <a:txBody>
                    <a:bodyPr/>
                    <a:lstStyle/>
                    <a:p>
                      <a:r>
                        <a:rPr lang="en-US" dirty="0" smtClean="0"/>
                        <a:t>Week</a:t>
                      </a:r>
                      <a:endParaRPr lang="en-US" dirty="0"/>
                    </a:p>
                  </a:txBody>
                  <a:tcPr/>
                </a:tc>
                <a:tc>
                  <a:txBody>
                    <a:bodyPr/>
                    <a:lstStyle/>
                    <a:p>
                      <a:r>
                        <a:rPr lang="en-US" dirty="0" smtClean="0"/>
                        <a:t>Topics</a:t>
                      </a:r>
                      <a:endParaRPr lang="en-US" dirty="0"/>
                    </a:p>
                  </a:txBody>
                  <a:tcPr/>
                </a:tc>
                <a:tc>
                  <a:txBody>
                    <a:bodyPr/>
                    <a:lstStyle/>
                    <a:p>
                      <a:r>
                        <a:rPr lang="en-US" dirty="0" smtClean="0"/>
                        <a:t>Assignments / Quizzes</a:t>
                      </a:r>
                      <a:r>
                        <a:rPr lang="en-US" baseline="0" dirty="0" smtClean="0"/>
                        <a:t> / Digital Library Work</a:t>
                      </a:r>
                      <a:endParaRPr lang="en-US" dirty="0"/>
                    </a:p>
                  </a:txBody>
                  <a:tcPr/>
                </a:tc>
                <a:tc>
                  <a:txBody>
                    <a:bodyPr/>
                    <a:lstStyle/>
                    <a:p>
                      <a:r>
                        <a:rPr lang="en-US" dirty="0" smtClean="0"/>
                        <a:t>Suggested Readings</a:t>
                      </a:r>
                      <a:endParaRPr lang="en-US" dirty="0"/>
                    </a:p>
                  </a:txBody>
                  <a:tcPr/>
                </a:tc>
              </a:tr>
              <a:tr h="758789">
                <a:tc>
                  <a:txBody>
                    <a:bodyPr/>
                    <a:lstStyle/>
                    <a:p>
                      <a:r>
                        <a:rPr lang="en-US" dirty="0" smtClean="0"/>
                        <a:t>01-06</a:t>
                      </a:r>
                      <a:endParaRPr lang="en-US" dirty="0"/>
                    </a:p>
                  </a:txBody>
                  <a:tcPr/>
                </a:tc>
                <a:tc>
                  <a:txBody>
                    <a:bodyPr/>
                    <a:lstStyle/>
                    <a:p>
                      <a:r>
                        <a:rPr lang="en-US" dirty="0" smtClean="0"/>
                        <a:t>03</a:t>
                      </a:r>
                      <a:endParaRPr lang="en-US" dirty="0"/>
                    </a:p>
                  </a:txBody>
                  <a:tcPr/>
                </a:tc>
                <a:tc>
                  <a:txBody>
                    <a:bodyPr/>
                    <a:lstStyle/>
                    <a:p>
                      <a:r>
                        <a:rPr lang="en-US" sz="1800" kern="1200" dirty="0" smtClean="0">
                          <a:solidFill>
                            <a:schemeClr val="dk1"/>
                          </a:solidFill>
                          <a:effectLst/>
                          <a:latin typeface="+mn-lt"/>
                          <a:ea typeface="+mn-ea"/>
                          <a:cs typeface="+mn-cs"/>
                        </a:rPr>
                        <a:t>Series Parallel Resistors &amp; Capacitors, Voltage Divider, Current Divider</a:t>
                      </a:r>
                    </a:p>
                    <a:p>
                      <a:r>
                        <a:rPr lang="en-US" sz="1800" kern="1200" dirty="0" smtClean="0">
                          <a:solidFill>
                            <a:schemeClr val="dk1"/>
                          </a:solidFill>
                          <a:effectLst/>
                          <a:latin typeface="+mn-lt"/>
                          <a:ea typeface="+mn-ea"/>
                          <a:cs typeface="+mn-cs"/>
                        </a:rPr>
                        <a:t>Electric Current, energy transfer in an electric circuit. </a:t>
                      </a:r>
                    </a:p>
                    <a:p>
                      <a:r>
                        <a:rPr lang="en-US" sz="1800" kern="1200" dirty="0" smtClean="0">
                          <a:solidFill>
                            <a:schemeClr val="dk1"/>
                          </a:solidFill>
                          <a:effectLst/>
                          <a:latin typeface="+mn-lt"/>
                          <a:ea typeface="+mn-ea"/>
                          <a:cs typeface="+mn-cs"/>
                        </a:rPr>
                        <a:t>Use of Kirchhoff's </a:t>
                      </a:r>
                      <a:r>
                        <a:rPr lang="en-US" sz="1800" kern="1200" dirty="0" err="1" smtClean="0">
                          <a:solidFill>
                            <a:schemeClr val="dk1"/>
                          </a:solidFill>
                          <a:effectLst/>
                          <a:latin typeface="+mn-lt"/>
                          <a:ea typeface="+mn-ea"/>
                          <a:cs typeface="+mn-cs"/>
                        </a:rPr>
                        <a:t>Ist</a:t>
                      </a:r>
                      <a:r>
                        <a:rPr lang="en-US" sz="1800" kern="1200" dirty="0" smtClean="0">
                          <a:solidFill>
                            <a:schemeClr val="dk1"/>
                          </a:solidFill>
                          <a:effectLst/>
                          <a:latin typeface="+mn-lt"/>
                          <a:ea typeface="+mn-ea"/>
                          <a:cs typeface="+mn-cs"/>
                        </a:rPr>
                        <a:t> &amp; 2nd law, capacitance, dielectrics. </a:t>
                      </a:r>
                    </a:p>
                    <a:p>
                      <a:r>
                        <a:rPr lang="en-US" sz="1800" kern="1200" dirty="0" smtClean="0">
                          <a:solidFill>
                            <a:schemeClr val="dk1"/>
                          </a:solidFill>
                          <a:effectLst/>
                          <a:latin typeface="+mn-lt"/>
                          <a:ea typeface="+mn-ea"/>
                          <a:cs typeface="+mn-cs"/>
                        </a:rPr>
                        <a:t>Growth and Decay of voltage in an RC circuit. </a:t>
                      </a:r>
                    </a:p>
                    <a:p>
                      <a:r>
                        <a:rPr lang="en-US" sz="1800" kern="1200" dirty="0" smtClean="0">
                          <a:solidFill>
                            <a:schemeClr val="dk1"/>
                          </a:solidFill>
                          <a:effectLst/>
                          <a:latin typeface="+mn-lt"/>
                          <a:ea typeface="+mn-ea"/>
                          <a:cs typeface="+mn-cs"/>
                        </a:rPr>
                        <a:t>Solve numerical problems involving topics covered</a:t>
                      </a:r>
                      <a:endParaRPr lang="en-US" dirty="0"/>
                    </a:p>
                  </a:txBody>
                  <a:tcPr/>
                </a:tc>
                <a:tc>
                  <a:txBody>
                    <a:bodyPr/>
                    <a:lstStyle/>
                    <a:p>
                      <a:endParaRPr lang="en-US" dirty="0"/>
                    </a:p>
                  </a:txBody>
                  <a:tcPr/>
                </a:tc>
                <a:tc>
                  <a:txBody>
                    <a:bodyPr/>
                    <a:lstStyle/>
                    <a:p>
                      <a:r>
                        <a:rPr lang="en-US" dirty="0" smtClean="0"/>
                        <a:t>Text Book [1</a:t>
                      </a:r>
                      <a:r>
                        <a:rPr lang="en-US" baseline="0" dirty="0" smtClean="0"/>
                        <a:t>]</a:t>
                      </a:r>
                      <a:endParaRPr lang="en-US" dirty="0"/>
                    </a:p>
                  </a:txBody>
                  <a:tcPr/>
                </a:tc>
              </a:tr>
            </a:tbl>
          </a:graphicData>
        </a:graphic>
      </p:graphicFrame>
    </p:spTree>
    <p:extLst>
      <p:ext uri="{BB962C8B-B14F-4D97-AF65-F5344CB8AC3E}">
        <p14:creationId xmlns:p14="http://schemas.microsoft.com/office/powerpoint/2010/main" val="13055653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Theory Outline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4</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graphicFrame>
        <p:nvGraphicFramePr>
          <p:cNvPr id="2" name="Table 1"/>
          <p:cNvGraphicFramePr>
            <a:graphicFrameLocks noGrp="1"/>
          </p:cNvGraphicFramePr>
          <p:nvPr>
            <p:extLst>
              <p:ext uri="{D42A27DB-BD31-4B8C-83A1-F6EECF244321}">
                <p14:modId xmlns:p14="http://schemas.microsoft.com/office/powerpoint/2010/main" val="264676853"/>
              </p:ext>
            </p:extLst>
          </p:nvPr>
        </p:nvGraphicFramePr>
        <p:xfrm>
          <a:off x="1407756" y="1510030"/>
          <a:ext cx="10346709" cy="5120640"/>
        </p:xfrm>
        <a:graphic>
          <a:graphicData uri="http://schemas.openxmlformats.org/drawingml/2006/table">
            <a:tbl>
              <a:tblPr firstRow="1" bandRow="1">
                <a:tableStyleId>{5C22544A-7EE6-4342-B048-85BDC9FD1C3A}</a:tableStyleId>
              </a:tblPr>
              <a:tblGrid>
                <a:gridCol w="2069342"/>
                <a:gridCol w="1415634"/>
                <a:gridCol w="3400370"/>
                <a:gridCol w="1691557"/>
                <a:gridCol w="1769806"/>
              </a:tblGrid>
              <a:tr h="758789">
                <a:tc>
                  <a:txBody>
                    <a:bodyPr/>
                    <a:lstStyle/>
                    <a:p>
                      <a:r>
                        <a:rPr lang="en-US" dirty="0" smtClean="0"/>
                        <a:t>Session</a:t>
                      </a:r>
                      <a:r>
                        <a:rPr lang="en-US" baseline="0" dirty="0" smtClean="0"/>
                        <a:t> No</a:t>
                      </a:r>
                      <a:endParaRPr lang="en-US" dirty="0"/>
                    </a:p>
                  </a:txBody>
                  <a:tcPr/>
                </a:tc>
                <a:tc>
                  <a:txBody>
                    <a:bodyPr/>
                    <a:lstStyle/>
                    <a:p>
                      <a:r>
                        <a:rPr lang="en-US" dirty="0" smtClean="0"/>
                        <a:t>Week</a:t>
                      </a:r>
                      <a:endParaRPr lang="en-US" dirty="0"/>
                    </a:p>
                  </a:txBody>
                  <a:tcPr/>
                </a:tc>
                <a:tc>
                  <a:txBody>
                    <a:bodyPr/>
                    <a:lstStyle/>
                    <a:p>
                      <a:r>
                        <a:rPr lang="en-US" dirty="0" smtClean="0"/>
                        <a:t>Topics</a:t>
                      </a:r>
                      <a:endParaRPr lang="en-US" dirty="0"/>
                    </a:p>
                  </a:txBody>
                  <a:tcPr/>
                </a:tc>
                <a:tc>
                  <a:txBody>
                    <a:bodyPr/>
                    <a:lstStyle/>
                    <a:p>
                      <a:r>
                        <a:rPr lang="en-US" dirty="0" smtClean="0"/>
                        <a:t>Assignments / Quizzes</a:t>
                      </a:r>
                      <a:r>
                        <a:rPr lang="en-US" baseline="0" dirty="0" smtClean="0"/>
                        <a:t> / Digital Library Work</a:t>
                      </a:r>
                      <a:endParaRPr lang="en-US" dirty="0"/>
                    </a:p>
                  </a:txBody>
                  <a:tcPr/>
                </a:tc>
                <a:tc>
                  <a:txBody>
                    <a:bodyPr/>
                    <a:lstStyle/>
                    <a:p>
                      <a:r>
                        <a:rPr lang="en-US" dirty="0" smtClean="0"/>
                        <a:t>Suggested Readings</a:t>
                      </a:r>
                      <a:endParaRPr lang="en-US" dirty="0"/>
                    </a:p>
                  </a:txBody>
                  <a:tcPr/>
                </a:tc>
              </a:tr>
              <a:tr h="758789">
                <a:tc>
                  <a:txBody>
                    <a:bodyPr/>
                    <a:lstStyle/>
                    <a:p>
                      <a:r>
                        <a:rPr lang="en-US" dirty="0" smtClean="0"/>
                        <a:t>7-21</a:t>
                      </a:r>
                      <a:endParaRPr lang="en-US" dirty="0"/>
                    </a:p>
                  </a:txBody>
                  <a:tcPr/>
                </a:tc>
                <a:tc>
                  <a:txBody>
                    <a:bodyPr/>
                    <a:lstStyle/>
                    <a:p>
                      <a:r>
                        <a:rPr lang="en-US" dirty="0" smtClean="0"/>
                        <a:t>04</a:t>
                      </a:r>
                      <a:endParaRPr lang="en-US" dirty="0"/>
                    </a:p>
                  </a:txBody>
                  <a:tcPr/>
                </a:tc>
                <a:tc>
                  <a:txBody>
                    <a:bodyPr/>
                    <a:lstStyle/>
                    <a:p>
                      <a:r>
                        <a:rPr lang="en-US" sz="1800" kern="1200" dirty="0" smtClean="0">
                          <a:solidFill>
                            <a:schemeClr val="dk1"/>
                          </a:solidFill>
                          <a:effectLst/>
                          <a:latin typeface="+mn-lt"/>
                          <a:ea typeface="+mn-ea"/>
                          <a:cs typeface="+mn-cs"/>
                        </a:rPr>
                        <a:t>Electrostatics: Coulomb’s law, </a:t>
                      </a:r>
                      <a:r>
                        <a:rPr lang="en-US" sz="1800" b="1" kern="1200" dirty="0" smtClean="0">
                          <a:solidFill>
                            <a:schemeClr val="dk1"/>
                          </a:solidFill>
                          <a:effectLst/>
                          <a:latin typeface="+mn-lt"/>
                          <a:ea typeface="+mn-ea"/>
                          <a:cs typeface="+mn-cs"/>
                        </a:rPr>
                        <a:t>first and second shell theorems,</a:t>
                      </a:r>
                      <a:r>
                        <a:rPr lang="en-US" sz="1800" kern="1200" dirty="0" smtClean="0">
                          <a:solidFill>
                            <a:schemeClr val="dk1"/>
                          </a:solidFill>
                          <a:effectLst/>
                          <a:latin typeface="+mn-lt"/>
                          <a:ea typeface="+mn-ea"/>
                          <a:cs typeface="+mn-cs"/>
                        </a:rPr>
                        <a:t> </a:t>
                      </a:r>
                      <a:r>
                        <a:rPr lang="en-US" sz="1800" b="1" kern="1200" dirty="0" smtClean="0">
                          <a:solidFill>
                            <a:schemeClr val="dk1"/>
                          </a:solidFill>
                          <a:effectLst/>
                          <a:latin typeface="+mn-lt"/>
                          <a:ea typeface="+mn-ea"/>
                          <a:cs typeface="+mn-cs"/>
                        </a:rPr>
                        <a:t>Charge in isolated conductors, charge quantization, </a:t>
                      </a:r>
                      <a:r>
                        <a:rPr lang="en-US" sz="1800" kern="1200" dirty="0" smtClean="0">
                          <a:solidFill>
                            <a:schemeClr val="dk1"/>
                          </a:solidFill>
                          <a:effectLst/>
                          <a:latin typeface="+mn-lt"/>
                          <a:ea typeface="+mn-ea"/>
                          <a:cs typeface="+mn-cs"/>
                        </a:rPr>
                        <a:t>charge conservation </a:t>
                      </a:r>
                    </a:p>
                    <a:p>
                      <a:r>
                        <a:rPr lang="en-US" sz="1800" kern="1200" dirty="0" smtClean="0">
                          <a:solidFill>
                            <a:schemeClr val="dk1"/>
                          </a:solidFill>
                          <a:effectLst/>
                          <a:latin typeface="+mn-lt"/>
                          <a:ea typeface="+mn-ea"/>
                          <a:cs typeface="+mn-cs"/>
                        </a:rPr>
                        <a:t>Electric field and potential, Field due to a point charge: electric field of Dipole, </a:t>
                      </a:r>
                    </a:p>
                    <a:p>
                      <a:r>
                        <a:rPr lang="en-US" sz="1800" kern="1200" dirty="0" smtClean="0">
                          <a:solidFill>
                            <a:schemeClr val="dk1"/>
                          </a:solidFill>
                          <a:effectLst/>
                          <a:latin typeface="+mn-lt"/>
                          <a:ea typeface="+mn-ea"/>
                          <a:cs typeface="+mn-cs"/>
                        </a:rPr>
                        <a:t>Electric flux: Gauss's law; and its application, field near a charged conducting sheet, Field of infinite line of charge. </a:t>
                      </a:r>
                    </a:p>
                    <a:p>
                      <a:r>
                        <a:rPr lang="en-US" sz="1800" kern="1200" dirty="0" smtClean="0">
                          <a:solidFill>
                            <a:schemeClr val="dk1"/>
                          </a:solidFill>
                          <a:effectLst/>
                          <a:latin typeface="+mn-lt"/>
                          <a:ea typeface="+mn-ea"/>
                          <a:cs typeface="+mn-cs"/>
                        </a:rPr>
                        <a:t>Solve numerical problems involving topics covered</a:t>
                      </a:r>
                      <a:endParaRPr lang="en-US" dirty="0"/>
                    </a:p>
                  </a:txBody>
                  <a:tcPr/>
                </a:tc>
                <a:tc>
                  <a:txBody>
                    <a:bodyPr/>
                    <a:lstStyle/>
                    <a:p>
                      <a:r>
                        <a:rPr lang="en-US" dirty="0" smtClean="0"/>
                        <a:t>Quiz</a:t>
                      </a:r>
                      <a:endParaRPr lang="en-US" dirty="0"/>
                    </a:p>
                  </a:txBody>
                  <a:tcPr/>
                </a:tc>
                <a:tc>
                  <a:txBody>
                    <a:bodyPr/>
                    <a:lstStyle/>
                    <a:p>
                      <a:r>
                        <a:rPr lang="en-US" dirty="0" smtClean="0"/>
                        <a:t>Text Book [1</a:t>
                      </a:r>
                      <a:r>
                        <a:rPr lang="en-US" baseline="0" dirty="0" smtClean="0"/>
                        <a:t>]</a:t>
                      </a:r>
                      <a:endParaRPr lang="en-US" dirty="0"/>
                    </a:p>
                  </a:txBody>
                  <a:tcPr/>
                </a:tc>
              </a:tr>
            </a:tbl>
          </a:graphicData>
        </a:graphic>
      </p:graphicFrame>
    </p:spTree>
    <p:extLst>
      <p:ext uri="{BB962C8B-B14F-4D97-AF65-F5344CB8AC3E}">
        <p14:creationId xmlns:p14="http://schemas.microsoft.com/office/powerpoint/2010/main" val="4057007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Theory Outline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5</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graphicFrame>
        <p:nvGraphicFramePr>
          <p:cNvPr id="2" name="Table 1"/>
          <p:cNvGraphicFramePr>
            <a:graphicFrameLocks noGrp="1"/>
          </p:cNvGraphicFramePr>
          <p:nvPr>
            <p:extLst>
              <p:ext uri="{D42A27DB-BD31-4B8C-83A1-F6EECF244321}">
                <p14:modId xmlns:p14="http://schemas.microsoft.com/office/powerpoint/2010/main" val="937445193"/>
              </p:ext>
            </p:extLst>
          </p:nvPr>
        </p:nvGraphicFramePr>
        <p:xfrm>
          <a:off x="412956" y="1210639"/>
          <a:ext cx="11474244" cy="4437994"/>
        </p:xfrm>
        <a:graphic>
          <a:graphicData uri="http://schemas.openxmlformats.org/drawingml/2006/table">
            <a:tbl>
              <a:tblPr firstRow="1" bandRow="1">
                <a:tableStyleId>{5C22544A-7EE6-4342-B048-85BDC9FD1C3A}</a:tableStyleId>
              </a:tblPr>
              <a:tblGrid>
                <a:gridCol w="1563328"/>
                <a:gridCol w="943897"/>
                <a:gridCol w="5128453"/>
                <a:gridCol w="1875895"/>
                <a:gridCol w="1962671"/>
              </a:tblGrid>
              <a:tr h="1030248">
                <a:tc>
                  <a:txBody>
                    <a:bodyPr/>
                    <a:lstStyle/>
                    <a:p>
                      <a:r>
                        <a:rPr lang="en-US" dirty="0" smtClean="0"/>
                        <a:t>Session</a:t>
                      </a:r>
                      <a:r>
                        <a:rPr lang="en-US" baseline="0" dirty="0" smtClean="0"/>
                        <a:t> No</a:t>
                      </a:r>
                      <a:endParaRPr lang="en-US" dirty="0"/>
                    </a:p>
                  </a:txBody>
                  <a:tcPr/>
                </a:tc>
                <a:tc>
                  <a:txBody>
                    <a:bodyPr/>
                    <a:lstStyle/>
                    <a:p>
                      <a:r>
                        <a:rPr lang="en-US" dirty="0" smtClean="0"/>
                        <a:t>Week</a:t>
                      </a:r>
                      <a:endParaRPr lang="en-US" dirty="0"/>
                    </a:p>
                  </a:txBody>
                  <a:tcPr/>
                </a:tc>
                <a:tc>
                  <a:txBody>
                    <a:bodyPr/>
                    <a:lstStyle/>
                    <a:p>
                      <a:r>
                        <a:rPr lang="en-US" dirty="0" smtClean="0"/>
                        <a:t>Topics</a:t>
                      </a:r>
                      <a:endParaRPr lang="en-US" dirty="0"/>
                    </a:p>
                  </a:txBody>
                  <a:tcPr/>
                </a:tc>
                <a:tc>
                  <a:txBody>
                    <a:bodyPr/>
                    <a:lstStyle/>
                    <a:p>
                      <a:r>
                        <a:rPr lang="en-US" dirty="0" smtClean="0"/>
                        <a:t>Assignments / Quizzes</a:t>
                      </a:r>
                      <a:r>
                        <a:rPr lang="en-US" baseline="0" dirty="0" smtClean="0"/>
                        <a:t> / Digital Library Work</a:t>
                      </a:r>
                      <a:endParaRPr lang="en-US" dirty="0"/>
                    </a:p>
                  </a:txBody>
                  <a:tcPr/>
                </a:tc>
                <a:tc>
                  <a:txBody>
                    <a:bodyPr/>
                    <a:lstStyle/>
                    <a:p>
                      <a:r>
                        <a:rPr lang="en-US" dirty="0" smtClean="0"/>
                        <a:t>Suggested Readings</a:t>
                      </a:r>
                      <a:endParaRPr lang="en-US" dirty="0"/>
                    </a:p>
                  </a:txBody>
                  <a:tcPr/>
                </a:tc>
              </a:tr>
              <a:tr h="3407746">
                <a:tc>
                  <a:txBody>
                    <a:bodyPr/>
                    <a:lstStyle/>
                    <a:p>
                      <a:r>
                        <a:rPr lang="en-US" dirty="0" smtClean="0"/>
                        <a:t>41-45</a:t>
                      </a:r>
                      <a:endParaRPr lang="en-US" dirty="0"/>
                    </a:p>
                  </a:txBody>
                  <a:tcPr/>
                </a:tc>
                <a:tc>
                  <a:txBody>
                    <a:bodyPr/>
                    <a:lstStyle/>
                    <a:p>
                      <a:r>
                        <a:rPr lang="en-US" dirty="0" smtClean="0"/>
                        <a:t>04</a:t>
                      </a:r>
                      <a:endParaRPr lang="en-US" dirty="0"/>
                    </a:p>
                  </a:txBody>
                  <a:tcPr/>
                </a:tc>
                <a:tc>
                  <a:txBody>
                    <a:bodyPr/>
                    <a:lstStyle/>
                    <a:p>
                      <a:r>
                        <a:rPr lang="en-US" sz="2000" kern="1200" dirty="0" smtClean="0">
                          <a:solidFill>
                            <a:schemeClr val="dk1"/>
                          </a:solidFill>
                          <a:effectLst/>
                          <a:latin typeface="+mn-lt"/>
                          <a:ea typeface="+mn-ea"/>
                          <a:cs typeface="+mn-cs"/>
                        </a:rPr>
                        <a:t>Basic crystal structure, free electron model, energy band in solid and energy gaps, doping, p-type, n-type semiconductor materials, p-n junction diode, its structure. Characteristics curve of a diode, half wave rectification, and full wave rectification, peak inverse voltage in case of full wave rectifier, characteristics and application as rectifiers. Clipper and clamper circuits. Transistor, its basic structure and operation. Solve numerical problems </a:t>
                      </a:r>
                      <a:endParaRPr lang="en-US" dirty="0"/>
                    </a:p>
                  </a:txBody>
                  <a:tcPr/>
                </a:tc>
                <a:tc>
                  <a:txBody>
                    <a:bodyPr/>
                    <a:lstStyle/>
                    <a:p>
                      <a:r>
                        <a:rPr lang="en-US" dirty="0" smtClean="0"/>
                        <a:t>Quiz III</a:t>
                      </a:r>
                      <a:endParaRPr lang="en-US" dirty="0"/>
                    </a:p>
                  </a:txBody>
                  <a:tcPr/>
                </a:tc>
                <a:tc>
                  <a:txBody>
                    <a:bodyPr/>
                    <a:lstStyle/>
                    <a:p>
                      <a:r>
                        <a:rPr lang="en-US" dirty="0" smtClean="0"/>
                        <a:t>Text Book [2</a:t>
                      </a:r>
                      <a:r>
                        <a:rPr lang="en-US" baseline="0" dirty="0" smtClean="0"/>
                        <a:t>]</a:t>
                      </a:r>
                      <a:endParaRPr lang="en-US" dirty="0"/>
                    </a:p>
                  </a:txBody>
                  <a:tcPr/>
                </a:tc>
              </a:tr>
            </a:tbl>
          </a:graphicData>
        </a:graphic>
      </p:graphicFrame>
    </p:spTree>
    <p:extLst>
      <p:ext uri="{BB962C8B-B14F-4D97-AF65-F5344CB8AC3E}">
        <p14:creationId xmlns:p14="http://schemas.microsoft.com/office/powerpoint/2010/main" val="9705731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Theory Outline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6</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graphicFrame>
        <p:nvGraphicFramePr>
          <p:cNvPr id="2" name="Table 1"/>
          <p:cNvGraphicFramePr>
            <a:graphicFrameLocks noGrp="1"/>
          </p:cNvGraphicFramePr>
          <p:nvPr>
            <p:extLst>
              <p:ext uri="{D42A27DB-BD31-4B8C-83A1-F6EECF244321}">
                <p14:modId xmlns:p14="http://schemas.microsoft.com/office/powerpoint/2010/main" val="3410901161"/>
              </p:ext>
            </p:extLst>
          </p:nvPr>
        </p:nvGraphicFramePr>
        <p:xfrm>
          <a:off x="1540491" y="1659946"/>
          <a:ext cx="10346709" cy="4572000"/>
        </p:xfrm>
        <a:graphic>
          <a:graphicData uri="http://schemas.openxmlformats.org/drawingml/2006/table">
            <a:tbl>
              <a:tblPr firstRow="1" bandRow="1">
                <a:tableStyleId>{5C22544A-7EE6-4342-B048-85BDC9FD1C3A}</a:tableStyleId>
              </a:tblPr>
              <a:tblGrid>
                <a:gridCol w="2069342"/>
                <a:gridCol w="1415634"/>
                <a:gridCol w="3400370"/>
                <a:gridCol w="1691557"/>
                <a:gridCol w="1769806"/>
              </a:tblGrid>
              <a:tr h="758789">
                <a:tc>
                  <a:txBody>
                    <a:bodyPr/>
                    <a:lstStyle/>
                    <a:p>
                      <a:r>
                        <a:rPr lang="en-US" dirty="0" smtClean="0"/>
                        <a:t>Session</a:t>
                      </a:r>
                      <a:r>
                        <a:rPr lang="en-US" baseline="0" dirty="0" smtClean="0"/>
                        <a:t> No</a:t>
                      </a:r>
                      <a:endParaRPr lang="en-US" dirty="0"/>
                    </a:p>
                  </a:txBody>
                  <a:tcPr/>
                </a:tc>
                <a:tc>
                  <a:txBody>
                    <a:bodyPr/>
                    <a:lstStyle/>
                    <a:p>
                      <a:r>
                        <a:rPr lang="en-US" dirty="0" smtClean="0"/>
                        <a:t>Week</a:t>
                      </a:r>
                      <a:endParaRPr lang="en-US" dirty="0"/>
                    </a:p>
                  </a:txBody>
                  <a:tcPr/>
                </a:tc>
                <a:tc>
                  <a:txBody>
                    <a:bodyPr/>
                    <a:lstStyle/>
                    <a:p>
                      <a:r>
                        <a:rPr lang="en-US" dirty="0" smtClean="0"/>
                        <a:t>Topics</a:t>
                      </a:r>
                      <a:endParaRPr lang="en-US" dirty="0"/>
                    </a:p>
                  </a:txBody>
                  <a:tcPr/>
                </a:tc>
                <a:tc>
                  <a:txBody>
                    <a:bodyPr/>
                    <a:lstStyle/>
                    <a:p>
                      <a:r>
                        <a:rPr lang="en-US" dirty="0" smtClean="0"/>
                        <a:t>Assignments / Quizzes</a:t>
                      </a:r>
                      <a:r>
                        <a:rPr lang="en-US" baseline="0" dirty="0" smtClean="0"/>
                        <a:t> / Digital Library Work</a:t>
                      </a:r>
                      <a:endParaRPr lang="en-US" dirty="0"/>
                    </a:p>
                  </a:txBody>
                  <a:tcPr/>
                </a:tc>
                <a:tc>
                  <a:txBody>
                    <a:bodyPr/>
                    <a:lstStyle/>
                    <a:p>
                      <a:r>
                        <a:rPr lang="en-US" dirty="0" smtClean="0"/>
                        <a:t>Suggested Readings</a:t>
                      </a:r>
                      <a:endParaRPr lang="en-US" dirty="0"/>
                    </a:p>
                  </a:txBody>
                  <a:tcPr/>
                </a:tc>
              </a:tr>
              <a:tr h="758789">
                <a:tc>
                  <a:txBody>
                    <a:bodyPr/>
                    <a:lstStyle/>
                    <a:p>
                      <a:r>
                        <a:rPr lang="en-US" dirty="0" smtClean="0"/>
                        <a:t>29-34</a:t>
                      </a:r>
                      <a:endParaRPr lang="en-US" dirty="0"/>
                    </a:p>
                  </a:txBody>
                  <a:tcPr/>
                </a:tc>
                <a:tc>
                  <a:txBody>
                    <a:bodyPr/>
                    <a:lstStyle/>
                    <a:p>
                      <a:r>
                        <a:rPr lang="en-US" dirty="0" smtClean="0"/>
                        <a:t>03</a:t>
                      </a:r>
                      <a:endParaRPr lang="en-US" dirty="0"/>
                    </a:p>
                  </a:txBody>
                  <a:tcPr/>
                </a:tc>
                <a:tc>
                  <a:txBody>
                    <a:bodyPr/>
                    <a:lstStyle/>
                    <a:p>
                      <a:r>
                        <a:rPr lang="en-US" sz="1800" kern="1200" dirty="0" smtClean="0">
                          <a:solidFill>
                            <a:schemeClr val="dk1"/>
                          </a:solidFill>
                          <a:effectLst/>
                          <a:latin typeface="+mn-lt"/>
                          <a:ea typeface="+mn-ea"/>
                          <a:cs typeface="+mn-cs"/>
                        </a:rPr>
                        <a:t>Electrodynamics: Magnetic field and force, sources of magnetic field, </a:t>
                      </a:r>
                    </a:p>
                    <a:p>
                      <a:r>
                        <a:rPr lang="en-US" sz="1800" kern="1200" dirty="0" smtClean="0">
                          <a:solidFill>
                            <a:schemeClr val="dk1"/>
                          </a:solidFill>
                          <a:effectLst/>
                          <a:latin typeface="+mn-lt"/>
                          <a:ea typeface="+mn-ea"/>
                          <a:cs typeface="+mn-cs"/>
                        </a:rPr>
                        <a:t>Magnetic force on a charged particle, magnetic force on a current, Torque on a current loop. </a:t>
                      </a:r>
                    </a:p>
                    <a:p>
                      <a:r>
                        <a:rPr lang="en-US" sz="1800" kern="1200" dirty="0" smtClean="0">
                          <a:solidFill>
                            <a:schemeClr val="dk1"/>
                          </a:solidFill>
                          <a:effectLst/>
                          <a:latin typeface="+mn-lt"/>
                          <a:ea typeface="+mn-ea"/>
                          <a:cs typeface="+mn-cs"/>
                        </a:rPr>
                        <a:t>Faradays law of electromagnetic induction, Lenz’s law, Magnetic dipole: Energy of magnetic dipole in field. </a:t>
                      </a:r>
                    </a:p>
                    <a:p>
                      <a:r>
                        <a:rPr lang="en-US" sz="1800" kern="1200" dirty="0" smtClean="0">
                          <a:solidFill>
                            <a:schemeClr val="dk1"/>
                          </a:solidFill>
                          <a:effectLst/>
                          <a:latin typeface="+mn-lt"/>
                          <a:ea typeface="+mn-ea"/>
                          <a:cs typeface="+mn-cs"/>
                        </a:rPr>
                        <a:t>RL circuit. Solve numerical problems involving topics covered</a:t>
                      </a:r>
                      <a:endParaRPr lang="en-US" dirty="0"/>
                    </a:p>
                  </a:txBody>
                  <a:tcPr/>
                </a:tc>
                <a:tc>
                  <a:txBody>
                    <a:bodyPr/>
                    <a:lstStyle/>
                    <a:p>
                      <a:r>
                        <a:rPr lang="en-US" dirty="0" smtClean="0"/>
                        <a:t>Quiz II</a:t>
                      </a:r>
                      <a:endParaRPr lang="en-US" dirty="0"/>
                    </a:p>
                  </a:txBody>
                  <a:tcPr/>
                </a:tc>
                <a:tc>
                  <a:txBody>
                    <a:bodyPr/>
                    <a:lstStyle/>
                    <a:p>
                      <a:r>
                        <a:rPr lang="en-US" dirty="0" smtClean="0"/>
                        <a:t>Text Book [1</a:t>
                      </a:r>
                      <a:r>
                        <a:rPr lang="en-US" baseline="0" dirty="0" smtClean="0"/>
                        <a:t>]</a:t>
                      </a:r>
                      <a:endParaRPr lang="en-US" dirty="0"/>
                    </a:p>
                  </a:txBody>
                  <a:tcPr/>
                </a:tc>
              </a:tr>
            </a:tbl>
          </a:graphicData>
        </a:graphic>
      </p:graphicFrame>
    </p:spTree>
    <p:extLst>
      <p:ext uri="{BB962C8B-B14F-4D97-AF65-F5344CB8AC3E}">
        <p14:creationId xmlns:p14="http://schemas.microsoft.com/office/powerpoint/2010/main" val="25059897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Marks Distribution</a:t>
            </a:r>
            <a:endParaRPr lang="en-US" dirty="0"/>
          </a:p>
        </p:txBody>
      </p:sp>
      <p:sp>
        <p:nvSpPr>
          <p:cNvPr id="3" name="Content Placeholder 2"/>
          <p:cNvSpPr>
            <a:spLocks noGrp="1"/>
          </p:cNvSpPr>
          <p:nvPr>
            <p:ph idx="1"/>
          </p:nvPr>
        </p:nvSpPr>
        <p:spPr/>
        <p:txBody>
          <a:bodyPr/>
          <a:lstStyle/>
          <a:p>
            <a:r>
              <a:rPr lang="en-US" dirty="0" smtClean="0"/>
              <a:t>Mid-Term 			30%</a:t>
            </a:r>
          </a:p>
          <a:p>
            <a:r>
              <a:rPr lang="en-US" dirty="0" smtClean="0"/>
              <a:t>Sessional 			20% ( Presentation, Assignment, Quizzes)</a:t>
            </a:r>
          </a:p>
          <a:p>
            <a:r>
              <a:rPr lang="en-US" dirty="0" smtClean="0"/>
              <a:t>Final			50%</a:t>
            </a:r>
          </a:p>
          <a:p>
            <a:endParaRPr lang="en-US" dirty="0"/>
          </a:p>
        </p:txBody>
      </p:sp>
    </p:spTree>
    <p:extLst>
      <p:ext uri="{BB962C8B-B14F-4D97-AF65-F5344CB8AC3E}">
        <p14:creationId xmlns:p14="http://schemas.microsoft.com/office/powerpoint/2010/main" val="1811120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42272" y="1880558"/>
            <a:ext cx="4451230" cy="1754326"/>
          </a:xfrm>
          <a:prstGeom prst="rect">
            <a:avLst/>
          </a:prstGeom>
          <a:noFill/>
        </p:spPr>
        <p:txBody>
          <a:bodyPr wrap="square" rtlCol="0">
            <a:spAutoFit/>
          </a:bodyPr>
          <a:lstStyle/>
          <a:p>
            <a:endParaRPr lang="en-US" sz="3600" dirty="0" smtClean="0"/>
          </a:p>
          <a:p>
            <a:pPr algn="ctr"/>
            <a:r>
              <a:rPr lang="en-US" sz="3600" dirty="0" smtClean="0"/>
              <a:t>Physics ?</a:t>
            </a:r>
          </a:p>
          <a:p>
            <a:pPr algn="ctr"/>
            <a:endParaRPr lang="en-US" sz="36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9586" y="2997948"/>
            <a:ext cx="2390775" cy="1914525"/>
          </a:xfrm>
          <a:prstGeom prst="rect">
            <a:avLst/>
          </a:prstGeom>
        </p:spPr>
      </p:pic>
    </p:spTree>
    <p:extLst>
      <p:ext uri="{BB962C8B-B14F-4D97-AF65-F5344CB8AC3E}">
        <p14:creationId xmlns:p14="http://schemas.microsoft.com/office/powerpoint/2010/main" val="626492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42272" y="1880558"/>
            <a:ext cx="4451230" cy="1754326"/>
          </a:xfrm>
          <a:prstGeom prst="rect">
            <a:avLst/>
          </a:prstGeom>
          <a:noFill/>
        </p:spPr>
        <p:txBody>
          <a:bodyPr wrap="square" rtlCol="0">
            <a:spAutoFit/>
          </a:bodyPr>
          <a:lstStyle/>
          <a:p>
            <a:endParaRPr lang="en-US" sz="3600" dirty="0" smtClean="0"/>
          </a:p>
          <a:p>
            <a:pPr algn="ctr"/>
            <a:r>
              <a:rPr lang="en-US" sz="3600" dirty="0" smtClean="0"/>
              <a:t>Applied Physics ?</a:t>
            </a:r>
          </a:p>
          <a:p>
            <a:pPr algn="ctr"/>
            <a:endParaRPr lang="en-US" sz="36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9586" y="2997948"/>
            <a:ext cx="2390775" cy="1914525"/>
          </a:xfrm>
          <a:prstGeom prst="rect">
            <a:avLst/>
          </a:prstGeom>
        </p:spPr>
      </p:pic>
    </p:spTree>
    <p:extLst>
      <p:ext uri="{BB962C8B-B14F-4D97-AF65-F5344CB8AC3E}">
        <p14:creationId xmlns:p14="http://schemas.microsoft.com/office/powerpoint/2010/main" val="142057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730430"/>
          </a:xfrm>
        </p:spPr>
        <p:txBody>
          <a:bodyPr/>
          <a:lstStyle/>
          <a:p>
            <a:pPr algn="ctr"/>
            <a:r>
              <a:rPr lang="en-US" dirty="0" smtClean="0"/>
              <a:t>Physics VS Applied Physics</a:t>
            </a:r>
            <a:endParaRPr lang="en-US" dirty="0"/>
          </a:p>
        </p:txBody>
      </p:sp>
      <p:sp>
        <p:nvSpPr>
          <p:cNvPr id="3" name="Text Placeholder 2"/>
          <p:cNvSpPr>
            <a:spLocks noGrp="1"/>
          </p:cNvSpPr>
          <p:nvPr>
            <p:ph type="body" idx="1"/>
          </p:nvPr>
        </p:nvSpPr>
        <p:spPr>
          <a:xfrm>
            <a:off x="762150" y="1001295"/>
            <a:ext cx="5157787" cy="823912"/>
          </a:xfrm>
        </p:spPr>
        <p:txBody>
          <a:bodyPr/>
          <a:lstStyle/>
          <a:p>
            <a:pPr algn="ctr"/>
            <a:r>
              <a:rPr lang="en-US" dirty="0" smtClean="0"/>
              <a:t>Physics</a:t>
            </a:r>
            <a:endParaRPr lang="en-US" dirty="0"/>
          </a:p>
        </p:txBody>
      </p:sp>
      <p:sp>
        <p:nvSpPr>
          <p:cNvPr id="4" name="Content Placeholder 3"/>
          <p:cNvSpPr>
            <a:spLocks noGrp="1"/>
          </p:cNvSpPr>
          <p:nvPr>
            <p:ph sz="half" idx="2"/>
          </p:nvPr>
        </p:nvSpPr>
        <p:spPr>
          <a:xfrm>
            <a:off x="839788" y="2099632"/>
            <a:ext cx="5157787" cy="3684588"/>
          </a:xfrm>
        </p:spPr>
        <p:txBody>
          <a:bodyPr>
            <a:normAutofit/>
          </a:bodyPr>
          <a:lstStyle/>
          <a:p>
            <a:r>
              <a:rPr lang="en-US" sz="1800" dirty="0"/>
              <a:t>Physics is the fundamental study of the principles governing the natural world, exploring concepts such as motion, energy, and matter. </a:t>
            </a:r>
            <a:endParaRPr lang="en-US" sz="1800" dirty="0" smtClean="0"/>
          </a:p>
          <a:p>
            <a:r>
              <a:rPr lang="en-US" sz="1800" dirty="0" smtClean="0"/>
              <a:t>Physics studies matter, force, and energy, as well their interaction with the world.</a:t>
            </a:r>
            <a:endParaRPr lang="en-US" sz="1800" dirty="0"/>
          </a:p>
        </p:txBody>
      </p:sp>
      <p:sp>
        <p:nvSpPr>
          <p:cNvPr id="5" name="Text Placeholder 4"/>
          <p:cNvSpPr>
            <a:spLocks noGrp="1"/>
          </p:cNvSpPr>
          <p:nvPr>
            <p:ph type="body" sz="quarter" idx="3"/>
          </p:nvPr>
        </p:nvSpPr>
        <p:spPr>
          <a:xfrm>
            <a:off x="6097588" y="1058354"/>
            <a:ext cx="5183188" cy="823912"/>
          </a:xfrm>
        </p:spPr>
        <p:txBody>
          <a:bodyPr/>
          <a:lstStyle/>
          <a:p>
            <a:pPr algn="ctr"/>
            <a:r>
              <a:rPr lang="en-US" dirty="0" smtClean="0"/>
              <a:t>Applied Physics</a:t>
            </a:r>
            <a:endParaRPr lang="en-US" dirty="0"/>
          </a:p>
        </p:txBody>
      </p:sp>
      <p:sp>
        <p:nvSpPr>
          <p:cNvPr id="6" name="Content Placeholder 5"/>
          <p:cNvSpPr>
            <a:spLocks noGrp="1"/>
          </p:cNvSpPr>
          <p:nvPr>
            <p:ph sz="quarter" idx="4"/>
          </p:nvPr>
        </p:nvSpPr>
        <p:spPr>
          <a:xfrm>
            <a:off x="6172200" y="2099632"/>
            <a:ext cx="5183188" cy="3684588"/>
          </a:xfrm>
        </p:spPr>
        <p:txBody>
          <a:bodyPr>
            <a:normAutofit/>
          </a:bodyPr>
          <a:lstStyle/>
          <a:p>
            <a:r>
              <a:rPr lang="en-US" sz="1800" dirty="0"/>
              <a:t>Applied physics, on the other hand, focuses on the practical application of physical principles to solve real-world problems and develop technologies</a:t>
            </a:r>
            <a:r>
              <a:rPr lang="en-US" sz="1800" dirty="0" smtClean="0"/>
              <a:t>.</a:t>
            </a:r>
          </a:p>
          <a:p>
            <a:r>
              <a:rPr lang="en-US" sz="1800" dirty="0" smtClean="0"/>
              <a:t>Applied Physics is physics which is intended for a particular technological or practical use.</a:t>
            </a:r>
            <a:endParaRPr lang="en-US" sz="1800" dirty="0"/>
          </a:p>
        </p:txBody>
      </p:sp>
    </p:spTree>
    <p:extLst>
      <p:ext uri="{BB962C8B-B14F-4D97-AF65-F5344CB8AC3E}">
        <p14:creationId xmlns:p14="http://schemas.microsoft.com/office/powerpoint/2010/main" val="4056282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 calcmode="lin" valueType="num">
                                      <p:cBhvr additive="base">
                                        <p:cTn id="2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 calcmode="lin" valueType="num">
                                      <p:cBhvr additive="base">
                                        <p:cTn id="3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1" end="1"/>
                                            </p:txEl>
                                          </p:spTgt>
                                        </p:tgtEl>
                                        <p:attrNameLst>
                                          <p:attrName>style.visibility</p:attrName>
                                        </p:attrNameLst>
                                      </p:cBhvr>
                                      <p:to>
                                        <p:strVal val="visible"/>
                                      </p:to>
                                    </p:set>
                                    <p:anim calcmode="lin" valueType="num">
                                      <p:cBhvr additive="base">
                                        <p:cTn id="4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730430"/>
          </a:xfrm>
        </p:spPr>
        <p:txBody>
          <a:bodyPr/>
          <a:lstStyle/>
          <a:p>
            <a:pPr algn="ctr"/>
            <a:r>
              <a:rPr lang="en-US" dirty="0" smtClean="0"/>
              <a:t>Physics VS Applied Physics</a:t>
            </a:r>
            <a:endParaRPr lang="en-US" dirty="0"/>
          </a:p>
        </p:txBody>
      </p:sp>
      <p:sp>
        <p:nvSpPr>
          <p:cNvPr id="3" name="Text Placeholder 2"/>
          <p:cNvSpPr>
            <a:spLocks noGrp="1"/>
          </p:cNvSpPr>
          <p:nvPr>
            <p:ph type="body" idx="1"/>
          </p:nvPr>
        </p:nvSpPr>
        <p:spPr>
          <a:xfrm>
            <a:off x="762150" y="1001295"/>
            <a:ext cx="5157787" cy="823912"/>
          </a:xfrm>
        </p:spPr>
        <p:txBody>
          <a:bodyPr/>
          <a:lstStyle/>
          <a:p>
            <a:pPr algn="ctr"/>
            <a:r>
              <a:rPr lang="en-US" dirty="0" smtClean="0"/>
              <a:t>Physics</a:t>
            </a:r>
            <a:endParaRPr lang="en-US" dirty="0"/>
          </a:p>
        </p:txBody>
      </p:sp>
      <p:sp>
        <p:nvSpPr>
          <p:cNvPr id="4" name="Content Placeholder 3"/>
          <p:cNvSpPr>
            <a:spLocks noGrp="1"/>
          </p:cNvSpPr>
          <p:nvPr>
            <p:ph sz="half" idx="2"/>
          </p:nvPr>
        </p:nvSpPr>
        <p:spPr>
          <a:xfrm>
            <a:off x="839788" y="2099632"/>
            <a:ext cx="5157787" cy="3684588"/>
          </a:xfrm>
        </p:spPr>
        <p:txBody>
          <a:bodyPr>
            <a:normAutofit/>
          </a:bodyPr>
          <a:lstStyle/>
          <a:p>
            <a:r>
              <a:rPr lang="en-US" sz="2400" dirty="0" smtClean="0"/>
              <a:t>Uncover fundamental laws of the universe</a:t>
            </a:r>
          </a:p>
          <a:p>
            <a:r>
              <a:rPr lang="en-US" sz="2400" dirty="0" smtClean="0"/>
              <a:t>Understanding the behavior of matter and energy.</a:t>
            </a:r>
          </a:p>
          <a:p>
            <a:r>
              <a:rPr lang="en-US" sz="2400" dirty="0" smtClean="0"/>
              <a:t>Explaining nature phenomena, expanding scientific knowledge.</a:t>
            </a:r>
            <a:endParaRPr lang="en-US" sz="2400" dirty="0"/>
          </a:p>
        </p:txBody>
      </p:sp>
      <p:sp>
        <p:nvSpPr>
          <p:cNvPr id="5" name="Text Placeholder 4"/>
          <p:cNvSpPr>
            <a:spLocks noGrp="1"/>
          </p:cNvSpPr>
          <p:nvPr>
            <p:ph type="body" sz="quarter" idx="3"/>
          </p:nvPr>
        </p:nvSpPr>
        <p:spPr>
          <a:xfrm>
            <a:off x="6097588" y="1058354"/>
            <a:ext cx="5183188" cy="823912"/>
          </a:xfrm>
        </p:spPr>
        <p:txBody>
          <a:bodyPr/>
          <a:lstStyle/>
          <a:p>
            <a:pPr algn="ctr"/>
            <a:r>
              <a:rPr lang="en-US" dirty="0" smtClean="0"/>
              <a:t>Applied Physics</a:t>
            </a:r>
            <a:endParaRPr lang="en-US" dirty="0"/>
          </a:p>
        </p:txBody>
      </p:sp>
      <p:sp>
        <p:nvSpPr>
          <p:cNvPr id="6" name="Content Placeholder 5"/>
          <p:cNvSpPr>
            <a:spLocks noGrp="1"/>
          </p:cNvSpPr>
          <p:nvPr>
            <p:ph sz="quarter" idx="4"/>
          </p:nvPr>
        </p:nvSpPr>
        <p:spPr>
          <a:xfrm>
            <a:off x="6172200" y="2099632"/>
            <a:ext cx="5183188" cy="3684588"/>
          </a:xfrm>
        </p:spPr>
        <p:txBody>
          <a:bodyPr>
            <a:normAutofit/>
          </a:bodyPr>
          <a:lstStyle/>
          <a:p>
            <a:r>
              <a:rPr lang="en-US" sz="2400" dirty="0" smtClean="0"/>
              <a:t>Apply physics principles to practical scenarios.</a:t>
            </a:r>
          </a:p>
          <a:p>
            <a:r>
              <a:rPr lang="en-US" sz="2400" dirty="0" smtClean="0"/>
              <a:t>Utilize physics knowledge for problem-solving and practical applications.</a:t>
            </a:r>
          </a:p>
          <a:p>
            <a:r>
              <a:rPr lang="en-US" sz="2400" dirty="0" smtClean="0"/>
              <a:t>Improving existing systems, solving real-world problems.</a:t>
            </a:r>
            <a:endParaRPr lang="en-US" sz="2400" dirty="0"/>
          </a:p>
        </p:txBody>
      </p:sp>
    </p:spTree>
    <p:extLst>
      <p:ext uri="{BB962C8B-B14F-4D97-AF65-F5344CB8AC3E}">
        <p14:creationId xmlns:p14="http://schemas.microsoft.com/office/powerpoint/2010/main" val="421553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 calcmode="lin" valueType="num">
                                      <p:cBhvr additive="base">
                                        <p:cTn id="2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 calcmode="lin" valueType="num">
                                      <p:cBhvr additive="base">
                                        <p:cTn id="3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1" end="1"/>
                                            </p:txEl>
                                          </p:spTgt>
                                        </p:tgtEl>
                                        <p:attrNameLst>
                                          <p:attrName>style.visibility</p:attrName>
                                        </p:attrNameLst>
                                      </p:cBhvr>
                                      <p:to>
                                        <p:strVal val="visible"/>
                                      </p:to>
                                    </p:set>
                                    <p:anim calcmode="lin" valueType="num">
                                      <p:cBhvr additive="base">
                                        <p:cTn id="4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anim calcmode="lin" valueType="num">
                                      <p:cBhvr additive="base">
                                        <p:cTn id="4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
                                            <p:txEl>
                                              <p:pRg st="2" end="2"/>
                                            </p:txEl>
                                          </p:spTgt>
                                        </p:tgtEl>
                                        <p:attrNameLst>
                                          <p:attrName>style.visibility</p:attrName>
                                        </p:attrNameLst>
                                      </p:cBhvr>
                                      <p:to>
                                        <p:strVal val="visible"/>
                                      </p:to>
                                    </p:set>
                                    <p:anim calcmode="lin" valueType="num">
                                      <p:cBhvr additive="base">
                                        <p:cTn id="5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smtClean="0"/>
              <a:t>Importance of Applied Physics</a:t>
            </a:r>
            <a:endParaRPr lang="en-US" sz="3000" dirty="0"/>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12</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0832" y="2225680"/>
            <a:ext cx="2390775" cy="1914525"/>
          </a:xfrm>
          <a:prstGeom prst="rect">
            <a:avLst/>
          </a:prstGeom>
        </p:spPr>
      </p:pic>
    </p:spTree>
    <p:extLst>
      <p:ext uri="{BB962C8B-B14F-4D97-AF65-F5344CB8AC3E}">
        <p14:creationId xmlns:p14="http://schemas.microsoft.com/office/powerpoint/2010/main" val="12286895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smtClean="0"/>
          </a:p>
          <a:p>
            <a:pPr marL="0" indent="0" algn="ctr">
              <a:buNone/>
            </a:pPr>
            <a:r>
              <a:rPr lang="en-US" dirty="0" smtClean="0"/>
              <a:t>Electromagnetism</a:t>
            </a:r>
          </a:p>
          <a:p>
            <a:pPr marL="0" indent="0" algn="ctr">
              <a:buNone/>
            </a:pPr>
            <a:r>
              <a:rPr lang="en-US" dirty="0" smtClean="0"/>
              <a:t>?</a:t>
            </a:r>
          </a:p>
          <a:p>
            <a:pPr marL="0" indent="0" algn="ctr">
              <a:buNone/>
            </a:pPr>
            <a:endParaRPr lang="en-US" dirty="0" smtClean="0"/>
          </a:p>
          <a:p>
            <a:pPr marL="0" indent="0" algn="ctr">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6325" y="3343004"/>
            <a:ext cx="2390775" cy="1914525"/>
          </a:xfrm>
          <a:prstGeom prst="rect">
            <a:avLst/>
          </a:prstGeom>
        </p:spPr>
      </p:pic>
    </p:spTree>
    <p:extLst>
      <p:ext uri="{BB962C8B-B14F-4D97-AF65-F5344CB8AC3E}">
        <p14:creationId xmlns:p14="http://schemas.microsoft.com/office/powerpoint/2010/main" val="22056379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What is Electromagnetism?</a:t>
            </a:r>
            <a:endParaRPr lang="en-US" dirty="0"/>
          </a:p>
        </p:txBody>
      </p:sp>
      <p:sp>
        <p:nvSpPr>
          <p:cNvPr id="3" name="Content Placeholder 2"/>
          <p:cNvSpPr>
            <a:spLocks noGrp="1"/>
          </p:cNvSpPr>
          <p:nvPr>
            <p:ph idx="1"/>
          </p:nvPr>
        </p:nvSpPr>
        <p:spPr/>
        <p:txBody>
          <a:bodyPr/>
          <a:lstStyle/>
          <a:p>
            <a:r>
              <a:rPr lang="en-US" dirty="0"/>
              <a:t>Electromagnetism is a branch of physics that studies the relationship between electric and magnetic fields, their interactions, and the phenomena they produce, such as electromagnetic waves and magnetic forces.</a:t>
            </a:r>
          </a:p>
        </p:txBody>
      </p:sp>
      <p:sp>
        <p:nvSpPr>
          <p:cNvPr id="5" name="Slide Number Placeholder 4"/>
          <p:cNvSpPr>
            <a:spLocks noGrp="1"/>
          </p:cNvSpPr>
          <p:nvPr>
            <p:ph type="sldNum" sz="quarter" idx="12"/>
          </p:nvPr>
        </p:nvSpPr>
        <p:spPr/>
        <p:txBody>
          <a:bodyPr/>
          <a:lstStyle/>
          <a:p>
            <a:fld id="{613F66FA-1D38-4225-99EF-DA3E159AA041}" type="slidenum">
              <a:rPr lang="en-US" smtClean="0"/>
              <a:t>14</a:t>
            </a:fld>
            <a:endParaRPr lang="en-US"/>
          </a:p>
        </p:txBody>
      </p:sp>
    </p:spTree>
    <p:extLst>
      <p:ext uri="{BB962C8B-B14F-4D97-AF65-F5344CB8AC3E}">
        <p14:creationId xmlns:p14="http://schemas.microsoft.com/office/powerpoint/2010/main" val="24944497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Basics of Physics</a:t>
            </a:r>
            <a:br>
              <a:rPr lang="en-US" sz="3000" dirty="0"/>
            </a:br>
            <a:r>
              <a:rPr lang="en-US" sz="3000" dirty="0"/>
              <a:t>- Simple Experiment</a:t>
            </a:r>
          </a:p>
        </p:txBody>
      </p:sp>
      <p:pic>
        <p:nvPicPr>
          <p:cNvPr id="7" name="Picture 6"/>
          <p:cNvPicPr/>
          <p:nvPr/>
        </p:nvPicPr>
        <p:blipFill>
          <a:blip r:embed="rId5">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15</a:t>
            </a:fld>
            <a:endParaRPr lang="en-US" dirty="0"/>
          </a:p>
        </p:txBody>
      </p:sp>
      <p:pic>
        <p:nvPicPr>
          <p:cNvPr id="9" name="Picture 8"/>
          <p:cNvPicPr/>
          <p:nvPr/>
        </p:nvPicPr>
        <p:blipFill>
          <a:blip r:embed="rId5">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476907" y="1229072"/>
            <a:ext cx="11238186" cy="1200329"/>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rgbClr val="282625"/>
                </a:solidFill>
                <a:latin typeface="+mj-lt"/>
              </a:rPr>
              <a:t>The physics of electromagnetism was first studied by the early Greek philosophers, who discovered that if a piece of amber is rubbed and then brought near bits of straw, the straw will jump to the amber.</a:t>
            </a:r>
          </a:p>
          <a:p>
            <a:pPr marL="285750" indent="-285750" algn="just">
              <a:buFont typeface="Arial" panose="020B0604020202020204" pitchFamily="34" charset="0"/>
              <a:buChar char="•"/>
            </a:pPr>
            <a:endParaRPr lang="en-US" dirty="0">
              <a:solidFill>
                <a:srgbClr val="282625"/>
              </a:solidFill>
              <a:latin typeface="+mj-lt"/>
            </a:endParaRPr>
          </a:p>
          <a:p>
            <a:pPr marL="285750" indent="-285750" algn="just">
              <a:buFont typeface="Arial" panose="020B0604020202020204" pitchFamily="34" charset="0"/>
              <a:buChar char="•"/>
            </a:pPr>
            <a:r>
              <a:rPr lang="en-US" dirty="0">
                <a:solidFill>
                  <a:srgbClr val="282625"/>
                </a:solidFill>
                <a:latin typeface="+mj-lt"/>
              </a:rPr>
              <a:t>We now know that the attraction between amber and straw is due to an electric force.</a:t>
            </a:r>
            <a:endParaRPr lang="en-US" dirty="0">
              <a:latin typeface="+mj-lt"/>
            </a:endParaRPr>
          </a:p>
        </p:txBody>
      </p:sp>
      <p:pic>
        <p:nvPicPr>
          <p:cNvPr id="3074" name="Picture 2">
            <a:extLst>
              <a:ext uri="{FF2B5EF4-FFF2-40B4-BE49-F238E27FC236}">
                <a16:creationId xmlns="" xmlns:a16="http://schemas.microsoft.com/office/drawing/2014/main" id="{88AF4647-460C-12A4-1060-74FE41C3568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685589" y="1652453"/>
            <a:ext cx="1402080" cy="10515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 xmlns:a16="http://schemas.microsoft.com/office/drawing/2014/main" id="{3C9B02DB-3B0D-CB63-9605-6D4A9F354855}"/>
              </a:ext>
            </a:extLst>
          </p:cNvPr>
          <p:cNvSpPr txBox="1"/>
          <p:nvPr/>
        </p:nvSpPr>
        <p:spPr>
          <a:xfrm>
            <a:off x="9973695" y="2519347"/>
            <a:ext cx="877163" cy="369332"/>
          </a:xfrm>
          <a:prstGeom prst="rect">
            <a:avLst/>
          </a:prstGeom>
          <a:noFill/>
        </p:spPr>
        <p:txBody>
          <a:bodyPr wrap="none" rtlCol="0">
            <a:spAutoFit/>
          </a:bodyPr>
          <a:lstStyle/>
          <a:p>
            <a:r>
              <a:rPr lang="en-US" b="1" dirty="0"/>
              <a:t>Amber</a:t>
            </a:r>
          </a:p>
        </p:txBody>
      </p:sp>
      <p:pic>
        <p:nvPicPr>
          <p:cNvPr id="3078" name="Picture 6" descr="Tv Icon in trendy flat style, Television symbol for web site design, logo,  app, UI. 8442038 Vector Art at Vecteezy">
            <a:extLst>
              <a:ext uri="{FF2B5EF4-FFF2-40B4-BE49-F238E27FC236}">
                <a16:creationId xmlns="" xmlns:a16="http://schemas.microsoft.com/office/drawing/2014/main" id="{D86190F7-BC51-95D8-EE87-4F308080164C}"/>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059" t="18080" r="22709" b="17971"/>
          <a:stretch/>
        </p:blipFill>
        <p:spPr bwMode="auto">
          <a:xfrm>
            <a:off x="4341526" y="2398952"/>
            <a:ext cx="3374730" cy="3979370"/>
          </a:xfrm>
          <a:prstGeom prst="rect">
            <a:avLst/>
          </a:prstGeom>
          <a:noFill/>
          <a:extLst>
            <a:ext uri="{909E8E84-426E-40DD-AFC4-6F175D3DCCD1}">
              <a14:hiddenFill xmlns:a14="http://schemas.microsoft.com/office/drawing/2010/main">
                <a:solidFill>
                  <a:srgbClr val="FFFFFF"/>
                </a:solidFill>
              </a14:hiddenFill>
            </a:ext>
          </a:extLst>
        </p:spPr>
      </p:pic>
      <p:pic>
        <p:nvPicPr>
          <p:cNvPr id="3" name="Static electricity experiment with amber">
            <a:hlinkClick r:id="" action="ppaction://media"/>
            <a:extLst>
              <a:ext uri="{FF2B5EF4-FFF2-40B4-BE49-F238E27FC236}">
                <a16:creationId xmlns="" xmlns:a16="http://schemas.microsoft.com/office/drawing/2014/main" id="{002159F7-55FB-B72C-2FA3-DC1C20C9E4CC}"/>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3564684" y="3237889"/>
            <a:ext cx="4928413" cy="2772234"/>
          </a:xfrm>
          <a:prstGeom prst="rect">
            <a:avLst/>
          </a:prstGeom>
          <a:ln w="76200">
            <a:solidFill>
              <a:srgbClr val="484848"/>
            </a:solidFill>
            <a:prstDash val="solid"/>
          </a:ln>
        </p:spPr>
      </p:pic>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497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074"/>
                                        </p:tgtEl>
                                        <p:attrNameLst>
                                          <p:attrName>style.visibility</p:attrName>
                                        </p:attrNameLst>
                                      </p:cBhvr>
                                      <p:to>
                                        <p:strVal val="visible"/>
                                      </p:to>
                                    </p:set>
                                    <p:animEffect transition="in" filter="randombar(horizontal)">
                                      <p:cBhvr>
                                        <p:cTn id="14" dur="500"/>
                                        <p:tgtEl>
                                          <p:spTgt spid="3074"/>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8">
                                            <p:txEl>
                                              <p:pRg st="2" end="2"/>
                                            </p:txEl>
                                          </p:spTgt>
                                        </p:tgtEl>
                                        <p:attrNameLst>
                                          <p:attrName>style.visibility</p:attrName>
                                        </p:attrNameLst>
                                      </p:cBhvr>
                                      <p:to>
                                        <p:strVal val="visible"/>
                                      </p:to>
                                    </p:set>
                                    <p:animEffect transition="in" filter="fade">
                                      <p:cBhvr>
                                        <p:cTn id="22" dur="1000"/>
                                        <p:tgtEl>
                                          <p:spTgt spid="138">
                                            <p:txEl>
                                              <p:pRg st="2" end="2"/>
                                            </p:txEl>
                                          </p:spTgt>
                                        </p:tgtEl>
                                      </p:cBhvr>
                                    </p:animEffect>
                                    <p:anim calcmode="lin" valueType="num">
                                      <p:cBhvr>
                                        <p:cTn id="23"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randombar(horizontal)">
                                      <p:cBhvr>
                                        <p:cTn id="29" dur="500"/>
                                        <p:tgtEl>
                                          <p:spTgt spid="3"/>
                                        </p:tgtEl>
                                      </p:cBhvr>
                                    </p:animEffect>
                                  </p:childTnLst>
                                </p:cTn>
                              </p:par>
                              <p:par>
                                <p:cTn id="30" presetID="14" presetClass="entr" presetSubtype="10" fill="hold" nodeType="withEffect">
                                  <p:stCondLst>
                                    <p:cond delay="0"/>
                                  </p:stCondLst>
                                  <p:childTnLst>
                                    <p:set>
                                      <p:cBhvr>
                                        <p:cTn id="31" dur="1" fill="hold">
                                          <p:stCondLst>
                                            <p:cond delay="0"/>
                                          </p:stCondLst>
                                        </p:cTn>
                                        <p:tgtEl>
                                          <p:spTgt spid="3078"/>
                                        </p:tgtEl>
                                        <p:attrNameLst>
                                          <p:attrName>style.visibility</p:attrName>
                                        </p:attrNameLst>
                                      </p:cBhvr>
                                      <p:to>
                                        <p:strVal val="visible"/>
                                      </p:to>
                                    </p:set>
                                    <p:animEffect transition="in" filter="randombar(horizontal)">
                                      <p:cBhvr>
                                        <p:cTn id="32"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3" fill="hold" display="0">
                  <p:stCondLst>
                    <p:cond delay="indefinite"/>
                  </p:stCondLst>
                </p:cTn>
                <p:tgtEl>
                  <p:spTgt spid="3"/>
                </p:tgtEl>
              </p:cMediaNode>
            </p:video>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Basics of Physics</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16</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409798" y="1975544"/>
            <a:ext cx="11238186"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solidFill>
                  <a:srgbClr val="282625"/>
                </a:solidFill>
                <a:latin typeface="+mj-lt"/>
              </a:rPr>
              <a:t>The new science of electromagnetism was developed further by workers in many countries. </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dirty="0">
                <a:solidFill>
                  <a:srgbClr val="282625"/>
                </a:solidFill>
                <a:latin typeface="+mj-lt"/>
              </a:rPr>
              <a:t>One of the best was Michael Faraday, a truly gifted experimenter with a talent for physical intuition and visualization. </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dirty="0">
                <a:solidFill>
                  <a:srgbClr val="282625"/>
                </a:solidFill>
                <a:latin typeface="+mj-lt"/>
              </a:rPr>
              <a:t>That talent is attested to by the fact that his collected laboratory notebooks do not contain a single equation. </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dirty="0">
                <a:solidFill>
                  <a:srgbClr val="282625"/>
                </a:solidFill>
                <a:latin typeface="+mj-lt"/>
              </a:rPr>
              <a:t>In the mid-nineteenth century, James Clerk Maxwell put Faraday’s ideas into mathematical form, introduced many new ideas of his own, and put electromagnetism on a sound theoretical basis.</a:t>
            </a:r>
            <a:endParaRPr lang="en-US" sz="2000" dirty="0">
              <a:latin typeface="+mj-lt"/>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826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2" end="2"/>
                                            </p:txEl>
                                          </p:spTgt>
                                        </p:tgtEl>
                                        <p:attrNameLst>
                                          <p:attrName>style.visibility</p:attrName>
                                        </p:attrNameLst>
                                      </p:cBhvr>
                                      <p:to>
                                        <p:strVal val="visible"/>
                                      </p:to>
                                    </p:set>
                                    <p:animEffect transition="in" filter="fade">
                                      <p:cBhvr>
                                        <p:cTn id="14" dur="1000"/>
                                        <p:tgtEl>
                                          <p:spTgt spid="138">
                                            <p:txEl>
                                              <p:pRg st="2" end="2"/>
                                            </p:txEl>
                                          </p:spTgt>
                                        </p:tgtEl>
                                      </p:cBhvr>
                                    </p:animEffect>
                                    <p:anim calcmode="lin" valueType="num">
                                      <p:cBhvr>
                                        <p:cTn id="15"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
                                            <p:txEl>
                                              <p:pRg st="4" end="4"/>
                                            </p:txEl>
                                          </p:spTgt>
                                        </p:tgtEl>
                                        <p:attrNameLst>
                                          <p:attrName>style.visibility</p:attrName>
                                        </p:attrNameLst>
                                      </p:cBhvr>
                                      <p:to>
                                        <p:strVal val="visible"/>
                                      </p:to>
                                    </p:set>
                                    <p:animEffect transition="in" filter="fade">
                                      <p:cBhvr>
                                        <p:cTn id="21" dur="1000"/>
                                        <p:tgtEl>
                                          <p:spTgt spid="138">
                                            <p:txEl>
                                              <p:pRg st="4" end="4"/>
                                            </p:txEl>
                                          </p:spTgt>
                                        </p:tgtEl>
                                      </p:cBhvr>
                                    </p:animEffect>
                                    <p:anim calcmode="lin" valueType="num">
                                      <p:cBhvr>
                                        <p:cTn id="22"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8">
                                            <p:txEl>
                                              <p:pRg st="6" end="6"/>
                                            </p:txEl>
                                          </p:spTgt>
                                        </p:tgtEl>
                                        <p:attrNameLst>
                                          <p:attrName>style.visibility</p:attrName>
                                        </p:attrNameLst>
                                      </p:cBhvr>
                                      <p:to>
                                        <p:strVal val="visible"/>
                                      </p:to>
                                    </p:set>
                                    <p:animEffect transition="in" filter="fade">
                                      <p:cBhvr>
                                        <p:cTn id="28" dur="1000"/>
                                        <p:tgtEl>
                                          <p:spTgt spid="138">
                                            <p:txEl>
                                              <p:pRg st="6" end="6"/>
                                            </p:txEl>
                                          </p:spTgt>
                                        </p:tgtEl>
                                      </p:cBhvr>
                                    </p:animEffect>
                                    <p:anim calcmode="lin" valueType="num">
                                      <p:cBhvr>
                                        <p:cTn id="29" dur="1000" fill="hold"/>
                                        <p:tgtEl>
                                          <p:spTgt spid="138">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3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Electric Charge</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17</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28823" y="1465523"/>
            <a:ext cx="10480452"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2800" dirty="0" smtClean="0">
                <a:solidFill>
                  <a:srgbClr val="282625"/>
                </a:solidFill>
                <a:latin typeface="+mj-lt"/>
              </a:rPr>
              <a:t>It is the basic property of matter carried by some elementary particles that governs how the particles are affected by an electric or magnetic field.</a:t>
            </a:r>
          </a:p>
          <a:p>
            <a:pPr marL="285750" indent="-285750" algn="just">
              <a:buFont typeface="Arial" panose="020B0604020202020204" pitchFamily="34" charset="0"/>
              <a:buChar char="•"/>
            </a:pPr>
            <a:r>
              <a:rPr lang="en-US" sz="2800" dirty="0" smtClean="0">
                <a:solidFill>
                  <a:srgbClr val="282625"/>
                </a:solidFill>
                <a:latin typeface="+mj-lt"/>
              </a:rPr>
              <a:t>Electric charge could be positive or negative.</a:t>
            </a:r>
            <a:endParaRPr lang="en-US" sz="2800" dirty="0">
              <a:latin typeface="+mj-lt"/>
            </a:endParaRPr>
          </a:p>
          <a:p>
            <a:pPr marL="285750" indent="-285750" algn="just">
              <a:buFont typeface="Arial" panose="020B0604020202020204" pitchFamily="34" charset="0"/>
              <a:buChar char="•"/>
            </a:pPr>
            <a:r>
              <a:rPr lang="en-US" sz="2800" dirty="0" smtClean="0">
                <a:solidFill>
                  <a:srgbClr val="282625"/>
                </a:solidFill>
                <a:latin typeface="+mj-lt"/>
              </a:rPr>
              <a:t>There are two types of charges positive and negative charge.</a:t>
            </a:r>
          </a:p>
          <a:p>
            <a:pPr marL="285750" indent="-285750" algn="just">
              <a:buFont typeface="Arial" panose="020B0604020202020204" pitchFamily="34" charset="0"/>
              <a:buChar char="•"/>
            </a:pPr>
            <a:r>
              <a:rPr lang="en-US" sz="2800" dirty="0" smtClean="0">
                <a:solidFill>
                  <a:srgbClr val="282625"/>
                </a:solidFill>
                <a:latin typeface="+mj-lt"/>
              </a:rPr>
              <a:t>When two objects that have an excess of one type of charge exert a force of repulsion on each other when relatively close together.</a:t>
            </a:r>
          </a:p>
          <a:p>
            <a:pPr marL="285750" indent="-285750" algn="just">
              <a:buFont typeface="Arial" panose="020B0604020202020204" pitchFamily="34" charset="0"/>
              <a:buChar char="•"/>
            </a:pPr>
            <a:r>
              <a:rPr lang="en-US" sz="2800" dirty="0" smtClean="0">
                <a:solidFill>
                  <a:srgbClr val="282625"/>
                </a:solidFill>
                <a:latin typeface="+mj-lt"/>
              </a:rPr>
              <a:t>Opposite charges will attract each other and same charges will repel each other.</a:t>
            </a:r>
          </a:p>
          <a:p>
            <a:pPr marL="285750" indent="-285750" algn="just">
              <a:buFont typeface="Arial" panose="020B0604020202020204" pitchFamily="34" charset="0"/>
              <a:buChar char="•"/>
            </a:pPr>
            <a:endParaRPr lang="en-US" sz="2800" dirty="0" smtClean="0">
              <a:solidFill>
                <a:srgbClr val="282625"/>
              </a:solidFill>
              <a:latin typeface="+mj-lt"/>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 xmlns:a16="http://schemas.microsoft.com/office/drawing/2014/main" id="{2D38184B-CD40-75E4-F6F3-216C07209610}"/>
              </a:ext>
            </a:extLst>
          </p:cNvPr>
          <p:cNvSpPr/>
          <p:nvPr/>
        </p:nvSpPr>
        <p:spPr>
          <a:xfrm>
            <a:off x="7699375" y="4899025"/>
            <a:ext cx="3009900" cy="758825"/>
          </a:xfrm>
          <a:custGeom>
            <a:avLst/>
            <a:gdLst>
              <a:gd name="connsiteX0" fmla="*/ 0 w 3009900"/>
              <a:gd name="connsiteY0" fmla="*/ 387350 h 758825"/>
              <a:gd name="connsiteX1" fmla="*/ 2225675 w 3009900"/>
              <a:gd name="connsiteY1" fmla="*/ 0 h 758825"/>
              <a:gd name="connsiteX2" fmla="*/ 2955925 w 3009900"/>
              <a:gd name="connsiteY2" fmla="*/ 79375 h 758825"/>
              <a:gd name="connsiteX3" fmla="*/ 3009900 w 3009900"/>
              <a:gd name="connsiteY3" fmla="*/ 311150 h 758825"/>
              <a:gd name="connsiteX4" fmla="*/ 2432050 w 3009900"/>
              <a:gd name="connsiteY4" fmla="*/ 361950 h 758825"/>
              <a:gd name="connsiteX5" fmla="*/ 2124075 w 3009900"/>
              <a:gd name="connsiteY5" fmla="*/ 368300 h 758825"/>
              <a:gd name="connsiteX6" fmla="*/ 1816100 w 3009900"/>
              <a:gd name="connsiteY6" fmla="*/ 422275 h 758825"/>
              <a:gd name="connsiteX7" fmla="*/ 88900 w 3009900"/>
              <a:gd name="connsiteY7" fmla="*/ 758825 h 758825"/>
              <a:gd name="connsiteX8" fmla="*/ 0 w 3009900"/>
              <a:gd name="connsiteY8" fmla="*/ 38735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9900" h="758825">
                <a:moveTo>
                  <a:pt x="0" y="387350"/>
                </a:moveTo>
                <a:lnTo>
                  <a:pt x="2225675" y="0"/>
                </a:lnTo>
                <a:lnTo>
                  <a:pt x="2955925" y="79375"/>
                </a:lnTo>
                <a:lnTo>
                  <a:pt x="3009900" y="311150"/>
                </a:lnTo>
                <a:lnTo>
                  <a:pt x="2432050" y="361950"/>
                </a:lnTo>
                <a:lnTo>
                  <a:pt x="2124075" y="368300"/>
                </a:lnTo>
                <a:lnTo>
                  <a:pt x="1816100" y="422275"/>
                </a:lnTo>
                <a:lnTo>
                  <a:pt x="88900" y="758825"/>
                </a:lnTo>
                <a:lnTo>
                  <a:pt x="0" y="38735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840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8">
                                            <p:txEl>
                                              <p:pRg st="0" end="0"/>
                                            </p:txEl>
                                          </p:spTgt>
                                        </p:tgtEl>
                                        <p:attrNameLst>
                                          <p:attrName>style.visibility</p:attrName>
                                        </p:attrNameLst>
                                      </p:cBhvr>
                                      <p:to>
                                        <p:strVal val="visible"/>
                                      </p:to>
                                    </p:set>
                                    <p:anim calcmode="lin" valueType="num">
                                      <p:cBhvr additive="base">
                                        <p:cTn id="18" dur="500" fill="hold"/>
                                        <p:tgtEl>
                                          <p:spTgt spid="138">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8">
                                            <p:txEl>
                                              <p:pRg st="1" end="1"/>
                                            </p:txEl>
                                          </p:spTgt>
                                        </p:tgtEl>
                                        <p:attrNameLst>
                                          <p:attrName>style.visibility</p:attrName>
                                        </p:attrNameLst>
                                      </p:cBhvr>
                                      <p:to>
                                        <p:strVal val="visible"/>
                                      </p:to>
                                    </p:set>
                                    <p:anim calcmode="lin" valueType="num">
                                      <p:cBhvr additive="base">
                                        <p:cTn id="24" dur="500" fill="hold"/>
                                        <p:tgtEl>
                                          <p:spTgt spid="138">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38">
                                            <p:txEl>
                                              <p:pRg st="2" end="2"/>
                                            </p:txEl>
                                          </p:spTgt>
                                        </p:tgtEl>
                                        <p:attrNameLst>
                                          <p:attrName>style.visibility</p:attrName>
                                        </p:attrNameLst>
                                      </p:cBhvr>
                                      <p:to>
                                        <p:strVal val="visible"/>
                                      </p:to>
                                    </p:set>
                                    <p:anim calcmode="lin" valueType="num">
                                      <p:cBhvr additive="base">
                                        <p:cTn id="30" dur="500" fill="hold"/>
                                        <p:tgtEl>
                                          <p:spTgt spid="138">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38">
                                            <p:txEl>
                                              <p:pRg st="3" end="3"/>
                                            </p:txEl>
                                          </p:spTgt>
                                        </p:tgtEl>
                                        <p:attrNameLst>
                                          <p:attrName>style.visibility</p:attrName>
                                        </p:attrNameLst>
                                      </p:cBhvr>
                                      <p:to>
                                        <p:strVal val="visible"/>
                                      </p:to>
                                    </p:set>
                                    <p:anim calcmode="lin" valueType="num">
                                      <p:cBhvr additive="base">
                                        <p:cTn id="36" dur="500" fill="hold"/>
                                        <p:tgtEl>
                                          <p:spTgt spid="138">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3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38">
                                            <p:txEl>
                                              <p:pRg st="4" end="4"/>
                                            </p:txEl>
                                          </p:spTgt>
                                        </p:tgtEl>
                                        <p:attrNameLst>
                                          <p:attrName>style.visibility</p:attrName>
                                        </p:attrNameLst>
                                      </p:cBhvr>
                                      <p:to>
                                        <p:strVal val="visible"/>
                                      </p:to>
                                    </p:set>
                                    <p:anim calcmode="lin" valueType="num">
                                      <p:cBhvr additive="base">
                                        <p:cTn id="42" dur="500" fill="hold"/>
                                        <p:tgtEl>
                                          <p:spTgt spid="138">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3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Electric </a:t>
            </a:r>
            <a:r>
              <a:rPr lang="en-US" sz="3000" dirty="0" smtClean="0"/>
              <a:t>Charge(s)</a:t>
            </a:r>
            <a:endParaRPr lang="en-US" sz="3000" dirty="0"/>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18</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 xmlns:a16="http://schemas.microsoft.com/office/drawing/2014/main" id="{2D38184B-CD40-75E4-F6F3-216C07209610}"/>
              </a:ext>
            </a:extLst>
          </p:cNvPr>
          <p:cNvSpPr/>
          <p:nvPr/>
        </p:nvSpPr>
        <p:spPr>
          <a:xfrm>
            <a:off x="7699375" y="4899025"/>
            <a:ext cx="3009900" cy="758825"/>
          </a:xfrm>
          <a:custGeom>
            <a:avLst/>
            <a:gdLst>
              <a:gd name="connsiteX0" fmla="*/ 0 w 3009900"/>
              <a:gd name="connsiteY0" fmla="*/ 387350 h 758825"/>
              <a:gd name="connsiteX1" fmla="*/ 2225675 w 3009900"/>
              <a:gd name="connsiteY1" fmla="*/ 0 h 758825"/>
              <a:gd name="connsiteX2" fmla="*/ 2955925 w 3009900"/>
              <a:gd name="connsiteY2" fmla="*/ 79375 h 758825"/>
              <a:gd name="connsiteX3" fmla="*/ 3009900 w 3009900"/>
              <a:gd name="connsiteY3" fmla="*/ 311150 h 758825"/>
              <a:gd name="connsiteX4" fmla="*/ 2432050 w 3009900"/>
              <a:gd name="connsiteY4" fmla="*/ 361950 h 758825"/>
              <a:gd name="connsiteX5" fmla="*/ 2124075 w 3009900"/>
              <a:gd name="connsiteY5" fmla="*/ 368300 h 758825"/>
              <a:gd name="connsiteX6" fmla="*/ 1816100 w 3009900"/>
              <a:gd name="connsiteY6" fmla="*/ 422275 h 758825"/>
              <a:gd name="connsiteX7" fmla="*/ 88900 w 3009900"/>
              <a:gd name="connsiteY7" fmla="*/ 758825 h 758825"/>
              <a:gd name="connsiteX8" fmla="*/ 0 w 3009900"/>
              <a:gd name="connsiteY8" fmla="*/ 38735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9900" h="758825">
                <a:moveTo>
                  <a:pt x="0" y="387350"/>
                </a:moveTo>
                <a:lnTo>
                  <a:pt x="2225675" y="0"/>
                </a:lnTo>
                <a:lnTo>
                  <a:pt x="2955925" y="79375"/>
                </a:lnTo>
                <a:lnTo>
                  <a:pt x="3009900" y="311150"/>
                </a:lnTo>
                <a:lnTo>
                  <a:pt x="2432050" y="361950"/>
                </a:lnTo>
                <a:lnTo>
                  <a:pt x="2124075" y="368300"/>
                </a:lnTo>
                <a:lnTo>
                  <a:pt x="1816100" y="422275"/>
                </a:lnTo>
                <a:lnTo>
                  <a:pt x="88900" y="758825"/>
                </a:lnTo>
                <a:lnTo>
                  <a:pt x="0" y="38735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3668" y="2018607"/>
            <a:ext cx="3809524" cy="2342857"/>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2968" y="1572363"/>
            <a:ext cx="5263032" cy="3404624"/>
          </a:xfrm>
          <a:prstGeom prst="rect">
            <a:avLst/>
          </a:prstGeom>
        </p:spPr>
      </p:pic>
    </p:spTree>
    <p:extLst>
      <p:ext uri="{BB962C8B-B14F-4D97-AF65-F5344CB8AC3E}">
        <p14:creationId xmlns:p14="http://schemas.microsoft.com/office/powerpoint/2010/main" val="1614736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Conductors and Insulators</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19</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81099" y="1272721"/>
            <a:ext cx="11629801"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solidFill>
                  <a:srgbClr val="282625"/>
                </a:solidFill>
                <a:latin typeface="+mj-lt"/>
              </a:rPr>
              <a:t>We can classify materials generally according to the ability of charge to move through them.</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b="1" dirty="0">
                <a:latin typeface="+mj-lt"/>
              </a:rPr>
              <a:t>Conductors</a:t>
            </a:r>
            <a:r>
              <a:rPr lang="en-US" sz="2000" dirty="0">
                <a:latin typeface="+mj-lt"/>
              </a:rPr>
              <a:t> are materials through which charge can move rather freely; </a:t>
            </a:r>
          </a:p>
          <a:p>
            <a:pPr marL="285750" indent="-285750" algn="just">
              <a:buFont typeface="Arial" panose="020B0604020202020204" pitchFamily="34" charset="0"/>
              <a:buChar char="•"/>
            </a:pPr>
            <a:endParaRPr lang="en-US" sz="2000" dirty="0">
              <a:latin typeface="+mj-lt"/>
            </a:endParaRPr>
          </a:p>
          <a:p>
            <a:pPr marL="285750" indent="-285750" algn="just">
              <a:buFont typeface="Arial" panose="020B0604020202020204" pitchFamily="34" charset="0"/>
              <a:buChar char="•"/>
            </a:pPr>
            <a:r>
              <a:rPr lang="en-US" sz="2000" dirty="0">
                <a:latin typeface="+mj-lt"/>
              </a:rPr>
              <a:t>Examples include metals (such as copper in common lamp wire), the human body, and tap water. </a:t>
            </a:r>
          </a:p>
          <a:p>
            <a:pPr marL="285750" indent="-285750" algn="just">
              <a:buFont typeface="Arial" panose="020B0604020202020204" pitchFamily="34" charset="0"/>
              <a:buChar char="•"/>
            </a:pPr>
            <a:endParaRPr lang="en-US" sz="2000" dirty="0">
              <a:latin typeface="+mj-lt"/>
            </a:endParaRPr>
          </a:p>
          <a:p>
            <a:pPr marL="285750" indent="-285750" algn="just">
              <a:buFont typeface="Arial" panose="020B0604020202020204" pitchFamily="34" charset="0"/>
              <a:buChar char="•"/>
            </a:pPr>
            <a:r>
              <a:rPr lang="en-US" sz="2000" b="1" dirty="0">
                <a:latin typeface="+mj-lt"/>
              </a:rPr>
              <a:t>Nonconductors</a:t>
            </a:r>
            <a:r>
              <a:rPr lang="en-US" sz="2000" dirty="0">
                <a:latin typeface="+mj-lt"/>
              </a:rPr>
              <a:t>—also called insulators—are materials through which charge cannot move freely; </a:t>
            </a:r>
          </a:p>
          <a:p>
            <a:pPr marL="285750" indent="-285750" algn="just">
              <a:buFont typeface="Arial" panose="020B0604020202020204" pitchFamily="34" charset="0"/>
              <a:buChar char="•"/>
            </a:pPr>
            <a:endParaRPr lang="en-US" sz="2000" dirty="0">
              <a:latin typeface="+mj-lt"/>
            </a:endParaRPr>
          </a:p>
          <a:p>
            <a:pPr marL="285750" indent="-285750" algn="just">
              <a:buFont typeface="Arial" panose="020B0604020202020204" pitchFamily="34" charset="0"/>
              <a:buChar char="•"/>
            </a:pPr>
            <a:r>
              <a:rPr lang="en-US" sz="2000" dirty="0">
                <a:latin typeface="+mj-lt"/>
              </a:rPr>
              <a:t>Examples include rubber (such as the insulation on common lamp wire), plastic, glass, and chemically pure water. </a:t>
            </a:r>
          </a:p>
          <a:p>
            <a:pPr marL="285750" indent="-285750" algn="just">
              <a:buFont typeface="Arial" panose="020B0604020202020204" pitchFamily="34" charset="0"/>
              <a:buChar char="•"/>
            </a:pPr>
            <a:endParaRPr lang="en-US" sz="2000" dirty="0">
              <a:latin typeface="+mj-lt"/>
            </a:endParaRPr>
          </a:p>
          <a:p>
            <a:pPr marL="285750" indent="-285750" algn="just">
              <a:buFont typeface="Arial" panose="020B0604020202020204" pitchFamily="34" charset="0"/>
              <a:buChar char="•"/>
            </a:pPr>
            <a:r>
              <a:rPr lang="en-US" sz="2000" b="1" dirty="0">
                <a:latin typeface="+mj-lt"/>
              </a:rPr>
              <a:t>Semiconductors</a:t>
            </a:r>
            <a:r>
              <a:rPr lang="en-US" sz="2000" dirty="0">
                <a:latin typeface="+mj-lt"/>
              </a:rPr>
              <a:t> are materials that are intermediate between conductors and insulators; examples include silicon and germanium in computer chips. </a:t>
            </a:r>
          </a:p>
          <a:p>
            <a:pPr marL="285750" indent="-285750" algn="just">
              <a:buFont typeface="Arial" panose="020B0604020202020204" pitchFamily="34" charset="0"/>
              <a:buChar char="•"/>
            </a:pPr>
            <a:endParaRPr lang="en-US" sz="2000" dirty="0">
              <a:latin typeface="+mj-lt"/>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53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2" end="2"/>
                                            </p:txEl>
                                          </p:spTgt>
                                        </p:tgtEl>
                                        <p:attrNameLst>
                                          <p:attrName>style.visibility</p:attrName>
                                        </p:attrNameLst>
                                      </p:cBhvr>
                                      <p:to>
                                        <p:strVal val="visible"/>
                                      </p:to>
                                    </p:set>
                                    <p:animEffect transition="in" filter="fade">
                                      <p:cBhvr>
                                        <p:cTn id="14" dur="1000"/>
                                        <p:tgtEl>
                                          <p:spTgt spid="138">
                                            <p:txEl>
                                              <p:pRg st="2" end="2"/>
                                            </p:txEl>
                                          </p:spTgt>
                                        </p:tgtEl>
                                      </p:cBhvr>
                                    </p:animEffect>
                                    <p:anim calcmode="lin" valueType="num">
                                      <p:cBhvr>
                                        <p:cTn id="15"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
                                            <p:txEl>
                                              <p:pRg st="4" end="4"/>
                                            </p:txEl>
                                          </p:spTgt>
                                        </p:tgtEl>
                                        <p:attrNameLst>
                                          <p:attrName>style.visibility</p:attrName>
                                        </p:attrNameLst>
                                      </p:cBhvr>
                                      <p:to>
                                        <p:strVal val="visible"/>
                                      </p:to>
                                    </p:set>
                                    <p:animEffect transition="in" filter="fade">
                                      <p:cBhvr>
                                        <p:cTn id="21" dur="1000"/>
                                        <p:tgtEl>
                                          <p:spTgt spid="138">
                                            <p:txEl>
                                              <p:pRg st="4" end="4"/>
                                            </p:txEl>
                                          </p:spTgt>
                                        </p:tgtEl>
                                      </p:cBhvr>
                                    </p:animEffect>
                                    <p:anim calcmode="lin" valueType="num">
                                      <p:cBhvr>
                                        <p:cTn id="22"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8">
                                            <p:txEl>
                                              <p:pRg st="6" end="6"/>
                                            </p:txEl>
                                          </p:spTgt>
                                        </p:tgtEl>
                                        <p:attrNameLst>
                                          <p:attrName>style.visibility</p:attrName>
                                        </p:attrNameLst>
                                      </p:cBhvr>
                                      <p:to>
                                        <p:strVal val="visible"/>
                                      </p:to>
                                    </p:set>
                                    <p:animEffect transition="in" filter="fade">
                                      <p:cBhvr>
                                        <p:cTn id="28" dur="1000"/>
                                        <p:tgtEl>
                                          <p:spTgt spid="138">
                                            <p:txEl>
                                              <p:pRg st="6" end="6"/>
                                            </p:txEl>
                                          </p:spTgt>
                                        </p:tgtEl>
                                      </p:cBhvr>
                                    </p:animEffect>
                                    <p:anim calcmode="lin" valueType="num">
                                      <p:cBhvr>
                                        <p:cTn id="29" dur="1000" fill="hold"/>
                                        <p:tgtEl>
                                          <p:spTgt spid="138">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8">
                                            <p:txEl>
                                              <p:pRg st="8" end="8"/>
                                            </p:txEl>
                                          </p:spTgt>
                                        </p:tgtEl>
                                        <p:attrNameLst>
                                          <p:attrName>style.visibility</p:attrName>
                                        </p:attrNameLst>
                                      </p:cBhvr>
                                      <p:to>
                                        <p:strVal val="visible"/>
                                      </p:to>
                                    </p:set>
                                    <p:animEffect transition="in" filter="fade">
                                      <p:cBhvr>
                                        <p:cTn id="35" dur="1000"/>
                                        <p:tgtEl>
                                          <p:spTgt spid="138">
                                            <p:txEl>
                                              <p:pRg st="8" end="8"/>
                                            </p:txEl>
                                          </p:spTgt>
                                        </p:tgtEl>
                                      </p:cBhvr>
                                    </p:animEffect>
                                    <p:anim calcmode="lin" valueType="num">
                                      <p:cBhvr>
                                        <p:cTn id="36" dur="1000" fill="hold"/>
                                        <p:tgtEl>
                                          <p:spTgt spid="138">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13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38">
                                            <p:txEl>
                                              <p:pRg st="10" end="10"/>
                                            </p:txEl>
                                          </p:spTgt>
                                        </p:tgtEl>
                                        <p:attrNameLst>
                                          <p:attrName>style.visibility</p:attrName>
                                        </p:attrNameLst>
                                      </p:cBhvr>
                                      <p:to>
                                        <p:strVal val="visible"/>
                                      </p:to>
                                    </p:set>
                                    <p:animEffect transition="in" filter="fade">
                                      <p:cBhvr>
                                        <p:cTn id="42" dur="1000"/>
                                        <p:tgtEl>
                                          <p:spTgt spid="138">
                                            <p:txEl>
                                              <p:pRg st="10" end="10"/>
                                            </p:txEl>
                                          </p:spTgt>
                                        </p:tgtEl>
                                      </p:cBhvr>
                                    </p:animEffect>
                                    <p:anim calcmode="lin" valueType="num">
                                      <p:cBhvr>
                                        <p:cTn id="43" dur="1000" fill="hold"/>
                                        <p:tgtEl>
                                          <p:spTgt spid="138">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13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r>
              <a:rPr lang="en-US" sz="3000" dirty="0"/>
              <a:t>Conductors and Insulators</a:t>
            </a:r>
            <a:br>
              <a:rPr lang="en-US" sz="3000" dirty="0"/>
            </a:br>
            <a:r>
              <a:rPr lang="en-US" sz="3000" dirty="0"/>
              <a:t>- Charged Particles</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20</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81099" y="1245570"/>
            <a:ext cx="8920051"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solidFill>
                  <a:srgbClr val="282625"/>
                </a:solidFill>
                <a:latin typeface="+mj-lt"/>
              </a:rPr>
              <a:t>The properties of conductors and insulators are due to the structure and electrical nature of atoms. </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dirty="0">
                <a:solidFill>
                  <a:srgbClr val="282625"/>
                </a:solidFill>
                <a:latin typeface="+mj-lt"/>
              </a:rPr>
              <a:t>Atoms consist of positively charged protons, negatively charged electrons, and electrically neutral neutrons. </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dirty="0">
                <a:solidFill>
                  <a:srgbClr val="282625"/>
                </a:solidFill>
                <a:latin typeface="+mj-lt"/>
              </a:rPr>
              <a:t>The protons and neutrons are packed tightly together in a central nucleus.</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dirty="0">
                <a:latin typeface="+mj-lt"/>
              </a:rPr>
              <a:t>The charge of a single electron and that of a single proton have the same magnitude but are opposite in sign. </a:t>
            </a: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 xmlns:a16="http://schemas.microsoft.com/office/drawing/2014/main" id="{EE8E60CA-6326-6321-5FDF-0C05B919DC7E}"/>
              </a:ext>
            </a:extLst>
          </p:cNvPr>
          <p:cNvSpPr txBox="1"/>
          <p:nvPr/>
        </p:nvSpPr>
        <p:spPr>
          <a:xfrm>
            <a:off x="281099" y="4477897"/>
            <a:ext cx="11629801" cy="132343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Hence, an electrically neutral atom contains equal numbers of electrons and protons. </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Electrons are held near the nucleus because they have the electrical sign opposite that of the protons in the nucleus and thus are attracted to the nucleus. </a:t>
            </a:r>
            <a:endParaRPr lang="en-US" sz="2000" dirty="0">
              <a:latin typeface="+mj-lt"/>
            </a:endParaRPr>
          </a:p>
        </p:txBody>
      </p:sp>
      <p:pic>
        <p:nvPicPr>
          <p:cNvPr id="6146" name="Picture 2" descr="3d render of atom structure of copper isolated over white background  Protons are represented as red spheres, neutron as yellow spheres,  electrons as b Stock Photo - Alamy">
            <a:extLst>
              <a:ext uri="{FF2B5EF4-FFF2-40B4-BE49-F238E27FC236}">
                <a16:creationId xmlns="" xmlns:a16="http://schemas.microsoft.com/office/drawing/2014/main" id="{179720E4-D180-677D-2D0D-F7531337BB2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826" t="3949" r="4230" b="10000"/>
          <a:stretch/>
        </p:blipFill>
        <p:spPr bwMode="auto">
          <a:xfrm>
            <a:off x="9369488" y="1337435"/>
            <a:ext cx="2541412" cy="2743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736FB2A0-4477-ADBF-D3E0-2EFF505F8B39}"/>
              </a:ext>
            </a:extLst>
          </p:cNvPr>
          <p:cNvSpPr txBox="1"/>
          <p:nvPr/>
        </p:nvSpPr>
        <p:spPr>
          <a:xfrm>
            <a:off x="9387254" y="4022766"/>
            <a:ext cx="2689904" cy="369332"/>
          </a:xfrm>
          <a:prstGeom prst="rect">
            <a:avLst/>
          </a:prstGeom>
          <a:noFill/>
        </p:spPr>
        <p:txBody>
          <a:bodyPr wrap="none" rtlCol="0">
            <a:spAutoFit/>
          </a:bodyPr>
          <a:lstStyle/>
          <a:p>
            <a:r>
              <a:rPr lang="en-US" b="1" dirty="0"/>
              <a:t>Copper Atomic Structure</a:t>
            </a:r>
          </a:p>
        </p:txBody>
      </p:sp>
    </p:spTree>
    <p:extLst>
      <p:ext uri="{BB962C8B-B14F-4D97-AF65-F5344CB8AC3E}">
        <p14:creationId xmlns:p14="http://schemas.microsoft.com/office/powerpoint/2010/main" val="28365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2" end="2"/>
                                            </p:txEl>
                                          </p:spTgt>
                                        </p:tgtEl>
                                        <p:attrNameLst>
                                          <p:attrName>style.visibility</p:attrName>
                                        </p:attrNameLst>
                                      </p:cBhvr>
                                      <p:to>
                                        <p:strVal val="visible"/>
                                      </p:to>
                                    </p:set>
                                    <p:animEffect transition="in" filter="fade">
                                      <p:cBhvr>
                                        <p:cTn id="14" dur="1000"/>
                                        <p:tgtEl>
                                          <p:spTgt spid="138">
                                            <p:txEl>
                                              <p:pRg st="2" end="2"/>
                                            </p:txEl>
                                          </p:spTgt>
                                        </p:tgtEl>
                                      </p:cBhvr>
                                    </p:animEffect>
                                    <p:anim calcmode="lin" valueType="num">
                                      <p:cBhvr>
                                        <p:cTn id="15"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2" end="2"/>
                                            </p:txEl>
                                          </p:spTgt>
                                        </p:tgtEl>
                                        <p:attrNameLst>
                                          <p:attrName>ppt_y</p:attrName>
                                        </p:attrNameLst>
                                      </p:cBhvr>
                                      <p:tavLst>
                                        <p:tav tm="0">
                                          <p:val>
                                            <p:strVal val="#ppt_y+.1"/>
                                          </p:val>
                                        </p:tav>
                                        <p:tav tm="100000">
                                          <p:val>
                                            <p:strVal val="#ppt_y"/>
                                          </p:val>
                                        </p:tav>
                                      </p:tavLst>
                                    </p:anim>
                                  </p:childTnLst>
                                </p:cTn>
                              </p:par>
                              <p:par>
                                <p:cTn id="17" presetID="14" presetClass="entr" presetSubtype="1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randombar(horizontal)">
                                      <p:cBhvr>
                                        <p:cTn id="19" dur="500"/>
                                        <p:tgtEl>
                                          <p:spTgt spid="3"/>
                                        </p:tgtEl>
                                      </p:cBhvr>
                                    </p:animEffect>
                                  </p:childTnLst>
                                </p:cTn>
                              </p:par>
                              <p:par>
                                <p:cTn id="20" presetID="14" presetClass="entr" presetSubtype="10" fill="hold" nodeType="withEffect">
                                  <p:stCondLst>
                                    <p:cond delay="0"/>
                                  </p:stCondLst>
                                  <p:childTnLst>
                                    <p:set>
                                      <p:cBhvr>
                                        <p:cTn id="21" dur="1" fill="hold">
                                          <p:stCondLst>
                                            <p:cond delay="0"/>
                                          </p:stCondLst>
                                        </p:cTn>
                                        <p:tgtEl>
                                          <p:spTgt spid="6146"/>
                                        </p:tgtEl>
                                        <p:attrNameLst>
                                          <p:attrName>style.visibility</p:attrName>
                                        </p:attrNameLst>
                                      </p:cBhvr>
                                      <p:to>
                                        <p:strVal val="visible"/>
                                      </p:to>
                                    </p:set>
                                    <p:animEffect transition="in" filter="randombar(horizontal)">
                                      <p:cBhvr>
                                        <p:cTn id="22" dur="500"/>
                                        <p:tgtEl>
                                          <p:spTgt spid="6146"/>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38">
                                            <p:txEl>
                                              <p:pRg st="4" end="4"/>
                                            </p:txEl>
                                          </p:spTgt>
                                        </p:tgtEl>
                                        <p:attrNameLst>
                                          <p:attrName>style.visibility</p:attrName>
                                        </p:attrNameLst>
                                      </p:cBhvr>
                                      <p:to>
                                        <p:strVal val="visible"/>
                                      </p:to>
                                    </p:set>
                                    <p:animEffect transition="in" filter="fade">
                                      <p:cBhvr>
                                        <p:cTn id="27" dur="1000"/>
                                        <p:tgtEl>
                                          <p:spTgt spid="138">
                                            <p:txEl>
                                              <p:pRg st="4" end="4"/>
                                            </p:txEl>
                                          </p:spTgt>
                                        </p:tgtEl>
                                      </p:cBhvr>
                                    </p:animEffect>
                                    <p:anim calcmode="lin" valueType="num">
                                      <p:cBhvr>
                                        <p:cTn id="28"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38">
                                            <p:txEl>
                                              <p:pRg st="6" end="6"/>
                                            </p:txEl>
                                          </p:spTgt>
                                        </p:tgtEl>
                                        <p:attrNameLst>
                                          <p:attrName>style.visibility</p:attrName>
                                        </p:attrNameLst>
                                      </p:cBhvr>
                                      <p:to>
                                        <p:strVal val="visible"/>
                                      </p:to>
                                    </p:set>
                                    <p:animEffect transition="in" filter="fade">
                                      <p:cBhvr>
                                        <p:cTn id="34" dur="1000"/>
                                        <p:tgtEl>
                                          <p:spTgt spid="138">
                                            <p:txEl>
                                              <p:pRg st="6" end="6"/>
                                            </p:txEl>
                                          </p:spTgt>
                                        </p:tgtEl>
                                      </p:cBhvr>
                                    </p:animEffect>
                                    <p:anim calcmode="lin" valueType="num">
                                      <p:cBhvr>
                                        <p:cTn id="35" dur="1000" fill="hold"/>
                                        <p:tgtEl>
                                          <p:spTgt spid="138">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
                                            <p:txEl>
                                              <p:pRg st="0" end="0"/>
                                            </p:txEl>
                                          </p:spTgt>
                                        </p:tgtEl>
                                        <p:attrNameLst>
                                          <p:attrName>style.visibility</p:attrName>
                                        </p:attrNameLst>
                                      </p:cBhvr>
                                      <p:to>
                                        <p:strVal val="visible"/>
                                      </p:to>
                                    </p:set>
                                    <p:animEffect transition="in" filter="fade">
                                      <p:cBhvr>
                                        <p:cTn id="41" dur="1000"/>
                                        <p:tgtEl>
                                          <p:spTgt spid="2">
                                            <p:txEl>
                                              <p:pRg st="0" end="0"/>
                                            </p:txEl>
                                          </p:spTgt>
                                        </p:tgtEl>
                                      </p:cBhvr>
                                    </p:animEffect>
                                    <p:anim calcmode="lin" valueType="num">
                                      <p:cBhvr>
                                        <p:cTn id="4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
                                            <p:txEl>
                                              <p:pRg st="2" end="2"/>
                                            </p:txEl>
                                          </p:spTgt>
                                        </p:tgtEl>
                                        <p:attrNameLst>
                                          <p:attrName>style.visibility</p:attrName>
                                        </p:attrNameLst>
                                      </p:cBhvr>
                                      <p:to>
                                        <p:strVal val="visible"/>
                                      </p:to>
                                    </p:set>
                                    <p:animEffect transition="in" filter="fade">
                                      <p:cBhvr>
                                        <p:cTn id="48" dur="1000"/>
                                        <p:tgtEl>
                                          <p:spTgt spid="2">
                                            <p:txEl>
                                              <p:pRg st="2" end="2"/>
                                            </p:txEl>
                                          </p:spTgt>
                                        </p:tgtEl>
                                      </p:cBhvr>
                                    </p:animEffect>
                                    <p:anim calcmode="lin" valueType="num">
                                      <p:cBhvr>
                                        <p:cTn id="4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r>
              <a:rPr lang="en-US" sz="3000" dirty="0"/>
              <a:t>Conductors and Insulators</a:t>
            </a:r>
            <a:br>
              <a:rPr lang="en-US" sz="3000" dirty="0"/>
            </a:br>
            <a:r>
              <a:rPr lang="en-US" sz="3000" dirty="0"/>
              <a:t>- Charged Particles</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21</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81099" y="2067305"/>
            <a:ext cx="8920051" cy="3046988"/>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solidFill>
                  <a:srgbClr val="282625"/>
                </a:solidFill>
                <a:latin typeface="+mj-lt"/>
              </a:rPr>
              <a:t>When atoms of a conductor like copper come together to form the solid, some of their outermost (and so most loosely held) electrons become free to wander about within the solid, leaving behind positively charged atoms (positive ions). </a:t>
            </a:r>
          </a:p>
          <a:p>
            <a:pPr marL="285750" indent="-285750" algn="just">
              <a:buFont typeface="Arial" panose="020B0604020202020204" pitchFamily="34" charset="0"/>
              <a:buChar char="•"/>
            </a:pPr>
            <a:endParaRPr lang="en-US" sz="2400" dirty="0">
              <a:solidFill>
                <a:srgbClr val="282625"/>
              </a:solidFill>
              <a:latin typeface="+mj-lt"/>
            </a:endParaRPr>
          </a:p>
          <a:p>
            <a:pPr marL="285750" indent="-285750" algn="just">
              <a:buFont typeface="Arial" panose="020B0604020202020204" pitchFamily="34" charset="0"/>
              <a:buChar char="•"/>
            </a:pPr>
            <a:r>
              <a:rPr lang="en-US" sz="2400" dirty="0">
                <a:solidFill>
                  <a:srgbClr val="282625"/>
                </a:solidFill>
                <a:latin typeface="+mj-lt"/>
              </a:rPr>
              <a:t>We call the mobile electrons </a:t>
            </a:r>
            <a:r>
              <a:rPr lang="en-US" sz="2400" b="1" i="1" dirty="0">
                <a:solidFill>
                  <a:srgbClr val="282625"/>
                </a:solidFill>
                <a:latin typeface="+mj-lt"/>
              </a:rPr>
              <a:t>conduction electrons</a:t>
            </a:r>
            <a:r>
              <a:rPr lang="en-US" sz="2400" dirty="0">
                <a:solidFill>
                  <a:srgbClr val="282625"/>
                </a:solidFill>
                <a:latin typeface="+mj-lt"/>
              </a:rPr>
              <a:t>. </a:t>
            </a:r>
          </a:p>
          <a:p>
            <a:pPr marL="285750" indent="-285750" algn="just">
              <a:buFont typeface="Arial" panose="020B0604020202020204" pitchFamily="34" charset="0"/>
              <a:buChar char="•"/>
            </a:pPr>
            <a:endParaRPr lang="en-US" sz="2400" dirty="0">
              <a:solidFill>
                <a:srgbClr val="282625"/>
              </a:solidFill>
              <a:latin typeface="+mj-lt"/>
            </a:endParaRPr>
          </a:p>
          <a:p>
            <a:pPr marL="285750" indent="-285750" algn="just">
              <a:buFont typeface="Arial" panose="020B0604020202020204" pitchFamily="34" charset="0"/>
              <a:buChar char="•"/>
            </a:pPr>
            <a:r>
              <a:rPr lang="en-US" sz="2400" dirty="0">
                <a:solidFill>
                  <a:srgbClr val="282625"/>
                </a:solidFill>
                <a:latin typeface="+mj-lt"/>
              </a:rPr>
              <a:t>There are few (if any) free electrons in a nonconductor.</a:t>
            </a:r>
            <a:endParaRPr lang="en-US" sz="2400" dirty="0">
              <a:latin typeface="+mj-lt"/>
            </a:endParaRP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146" name="Picture 2" descr="3d render of atom structure of copper isolated over white background  Protons are represented as red spheres, neutron as yellow spheres,  electrons as b Stock Photo - Alamy">
            <a:extLst>
              <a:ext uri="{FF2B5EF4-FFF2-40B4-BE49-F238E27FC236}">
                <a16:creationId xmlns="" xmlns:a16="http://schemas.microsoft.com/office/drawing/2014/main" id="{179720E4-D180-677D-2D0D-F7531337BB2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826" t="3949" r="4230" b="10000"/>
          <a:stretch/>
        </p:blipFill>
        <p:spPr bwMode="auto">
          <a:xfrm>
            <a:off x="9369488" y="2132433"/>
            <a:ext cx="2541412" cy="2743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736FB2A0-4477-ADBF-D3E0-2EFF505F8B39}"/>
              </a:ext>
            </a:extLst>
          </p:cNvPr>
          <p:cNvSpPr txBox="1"/>
          <p:nvPr/>
        </p:nvSpPr>
        <p:spPr>
          <a:xfrm>
            <a:off x="9387254" y="4817764"/>
            <a:ext cx="2689904" cy="369332"/>
          </a:xfrm>
          <a:prstGeom prst="rect">
            <a:avLst/>
          </a:prstGeom>
          <a:noFill/>
        </p:spPr>
        <p:txBody>
          <a:bodyPr wrap="none" rtlCol="0">
            <a:spAutoFit/>
          </a:bodyPr>
          <a:lstStyle/>
          <a:p>
            <a:r>
              <a:rPr lang="en-US" b="1" dirty="0"/>
              <a:t>Copper Atomic Structure</a:t>
            </a:r>
          </a:p>
        </p:txBody>
      </p:sp>
    </p:spTree>
    <p:extLst>
      <p:ext uri="{BB962C8B-B14F-4D97-AF65-F5344CB8AC3E}">
        <p14:creationId xmlns:p14="http://schemas.microsoft.com/office/powerpoint/2010/main" val="99726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par>
                                <p:cTn id="10" presetID="14" presetClass="entr" presetSubtype="1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par>
                                <p:cTn id="13" presetID="14" presetClass="entr" presetSubtype="10" fill="hold" nodeType="withEffect">
                                  <p:stCondLst>
                                    <p:cond delay="0"/>
                                  </p:stCondLst>
                                  <p:childTnLst>
                                    <p:set>
                                      <p:cBhvr>
                                        <p:cTn id="14" dur="1" fill="hold">
                                          <p:stCondLst>
                                            <p:cond delay="0"/>
                                          </p:stCondLst>
                                        </p:cTn>
                                        <p:tgtEl>
                                          <p:spTgt spid="6146"/>
                                        </p:tgtEl>
                                        <p:attrNameLst>
                                          <p:attrName>style.visibility</p:attrName>
                                        </p:attrNameLst>
                                      </p:cBhvr>
                                      <p:to>
                                        <p:strVal val="visible"/>
                                      </p:to>
                                    </p:set>
                                    <p:animEffect transition="in" filter="randombar(horizontal)">
                                      <p:cBhvr>
                                        <p:cTn id="15" dur="500"/>
                                        <p:tgtEl>
                                          <p:spTgt spid="6146"/>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38">
                                            <p:txEl>
                                              <p:pRg st="2" end="2"/>
                                            </p:txEl>
                                          </p:spTgt>
                                        </p:tgtEl>
                                        <p:attrNameLst>
                                          <p:attrName>style.visibility</p:attrName>
                                        </p:attrNameLst>
                                      </p:cBhvr>
                                      <p:to>
                                        <p:strVal val="visible"/>
                                      </p:to>
                                    </p:set>
                                    <p:animEffect transition="in" filter="fade">
                                      <p:cBhvr>
                                        <p:cTn id="20" dur="1000"/>
                                        <p:tgtEl>
                                          <p:spTgt spid="138">
                                            <p:txEl>
                                              <p:pRg st="2" end="2"/>
                                            </p:txEl>
                                          </p:spTgt>
                                        </p:tgtEl>
                                      </p:cBhvr>
                                    </p:animEffect>
                                    <p:anim calcmode="lin" valueType="num">
                                      <p:cBhvr>
                                        <p:cTn id="21"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38">
                                            <p:txEl>
                                              <p:pRg st="4" end="4"/>
                                            </p:txEl>
                                          </p:spTgt>
                                        </p:tgtEl>
                                        <p:attrNameLst>
                                          <p:attrName>style.visibility</p:attrName>
                                        </p:attrNameLst>
                                      </p:cBhvr>
                                      <p:to>
                                        <p:strVal val="visible"/>
                                      </p:to>
                                    </p:set>
                                    <p:animEffect transition="in" filter="fade">
                                      <p:cBhvr>
                                        <p:cTn id="27" dur="1000"/>
                                        <p:tgtEl>
                                          <p:spTgt spid="138">
                                            <p:txEl>
                                              <p:pRg st="4" end="4"/>
                                            </p:txEl>
                                          </p:spTgt>
                                        </p:tgtEl>
                                      </p:cBhvr>
                                    </p:animEffect>
                                    <p:anim calcmode="lin" valueType="num">
                                      <p:cBhvr>
                                        <p:cTn id="28"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pPr algn="ctr"/>
            <a:r>
              <a:rPr lang="en-US" sz="3000" dirty="0"/>
              <a:t>Coulomb’s Law</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22</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388558" y="1453332"/>
            <a:ext cx="11414883" cy="3416320"/>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smtClean="0"/>
              <a:t>Statement: The </a:t>
            </a:r>
            <a:r>
              <a:rPr lang="en-US" sz="2400" dirty="0"/>
              <a:t>force of attraction or repulsion between two charged bodies is directly proportional to the product of their charges and inversely proportional to the square of the distance between them. It acts along the line joining the two charges considered to be point </a:t>
            </a:r>
            <a:r>
              <a:rPr lang="en-US" sz="2400" dirty="0" smtClean="0"/>
              <a:t>charges.</a:t>
            </a:r>
          </a:p>
          <a:p>
            <a:pPr marL="285750" indent="-285750" algn="just">
              <a:buFont typeface="Arial" panose="020B0604020202020204" pitchFamily="34" charset="0"/>
              <a:buChar char="•"/>
            </a:pPr>
            <a:endParaRPr lang="en-US" sz="2400" dirty="0" smtClean="0"/>
          </a:p>
          <a:p>
            <a:endParaRPr lang="en-US" sz="2400" dirty="0" smtClean="0"/>
          </a:p>
          <a:p>
            <a:endParaRPr lang="en-US" sz="2400" dirty="0"/>
          </a:p>
          <a:p>
            <a:endParaRPr lang="en-US" sz="2400" dirty="0" smtClean="0"/>
          </a:p>
          <a:p>
            <a:endParaRPr lang="en-US" sz="2400" dirty="0" smtClean="0"/>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81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749523" y="375373"/>
            <a:ext cx="8558737" cy="446244"/>
          </a:xfrm>
        </p:spPr>
        <p:txBody>
          <a:bodyPr>
            <a:noAutofit/>
          </a:bodyPr>
          <a:lstStyle/>
          <a:p>
            <a:r>
              <a:rPr lang="en-US" sz="3000" dirty="0"/>
              <a:t>Coulomb’s Law</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23</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
        <p:nvSpPr>
          <p:cNvPr id="138" name="TextBox 137">
            <a:extLst>
              <a:ext uri="{FF2B5EF4-FFF2-40B4-BE49-F238E27FC236}">
                <a16:creationId xmlns="" xmlns:a16="http://schemas.microsoft.com/office/drawing/2014/main" id="{C2343543-116F-B45F-A578-D76F670D75AA}"/>
              </a:ext>
            </a:extLst>
          </p:cNvPr>
          <p:cNvSpPr txBox="1"/>
          <p:nvPr/>
        </p:nvSpPr>
        <p:spPr>
          <a:xfrm>
            <a:off x="273899" y="1219499"/>
            <a:ext cx="11644201" cy="1938992"/>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solidFill>
                  <a:srgbClr val="282625"/>
                </a:solidFill>
                <a:latin typeface="+mj-lt"/>
              </a:rPr>
              <a:t>Unit. </a:t>
            </a:r>
            <a:r>
              <a:rPr lang="en-US" sz="2000" dirty="0">
                <a:solidFill>
                  <a:srgbClr val="282625"/>
                </a:solidFill>
                <a:latin typeface="+mj-lt"/>
              </a:rPr>
              <a:t>The SI unit of charge is the coulomb. </a:t>
            </a:r>
          </a:p>
          <a:p>
            <a:pPr marL="285750" indent="-285750" algn="just">
              <a:buFont typeface="Arial" panose="020B0604020202020204" pitchFamily="34" charset="0"/>
              <a:buChar char="•"/>
            </a:pPr>
            <a:endParaRPr lang="en-US" sz="2000" dirty="0">
              <a:solidFill>
                <a:srgbClr val="282625"/>
              </a:solidFill>
              <a:latin typeface="+mj-lt"/>
            </a:endParaRPr>
          </a:p>
          <a:p>
            <a:pPr marL="285750" indent="-285750" algn="just">
              <a:buFont typeface="Arial" panose="020B0604020202020204" pitchFamily="34" charset="0"/>
              <a:buChar char="•"/>
            </a:pPr>
            <a:r>
              <a:rPr lang="en-US" sz="2000" b="1" dirty="0">
                <a:latin typeface="+mj-lt"/>
              </a:rPr>
              <a:t>Force Magnitude. </a:t>
            </a:r>
            <a:r>
              <a:rPr lang="en-US" sz="2000" dirty="0">
                <a:latin typeface="+mj-lt"/>
              </a:rPr>
              <a:t>For historical reasons (and because doing so simplifies many other formulas), the electrostatic constant k in Eq. is often written as 1/4p</a:t>
            </a:r>
            <a:r>
              <a:rPr lang="el-GR" sz="2000" dirty="0">
                <a:latin typeface="+mj-lt"/>
              </a:rPr>
              <a:t>ε</a:t>
            </a:r>
            <a:r>
              <a:rPr lang="el-GR" sz="1200" dirty="0">
                <a:latin typeface="+mj-lt"/>
              </a:rPr>
              <a:t>0</a:t>
            </a:r>
            <a:r>
              <a:rPr lang="el-GR" sz="2000" dirty="0">
                <a:latin typeface="+mj-lt"/>
              </a:rPr>
              <a:t>,</a:t>
            </a:r>
            <a:r>
              <a:rPr lang="en-US" sz="2000" dirty="0">
                <a:latin typeface="+mj-lt"/>
              </a:rPr>
              <a:t>. </a:t>
            </a:r>
          </a:p>
          <a:p>
            <a:pPr marL="285750" indent="-285750" algn="just">
              <a:buFont typeface="Arial" panose="020B0604020202020204" pitchFamily="34" charset="0"/>
              <a:buChar char="•"/>
            </a:pPr>
            <a:endParaRPr lang="en-US" sz="2000" dirty="0">
              <a:latin typeface="+mj-lt"/>
            </a:endParaRPr>
          </a:p>
          <a:p>
            <a:pPr marL="285750" indent="-285750" algn="just">
              <a:buFont typeface="Arial" panose="020B0604020202020204" pitchFamily="34" charset="0"/>
              <a:buChar char="•"/>
            </a:pPr>
            <a:r>
              <a:rPr lang="en-US" sz="2000" dirty="0">
                <a:latin typeface="+mj-lt"/>
              </a:rPr>
              <a:t>Then the magnitude of the electrostatic force in Coulomb’s law becomes</a:t>
            </a:r>
          </a:p>
        </p:txBody>
      </p: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 xmlns:a16="http://schemas.microsoft.com/office/drawing/2014/main" id="{8C1A63F8-027D-6FF2-42EC-3C74EE8139C9}"/>
              </a:ext>
            </a:extLst>
          </p:cNvPr>
          <p:cNvPicPr>
            <a:picLocks noChangeAspect="1"/>
          </p:cNvPicPr>
          <p:nvPr/>
        </p:nvPicPr>
        <p:blipFill>
          <a:blip r:embed="rId4"/>
          <a:stretch>
            <a:fillRect/>
          </a:stretch>
        </p:blipFill>
        <p:spPr>
          <a:xfrm>
            <a:off x="3040782" y="3358103"/>
            <a:ext cx="5976217" cy="1072903"/>
          </a:xfrm>
          <a:prstGeom prst="rect">
            <a:avLst/>
          </a:prstGeom>
        </p:spPr>
      </p:pic>
      <p:sp>
        <p:nvSpPr>
          <p:cNvPr id="17" name="TextBox 16">
            <a:extLst>
              <a:ext uri="{FF2B5EF4-FFF2-40B4-BE49-F238E27FC236}">
                <a16:creationId xmlns="" xmlns:a16="http://schemas.microsoft.com/office/drawing/2014/main" id="{8A96EC02-F97A-E61C-B588-F5BDD1D03D37}"/>
              </a:ext>
            </a:extLst>
          </p:cNvPr>
          <p:cNvSpPr txBox="1"/>
          <p:nvPr/>
        </p:nvSpPr>
        <p:spPr>
          <a:xfrm>
            <a:off x="273899" y="4630618"/>
            <a:ext cx="11644201" cy="400110"/>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solidFill>
                  <a:srgbClr val="282625"/>
                </a:solidFill>
                <a:latin typeface="+mj-lt"/>
              </a:rPr>
              <a:t>The constants have the value</a:t>
            </a:r>
            <a:endParaRPr lang="en-US" sz="2000" dirty="0">
              <a:latin typeface="+mj-lt"/>
            </a:endParaRPr>
          </a:p>
        </p:txBody>
      </p:sp>
      <p:pic>
        <p:nvPicPr>
          <p:cNvPr id="19" name="Picture 18">
            <a:extLst>
              <a:ext uri="{FF2B5EF4-FFF2-40B4-BE49-F238E27FC236}">
                <a16:creationId xmlns="" xmlns:a16="http://schemas.microsoft.com/office/drawing/2014/main" id="{20CEF881-3449-4F93-7FE0-B8C7F11763F2}"/>
              </a:ext>
            </a:extLst>
          </p:cNvPr>
          <p:cNvPicPr>
            <a:picLocks noChangeAspect="1"/>
          </p:cNvPicPr>
          <p:nvPr/>
        </p:nvPicPr>
        <p:blipFill>
          <a:blip r:embed="rId5"/>
          <a:stretch>
            <a:fillRect/>
          </a:stretch>
        </p:blipFill>
        <p:spPr>
          <a:xfrm>
            <a:off x="3596245" y="5135718"/>
            <a:ext cx="5029200" cy="989033"/>
          </a:xfrm>
          <a:prstGeom prst="rect">
            <a:avLst/>
          </a:prstGeom>
        </p:spPr>
      </p:pic>
    </p:spTree>
    <p:extLst>
      <p:ext uri="{BB962C8B-B14F-4D97-AF65-F5344CB8AC3E}">
        <p14:creationId xmlns:p14="http://schemas.microsoft.com/office/powerpoint/2010/main" val="14639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000"/>
                                        <p:tgtEl>
                                          <p:spTgt spid="138">
                                            <p:txEl>
                                              <p:pRg st="0" end="0"/>
                                            </p:txEl>
                                          </p:spTgt>
                                        </p:tgtEl>
                                      </p:cBhvr>
                                    </p:animEffect>
                                    <p:anim calcmode="lin" valueType="num">
                                      <p:cBhvr>
                                        <p:cTn id="8" dur="1000" fill="hold"/>
                                        <p:tgtEl>
                                          <p:spTgt spid="1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8">
                                            <p:txEl>
                                              <p:pRg st="2" end="2"/>
                                            </p:txEl>
                                          </p:spTgt>
                                        </p:tgtEl>
                                        <p:attrNameLst>
                                          <p:attrName>style.visibility</p:attrName>
                                        </p:attrNameLst>
                                      </p:cBhvr>
                                      <p:to>
                                        <p:strVal val="visible"/>
                                      </p:to>
                                    </p:set>
                                    <p:animEffect transition="in" filter="fade">
                                      <p:cBhvr>
                                        <p:cTn id="14" dur="1000"/>
                                        <p:tgtEl>
                                          <p:spTgt spid="138">
                                            <p:txEl>
                                              <p:pRg st="2" end="2"/>
                                            </p:txEl>
                                          </p:spTgt>
                                        </p:tgtEl>
                                      </p:cBhvr>
                                    </p:animEffect>
                                    <p:anim calcmode="lin" valueType="num">
                                      <p:cBhvr>
                                        <p:cTn id="15" dur="1000" fill="hold"/>
                                        <p:tgtEl>
                                          <p:spTgt spid="13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8">
                                            <p:txEl>
                                              <p:pRg st="4" end="4"/>
                                            </p:txEl>
                                          </p:spTgt>
                                        </p:tgtEl>
                                        <p:attrNameLst>
                                          <p:attrName>style.visibility</p:attrName>
                                        </p:attrNameLst>
                                      </p:cBhvr>
                                      <p:to>
                                        <p:strVal val="visible"/>
                                      </p:to>
                                    </p:set>
                                    <p:animEffect transition="in" filter="fade">
                                      <p:cBhvr>
                                        <p:cTn id="21" dur="1000"/>
                                        <p:tgtEl>
                                          <p:spTgt spid="138">
                                            <p:txEl>
                                              <p:pRg st="4" end="4"/>
                                            </p:txEl>
                                          </p:spTgt>
                                        </p:tgtEl>
                                      </p:cBhvr>
                                    </p:animEffect>
                                    <p:anim calcmode="lin" valueType="num">
                                      <p:cBhvr>
                                        <p:cTn id="22" dur="1000" fill="hold"/>
                                        <p:tgtEl>
                                          <p:spTgt spid="13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randombar(horizont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animEffect transition="in" filter="fade">
                                      <p:cBhvr>
                                        <p:cTn id="33" dur="1000"/>
                                        <p:tgtEl>
                                          <p:spTgt spid="17">
                                            <p:txEl>
                                              <p:pRg st="0" end="0"/>
                                            </p:txEl>
                                          </p:spTgt>
                                        </p:tgtEl>
                                      </p:cBhvr>
                                    </p:animEffect>
                                    <p:anim calcmode="lin" valueType="num">
                                      <p:cBhvr>
                                        <p:cTn id="34"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randombar(horizontal)">
                                      <p:cBhvr>
                                        <p:cTn id="4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19783" y="0"/>
            <a:ext cx="1660501" cy="1196990"/>
          </a:xfrm>
          <a:prstGeom prst="rect">
            <a:avLst/>
          </a:prstGeom>
        </p:spPr>
      </p:pic>
      <p:sp>
        <p:nvSpPr>
          <p:cNvPr id="15" name="Footer Placeholder 14"/>
          <p:cNvSpPr>
            <a:spLocks noGrp="1"/>
          </p:cNvSpPr>
          <p:nvPr>
            <p:ph type="ftr" sz="quarter" idx="4294967295"/>
          </p:nvPr>
        </p:nvSpPr>
        <p:spPr>
          <a:xfrm>
            <a:off x="6972869" y="6380139"/>
            <a:ext cx="4114800" cy="365125"/>
          </a:xfrm>
        </p:spPr>
        <p:txBody>
          <a:body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Applied Physics</a:t>
            </a:r>
          </a:p>
        </p:txBody>
      </p:sp>
      <p:sp>
        <p:nvSpPr>
          <p:cNvPr id="16" name="Slide Number Placeholder 15"/>
          <p:cNvSpPr>
            <a:spLocks noGrp="1"/>
          </p:cNvSpPr>
          <p:nvPr>
            <p:ph type="sldNum" sz="quarter" idx="4294967295"/>
          </p:nvPr>
        </p:nvSpPr>
        <p:spPr>
          <a:xfrm>
            <a:off x="8610600" y="6356350"/>
            <a:ext cx="2743200" cy="365125"/>
          </a:xfrm>
        </p:spPr>
        <p:txBody>
          <a:bodyPr/>
          <a:lstStyle/>
          <a:p>
            <a:fld id="{613F66FA-1D38-4225-99EF-DA3E159AA041}" type="slidenum">
              <a:rPr lang="en-US" smtClean="0"/>
              <a:t>24</a:t>
            </a:fld>
            <a:endParaRPr lang="en-US" dirty="0"/>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10515600" y="0"/>
            <a:ext cx="1660501" cy="1196990"/>
          </a:xfrm>
          <a:prstGeom prst="rect">
            <a:avLst/>
          </a:prstGeom>
        </p:spPr>
      </p:pic>
      <p:cxnSp>
        <p:nvCxnSpPr>
          <p:cNvPr id="10" name="Straight Connector 9"/>
          <p:cNvCxnSpPr/>
          <p:nvPr/>
        </p:nvCxnSpPr>
        <p:spPr>
          <a:xfrm flipV="1">
            <a:off x="0" y="1196990"/>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151" y="6378859"/>
            <a:ext cx="12192000" cy="13648"/>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 xmlns:a16="http://schemas.microsoft.com/office/drawing/2014/main" id="{24958B33-F684-4742-9E9C-DC1A5C0E2812}"/>
              </a:ext>
            </a:extLst>
          </p:cNvPr>
          <p:cNvSpPr/>
          <p:nvPr/>
        </p:nvSpPr>
        <p:spPr>
          <a:xfrm>
            <a:off x="830250" y="2244060"/>
            <a:ext cx="10558271" cy="1446550"/>
          </a:xfrm>
          <a:prstGeom prst="rect">
            <a:avLst/>
          </a:prstGeom>
        </p:spPr>
        <p:txBody>
          <a:bodyPr wrap="square">
            <a:spAutoFit/>
          </a:bodyPr>
          <a:lstStyle/>
          <a:p>
            <a:pPr algn="ctr"/>
            <a:r>
              <a:rPr lang="en-US" sz="8800" dirty="0">
                <a:latin typeface="Times New Roman" panose="02020603050405020304" pitchFamily="18" charset="0"/>
                <a:cs typeface="Times New Roman" panose="02020603050405020304" pitchFamily="18" charset="0"/>
              </a:rPr>
              <a:t>Thank </a:t>
            </a:r>
            <a:r>
              <a:rPr lang="en-US" sz="8800" dirty="0" smtClean="0">
                <a:latin typeface="Times New Roman" panose="02020603050405020304" pitchFamily="18" charset="0"/>
                <a:cs typeface="Times New Roman" panose="02020603050405020304" pitchFamily="18" charset="0"/>
              </a:rPr>
              <a:t>You</a:t>
            </a:r>
            <a:endParaRPr lang="en-US" sz="8800" dirty="0">
              <a:latin typeface="Times New Roman" panose="02020603050405020304" pitchFamily="18" charset="0"/>
              <a:cs typeface="Times New Roman" panose="02020603050405020304" pitchFamily="18" charset="0"/>
            </a:endParaRPr>
          </a:p>
        </p:txBody>
      </p:sp>
      <p:sp>
        <p:nvSpPr>
          <p:cNvPr id="13" name="Footer Placeholder 14"/>
          <p:cNvSpPr txBox="1">
            <a:spLocks/>
          </p:cNvSpPr>
          <p:nvPr/>
        </p:nvSpPr>
        <p:spPr>
          <a:xfrm>
            <a:off x="120009" y="6410941"/>
            <a:ext cx="1420481"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i="1" dirty="0">
                <a:solidFill>
                  <a:schemeClr val="accent1">
                    <a:lumMod val="50000"/>
                  </a:schemeClr>
                </a:solidFill>
                <a:latin typeface="Times New Roman" panose="02020603050405020304" pitchFamily="18" charset="0"/>
                <a:cs typeface="Times New Roman" panose="02020603050405020304" pitchFamily="18" charset="0"/>
              </a:rPr>
              <a:t>Lecture – 01</a:t>
            </a:r>
          </a:p>
        </p:txBody>
      </p:sp>
    </p:spTree>
    <p:extLst>
      <p:ext uri="{BB962C8B-B14F-4D97-AF65-F5344CB8AC3E}">
        <p14:creationId xmlns:p14="http://schemas.microsoft.com/office/powerpoint/2010/main" val="25337945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References</a:t>
            </a:r>
            <a:endParaRPr lang="en-US" dirty="0"/>
          </a:p>
        </p:txBody>
      </p:sp>
      <p:sp>
        <p:nvSpPr>
          <p:cNvPr id="3" name="Content Placeholder 2"/>
          <p:cNvSpPr>
            <a:spLocks noGrp="1"/>
          </p:cNvSpPr>
          <p:nvPr>
            <p:ph idx="1"/>
          </p:nvPr>
        </p:nvSpPr>
        <p:spPr/>
        <p:txBody>
          <a:bodyPr/>
          <a:lstStyle/>
          <a:p>
            <a:pPr marL="514350" indent="-514350">
              <a:buAutoNum type="arabicPeriod"/>
            </a:pPr>
            <a:r>
              <a:rPr lang="en-US" dirty="0" smtClean="0"/>
              <a:t>Amber and </a:t>
            </a:r>
            <a:r>
              <a:rPr lang="en-US" dirty="0"/>
              <a:t>Straw experiment: </a:t>
            </a:r>
            <a:r>
              <a:rPr lang="en-US" dirty="0" smtClean="0">
                <a:hlinkClick r:id="rId2"/>
              </a:rPr>
              <a:t>https://www.youtube.com/watch?v=gxpl2J6EdIk</a:t>
            </a:r>
            <a:endParaRPr lang="en-US" dirty="0" smtClean="0"/>
          </a:p>
          <a:p>
            <a:pPr marL="514350" indent="-514350">
              <a:buAutoNum type="arabicPeriod"/>
            </a:pPr>
            <a:r>
              <a:rPr lang="en-US" dirty="0" smtClean="0"/>
              <a:t> Magnetism simple experiment: </a:t>
            </a:r>
            <a:r>
              <a:rPr lang="en-US" dirty="0" smtClean="0">
                <a:hlinkClick r:id="rId3"/>
              </a:rPr>
              <a:t>https://www.youtube.com/watch?v=w_ZqTGxtHrk</a:t>
            </a:r>
            <a:endParaRPr lang="en-US" dirty="0" smtClean="0"/>
          </a:p>
          <a:p>
            <a:pPr marL="514350" indent="-514350">
              <a:buAutoNum type="arabicPeriod"/>
            </a:pPr>
            <a:r>
              <a:rPr lang="en-US" dirty="0" smtClean="0"/>
              <a:t>Simple experiment on glass rod </a:t>
            </a:r>
            <a:r>
              <a:rPr lang="en-US" dirty="0"/>
              <a:t>and silk: </a:t>
            </a:r>
            <a:r>
              <a:rPr lang="en-US" dirty="0">
                <a:hlinkClick r:id="rId4"/>
              </a:rPr>
              <a:t>https://</a:t>
            </a:r>
            <a:r>
              <a:rPr lang="en-US" dirty="0" smtClean="0">
                <a:hlinkClick r:id="rId4"/>
              </a:rPr>
              <a:t>www.youtube.com/watch?v=iHBNWiHJaQQ</a:t>
            </a:r>
            <a:endParaRPr lang="en-US" dirty="0" smtClean="0"/>
          </a:p>
          <a:p>
            <a:pPr marL="514350" indent="-514350">
              <a:buAutoNum type="arabicPeriod"/>
            </a:pPr>
            <a:endParaRPr lang="en-US" dirty="0" smtClean="0"/>
          </a:p>
          <a:p>
            <a:pPr marL="514350" indent="-514350">
              <a:buAutoNum type="arabicPeriod"/>
            </a:pPr>
            <a:endParaRPr lang="en-US" dirty="0"/>
          </a:p>
        </p:txBody>
      </p:sp>
    </p:spTree>
    <p:extLst>
      <p:ext uri="{BB962C8B-B14F-4D97-AF65-F5344CB8AC3E}">
        <p14:creationId xmlns:p14="http://schemas.microsoft.com/office/powerpoint/2010/main" val="7339042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17563</TotalTime>
  <Words>1364</Words>
  <Application>Microsoft Office PowerPoint</Application>
  <PresentationFormat>Widescreen</PresentationFormat>
  <Paragraphs>238</Paragraphs>
  <Slides>25</Slides>
  <Notes>17</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Times New Roman</vt:lpstr>
      <vt:lpstr>Office Theme</vt:lpstr>
      <vt:lpstr> </vt:lpstr>
      <vt:lpstr>Agenda</vt:lpstr>
      <vt:lpstr>Theory Outline</vt:lpstr>
      <vt:lpstr>Theory Outline</vt:lpstr>
      <vt:lpstr>Theory Outline</vt:lpstr>
      <vt:lpstr>Theory Outline</vt:lpstr>
      <vt:lpstr>Marks Distribution</vt:lpstr>
      <vt:lpstr>PowerPoint Presentation</vt:lpstr>
      <vt:lpstr>PowerPoint Presentation</vt:lpstr>
      <vt:lpstr>Physics VS Applied Physics</vt:lpstr>
      <vt:lpstr>Physics VS Applied Physics</vt:lpstr>
      <vt:lpstr>Importance of Applied Physics</vt:lpstr>
      <vt:lpstr>PowerPoint Presentation</vt:lpstr>
      <vt:lpstr>What is Electromagnetism?</vt:lpstr>
      <vt:lpstr>Basics of Physics - Simple Experiment</vt:lpstr>
      <vt:lpstr>Basics of Physics</vt:lpstr>
      <vt:lpstr>Electric Charge</vt:lpstr>
      <vt:lpstr>Electric Charge(s)</vt:lpstr>
      <vt:lpstr>Conductors and Insulators</vt:lpstr>
      <vt:lpstr>Conductors and Insulators - Charged Particles</vt:lpstr>
      <vt:lpstr>Conductors and Insulators - Charged Particles</vt:lpstr>
      <vt:lpstr>Coulomb’s Law</vt:lpstr>
      <vt:lpstr>Coulomb’s Law</vt:lpstr>
      <vt:lpstr>PowerPoint Presentation</vt:lpstr>
      <vt:lpstr>References</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Fawad</dc:creator>
  <cp:lastModifiedBy>Engr Asif Ali</cp:lastModifiedBy>
  <cp:revision>3763</cp:revision>
  <cp:lastPrinted>2019-02-14T05:58:33Z</cp:lastPrinted>
  <dcterms:created xsi:type="dcterms:W3CDTF">2018-08-18T08:19:07Z</dcterms:created>
  <dcterms:modified xsi:type="dcterms:W3CDTF">2024-02-27T11:56:31Z</dcterms:modified>
</cp:coreProperties>
</file>
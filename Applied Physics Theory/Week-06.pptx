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3" r:id="rId16"/>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636" y="10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513582" y="2071878"/>
            <a:ext cx="3032125" cy="2370455"/>
          </a:xfrm>
          <a:custGeom>
            <a:avLst/>
            <a:gdLst/>
            <a:ahLst/>
            <a:cxnLst/>
            <a:rect l="l" t="t" r="r" b="b"/>
            <a:pathLst>
              <a:path w="3032125" h="2370454">
                <a:moveTo>
                  <a:pt x="0" y="2370074"/>
                </a:moveTo>
                <a:lnTo>
                  <a:pt x="3031616" y="0"/>
                </a:lnTo>
              </a:path>
            </a:pathLst>
          </a:custGeom>
          <a:ln w="19812">
            <a:solidFill>
              <a:srgbClr val="000000"/>
            </a:solidFill>
          </a:ln>
        </p:spPr>
        <p:txBody>
          <a:bodyPr wrap="square" lIns="0" tIns="0" rIns="0" bIns="0" rtlCol="0"/>
          <a:lstStyle/>
          <a:p>
            <a:endParaRPr/>
          </a:p>
        </p:txBody>
      </p:sp>
      <p:pic>
        <p:nvPicPr>
          <p:cNvPr id="17" name="bg object 17"/>
          <p:cNvPicPr/>
          <p:nvPr/>
        </p:nvPicPr>
        <p:blipFill>
          <a:blip r:embed="rId2" cstate="print"/>
          <a:stretch>
            <a:fillRect/>
          </a:stretch>
        </p:blipFill>
        <p:spPr>
          <a:xfrm>
            <a:off x="6492240" y="4256532"/>
            <a:ext cx="448056" cy="501395"/>
          </a:xfrm>
          <a:prstGeom prst="rect">
            <a:avLst/>
          </a:prstGeom>
        </p:spPr>
      </p:pic>
      <p:sp>
        <p:nvSpPr>
          <p:cNvPr id="18" name="bg object 18"/>
          <p:cNvSpPr/>
          <p:nvPr/>
        </p:nvSpPr>
        <p:spPr>
          <a:xfrm>
            <a:off x="3515106" y="1998726"/>
            <a:ext cx="3030220" cy="2443480"/>
          </a:xfrm>
          <a:custGeom>
            <a:avLst/>
            <a:gdLst/>
            <a:ahLst/>
            <a:cxnLst/>
            <a:rect l="l" t="t" r="r" b="b"/>
            <a:pathLst>
              <a:path w="3030220" h="2443479">
                <a:moveTo>
                  <a:pt x="0" y="2442972"/>
                </a:moveTo>
                <a:lnTo>
                  <a:pt x="3029711" y="2442972"/>
                </a:lnTo>
                <a:lnTo>
                  <a:pt x="3029711" y="0"/>
                </a:lnTo>
                <a:lnTo>
                  <a:pt x="0" y="0"/>
                </a:lnTo>
                <a:lnTo>
                  <a:pt x="0" y="2442972"/>
                </a:lnTo>
                <a:close/>
              </a:path>
            </a:pathLst>
          </a:custGeom>
          <a:ln w="28956">
            <a:solidFill>
              <a:srgbClr val="41709C"/>
            </a:solidFill>
          </a:ln>
        </p:spPr>
        <p:txBody>
          <a:bodyPr wrap="square" lIns="0" tIns="0" rIns="0" bIns="0" rtlCol="0"/>
          <a:lstStyle/>
          <a:p>
            <a:endParaRPr/>
          </a:p>
        </p:txBody>
      </p:sp>
      <p:pic>
        <p:nvPicPr>
          <p:cNvPr id="19" name="bg object 19"/>
          <p:cNvPicPr/>
          <p:nvPr/>
        </p:nvPicPr>
        <p:blipFill>
          <a:blip r:embed="rId2" cstate="print"/>
          <a:stretch>
            <a:fillRect/>
          </a:stretch>
        </p:blipFill>
        <p:spPr>
          <a:xfrm>
            <a:off x="3064764" y="1589532"/>
            <a:ext cx="448056" cy="501396"/>
          </a:xfrm>
          <a:prstGeom prst="rect">
            <a:avLst/>
          </a:prstGeom>
        </p:spPr>
      </p:pic>
      <p:pic>
        <p:nvPicPr>
          <p:cNvPr id="20" name="bg object 20"/>
          <p:cNvPicPr/>
          <p:nvPr/>
        </p:nvPicPr>
        <p:blipFill>
          <a:blip r:embed="rId2" cstate="print"/>
          <a:stretch>
            <a:fillRect/>
          </a:stretch>
        </p:blipFill>
        <p:spPr>
          <a:xfrm>
            <a:off x="3064764" y="4256532"/>
            <a:ext cx="448056" cy="501395"/>
          </a:xfrm>
          <a:prstGeom prst="rect">
            <a:avLst/>
          </a:prstGeom>
        </p:spPr>
      </p:pic>
      <p:pic>
        <p:nvPicPr>
          <p:cNvPr id="21" name="bg object 21"/>
          <p:cNvPicPr/>
          <p:nvPr/>
        </p:nvPicPr>
        <p:blipFill>
          <a:blip r:embed="rId2" cstate="print"/>
          <a:stretch>
            <a:fillRect/>
          </a:stretch>
        </p:blipFill>
        <p:spPr>
          <a:xfrm>
            <a:off x="6492240" y="1682496"/>
            <a:ext cx="448056" cy="499872"/>
          </a:xfrm>
          <a:prstGeom prst="rect">
            <a:avLst/>
          </a:prstGeom>
        </p:spPr>
      </p:pic>
      <p:sp>
        <p:nvSpPr>
          <p:cNvPr id="22" name="bg object 22"/>
          <p:cNvSpPr/>
          <p:nvPr/>
        </p:nvSpPr>
        <p:spPr>
          <a:xfrm>
            <a:off x="3513582" y="1998726"/>
            <a:ext cx="3067050" cy="2442845"/>
          </a:xfrm>
          <a:custGeom>
            <a:avLst/>
            <a:gdLst/>
            <a:ahLst/>
            <a:cxnLst/>
            <a:rect l="l" t="t" r="r" b="b"/>
            <a:pathLst>
              <a:path w="3067050" h="2442845">
                <a:moveTo>
                  <a:pt x="0" y="0"/>
                </a:moveTo>
                <a:lnTo>
                  <a:pt x="3066541" y="2442718"/>
                </a:lnTo>
              </a:path>
            </a:pathLst>
          </a:custGeom>
          <a:ln w="19812">
            <a:solidFill>
              <a:srgbClr val="000000"/>
            </a:solidFill>
          </a:ln>
        </p:spPr>
        <p:txBody>
          <a:bodyPr wrap="square" lIns="0" tIns="0" rIns="0" bIns="0" rtlCol="0"/>
          <a:lstStyle/>
          <a:p>
            <a:endParaRPr/>
          </a:p>
        </p:txBody>
      </p:sp>
      <p:sp>
        <p:nvSpPr>
          <p:cNvPr id="2" name="Holder 2"/>
          <p:cNvSpPr>
            <a:spLocks noGrp="1"/>
          </p:cNvSpPr>
          <p:nvPr>
            <p:ph type="ctrTitle"/>
          </p:nvPr>
        </p:nvSpPr>
        <p:spPr>
          <a:xfrm>
            <a:off x="2763393" y="2950540"/>
            <a:ext cx="6665213" cy="940435"/>
          </a:xfrm>
          <a:prstGeom prst="rect">
            <a:avLst/>
          </a:prstGeom>
        </p:spPr>
        <p:txBody>
          <a:bodyPr wrap="square" lIns="0" tIns="0" rIns="0" bIns="0">
            <a:spAutoFit/>
          </a:bodyPr>
          <a:lstStyle>
            <a:lvl1pPr>
              <a:defRPr sz="4400" b="0" i="0">
                <a:solidFill>
                  <a:schemeClr val="tx1"/>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2/28/2024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00" b="1" i="0">
                <a:solidFill>
                  <a:srgbClr val="34556D"/>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2/28/2024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00" b="1" i="0">
                <a:solidFill>
                  <a:srgbClr val="34556D"/>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2/28/2024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00" b="1" i="0">
                <a:solidFill>
                  <a:srgbClr val="34556D"/>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2/28/2024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2/28/2024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806907" y="22682"/>
            <a:ext cx="2317115" cy="468630"/>
          </a:xfrm>
          <a:prstGeom prst="rect">
            <a:avLst/>
          </a:prstGeom>
        </p:spPr>
        <p:txBody>
          <a:bodyPr wrap="square" lIns="0" tIns="0" rIns="0" bIns="0">
            <a:spAutoFit/>
          </a:bodyPr>
          <a:lstStyle>
            <a:lvl1pPr>
              <a:defRPr sz="2900" b="1" i="0">
                <a:solidFill>
                  <a:srgbClr val="34556D"/>
                </a:solidFill>
                <a:latin typeface="Calibri"/>
                <a:cs typeface="Calibri"/>
              </a:defRPr>
            </a:lvl1pPr>
          </a:lstStyle>
          <a:p>
            <a:endParaRPr/>
          </a:p>
        </p:txBody>
      </p:sp>
      <p:sp>
        <p:nvSpPr>
          <p:cNvPr id="3" name="Holder 3"/>
          <p:cNvSpPr>
            <a:spLocks noGrp="1"/>
          </p:cNvSpPr>
          <p:nvPr>
            <p:ph type="body" idx="1"/>
          </p:nvPr>
        </p:nvSpPr>
        <p:spPr>
          <a:xfrm>
            <a:off x="916939" y="1793189"/>
            <a:ext cx="10358120" cy="3011804"/>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2/28/2024</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95521" y="2048371"/>
            <a:ext cx="4600575" cy="1930016"/>
          </a:xfrm>
          <a:prstGeom prst="rect">
            <a:avLst/>
          </a:prstGeom>
        </p:spPr>
        <p:txBody>
          <a:bodyPr vert="horz" wrap="square" lIns="0" tIns="453390" rIns="0" bIns="0" rtlCol="0">
            <a:spAutoFit/>
          </a:bodyPr>
          <a:lstStyle/>
          <a:p>
            <a:pPr algn="ctr">
              <a:lnSpc>
                <a:spcPct val="100000"/>
              </a:lnSpc>
              <a:spcBef>
                <a:spcPts val="3570"/>
              </a:spcBef>
            </a:pPr>
            <a:r>
              <a:rPr sz="6000" b="0" spc="-50" dirty="0">
                <a:solidFill>
                  <a:srgbClr val="000000"/>
                </a:solidFill>
                <a:latin typeface="Calibri Light"/>
                <a:cs typeface="Calibri Light"/>
              </a:rPr>
              <a:t>Coulomb’s</a:t>
            </a:r>
            <a:r>
              <a:rPr sz="6000" b="0" spc="-65" dirty="0">
                <a:solidFill>
                  <a:srgbClr val="000000"/>
                </a:solidFill>
                <a:latin typeface="Calibri Light"/>
                <a:cs typeface="Calibri Light"/>
              </a:rPr>
              <a:t> </a:t>
            </a:r>
            <a:r>
              <a:rPr sz="6000" b="0" spc="-15" dirty="0">
                <a:solidFill>
                  <a:srgbClr val="000000"/>
                </a:solidFill>
                <a:latin typeface="Calibri Light"/>
                <a:cs typeface="Calibri Light"/>
              </a:rPr>
              <a:t>Law</a:t>
            </a:r>
            <a:endParaRPr sz="6000" dirty="0">
              <a:latin typeface="Calibri Light"/>
              <a:cs typeface="Calibri Light"/>
            </a:endParaRPr>
          </a:p>
          <a:p>
            <a:pPr marL="635" algn="ctr">
              <a:lnSpc>
                <a:spcPct val="100000"/>
              </a:lnSpc>
              <a:spcBef>
                <a:spcPts val="1385"/>
              </a:spcBef>
            </a:pPr>
            <a:r>
              <a:rPr lang="en-US" sz="2400" b="0" spc="-5" dirty="0" smtClean="0">
                <a:solidFill>
                  <a:srgbClr val="000000"/>
                </a:solidFill>
                <a:latin typeface="Calibri"/>
                <a:cs typeface="Calibri"/>
              </a:rPr>
              <a:t>Week-06</a:t>
            </a:r>
            <a:endParaRPr sz="2400"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0284" y="105219"/>
            <a:ext cx="11502390" cy="2290445"/>
          </a:xfrm>
          <a:prstGeom prst="rect">
            <a:avLst/>
          </a:prstGeom>
        </p:spPr>
        <p:txBody>
          <a:bodyPr vert="horz" wrap="square" lIns="0" tIns="164465" rIns="0" bIns="0" rtlCol="0">
            <a:spAutoFit/>
          </a:bodyPr>
          <a:lstStyle/>
          <a:p>
            <a:pPr marL="2251075">
              <a:lnSpc>
                <a:spcPct val="100000"/>
              </a:lnSpc>
              <a:spcBef>
                <a:spcPts val="1295"/>
              </a:spcBef>
            </a:pPr>
            <a:r>
              <a:rPr sz="3600" spc="-30" dirty="0"/>
              <a:t>Coulomb’s</a:t>
            </a:r>
            <a:r>
              <a:rPr sz="3600" spc="-25" dirty="0"/>
              <a:t> </a:t>
            </a:r>
            <a:r>
              <a:rPr sz="3600" spc="-10" dirty="0"/>
              <a:t>Law</a:t>
            </a:r>
            <a:endParaRPr sz="3600"/>
          </a:p>
          <a:p>
            <a:pPr marL="50800" marR="43180" algn="just">
              <a:lnSpc>
                <a:spcPct val="100000"/>
              </a:lnSpc>
              <a:spcBef>
                <a:spcPts val="795"/>
              </a:spcBef>
            </a:pPr>
            <a:r>
              <a:rPr sz="2400" b="0" spc="-25" dirty="0">
                <a:solidFill>
                  <a:srgbClr val="000000"/>
                </a:solidFill>
                <a:latin typeface="Calibri"/>
                <a:cs typeface="Calibri"/>
              </a:rPr>
              <a:t>Coulomb’s </a:t>
            </a:r>
            <a:r>
              <a:rPr sz="2400" b="0" spc="-10" dirty="0">
                <a:solidFill>
                  <a:srgbClr val="000000"/>
                </a:solidFill>
                <a:latin typeface="Calibri"/>
                <a:cs typeface="Calibri"/>
              </a:rPr>
              <a:t>law </a:t>
            </a:r>
            <a:r>
              <a:rPr sz="2400" b="0" spc="-5" dirty="0">
                <a:solidFill>
                  <a:srgbClr val="000000"/>
                </a:solidFill>
                <a:latin typeface="Calibri"/>
                <a:cs typeface="Calibri"/>
              </a:rPr>
              <a:t>describes </a:t>
            </a:r>
            <a:r>
              <a:rPr sz="2400" b="0" dirty="0">
                <a:solidFill>
                  <a:srgbClr val="000000"/>
                </a:solidFill>
                <a:latin typeface="Calibri"/>
                <a:cs typeface="Calibri"/>
              </a:rPr>
              <a:t>the </a:t>
            </a:r>
            <a:r>
              <a:rPr sz="2400" spc="-15" dirty="0">
                <a:solidFill>
                  <a:srgbClr val="000000"/>
                </a:solidFill>
              </a:rPr>
              <a:t>electrostatic </a:t>
            </a:r>
            <a:r>
              <a:rPr sz="2400" spc="-20" dirty="0">
                <a:solidFill>
                  <a:srgbClr val="000000"/>
                </a:solidFill>
              </a:rPr>
              <a:t>force </a:t>
            </a:r>
            <a:r>
              <a:rPr sz="2400" b="0" spc="-5" dirty="0">
                <a:solidFill>
                  <a:srgbClr val="000000"/>
                </a:solidFill>
                <a:latin typeface="Calibri"/>
                <a:cs typeface="Calibri"/>
              </a:rPr>
              <a:t>(or electric </a:t>
            </a:r>
            <a:r>
              <a:rPr sz="2400" b="0" spc="-20" dirty="0">
                <a:solidFill>
                  <a:srgbClr val="000000"/>
                </a:solidFill>
                <a:latin typeface="Calibri"/>
                <a:cs typeface="Calibri"/>
              </a:rPr>
              <a:t>force) </a:t>
            </a:r>
            <a:r>
              <a:rPr sz="2400" b="0" spc="-10" dirty="0">
                <a:solidFill>
                  <a:srgbClr val="000000"/>
                </a:solidFill>
                <a:latin typeface="Calibri"/>
                <a:cs typeface="Calibri"/>
              </a:rPr>
              <a:t>between two </a:t>
            </a:r>
            <a:r>
              <a:rPr sz="2400" b="0" spc="-15" dirty="0">
                <a:solidFill>
                  <a:srgbClr val="000000"/>
                </a:solidFill>
                <a:latin typeface="Calibri"/>
                <a:cs typeface="Calibri"/>
              </a:rPr>
              <a:t>charged </a:t>
            </a:r>
            <a:r>
              <a:rPr sz="2400" b="0" spc="-10" dirty="0">
                <a:solidFill>
                  <a:srgbClr val="000000"/>
                </a:solidFill>
                <a:latin typeface="Calibri"/>
                <a:cs typeface="Calibri"/>
              </a:rPr>
              <a:t> </a:t>
            </a:r>
            <a:r>
              <a:rPr sz="2400" b="0" spc="-5" dirty="0">
                <a:solidFill>
                  <a:srgbClr val="000000"/>
                </a:solidFill>
                <a:latin typeface="Calibri"/>
                <a:cs typeface="Calibri"/>
              </a:rPr>
              <a:t>particles. If </a:t>
            </a:r>
            <a:r>
              <a:rPr sz="2400" b="0" spc="-10" dirty="0">
                <a:solidFill>
                  <a:srgbClr val="000000"/>
                </a:solidFill>
                <a:latin typeface="Calibri"/>
                <a:cs typeface="Calibri"/>
              </a:rPr>
              <a:t>the </a:t>
            </a:r>
            <a:r>
              <a:rPr sz="2400" b="0" spc="-5" dirty="0">
                <a:solidFill>
                  <a:srgbClr val="000000"/>
                </a:solidFill>
                <a:latin typeface="Calibri"/>
                <a:cs typeface="Calibri"/>
              </a:rPr>
              <a:t>particles </a:t>
            </a:r>
            <a:r>
              <a:rPr sz="2400" b="0" spc="-20" dirty="0">
                <a:solidFill>
                  <a:srgbClr val="000000"/>
                </a:solidFill>
                <a:latin typeface="Calibri"/>
                <a:cs typeface="Calibri"/>
              </a:rPr>
              <a:t>have </a:t>
            </a:r>
            <a:r>
              <a:rPr sz="2400" b="0" spc="-10" dirty="0">
                <a:solidFill>
                  <a:srgbClr val="000000"/>
                </a:solidFill>
                <a:latin typeface="Calibri"/>
                <a:cs typeface="Calibri"/>
              </a:rPr>
              <a:t>charges </a:t>
            </a:r>
            <a:r>
              <a:rPr sz="2400" b="0" i="1" dirty="0">
                <a:solidFill>
                  <a:srgbClr val="000000"/>
                </a:solidFill>
                <a:latin typeface="Calibri"/>
                <a:cs typeface="Calibri"/>
              </a:rPr>
              <a:t>q</a:t>
            </a:r>
            <a:r>
              <a:rPr sz="2400" b="0" i="1" baseline="-20833" dirty="0">
                <a:solidFill>
                  <a:srgbClr val="000000"/>
                </a:solidFill>
                <a:latin typeface="Calibri"/>
                <a:cs typeface="Calibri"/>
              </a:rPr>
              <a:t>1 </a:t>
            </a:r>
            <a:r>
              <a:rPr sz="2400" b="0" dirty="0">
                <a:solidFill>
                  <a:srgbClr val="000000"/>
                </a:solidFill>
                <a:latin typeface="Calibri"/>
                <a:cs typeface="Calibri"/>
              </a:rPr>
              <a:t>and </a:t>
            </a:r>
            <a:r>
              <a:rPr sz="2400" b="0" i="1" dirty="0">
                <a:solidFill>
                  <a:srgbClr val="000000"/>
                </a:solidFill>
                <a:latin typeface="Calibri"/>
                <a:cs typeface="Calibri"/>
              </a:rPr>
              <a:t>q</a:t>
            </a:r>
            <a:r>
              <a:rPr sz="2400" b="0" i="1" baseline="-20833" dirty="0">
                <a:solidFill>
                  <a:srgbClr val="000000"/>
                </a:solidFill>
                <a:latin typeface="Calibri"/>
                <a:cs typeface="Calibri"/>
              </a:rPr>
              <a:t>2</a:t>
            </a:r>
            <a:r>
              <a:rPr sz="2400" b="0" dirty="0">
                <a:solidFill>
                  <a:srgbClr val="000000"/>
                </a:solidFill>
                <a:latin typeface="Calibri"/>
                <a:cs typeface="Calibri"/>
              </a:rPr>
              <a:t>, </a:t>
            </a:r>
            <a:r>
              <a:rPr sz="2400" b="0" spc="-15" dirty="0">
                <a:solidFill>
                  <a:srgbClr val="000000"/>
                </a:solidFill>
                <a:latin typeface="Calibri"/>
                <a:cs typeface="Calibri"/>
              </a:rPr>
              <a:t>are separated </a:t>
            </a:r>
            <a:r>
              <a:rPr sz="2400" b="0" spc="-10" dirty="0">
                <a:solidFill>
                  <a:srgbClr val="000000"/>
                </a:solidFill>
                <a:latin typeface="Calibri"/>
                <a:cs typeface="Calibri"/>
              </a:rPr>
              <a:t>by distance </a:t>
            </a:r>
            <a:r>
              <a:rPr sz="2400" b="0" i="1" dirty="0">
                <a:solidFill>
                  <a:srgbClr val="000000"/>
                </a:solidFill>
                <a:latin typeface="Calibri"/>
                <a:cs typeface="Calibri"/>
              </a:rPr>
              <a:t>r</a:t>
            </a:r>
            <a:r>
              <a:rPr sz="2400" b="0" dirty="0">
                <a:solidFill>
                  <a:srgbClr val="000000"/>
                </a:solidFill>
                <a:latin typeface="Calibri"/>
                <a:cs typeface="Calibri"/>
              </a:rPr>
              <a:t>, and </a:t>
            </a:r>
            <a:r>
              <a:rPr sz="2400" b="0" spc="-15" dirty="0">
                <a:solidFill>
                  <a:srgbClr val="000000"/>
                </a:solidFill>
                <a:latin typeface="Calibri"/>
                <a:cs typeface="Calibri"/>
              </a:rPr>
              <a:t>are at rest </a:t>
            </a:r>
            <a:r>
              <a:rPr sz="2400" b="0" spc="-10" dirty="0">
                <a:solidFill>
                  <a:srgbClr val="000000"/>
                </a:solidFill>
                <a:latin typeface="Calibri"/>
                <a:cs typeface="Calibri"/>
              </a:rPr>
              <a:t> </a:t>
            </a:r>
            <a:r>
              <a:rPr sz="2400" b="0" spc="-5" dirty="0">
                <a:solidFill>
                  <a:srgbClr val="000000"/>
                </a:solidFill>
                <a:latin typeface="Calibri"/>
                <a:cs typeface="Calibri"/>
              </a:rPr>
              <a:t>(or moving only slowly) </a:t>
            </a:r>
            <a:r>
              <a:rPr sz="2400" b="0" spc="-10" dirty="0">
                <a:solidFill>
                  <a:srgbClr val="000000"/>
                </a:solidFill>
                <a:latin typeface="Calibri"/>
                <a:cs typeface="Calibri"/>
              </a:rPr>
              <a:t>relative </a:t>
            </a:r>
            <a:r>
              <a:rPr sz="2400" b="0" spc="-15" dirty="0">
                <a:solidFill>
                  <a:srgbClr val="000000"/>
                </a:solidFill>
                <a:latin typeface="Calibri"/>
                <a:cs typeface="Calibri"/>
              </a:rPr>
              <a:t>to </a:t>
            </a:r>
            <a:r>
              <a:rPr sz="2400" b="0" dirty="0">
                <a:solidFill>
                  <a:srgbClr val="000000"/>
                </a:solidFill>
                <a:latin typeface="Calibri"/>
                <a:cs typeface="Calibri"/>
              </a:rPr>
              <a:t>each </a:t>
            </a:r>
            <a:r>
              <a:rPr sz="2400" b="0" spc="-40" dirty="0">
                <a:solidFill>
                  <a:srgbClr val="000000"/>
                </a:solidFill>
                <a:latin typeface="Calibri"/>
                <a:cs typeface="Calibri"/>
              </a:rPr>
              <a:t>other, </a:t>
            </a:r>
            <a:r>
              <a:rPr sz="2400" b="0" dirty="0">
                <a:solidFill>
                  <a:srgbClr val="000000"/>
                </a:solidFill>
                <a:latin typeface="Calibri"/>
                <a:cs typeface="Calibri"/>
              </a:rPr>
              <a:t>then the </a:t>
            </a:r>
            <a:r>
              <a:rPr sz="2400" b="0" spc="-5" dirty="0">
                <a:solidFill>
                  <a:srgbClr val="000000"/>
                </a:solidFill>
                <a:latin typeface="Calibri"/>
                <a:cs typeface="Calibri"/>
              </a:rPr>
              <a:t>magnitude</a:t>
            </a:r>
            <a:r>
              <a:rPr sz="2400" b="0" dirty="0">
                <a:solidFill>
                  <a:srgbClr val="000000"/>
                </a:solidFill>
                <a:latin typeface="Calibri"/>
                <a:cs typeface="Calibri"/>
              </a:rPr>
              <a:t> </a:t>
            </a:r>
            <a:r>
              <a:rPr sz="2400" b="0" spc="-5" dirty="0">
                <a:solidFill>
                  <a:srgbClr val="000000"/>
                </a:solidFill>
                <a:latin typeface="Calibri"/>
                <a:cs typeface="Calibri"/>
              </a:rPr>
              <a:t>of </a:t>
            </a:r>
            <a:r>
              <a:rPr sz="2400" b="0" dirty="0">
                <a:solidFill>
                  <a:srgbClr val="000000"/>
                </a:solidFill>
                <a:latin typeface="Calibri"/>
                <a:cs typeface="Calibri"/>
              </a:rPr>
              <a:t>the </a:t>
            </a:r>
            <a:r>
              <a:rPr sz="2400" b="0" spc="-20" dirty="0">
                <a:solidFill>
                  <a:srgbClr val="000000"/>
                </a:solidFill>
                <a:latin typeface="Calibri"/>
                <a:cs typeface="Calibri"/>
              </a:rPr>
              <a:t>force </a:t>
            </a:r>
            <a:r>
              <a:rPr sz="2400" b="0" spc="-5" dirty="0">
                <a:solidFill>
                  <a:srgbClr val="000000"/>
                </a:solidFill>
                <a:latin typeface="Calibri"/>
                <a:cs typeface="Calibri"/>
              </a:rPr>
              <a:t>acting </a:t>
            </a:r>
            <a:r>
              <a:rPr sz="2400" b="0" spc="-10" dirty="0">
                <a:solidFill>
                  <a:srgbClr val="000000"/>
                </a:solidFill>
                <a:latin typeface="Calibri"/>
                <a:cs typeface="Calibri"/>
              </a:rPr>
              <a:t>on </a:t>
            </a:r>
            <a:r>
              <a:rPr sz="2400" b="0" spc="-5" dirty="0">
                <a:solidFill>
                  <a:srgbClr val="000000"/>
                </a:solidFill>
                <a:latin typeface="Calibri"/>
                <a:cs typeface="Calibri"/>
              </a:rPr>
              <a:t> </a:t>
            </a:r>
            <a:r>
              <a:rPr sz="2400" b="0" dirty="0">
                <a:solidFill>
                  <a:srgbClr val="000000"/>
                </a:solidFill>
                <a:latin typeface="Calibri"/>
                <a:cs typeface="Calibri"/>
              </a:rPr>
              <a:t>each</a:t>
            </a:r>
            <a:r>
              <a:rPr sz="2400" b="0" spc="-15" dirty="0">
                <a:solidFill>
                  <a:srgbClr val="000000"/>
                </a:solidFill>
                <a:latin typeface="Calibri"/>
                <a:cs typeface="Calibri"/>
              </a:rPr>
              <a:t> </a:t>
            </a:r>
            <a:r>
              <a:rPr sz="2400" b="0" spc="-5" dirty="0">
                <a:solidFill>
                  <a:srgbClr val="000000"/>
                </a:solidFill>
                <a:latin typeface="Calibri"/>
                <a:cs typeface="Calibri"/>
              </a:rPr>
              <a:t>due</a:t>
            </a:r>
            <a:r>
              <a:rPr sz="2400" b="0" dirty="0">
                <a:solidFill>
                  <a:srgbClr val="000000"/>
                </a:solidFill>
                <a:latin typeface="Calibri"/>
                <a:cs typeface="Calibri"/>
              </a:rPr>
              <a:t> </a:t>
            </a:r>
            <a:r>
              <a:rPr sz="2400" b="0" spc="-15" dirty="0">
                <a:solidFill>
                  <a:srgbClr val="000000"/>
                </a:solidFill>
                <a:latin typeface="Calibri"/>
                <a:cs typeface="Calibri"/>
              </a:rPr>
              <a:t>to</a:t>
            </a:r>
            <a:r>
              <a:rPr sz="2400" b="0" spc="-10" dirty="0">
                <a:solidFill>
                  <a:srgbClr val="000000"/>
                </a:solidFill>
                <a:latin typeface="Calibri"/>
                <a:cs typeface="Calibri"/>
              </a:rPr>
              <a:t> </a:t>
            </a:r>
            <a:r>
              <a:rPr sz="2400" b="0" dirty="0">
                <a:solidFill>
                  <a:srgbClr val="000000"/>
                </a:solidFill>
                <a:latin typeface="Calibri"/>
                <a:cs typeface="Calibri"/>
              </a:rPr>
              <a:t>the </a:t>
            </a:r>
            <a:r>
              <a:rPr sz="2400" b="0" spc="-5" dirty="0">
                <a:solidFill>
                  <a:srgbClr val="000000"/>
                </a:solidFill>
                <a:latin typeface="Calibri"/>
                <a:cs typeface="Calibri"/>
              </a:rPr>
              <a:t>other</a:t>
            </a:r>
            <a:r>
              <a:rPr sz="2400" b="0" spc="-10" dirty="0">
                <a:solidFill>
                  <a:srgbClr val="000000"/>
                </a:solidFill>
                <a:latin typeface="Calibri"/>
                <a:cs typeface="Calibri"/>
              </a:rPr>
              <a:t> </a:t>
            </a:r>
            <a:r>
              <a:rPr sz="2400" b="0" dirty="0">
                <a:solidFill>
                  <a:srgbClr val="000000"/>
                </a:solidFill>
                <a:latin typeface="Calibri"/>
                <a:cs typeface="Calibri"/>
              </a:rPr>
              <a:t>is</a:t>
            </a:r>
            <a:r>
              <a:rPr sz="2400" b="0" spc="530" dirty="0">
                <a:solidFill>
                  <a:srgbClr val="000000"/>
                </a:solidFill>
                <a:latin typeface="Calibri"/>
                <a:cs typeface="Calibri"/>
              </a:rPr>
              <a:t> </a:t>
            </a:r>
            <a:r>
              <a:rPr sz="2400" b="0" spc="-10" dirty="0">
                <a:solidFill>
                  <a:srgbClr val="000000"/>
                </a:solidFill>
                <a:latin typeface="Calibri"/>
                <a:cs typeface="Calibri"/>
              </a:rPr>
              <a:t>given</a:t>
            </a:r>
            <a:r>
              <a:rPr sz="2400" b="0" dirty="0">
                <a:solidFill>
                  <a:srgbClr val="000000"/>
                </a:solidFill>
                <a:latin typeface="Calibri"/>
                <a:cs typeface="Calibri"/>
              </a:rPr>
              <a:t> </a:t>
            </a:r>
            <a:r>
              <a:rPr sz="2400" b="0" spc="-15" dirty="0">
                <a:solidFill>
                  <a:srgbClr val="000000"/>
                </a:solidFill>
                <a:latin typeface="Calibri"/>
                <a:cs typeface="Calibri"/>
              </a:rPr>
              <a:t>by</a:t>
            </a:r>
            <a:endParaRPr sz="2400">
              <a:latin typeface="Calibri"/>
              <a:cs typeface="Calibri"/>
            </a:endParaRPr>
          </a:p>
        </p:txBody>
      </p:sp>
      <p:pic>
        <p:nvPicPr>
          <p:cNvPr id="3" name="object 3"/>
          <p:cNvPicPr/>
          <p:nvPr/>
        </p:nvPicPr>
        <p:blipFill>
          <a:blip r:embed="rId2" cstate="print"/>
          <a:stretch>
            <a:fillRect/>
          </a:stretch>
        </p:blipFill>
        <p:spPr>
          <a:xfrm>
            <a:off x="1105132" y="2854934"/>
            <a:ext cx="4332473" cy="708151"/>
          </a:xfrm>
          <a:prstGeom prst="rect">
            <a:avLst/>
          </a:prstGeom>
        </p:spPr>
      </p:pic>
      <p:sp>
        <p:nvSpPr>
          <p:cNvPr id="4" name="object 4"/>
          <p:cNvSpPr txBox="1"/>
          <p:nvPr/>
        </p:nvSpPr>
        <p:spPr>
          <a:xfrm>
            <a:off x="350011" y="4274261"/>
            <a:ext cx="11544300" cy="2382520"/>
          </a:xfrm>
          <a:prstGeom prst="rect">
            <a:avLst/>
          </a:prstGeom>
        </p:spPr>
        <p:txBody>
          <a:bodyPr vert="horz" wrap="square" lIns="0" tIns="13335" rIns="0" bIns="0" rtlCol="0">
            <a:spAutoFit/>
          </a:bodyPr>
          <a:lstStyle/>
          <a:p>
            <a:pPr marL="6069330" marR="17780">
              <a:lnSpc>
                <a:spcPct val="100000"/>
              </a:lnSpc>
              <a:spcBef>
                <a:spcPts val="105"/>
              </a:spcBef>
            </a:pPr>
            <a:r>
              <a:rPr sz="2000" spc="-5" dirty="0">
                <a:latin typeface="Calibri"/>
                <a:cs typeface="Calibri"/>
              </a:rPr>
              <a:t>The</a:t>
            </a:r>
            <a:r>
              <a:rPr sz="2000" dirty="0">
                <a:latin typeface="Calibri"/>
                <a:cs typeface="Calibri"/>
              </a:rPr>
              <a:t> </a:t>
            </a:r>
            <a:r>
              <a:rPr sz="2000" spc="-10" dirty="0">
                <a:latin typeface="Calibri"/>
                <a:cs typeface="Calibri"/>
              </a:rPr>
              <a:t>electrostatic</a:t>
            </a:r>
            <a:r>
              <a:rPr sz="2000" spc="35" dirty="0">
                <a:latin typeface="Calibri"/>
                <a:cs typeface="Calibri"/>
              </a:rPr>
              <a:t> </a:t>
            </a:r>
            <a:r>
              <a:rPr sz="2000" spc="-15" dirty="0">
                <a:latin typeface="Calibri"/>
                <a:cs typeface="Calibri"/>
              </a:rPr>
              <a:t>force</a:t>
            </a:r>
            <a:r>
              <a:rPr sz="2000" spc="-25" dirty="0">
                <a:latin typeface="Calibri"/>
                <a:cs typeface="Calibri"/>
              </a:rPr>
              <a:t> </a:t>
            </a:r>
            <a:r>
              <a:rPr sz="2000" dirty="0">
                <a:latin typeface="Calibri"/>
                <a:cs typeface="Calibri"/>
              </a:rPr>
              <a:t>on</a:t>
            </a:r>
            <a:r>
              <a:rPr sz="2000" spc="-10" dirty="0">
                <a:latin typeface="Calibri"/>
                <a:cs typeface="Calibri"/>
              </a:rPr>
              <a:t> </a:t>
            </a:r>
            <a:r>
              <a:rPr sz="2000" spc="-5" dirty="0">
                <a:latin typeface="Calibri"/>
                <a:cs typeface="Calibri"/>
              </a:rPr>
              <a:t>particle</a:t>
            </a:r>
            <a:r>
              <a:rPr sz="2000" spc="5" dirty="0">
                <a:latin typeface="Calibri"/>
                <a:cs typeface="Calibri"/>
              </a:rPr>
              <a:t> </a:t>
            </a:r>
            <a:r>
              <a:rPr sz="2000" dirty="0">
                <a:latin typeface="Calibri"/>
                <a:cs typeface="Calibri"/>
              </a:rPr>
              <a:t>1</a:t>
            </a:r>
            <a:r>
              <a:rPr sz="2000" spc="-5" dirty="0">
                <a:latin typeface="Calibri"/>
                <a:cs typeface="Calibri"/>
              </a:rPr>
              <a:t> can</a:t>
            </a:r>
            <a:r>
              <a:rPr sz="2000" spc="-20" dirty="0">
                <a:latin typeface="Calibri"/>
                <a:cs typeface="Calibri"/>
              </a:rPr>
              <a:t> </a:t>
            </a:r>
            <a:r>
              <a:rPr sz="2000" dirty="0">
                <a:latin typeface="Calibri"/>
                <a:cs typeface="Calibri"/>
              </a:rPr>
              <a:t>be</a:t>
            </a:r>
            <a:r>
              <a:rPr sz="2000" spc="-5" dirty="0">
                <a:latin typeface="Calibri"/>
                <a:cs typeface="Calibri"/>
              </a:rPr>
              <a:t> described </a:t>
            </a:r>
            <a:r>
              <a:rPr sz="2000" spc="-440" dirty="0">
                <a:latin typeface="Calibri"/>
                <a:cs typeface="Calibri"/>
              </a:rPr>
              <a:t> </a:t>
            </a:r>
            <a:r>
              <a:rPr sz="2000" dirty="0">
                <a:latin typeface="Calibri"/>
                <a:cs typeface="Calibri"/>
              </a:rPr>
              <a:t>in </a:t>
            </a:r>
            <a:r>
              <a:rPr sz="2000" spc="-10" dirty="0">
                <a:latin typeface="Calibri"/>
                <a:cs typeface="Calibri"/>
              </a:rPr>
              <a:t>terms </a:t>
            </a:r>
            <a:r>
              <a:rPr sz="2000" spc="-5" dirty="0">
                <a:latin typeface="Calibri"/>
                <a:cs typeface="Calibri"/>
              </a:rPr>
              <a:t>of </a:t>
            </a:r>
            <a:r>
              <a:rPr sz="2000" dirty="0">
                <a:latin typeface="Calibri"/>
                <a:cs typeface="Calibri"/>
              </a:rPr>
              <a:t>a unit </a:t>
            </a:r>
            <a:r>
              <a:rPr sz="2000" spc="-10" dirty="0">
                <a:latin typeface="Calibri"/>
                <a:cs typeface="Calibri"/>
              </a:rPr>
              <a:t>vector </a:t>
            </a:r>
            <a:r>
              <a:rPr sz="2000" b="1" i="1" dirty="0">
                <a:latin typeface="Calibri"/>
                <a:cs typeface="Calibri"/>
              </a:rPr>
              <a:t>r </a:t>
            </a:r>
            <a:r>
              <a:rPr sz="2000" dirty="0">
                <a:latin typeface="Calibri"/>
                <a:cs typeface="Calibri"/>
              </a:rPr>
              <a:t>along an </a:t>
            </a:r>
            <a:r>
              <a:rPr sz="2000" spc="-10" dirty="0">
                <a:latin typeface="Calibri"/>
                <a:cs typeface="Calibri"/>
              </a:rPr>
              <a:t>axis </a:t>
            </a:r>
            <a:r>
              <a:rPr sz="2000" spc="-5" dirty="0">
                <a:latin typeface="Calibri"/>
                <a:cs typeface="Calibri"/>
              </a:rPr>
              <a:t>through </a:t>
            </a:r>
            <a:r>
              <a:rPr sz="2000" dirty="0">
                <a:latin typeface="Calibri"/>
                <a:cs typeface="Calibri"/>
              </a:rPr>
              <a:t>the </a:t>
            </a:r>
            <a:r>
              <a:rPr sz="2000" spc="5" dirty="0">
                <a:latin typeface="Calibri"/>
                <a:cs typeface="Calibri"/>
              </a:rPr>
              <a:t> </a:t>
            </a:r>
            <a:r>
              <a:rPr sz="2000" spc="-10" dirty="0">
                <a:latin typeface="Calibri"/>
                <a:cs typeface="Calibri"/>
              </a:rPr>
              <a:t>two</a:t>
            </a:r>
            <a:r>
              <a:rPr sz="2000" spc="-15" dirty="0">
                <a:latin typeface="Calibri"/>
                <a:cs typeface="Calibri"/>
              </a:rPr>
              <a:t> </a:t>
            </a:r>
            <a:r>
              <a:rPr sz="2000" spc="-5" dirty="0">
                <a:latin typeface="Calibri"/>
                <a:cs typeface="Calibri"/>
              </a:rPr>
              <a:t>particles,</a:t>
            </a:r>
            <a:r>
              <a:rPr sz="2000" spc="20" dirty="0">
                <a:latin typeface="Calibri"/>
                <a:cs typeface="Calibri"/>
              </a:rPr>
              <a:t> </a:t>
            </a:r>
            <a:r>
              <a:rPr sz="2000" spc="-5" dirty="0">
                <a:latin typeface="Calibri"/>
                <a:cs typeface="Calibri"/>
              </a:rPr>
              <a:t>radially</a:t>
            </a:r>
            <a:r>
              <a:rPr sz="2000" dirty="0">
                <a:latin typeface="Calibri"/>
                <a:cs typeface="Calibri"/>
              </a:rPr>
              <a:t> </a:t>
            </a:r>
            <a:r>
              <a:rPr sz="2000" spc="-20" dirty="0">
                <a:latin typeface="Calibri"/>
                <a:cs typeface="Calibri"/>
              </a:rPr>
              <a:t>away</a:t>
            </a:r>
            <a:r>
              <a:rPr sz="2000" spc="-15" dirty="0">
                <a:latin typeface="Calibri"/>
                <a:cs typeface="Calibri"/>
              </a:rPr>
              <a:t> from</a:t>
            </a:r>
            <a:r>
              <a:rPr sz="2000" spc="-5" dirty="0">
                <a:latin typeface="Calibri"/>
                <a:cs typeface="Calibri"/>
              </a:rPr>
              <a:t> particle</a:t>
            </a:r>
            <a:r>
              <a:rPr sz="2000" spc="5" dirty="0">
                <a:latin typeface="Calibri"/>
                <a:cs typeface="Calibri"/>
              </a:rPr>
              <a:t> </a:t>
            </a:r>
            <a:r>
              <a:rPr sz="2000" dirty="0">
                <a:latin typeface="Calibri"/>
                <a:cs typeface="Calibri"/>
              </a:rPr>
              <a:t>2.</a:t>
            </a:r>
          </a:p>
          <a:p>
            <a:pPr>
              <a:lnSpc>
                <a:spcPct val="100000"/>
              </a:lnSpc>
              <a:spcBef>
                <a:spcPts val="5"/>
              </a:spcBef>
            </a:pPr>
            <a:endParaRPr sz="2200" dirty="0">
              <a:latin typeface="Calibri"/>
              <a:cs typeface="Calibri"/>
            </a:endParaRPr>
          </a:p>
          <a:p>
            <a:pPr marL="50800" marR="1555750">
              <a:lnSpc>
                <a:spcPct val="98800"/>
              </a:lnSpc>
              <a:tabLst>
                <a:tab pos="972185" algn="l"/>
                <a:tab pos="1261110" algn="l"/>
              </a:tabLst>
            </a:pPr>
            <a:r>
              <a:rPr sz="2400" spc="-10" dirty="0">
                <a:latin typeface="Calibri"/>
                <a:cs typeface="Calibri"/>
              </a:rPr>
              <a:t>where	</a:t>
            </a:r>
            <a:r>
              <a:rPr sz="2400" i="1" spc="-5" dirty="0">
                <a:latin typeface="Calibri"/>
                <a:cs typeface="Calibri"/>
              </a:rPr>
              <a:t>ε</a:t>
            </a:r>
            <a:r>
              <a:rPr sz="2400" i="1" spc="-7" baseline="-20833" dirty="0">
                <a:latin typeface="Calibri"/>
                <a:cs typeface="Calibri"/>
              </a:rPr>
              <a:t>0</a:t>
            </a:r>
            <a:r>
              <a:rPr sz="2400" i="1" baseline="-20833" dirty="0">
                <a:latin typeface="Calibri"/>
                <a:cs typeface="Calibri"/>
              </a:rPr>
              <a:t> </a:t>
            </a:r>
            <a:r>
              <a:rPr sz="2400" i="1" dirty="0">
                <a:latin typeface="Calibri"/>
                <a:cs typeface="Calibri"/>
              </a:rPr>
              <a:t>= </a:t>
            </a:r>
            <a:r>
              <a:rPr sz="2400" i="1" spc="-5" dirty="0">
                <a:latin typeface="Calibri"/>
                <a:cs typeface="Calibri"/>
              </a:rPr>
              <a:t>8.85 </a:t>
            </a:r>
            <a:r>
              <a:rPr sz="2500" spc="-20" dirty="0">
                <a:latin typeface="MS Gothic"/>
                <a:cs typeface="MS Gothic"/>
              </a:rPr>
              <a:t>×</a:t>
            </a:r>
            <a:r>
              <a:rPr sz="2400" i="1" spc="-20" dirty="0">
                <a:latin typeface="Calibri"/>
                <a:cs typeface="Calibri"/>
              </a:rPr>
              <a:t>10</a:t>
            </a:r>
            <a:r>
              <a:rPr sz="2400" i="1" spc="-30" baseline="24305" dirty="0">
                <a:latin typeface="Calibri"/>
                <a:cs typeface="Calibri"/>
              </a:rPr>
              <a:t>-12</a:t>
            </a:r>
            <a:r>
              <a:rPr sz="2400" i="1" spc="-22" baseline="24305" dirty="0">
                <a:latin typeface="Calibri"/>
                <a:cs typeface="Calibri"/>
              </a:rPr>
              <a:t> </a:t>
            </a:r>
            <a:r>
              <a:rPr sz="2400" i="1" spc="-5" dirty="0">
                <a:latin typeface="Calibri"/>
                <a:cs typeface="Calibri"/>
              </a:rPr>
              <a:t>C</a:t>
            </a:r>
            <a:r>
              <a:rPr sz="2400" i="1" spc="-7" baseline="24305" dirty="0">
                <a:latin typeface="Calibri"/>
                <a:cs typeface="Calibri"/>
              </a:rPr>
              <a:t>2</a:t>
            </a:r>
            <a:r>
              <a:rPr sz="2400" i="1" spc="-5" dirty="0">
                <a:latin typeface="Calibri"/>
                <a:cs typeface="Calibri"/>
              </a:rPr>
              <a:t>/N.m</a:t>
            </a:r>
            <a:r>
              <a:rPr sz="2400" i="1" spc="-7" baseline="24305" dirty="0">
                <a:latin typeface="Calibri"/>
                <a:cs typeface="Calibri"/>
              </a:rPr>
              <a:t>2</a:t>
            </a:r>
            <a:r>
              <a:rPr sz="2400" i="1" baseline="24305" dirty="0">
                <a:latin typeface="Calibri"/>
                <a:cs typeface="Calibri"/>
              </a:rPr>
              <a:t> </a:t>
            </a:r>
            <a:r>
              <a:rPr sz="2400" dirty="0">
                <a:latin typeface="Calibri"/>
                <a:cs typeface="Calibri"/>
              </a:rPr>
              <a:t>is the </a:t>
            </a:r>
            <a:r>
              <a:rPr sz="2400" spc="-5" dirty="0">
                <a:latin typeface="Calibri"/>
                <a:cs typeface="Calibri"/>
              </a:rPr>
              <a:t>permittivity </a:t>
            </a:r>
            <a:r>
              <a:rPr sz="2400" spc="-15" dirty="0">
                <a:latin typeface="Calibri"/>
                <a:cs typeface="Calibri"/>
              </a:rPr>
              <a:t>constant. </a:t>
            </a:r>
            <a:r>
              <a:rPr sz="2400" spc="-5" dirty="0">
                <a:latin typeface="Calibri"/>
                <a:cs typeface="Calibri"/>
              </a:rPr>
              <a:t>The </a:t>
            </a:r>
            <a:r>
              <a:rPr sz="2400" spc="-15" dirty="0">
                <a:latin typeface="Calibri"/>
                <a:cs typeface="Calibri"/>
              </a:rPr>
              <a:t>ratio </a:t>
            </a:r>
            <a:r>
              <a:rPr sz="2400" i="1" spc="-5" dirty="0">
                <a:latin typeface="Calibri"/>
                <a:cs typeface="Calibri"/>
              </a:rPr>
              <a:t>1/4πε</a:t>
            </a:r>
            <a:r>
              <a:rPr sz="2400" i="1" spc="-7" baseline="-20833" dirty="0">
                <a:latin typeface="Calibri"/>
                <a:cs typeface="Calibri"/>
              </a:rPr>
              <a:t>0</a:t>
            </a:r>
            <a:r>
              <a:rPr sz="2400" i="1" baseline="-20833" dirty="0">
                <a:latin typeface="Calibri"/>
                <a:cs typeface="Calibri"/>
              </a:rPr>
              <a:t> </a:t>
            </a:r>
            <a:r>
              <a:rPr sz="2400" dirty="0">
                <a:latin typeface="Calibri"/>
                <a:cs typeface="Calibri"/>
              </a:rPr>
              <a:t>is </a:t>
            </a:r>
            <a:r>
              <a:rPr sz="2400" spc="-530" dirty="0">
                <a:latin typeface="Calibri"/>
                <a:cs typeface="Calibri"/>
              </a:rPr>
              <a:t> </a:t>
            </a:r>
            <a:r>
              <a:rPr sz="2400" spc="-10" dirty="0">
                <a:latin typeface="Calibri"/>
                <a:cs typeface="Calibri"/>
              </a:rPr>
              <a:t>often </a:t>
            </a:r>
            <a:r>
              <a:rPr sz="2400" spc="-5" dirty="0">
                <a:latin typeface="Calibri"/>
                <a:cs typeface="Calibri"/>
              </a:rPr>
              <a:t>replaced </a:t>
            </a:r>
            <a:r>
              <a:rPr sz="2400" dirty="0">
                <a:latin typeface="Calibri"/>
                <a:cs typeface="Calibri"/>
              </a:rPr>
              <a:t>with the </a:t>
            </a:r>
            <a:r>
              <a:rPr sz="2400" spc="-10" dirty="0">
                <a:latin typeface="Calibri"/>
                <a:cs typeface="Calibri"/>
              </a:rPr>
              <a:t>electrostatic </a:t>
            </a:r>
            <a:r>
              <a:rPr sz="2400" spc="-15" dirty="0">
                <a:latin typeface="Calibri"/>
                <a:cs typeface="Calibri"/>
              </a:rPr>
              <a:t>constant </a:t>
            </a:r>
            <a:r>
              <a:rPr sz="2400" spc="-5" dirty="0">
                <a:latin typeface="Calibri"/>
                <a:cs typeface="Calibri"/>
              </a:rPr>
              <a:t>(or Coulomb </a:t>
            </a:r>
            <a:r>
              <a:rPr sz="2400" spc="-15" dirty="0">
                <a:latin typeface="Calibri"/>
                <a:cs typeface="Calibri"/>
              </a:rPr>
              <a:t>constant) </a:t>
            </a:r>
            <a:r>
              <a:rPr sz="2400" i="1" spc="-5" dirty="0">
                <a:latin typeface="Calibri"/>
                <a:cs typeface="Calibri"/>
              </a:rPr>
              <a:t>k=8.99×10</a:t>
            </a:r>
            <a:r>
              <a:rPr sz="2400" i="1" spc="-7" baseline="24305" dirty="0">
                <a:latin typeface="Calibri"/>
                <a:cs typeface="Calibri"/>
              </a:rPr>
              <a:t>9 </a:t>
            </a:r>
            <a:r>
              <a:rPr sz="2400" i="1" spc="-525" baseline="24305" dirty="0">
                <a:latin typeface="Calibri"/>
                <a:cs typeface="Calibri"/>
              </a:rPr>
              <a:t> </a:t>
            </a:r>
            <a:r>
              <a:rPr sz="2400" i="1" spc="-5" dirty="0">
                <a:latin typeface="Calibri"/>
                <a:cs typeface="Calibri"/>
              </a:rPr>
              <a:t>N.m</a:t>
            </a:r>
            <a:r>
              <a:rPr sz="2400" i="1" spc="-7" baseline="24305" dirty="0">
                <a:latin typeface="Calibri"/>
                <a:cs typeface="Calibri"/>
              </a:rPr>
              <a:t>2</a:t>
            </a:r>
            <a:r>
              <a:rPr sz="2400" i="1" spc="-5" dirty="0">
                <a:latin typeface="Calibri"/>
                <a:cs typeface="Calibri"/>
              </a:rPr>
              <a:t>/C</a:t>
            </a:r>
            <a:r>
              <a:rPr sz="2400" i="1" spc="-7" baseline="24305" dirty="0">
                <a:latin typeface="Calibri"/>
                <a:cs typeface="Calibri"/>
              </a:rPr>
              <a:t>2</a:t>
            </a:r>
            <a:r>
              <a:rPr sz="2400" spc="-5" dirty="0">
                <a:latin typeface="Calibri"/>
                <a:cs typeface="Calibri"/>
              </a:rPr>
              <a:t>.	</a:t>
            </a:r>
            <a:r>
              <a:rPr sz="2400" spc="-10" dirty="0">
                <a:latin typeface="Calibri"/>
                <a:cs typeface="Calibri"/>
              </a:rPr>
              <a:t>Thus </a:t>
            </a:r>
            <a:r>
              <a:rPr sz="2400" dirty="0">
                <a:latin typeface="Calibri"/>
                <a:cs typeface="Calibri"/>
              </a:rPr>
              <a:t>k</a:t>
            </a:r>
            <a:r>
              <a:rPr sz="2400" spc="-10" dirty="0">
                <a:latin typeface="Calibri"/>
                <a:cs typeface="Calibri"/>
              </a:rPr>
              <a:t> </a:t>
            </a:r>
            <a:r>
              <a:rPr sz="2400" dirty="0">
                <a:latin typeface="Calibri"/>
                <a:cs typeface="Calibri"/>
              </a:rPr>
              <a:t>=</a:t>
            </a:r>
            <a:r>
              <a:rPr sz="2400" spc="5" dirty="0">
                <a:latin typeface="Calibri"/>
                <a:cs typeface="Calibri"/>
              </a:rPr>
              <a:t> </a:t>
            </a:r>
            <a:r>
              <a:rPr sz="2400" i="1" spc="-5" dirty="0">
                <a:latin typeface="Calibri"/>
                <a:cs typeface="Calibri"/>
              </a:rPr>
              <a:t>1/4πε</a:t>
            </a:r>
            <a:r>
              <a:rPr sz="2400" i="1" spc="-7" baseline="-20833" dirty="0">
                <a:latin typeface="Calibri"/>
                <a:cs typeface="Calibri"/>
              </a:rPr>
              <a:t>0</a:t>
            </a:r>
            <a:r>
              <a:rPr sz="2400" i="1" spc="-30" baseline="-20833" dirty="0">
                <a:latin typeface="Calibri"/>
                <a:cs typeface="Calibri"/>
              </a:rPr>
              <a:t> </a:t>
            </a:r>
            <a:r>
              <a:rPr sz="2400" i="1" dirty="0">
                <a:latin typeface="Calibri"/>
                <a:cs typeface="Calibri"/>
              </a:rPr>
              <a:t>.</a:t>
            </a:r>
            <a:endParaRPr sz="2400" dirty="0">
              <a:latin typeface="Calibri"/>
              <a:cs typeface="Calibri"/>
            </a:endParaRPr>
          </a:p>
        </p:txBody>
      </p:sp>
      <p:pic>
        <p:nvPicPr>
          <p:cNvPr id="5" name="object 5"/>
          <p:cNvPicPr/>
          <p:nvPr/>
        </p:nvPicPr>
        <p:blipFill>
          <a:blip r:embed="rId3" cstate="print"/>
          <a:stretch>
            <a:fillRect/>
          </a:stretch>
        </p:blipFill>
        <p:spPr>
          <a:xfrm>
            <a:off x="5763306" y="2352606"/>
            <a:ext cx="5984147" cy="173010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3402329" cy="697230"/>
          </a:xfrm>
          <a:prstGeom prst="rect">
            <a:avLst/>
          </a:prstGeom>
        </p:spPr>
        <p:txBody>
          <a:bodyPr vert="horz" wrap="square" lIns="0" tIns="13335" rIns="0" bIns="0" rtlCol="0">
            <a:spAutoFit/>
          </a:bodyPr>
          <a:lstStyle/>
          <a:p>
            <a:pPr marL="12700">
              <a:lnSpc>
                <a:spcPct val="100000"/>
              </a:lnSpc>
              <a:spcBef>
                <a:spcPts val="105"/>
              </a:spcBef>
            </a:pPr>
            <a:r>
              <a:rPr sz="4400" b="0" spc="-5" dirty="0">
                <a:solidFill>
                  <a:srgbClr val="000000"/>
                </a:solidFill>
                <a:latin typeface="Calibri Light"/>
                <a:cs typeface="Calibri Light"/>
              </a:rPr>
              <a:t>Coulomb's</a:t>
            </a:r>
            <a:r>
              <a:rPr sz="4400" b="0" spc="-65" dirty="0">
                <a:solidFill>
                  <a:srgbClr val="000000"/>
                </a:solidFill>
                <a:latin typeface="Calibri Light"/>
                <a:cs typeface="Calibri Light"/>
              </a:rPr>
              <a:t> </a:t>
            </a:r>
            <a:r>
              <a:rPr sz="4400" b="0" spc="-10" dirty="0">
                <a:solidFill>
                  <a:srgbClr val="000000"/>
                </a:solidFill>
                <a:latin typeface="Calibri Light"/>
                <a:cs typeface="Calibri Light"/>
              </a:rPr>
              <a:t>Law</a:t>
            </a:r>
            <a:endParaRPr sz="4400">
              <a:latin typeface="Calibri Light"/>
              <a:cs typeface="Calibri Light"/>
            </a:endParaRPr>
          </a:p>
        </p:txBody>
      </p:sp>
      <p:sp>
        <p:nvSpPr>
          <p:cNvPr id="3" name="object 3"/>
          <p:cNvSpPr txBox="1"/>
          <p:nvPr/>
        </p:nvSpPr>
        <p:spPr>
          <a:xfrm>
            <a:off x="916939" y="1793189"/>
            <a:ext cx="10348595" cy="3011805"/>
          </a:xfrm>
          <a:prstGeom prst="rect">
            <a:avLst/>
          </a:prstGeom>
        </p:spPr>
        <p:txBody>
          <a:bodyPr vert="horz" wrap="square" lIns="0" tIns="55244" rIns="0" bIns="0" rtlCol="0">
            <a:spAutoFit/>
          </a:bodyPr>
          <a:lstStyle/>
          <a:p>
            <a:pPr marL="241300" marR="5080" indent="-228600">
              <a:lnSpc>
                <a:spcPct val="90000"/>
              </a:lnSpc>
              <a:spcBef>
                <a:spcPts val="434"/>
              </a:spcBef>
              <a:buFont typeface="Arial MT"/>
              <a:buChar char="•"/>
              <a:tabLst>
                <a:tab pos="241300" algn="l"/>
              </a:tabLst>
            </a:pPr>
            <a:r>
              <a:rPr sz="2800" spc="-10" dirty="0">
                <a:latin typeface="Calibri"/>
                <a:cs typeface="Calibri"/>
              </a:rPr>
              <a:t>According</a:t>
            </a:r>
            <a:r>
              <a:rPr sz="2800" spc="20" dirty="0">
                <a:latin typeface="Calibri"/>
                <a:cs typeface="Calibri"/>
              </a:rPr>
              <a:t> </a:t>
            </a:r>
            <a:r>
              <a:rPr sz="2800" spc="-15" dirty="0">
                <a:latin typeface="Calibri"/>
                <a:cs typeface="Calibri"/>
              </a:rPr>
              <a:t>to</a:t>
            </a:r>
            <a:r>
              <a:rPr sz="2800" spc="-10" dirty="0">
                <a:latin typeface="Calibri"/>
                <a:cs typeface="Calibri"/>
              </a:rPr>
              <a:t> </a:t>
            </a:r>
            <a:r>
              <a:rPr sz="2800" b="1" spc="-25" dirty="0">
                <a:latin typeface="Calibri"/>
                <a:cs typeface="Calibri"/>
              </a:rPr>
              <a:t>Coulomb’s</a:t>
            </a:r>
            <a:r>
              <a:rPr sz="2800" b="1" spc="10" dirty="0">
                <a:latin typeface="Calibri"/>
                <a:cs typeface="Calibri"/>
              </a:rPr>
              <a:t> </a:t>
            </a:r>
            <a:r>
              <a:rPr sz="2800" b="1" spc="-5" dirty="0">
                <a:latin typeface="Calibri"/>
                <a:cs typeface="Calibri"/>
              </a:rPr>
              <a:t>law</a:t>
            </a:r>
            <a:r>
              <a:rPr sz="2800" spc="-5" dirty="0">
                <a:latin typeface="Calibri"/>
                <a:cs typeface="Calibri"/>
              </a:rPr>
              <a:t>,</a:t>
            </a:r>
            <a:r>
              <a:rPr sz="2800" spc="10" dirty="0">
                <a:latin typeface="Calibri"/>
                <a:cs typeface="Calibri"/>
              </a:rPr>
              <a:t> </a:t>
            </a:r>
            <a:r>
              <a:rPr sz="2800" spc="-5" dirty="0">
                <a:latin typeface="Calibri"/>
                <a:cs typeface="Calibri"/>
              </a:rPr>
              <a:t>the </a:t>
            </a:r>
            <a:r>
              <a:rPr sz="2800" spc="-25" dirty="0">
                <a:latin typeface="Calibri"/>
                <a:cs typeface="Calibri"/>
              </a:rPr>
              <a:t>force</a:t>
            </a:r>
            <a:r>
              <a:rPr sz="2800" dirty="0">
                <a:latin typeface="Calibri"/>
                <a:cs typeface="Calibri"/>
              </a:rPr>
              <a:t> </a:t>
            </a:r>
            <a:r>
              <a:rPr sz="2800" spc="-5" dirty="0">
                <a:latin typeface="Calibri"/>
                <a:cs typeface="Calibri"/>
              </a:rPr>
              <a:t>of </a:t>
            </a:r>
            <a:r>
              <a:rPr sz="2800" spc="-15" dirty="0">
                <a:latin typeface="Calibri"/>
                <a:cs typeface="Calibri"/>
              </a:rPr>
              <a:t>attraction</a:t>
            </a:r>
            <a:r>
              <a:rPr sz="2800" spc="5" dirty="0">
                <a:latin typeface="Calibri"/>
                <a:cs typeface="Calibri"/>
              </a:rPr>
              <a:t> </a:t>
            </a:r>
            <a:r>
              <a:rPr sz="2800" spc="-5" dirty="0">
                <a:latin typeface="Calibri"/>
                <a:cs typeface="Calibri"/>
              </a:rPr>
              <a:t>or </a:t>
            </a:r>
            <a:r>
              <a:rPr sz="2800" spc="-10" dirty="0">
                <a:latin typeface="Calibri"/>
                <a:cs typeface="Calibri"/>
              </a:rPr>
              <a:t>repulsion </a:t>
            </a:r>
            <a:r>
              <a:rPr sz="2800" spc="-5" dirty="0">
                <a:latin typeface="Calibri"/>
                <a:cs typeface="Calibri"/>
              </a:rPr>
              <a:t> </a:t>
            </a:r>
            <a:r>
              <a:rPr sz="2800" spc="-10" dirty="0">
                <a:latin typeface="Calibri"/>
                <a:cs typeface="Calibri"/>
              </a:rPr>
              <a:t>between</a:t>
            </a:r>
            <a:r>
              <a:rPr sz="2800" dirty="0">
                <a:latin typeface="Calibri"/>
                <a:cs typeface="Calibri"/>
              </a:rPr>
              <a:t> </a:t>
            </a:r>
            <a:r>
              <a:rPr sz="2800" spc="-10" dirty="0">
                <a:latin typeface="Calibri"/>
                <a:cs typeface="Calibri"/>
              </a:rPr>
              <a:t>two</a:t>
            </a:r>
            <a:r>
              <a:rPr sz="2800" spc="5" dirty="0">
                <a:latin typeface="Calibri"/>
                <a:cs typeface="Calibri"/>
              </a:rPr>
              <a:t> </a:t>
            </a:r>
            <a:r>
              <a:rPr sz="2800" spc="-10" dirty="0">
                <a:latin typeface="Calibri"/>
                <a:cs typeface="Calibri"/>
              </a:rPr>
              <a:t>charged</a:t>
            </a:r>
            <a:r>
              <a:rPr sz="2800" spc="20" dirty="0">
                <a:latin typeface="Calibri"/>
                <a:cs typeface="Calibri"/>
              </a:rPr>
              <a:t> </a:t>
            </a:r>
            <a:r>
              <a:rPr sz="2800" spc="-10" dirty="0">
                <a:latin typeface="Calibri"/>
                <a:cs typeface="Calibri"/>
              </a:rPr>
              <a:t>bodies</a:t>
            </a:r>
            <a:r>
              <a:rPr sz="2800" spc="25" dirty="0">
                <a:latin typeface="Calibri"/>
                <a:cs typeface="Calibri"/>
              </a:rPr>
              <a:t> </a:t>
            </a:r>
            <a:r>
              <a:rPr sz="2800" spc="-5" dirty="0">
                <a:latin typeface="Calibri"/>
                <a:cs typeface="Calibri"/>
              </a:rPr>
              <a:t>is</a:t>
            </a:r>
            <a:r>
              <a:rPr sz="2800" spc="15" dirty="0">
                <a:latin typeface="Calibri"/>
                <a:cs typeface="Calibri"/>
              </a:rPr>
              <a:t> </a:t>
            </a:r>
            <a:r>
              <a:rPr sz="2800" spc="-10" dirty="0">
                <a:latin typeface="Calibri"/>
                <a:cs typeface="Calibri"/>
              </a:rPr>
              <a:t>directly</a:t>
            </a:r>
            <a:r>
              <a:rPr sz="2800" spc="10" dirty="0">
                <a:latin typeface="Calibri"/>
                <a:cs typeface="Calibri"/>
              </a:rPr>
              <a:t> </a:t>
            </a:r>
            <a:r>
              <a:rPr sz="2800" spc="-10" dirty="0">
                <a:latin typeface="Calibri"/>
                <a:cs typeface="Calibri"/>
              </a:rPr>
              <a:t>proportional</a:t>
            </a:r>
            <a:r>
              <a:rPr sz="2800" spc="40" dirty="0">
                <a:latin typeface="Calibri"/>
                <a:cs typeface="Calibri"/>
              </a:rPr>
              <a:t> </a:t>
            </a:r>
            <a:r>
              <a:rPr sz="2800" spc="-15" dirty="0">
                <a:latin typeface="Calibri"/>
                <a:cs typeface="Calibri"/>
              </a:rPr>
              <a:t>to</a:t>
            </a:r>
            <a:r>
              <a:rPr sz="2800" spc="5" dirty="0">
                <a:latin typeface="Calibri"/>
                <a:cs typeface="Calibri"/>
              </a:rPr>
              <a:t> </a:t>
            </a:r>
            <a:r>
              <a:rPr sz="2800" spc="-5" dirty="0">
                <a:latin typeface="Calibri"/>
                <a:cs typeface="Calibri"/>
              </a:rPr>
              <a:t>the</a:t>
            </a:r>
            <a:r>
              <a:rPr sz="2800" spc="15" dirty="0">
                <a:latin typeface="Calibri"/>
                <a:cs typeface="Calibri"/>
              </a:rPr>
              <a:t> </a:t>
            </a:r>
            <a:r>
              <a:rPr sz="2800" spc="-15" dirty="0">
                <a:latin typeface="Calibri"/>
                <a:cs typeface="Calibri"/>
              </a:rPr>
              <a:t>product</a:t>
            </a:r>
            <a:r>
              <a:rPr sz="2800" spc="45" dirty="0">
                <a:latin typeface="Calibri"/>
                <a:cs typeface="Calibri"/>
              </a:rPr>
              <a:t> </a:t>
            </a:r>
            <a:r>
              <a:rPr sz="2800" spc="-10" dirty="0">
                <a:latin typeface="Calibri"/>
                <a:cs typeface="Calibri"/>
              </a:rPr>
              <a:t>of </a:t>
            </a:r>
            <a:r>
              <a:rPr sz="2800" spc="-615" dirty="0">
                <a:latin typeface="Calibri"/>
                <a:cs typeface="Calibri"/>
              </a:rPr>
              <a:t> </a:t>
            </a:r>
            <a:r>
              <a:rPr sz="2800" spc="-5" dirty="0">
                <a:latin typeface="Calibri"/>
                <a:cs typeface="Calibri"/>
              </a:rPr>
              <a:t>their</a:t>
            </a:r>
            <a:r>
              <a:rPr sz="2800" spc="10" dirty="0">
                <a:latin typeface="Calibri"/>
                <a:cs typeface="Calibri"/>
              </a:rPr>
              <a:t> </a:t>
            </a:r>
            <a:r>
              <a:rPr sz="2800" spc="-10" dirty="0">
                <a:latin typeface="Calibri"/>
                <a:cs typeface="Calibri"/>
              </a:rPr>
              <a:t>charges</a:t>
            </a:r>
            <a:r>
              <a:rPr sz="2800" spc="5" dirty="0">
                <a:latin typeface="Calibri"/>
                <a:cs typeface="Calibri"/>
              </a:rPr>
              <a:t> </a:t>
            </a:r>
            <a:r>
              <a:rPr sz="2800" spc="-5" dirty="0">
                <a:latin typeface="Calibri"/>
                <a:cs typeface="Calibri"/>
              </a:rPr>
              <a:t>and</a:t>
            </a:r>
            <a:r>
              <a:rPr sz="2800" spc="25" dirty="0">
                <a:latin typeface="Calibri"/>
                <a:cs typeface="Calibri"/>
              </a:rPr>
              <a:t> </a:t>
            </a:r>
            <a:r>
              <a:rPr sz="2800" spc="-20" dirty="0">
                <a:latin typeface="Calibri"/>
                <a:cs typeface="Calibri"/>
              </a:rPr>
              <a:t>inversely</a:t>
            </a:r>
            <a:r>
              <a:rPr sz="2800" spc="20" dirty="0">
                <a:latin typeface="Calibri"/>
                <a:cs typeface="Calibri"/>
              </a:rPr>
              <a:t> </a:t>
            </a:r>
            <a:r>
              <a:rPr sz="2800" spc="-10" dirty="0">
                <a:latin typeface="Calibri"/>
                <a:cs typeface="Calibri"/>
              </a:rPr>
              <a:t>proportional</a:t>
            </a:r>
            <a:r>
              <a:rPr sz="2800" spc="40" dirty="0">
                <a:latin typeface="Calibri"/>
                <a:cs typeface="Calibri"/>
              </a:rPr>
              <a:t> </a:t>
            </a:r>
            <a:r>
              <a:rPr sz="2800" spc="-15" dirty="0">
                <a:latin typeface="Calibri"/>
                <a:cs typeface="Calibri"/>
              </a:rPr>
              <a:t>to</a:t>
            </a:r>
            <a:r>
              <a:rPr sz="2800" spc="5" dirty="0">
                <a:latin typeface="Calibri"/>
                <a:cs typeface="Calibri"/>
              </a:rPr>
              <a:t> </a:t>
            </a:r>
            <a:r>
              <a:rPr sz="2800" spc="-5" dirty="0">
                <a:latin typeface="Calibri"/>
                <a:cs typeface="Calibri"/>
              </a:rPr>
              <a:t>the</a:t>
            </a:r>
            <a:r>
              <a:rPr sz="2800" dirty="0">
                <a:latin typeface="Calibri"/>
                <a:cs typeface="Calibri"/>
              </a:rPr>
              <a:t> </a:t>
            </a:r>
            <a:r>
              <a:rPr sz="2800" spc="-15" dirty="0">
                <a:latin typeface="Calibri"/>
                <a:cs typeface="Calibri"/>
              </a:rPr>
              <a:t>square</a:t>
            </a:r>
            <a:r>
              <a:rPr sz="2800" spc="35" dirty="0">
                <a:latin typeface="Calibri"/>
                <a:cs typeface="Calibri"/>
              </a:rPr>
              <a:t> </a:t>
            </a:r>
            <a:r>
              <a:rPr sz="2800" spc="-5" dirty="0">
                <a:latin typeface="Calibri"/>
                <a:cs typeface="Calibri"/>
              </a:rPr>
              <a:t>of</a:t>
            </a:r>
            <a:r>
              <a:rPr sz="2800" spc="10" dirty="0">
                <a:latin typeface="Calibri"/>
                <a:cs typeface="Calibri"/>
              </a:rPr>
              <a:t> </a:t>
            </a:r>
            <a:r>
              <a:rPr sz="2800" spc="-5" dirty="0">
                <a:latin typeface="Calibri"/>
                <a:cs typeface="Calibri"/>
              </a:rPr>
              <a:t>the</a:t>
            </a:r>
            <a:r>
              <a:rPr sz="2800" spc="20" dirty="0">
                <a:latin typeface="Calibri"/>
                <a:cs typeface="Calibri"/>
              </a:rPr>
              <a:t> </a:t>
            </a:r>
            <a:r>
              <a:rPr sz="2800" spc="-15" dirty="0">
                <a:latin typeface="Calibri"/>
                <a:cs typeface="Calibri"/>
              </a:rPr>
              <a:t>distance </a:t>
            </a:r>
            <a:r>
              <a:rPr sz="2800" spc="-10" dirty="0">
                <a:latin typeface="Calibri"/>
                <a:cs typeface="Calibri"/>
              </a:rPr>
              <a:t> between</a:t>
            </a:r>
            <a:r>
              <a:rPr sz="2800" spc="-5" dirty="0">
                <a:latin typeface="Calibri"/>
                <a:cs typeface="Calibri"/>
              </a:rPr>
              <a:t> them.</a:t>
            </a:r>
            <a:endParaRPr sz="2800">
              <a:latin typeface="Calibri"/>
              <a:cs typeface="Calibri"/>
            </a:endParaRPr>
          </a:p>
          <a:p>
            <a:pPr>
              <a:lnSpc>
                <a:spcPct val="100000"/>
              </a:lnSpc>
              <a:spcBef>
                <a:spcPts val="10"/>
              </a:spcBef>
              <a:buFont typeface="Arial MT"/>
              <a:buChar char="•"/>
            </a:pPr>
            <a:endParaRPr sz="4150">
              <a:latin typeface="Calibri"/>
              <a:cs typeface="Calibri"/>
            </a:endParaRPr>
          </a:p>
          <a:p>
            <a:pPr marL="241300" marR="410209" indent="-228600">
              <a:lnSpc>
                <a:spcPts val="3020"/>
              </a:lnSpc>
              <a:buFont typeface="Arial MT"/>
              <a:buChar char="•"/>
              <a:tabLst>
                <a:tab pos="241300" algn="l"/>
              </a:tabLst>
            </a:pPr>
            <a:r>
              <a:rPr sz="2800" spc="-5" dirty="0">
                <a:latin typeface="Calibri"/>
                <a:cs typeface="Calibri"/>
              </a:rPr>
              <a:t>It</a:t>
            </a:r>
            <a:r>
              <a:rPr sz="2800" spc="10" dirty="0">
                <a:latin typeface="Calibri"/>
                <a:cs typeface="Calibri"/>
              </a:rPr>
              <a:t> </a:t>
            </a:r>
            <a:r>
              <a:rPr sz="2800" spc="-5" dirty="0">
                <a:latin typeface="Calibri"/>
                <a:cs typeface="Calibri"/>
              </a:rPr>
              <a:t>acts</a:t>
            </a:r>
            <a:r>
              <a:rPr sz="2800" dirty="0">
                <a:latin typeface="Calibri"/>
                <a:cs typeface="Calibri"/>
              </a:rPr>
              <a:t> </a:t>
            </a:r>
            <a:r>
              <a:rPr sz="2800" spc="-5" dirty="0">
                <a:latin typeface="Calibri"/>
                <a:cs typeface="Calibri"/>
              </a:rPr>
              <a:t>along</a:t>
            </a:r>
            <a:r>
              <a:rPr sz="2800" dirty="0">
                <a:latin typeface="Calibri"/>
                <a:cs typeface="Calibri"/>
              </a:rPr>
              <a:t> </a:t>
            </a:r>
            <a:r>
              <a:rPr sz="2800" spc="-5" dirty="0">
                <a:latin typeface="Calibri"/>
                <a:cs typeface="Calibri"/>
              </a:rPr>
              <a:t>the</a:t>
            </a:r>
            <a:r>
              <a:rPr sz="2800" spc="15" dirty="0">
                <a:latin typeface="Calibri"/>
                <a:cs typeface="Calibri"/>
              </a:rPr>
              <a:t> </a:t>
            </a:r>
            <a:r>
              <a:rPr sz="2800" spc="-10" dirty="0">
                <a:latin typeface="Calibri"/>
                <a:cs typeface="Calibri"/>
              </a:rPr>
              <a:t>line</a:t>
            </a:r>
            <a:r>
              <a:rPr sz="2800" spc="10" dirty="0">
                <a:latin typeface="Calibri"/>
                <a:cs typeface="Calibri"/>
              </a:rPr>
              <a:t> </a:t>
            </a:r>
            <a:r>
              <a:rPr sz="2800" spc="-10" dirty="0">
                <a:latin typeface="Calibri"/>
                <a:cs typeface="Calibri"/>
              </a:rPr>
              <a:t>joining</a:t>
            </a:r>
            <a:r>
              <a:rPr sz="2800" spc="10" dirty="0">
                <a:latin typeface="Calibri"/>
                <a:cs typeface="Calibri"/>
              </a:rPr>
              <a:t> </a:t>
            </a:r>
            <a:r>
              <a:rPr sz="2800" spc="-5" dirty="0">
                <a:latin typeface="Calibri"/>
                <a:cs typeface="Calibri"/>
              </a:rPr>
              <a:t>the</a:t>
            </a:r>
            <a:r>
              <a:rPr sz="2800" spc="15" dirty="0">
                <a:latin typeface="Calibri"/>
                <a:cs typeface="Calibri"/>
              </a:rPr>
              <a:t> </a:t>
            </a:r>
            <a:r>
              <a:rPr sz="2800" spc="-10" dirty="0">
                <a:latin typeface="Calibri"/>
                <a:cs typeface="Calibri"/>
              </a:rPr>
              <a:t>two</a:t>
            </a:r>
            <a:r>
              <a:rPr sz="2800" dirty="0">
                <a:latin typeface="Calibri"/>
                <a:cs typeface="Calibri"/>
              </a:rPr>
              <a:t> </a:t>
            </a:r>
            <a:r>
              <a:rPr sz="2800" spc="-15" dirty="0">
                <a:latin typeface="Calibri"/>
                <a:cs typeface="Calibri"/>
              </a:rPr>
              <a:t>charges</a:t>
            </a:r>
            <a:r>
              <a:rPr sz="2800" spc="5" dirty="0">
                <a:latin typeface="Calibri"/>
                <a:cs typeface="Calibri"/>
              </a:rPr>
              <a:t> </a:t>
            </a:r>
            <a:r>
              <a:rPr sz="2800" spc="-15" dirty="0">
                <a:latin typeface="Calibri"/>
                <a:cs typeface="Calibri"/>
              </a:rPr>
              <a:t>considered</a:t>
            </a:r>
            <a:r>
              <a:rPr sz="2800" spc="35" dirty="0">
                <a:latin typeface="Calibri"/>
                <a:cs typeface="Calibri"/>
              </a:rPr>
              <a:t> </a:t>
            </a:r>
            <a:r>
              <a:rPr sz="2800" spc="-20" dirty="0">
                <a:latin typeface="Calibri"/>
                <a:cs typeface="Calibri"/>
              </a:rPr>
              <a:t>to</a:t>
            </a:r>
            <a:r>
              <a:rPr sz="2800" dirty="0">
                <a:latin typeface="Calibri"/>
                <a:cs typeface="Calibri"/>
              </a:rPr>
              <a:t> </a:t>
            </a:r>
            <a:r>
              <a:rPr sz="2800" spc="-5" dirty="0">
                <a:latin typeface="Calibri"/>
                <a:cs typeface="Calibri"/>
              </a:rPr>
              <a:t>be</a:t>
            </a:r>
            <a:r>
              <a:rPr sz="2800" spc="20" dirty="0">
                <a:latin typeface="Calibri"/>
                <a:cs typeface="Calibri"/>
              </a:rPr>
              <a:t> </a:t>
            </a:r>
            <a:r>
              <a:rPr sz="2800" spc="-15" dirty="0">
                <a:latin typeface="Calibri"/>
                <a:cs typeface="Calibri"/>
              </a:rPr>
              <a:t>point </a:t>
            </a:r>
            <a:r>
              <a:rPr sz="2800" spc="-620" dirty="0">
                <a:latin typeface="Calibri"/>
                <a:cs typeface="Calibri"/>
              </a:rPr>
              <a:t> </a:t>
            </a:r>
            <a:r>
              <a:rPr sz="2800" spc="-10" dirty="0">
                <a:latin typeface="Calibri"/>
                <a:cs typeface="Calibri"/>
              </a:rPr>
              <a:t>charges.</a:t>
            </a:r>
            <a:endParaRPr sz="280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4400" y="2590800"/>
            <a:ext cx="10154920" cy="2092239"/>
          </a:xfrm>
          <a:prstGeom prst="rect">
            <a:avLst/>
          </a:prstGeom>
        </p:spPr>
        <p:txBody>
          <a:bodyPr vert="horz" wrap="square" lIns="0" tIns="98425" rIns="0" bIns="0" rtlCol="0">
            <a:spAutoFit/>
          </a:bodyPr>
          <a:lstStyle/>
          <a:p>
            <a:pPr marL="266700" indent="-228600">
              <a:lnSpc>
                <a:spcPct val="100000"/>
              </a:lnSpc>
              <a:spcBef>
                <a:spcPts val="660"/>
              </a:spcBef>
              <a:buFont typeface="Arial MT"/>
              <a:buChar char="•"/>
              <a:tabLst>
                <a:tab pos="266700" algn="l"/>
              </a:tabLst>
            </a:pPr>
            <a:r>
              <a:rPr lang="en-US" sz="2800" spc="5" dirty="0" smtClean="0">
                <a:latin typeface="Calibri"/>
                <a:cs typeface="Calibri"/>
              </a:rPr>
              <a:t>F is the force</a:t>
            </a:r>
          </a:p>
          <a:p>
            <a:pPr marL="266700" indent="-228600">
              <a:lnSpc>
                <a:spcPct val="100000"/>
              </a:lnSpc>
              <a:spcBef>
                <a:spcPts val="660"/>
              </a:spcBef>
              <a:buFont typeface="Arial MT"/>
              <a:buChar char="•"/>
              <a:tabLst>
                <a:tab pos="266700" algn="l"/>
              </a:tabLst>
            </a:pPr>
            <a:r>
              <a:rPr lang="en-US" sz="2800" spc="5" dirty="0" smtClean="0">
                <a:latin typeface="Calibri"/>
                <a:cs typeface="Calibri"/>
              </a:rPr>
              <a:t>k is the Coulomb’s constant. </a:t>
            </a:r>
            <a:r>
              <a:rPr lang="en-US" sz="2800" i="1" spc="-5" dirty="0">
                <a:cs typeface="Calibri"/>
              </a:rPr>
              <a:t>k=8.99×10</a:t>
            </a:r>
            <a:r>
              <a:rPr lang="en-US" sz="2800" i="1" spc="-7" baseline="24305" dirty="0">
                <a:cs typeface="Calibri"/>
              </a:rPr>
              <a:t>9 </a:t>
            </a:r>
            <a:r>
              <a:rPr lang="en-US" sz="2800" i="1" spc="-525" baseline="24305" dirty="0">
                <a:cs typeface="Calibri"/>
              </a:rPr>
              <a:t> </a:t>
            </a:r>
            <a:r>
              <a:rPr lang="en-US" sz="2800" i="1" spc="-5" dirty="0">
                <a:cs typeface="Calibri"/>
              </a:rPr>
              <a:t>N.m</a:t>
            </a:r>
            <a:r>
              <a:rPr lang="en-US" sz="2800" i="1" spc="-7" baseline="24305" dirty="0">
                <a:cs typeface="Calibri"/>
              </a:rPr>
              <a:t>2</a:t>
            </a:r>
            <a:r>
              <a:rPr lang="en-US" sz="2800" i="1" spc="-5" dirty="0">
                <a:cs typeface="Calibri"/>
              </a:rPr>
              <a:t>/C</a:t>
            </a:r>
            <a:r>
              <a:rPr lang="en-US" sz="2800" i="1" spc="-7" baseline="24305" dirty="0">
                <a:cs typeface="Calibri"/>
              </a:rPr>
              <a:t>2</a:t>
            </a:r>
            <a:endParaRPr lang="en-US" sz="2800" spc="5" dirty="0" smtClean="0">
              <a:latin typeface="Calibri"/>
              <a:cs typeface="Calibri"/>
            </a:endParaRPr>
          </a:p>
          <a:p>
            <a:pPr marL="266700" indent="-228600">
              <a:lnSpc>
                <a:spcPct val="100000"/>
              </a:lnSpc>
              <a:spcBef>
                <a:spcPts val="660"/>
              </a:spcBef>
              <a:buFont typeface="Arial MT"/>
              <a:buChar char="•"/>
              <a:tabLst>
                <a:tab pos="266700" algn="l"/>
              </a:tabLst>
            </a:pPr>
            <a:r>
              <a:rPr lang="en-US" sz="2800" spc="5" dirty="0">
                <a:latin typeface="Calibri"/>
                <a:cs typeface="Calibri"/>
              </a:rPr>
              <a:t>q</a:t>
            </a:r>
            <a:r>
              <a:rPr lang="en-US" sz="2800" spc="5" dirty="0" smtClean="0">
                <a:latin typeface="Calibri"/>
                <a:cs typeface="Calibri"/>
              </a:rPr>
              <a:t>1 and q2 are charges</a:t>
            </a:r>
          </a:p>
          <a:p>
            <a:pPr marL="266700" indent="-228600">
              <a:lnSpc>
                <a:spcPct val="100000"/>
              </a:lnSpc>
              <a:spcBef>
                <a:spcPts val="660"/>
              </a:spcBef>
              <a:buFont typeface="Arial MT"/>
              <a:buChar char="•"/>
              <a:tabLst>
                <a:tab pos="266700" algn="l"/>
              </a:tabLst>
            </a:pPr>
            <a:r>
              <a:rPr lang="en-US" sz="2800" spc="5" dirty="0" smtClean="0">
                <a:latin typeface="Calibri"/>
                <a:cs typeface="Calibri"/>
              </a:rPr>
              <a:t>r is the distance between two charges.</a:t>
            </a:r>
          </a:p>
        </p:txBody>
      </p:sp>
      <p:sp>
        <p:nvSpPr>
          <p:cNvPr id="4" name="AutoShape 2" descr="F = k \frac{q_1q_2}{r^2}"/>
          <p:cNvSpPr>
            <a:spLocks noChangeAspect="1" noChangeArrowheads="1"/>
          </p:cNvSpPr>
          <p:nvPr/>
        </p:nvSpPr>
        <p:spPr bwMode="auto">
          <a:xfrm>
            <a:off x="2819400" y="1243066"/>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p:cNvPicPr>
            <a:picLocks noChangeAspect="1"/>
          </p:cNvPicPr>
          <p:nvPr/>
        </p:nvPicPr>
        <p:blipFill>
          <a:blip r:embed="rId2"/>
          <a:stretch>
            <a:fillRect/>
          </a:stretch>
        </p:blipFill>
        <p:spPr>
          <a:xfrm>
            <a:off x="4038600" y="1243066"/>
            <a:ext cx="2514600" cy="82626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252716" y="480059"/>
            <a:ext cx="4348597" cy="5974248"/>
          </a:xfrm>
          <a:prstGeom prst="rect">
            <a:avLst/>
          </a:prstGeom>
        </p:spPr>
      </p:pic>
      <p:sp>
        <p:nvSpPr>
          <p:cNvPr id="3" name="object 3"/>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25" dirty="0"/>
              <a:t>Coulomb’s</a:t>
            </a:r>
            <a:r>
              <a:rPr spc="-50" dirty="0"/>
              <a:t> </a:t>
            </a:r>
            <a:r>
              <a:rPr spc="-10" dirty="0"/>
              <a:t>Law</a:t>
            </a:r>
          </a:p>
        </p:txBody>
      </p:sp>
      <p:sp>
        <p:nvSpPr>
          <p:cNvPr id="4" name="object 4"/>
          <p:cNvSpPr txBox="1"/>
          <p:nvPr/>
        </p:nvSpPr>
        <p:spPr>
          <a:xfrm>
            <a:off x="78739" y="489966"/>
            <a:ext cx="6282055" cy="6259830"/>
          </a:xfrm>
          <a:prstGeom prst="rect">
            <a:avLst/>
          </a:prstGeom>
        </p:spPr>
        <p:txBody>
          <a:bodyPr vert="horz" wrap="square" lIns="0" tIns="12065" rIns="0" bIns="0" rtlCol="0">
            <a:spAutoFit/>
          </a:bodyPr>
          <a:lstStyle/>
          <a:p>
            <a:pPr marL="299085" marR="5080" indent="-287020">
              <a:lnSpc>
                <a:spcPct val="100000"/>
              </a:lnSpc>
              <a:spcBef>
                <a:spcPts val="95"/>
              </a:spcBef>
              <a:buFont typeface="Arial MT"/>
              <a:buChar char="•"/>
              <a:tabLst>
                <a:tab pos="299085" algn="l"/>
                <a:tab pos="299720" algn="l"/>
              </a:tabLst>
            </a:pPr>
            <a:r>
              <a:rPr sz="2800" spc="-10" dirty="0">
                <a:latin typeface="Calibri"/>
                <a:cs typeface="Calibri"/>
              </a:rPr>
              <a:t>The </a:t>
            </a:r>
            <a:r>
              <a:rPr sz="2800" spc="-15" dirty="0">
                <a:latin typeface="Calibri"/>
                <a:cs typeface="Calibri"/>
              </a:rPr>
              <a:t>electrostatic</a:t>
            </a:r>
            <a:r>
              <a:rPr sz="2800" spc="10" dirty="0">
                <a:latin typeface="Calibri"/>
                <a:cs typeface="Calibri"/>
              </a:rPr>
              <a:t> </a:t>
            </a:r>
            <a:r>
              <a:rPr sz="2800" spc="-25" dirty="0">
                <a:latin typeface="Calibri"/>
                <a:cs typeface="Calibri"/>
              </a:rPr>
              <a:t>force</a:t>
            </a:r>
            <a:r>
              <a:rPr sz="2800" spc="-5" dirty="0">
                <a:latin typeface="Calibri"/>
                <a:cs typeface="Calibri"/>
              </a:rPr>
              <a:t> </a:t>
            </a:r>
            <a:r>
              <a:rPr sz="2800" spc="-15" dirty="0">
                <a:latin typeface="Calibri"/>
                <a:cs typeface="Calibri"/>
              </a:rPr>
              <a:t>vector</a:t>
            </a:r>
            <a:r>
              <a:rPr sz="2800" spc="-5" dirty="0">
                <a:latin typeface="Calibri"/>
                <a:cs typeface="Calibri"/>
              </a:rPr>
              <a:t> acting</a:t>
            </a:r>
            <a:r>
              <a:rPr sz="2800" dirty="0">
                <a:latin typeface="Calibri"/>
                <a:cs typeface="Calibri"/>
              </a:rPr>
              <a:t> </a:t>
            </a:r>
            <a:r>
              <a:rPr sz="2800" spc="-5" dirty="0">
                <a:latin typeface="Calibri"/>
                <a:cs typeface="Calibri"/>
              </a:rPr>
              <a:t>on</a:t>
            </a:r>
            <a:r>
              <a:rPr sz="2800" spc="5" dirty="0">
                <a:latin typeface="Calibri"/>
                <a:cs typeface="Calibri"/>
              </a:rPr>
              <a:t> </a:t>
            </a:r>
            <a:r>
              <a:rPr sz="2800" spc="-5" dirty="0">
                <a:latin typeface="Calibri"/>
                <a:cs typeface="Calibri"/>
              </a:rPr>
              <a:t>a </a:t>
            </a:r>
            <a:r>
              <a:rPr sz="2800" dirty="0">
                <a:latin typeface="Calibri"/>
                <a:cs typeface="Calibri"/>
              </a:rPr>
              <a:t> </a:t>
            </a:r>
            <a:r>
              <a:rPr sz="2800" spc="-10" dirty="0">
                <a:latin typeface="Calibri"/>
                <a:cs typeface="Calibri"/>
              </a:rPr>
              <a:t>charged </a:t>
            </a:r>
            <a:r>
              <a:rPr sz="2800" spc="-5" dirty="0">
                <a:latin typeface="Calibri"/>
                <a:cs typeface="Calibri"/>
              </a:rPr>
              <a:t>particle </a:t>
            </a:r>
            <a:r>
              <a:rPr sz="2800" spc="-10" dirty="0">
                <a:latin typeface="Calibri"/>
                <a:cs typeface="Calibri"/>
              </a:rPr>
              <a:t>due</a:t>
            </a:r>
            <a:r>
              <a:rPr sz="2800" spc="10" dirty="0">
                <a:latin typeface="Calibri"/>
                <a:cs typeface="Calibri"/>
              </a:rPr>
              <a:t> </a:t>
            </a:r>
            <a:r>
              <a:rPr sz="2800" spc="-20" dirty="0">
                <a:latin typeface="Calibri"/>
                <a:cs typeface="Calibri"/>
              </a:rPr>
              <a:t>to</a:t>
            </a:r>
            <a:r>
              <a:rPr sz="2800" spc="-15" dirty="0">
                <a:latin typeface="Calibri"/>
                <a:cs typeface="Calibri"/>
              </a:rPr>
              <a:t> </a:t>
            </a:r>
            <a:r>
              <a:rPr sz="2800" spc="-5" dirty="0">
                <a:latin typeface="Calibri"/>
                <a:cs typeface="Calibri"/>
              </a:rPr>
              <a:t>a</a:t>
            </a:r>
            <a:r>
              <a:rPr sz="2800" spc="-15" dirty="0">
                <a:latin typeface="Calibri"/>
                <a:cs typeface="Calibri"/>
              </a:rPr>
              <a:t> </a:t>
            </a:r>
            <a:r>
              <a:rPr sz="2800" spc="-10" dirty="0">
                <a:latin typeface="Calibri"/>
                <a:cs typeface="Calibri"/>
              </a:rPr>
              <a:t>second</a:t>
            </a:r>
            <a:r>
              <a:rPr sz="2800" spc="5" dirty="0">
                <a:latin typeface="Calibri"/>
                <a:cs typeface="Calibri"/>
              </a:rPr>
              <a:t> </a:t>
            </a:r>
            <a:r>
              <a:rPr sz="2800" spc="-10" dirty="0">
                <a:latin typeface="Calibri"/>
                <a:cs typeface="Calibri"/>
              </a:rPr>
              <a:t>charged </a:t>
            </a:r>
            <a:r>
              <a:rPr sz="2800" spc="-620" dirty="0">
                <a:latin typeface="Calibri"/>
                <a:cs typeface="Calibri"/>
              </a:rPr>
              <a:t> </a:t>
            </a:r>
            <a:r>
              <a:rPr sz="2800" spc="-10" dirty="0">
                <a:latin typeface="Calibri"/>
                <a:cs typeface="Calibri"/>
              </a:rPr>
              <a:t>particle</a:t>
            </a:r>
            <a:r>
              <a:rPr sz="2800" spc="10" dirty="0">
                <a:latin typeface="Calibri"/>
                <a:cs typeface="Calibri"/>
              </a:rPr>
              <a:t> </a:t>
            </a:r>
            <a:r>
              <a:rPr sz="2800" spc="-5" dirty="0">
                <a:latin typeface="Calibri"/>
                <a:cs typeface="Calibri"/>
              </a:rPr>
              <a:t>is</a:t>
            </a:r>
            <a:r>
              <a:rPr sz="2800" dirty="0">
                <a:latin typeface="Calibri"/>
                <a:cs typeface="Calibri"/>
              </a:rPr>
              <a:t> </a:t>
            </a:r>
            <a:r>
              <a:rPr sz="2800" spc="-5" dirty="0">
                <a:latin typeface="Calibri"/>
                <a:cs typeface="Calibri"/>
              </a:rPr>
              <a:t>either</a:t>
            </a:r>
            <a:r>
              <a:rPr sz="2800" spc="-10" dirty="0">
                <a:latin typeface="Calibri"/>
                <a:cs typeface="Calibri"/>
              </a:rPr>
              <a:t> directly</a:t>
            </a:r>
            <a:r>
              <a:rPr sz="2800" spc="15" dirty="0">
                <a:latin typeface="Calibri"/>
                <a:cs typeface="Calibri"/>
              </a:rPr>
              <a:t> </a:t>
            </a:r>
            <a:r>
              <a:rPr sz="2800" spc="-25" dirty="0">
                <a:latin typeface="Calibri"/>
                <a:cs typeface="Calibri"/>
              </a:rPr>
              <a:t>toward</a:t>
            </a:r>
            <a:r>
              <a:rPr sz="2800" spc="-5" dirty="0">
                <a:latin typeface="Calibri"/>
                <a:cs typeface="Calibri"/>
              </a:rPr>
              <a:t> the </a:t>
            </a:r>
            <a:r>
              <a:rPr sz="2800" dirty="0">
                <a:latin typeface="Calibri"/>
                <a:cs typeface="Calibri"/>
              </a:rPr>
              <a:t> </a:t>
            </a:r>
            <a:r>
              <a:rPr sz="2800" spc="-10" dirty="0">
                <a:latin typeface="Calibri"/>
                <a:cs typeface="Calibri"/>
              </a:rPr>
              <a:t>second</a:t>
            </a:r>
            <a:r>
              <a:rPr sz="2800" spc="10" dirty="0">
                <a:latin typeface="Calibri"/>
                <a:cs typeface="Calibri"/>
              </a:rPr>
              <a:t> </a:t>
            </a:r>
            <a:r>
              <a:rPr sz="2800" spc="-10" dirty="0">
                <a:latin typeface="Calibri"/>
                <a:cs typeface="Calibri"/>
              </a:rPr>
              <a:t>particle</a:t>
            </a:r>
            <a:r>
              <a:rPr sz="2800" spc="10" dirty="0">
                <a:latin typeface="Calibri"/>
                <a:cs typeface="Calibri"/>
              </a:rPr>
              <a:t> </a:t>
            </a:r>
            <a:r>
              <a:rPr sz="2800" spc="-10" dirty="0">
                <a:latin typeface="Calibri"/>
                <a:cs typeface="Calibri"/>
              </a:rPr>
              <a:t>(opposite</a:t>
            </a:r>
            <a:r>
              <a:rPr sz="2800" spc="20" dirty="0">
                <a:latin typeface="Calibri"/>
                <a:cs typeface="Calibri"/>
              </a:rPr>
              <a:t> </a:t>
            </a:r>
            <a:r>
              <a:rPr sz="2800" spc="-10" dirty="0">
                <a:latin typeface="Calibri"/>
                <a:cs typeface="Calibri"/>
              </a:rPr>
              <a:t>signs</a:t>
            </a:r>
            <a:r>
              <a:rPr sz="2800" spc="5" dirty="0">
                <a:latin typeface="Calibri"/>
                <a:cs typeface="Calibri"/>
              </a:rPr>
              <a:t> </a:t>
            </a:r>
            <a:r>
              <a:rPr sz="2800" spc="-5" dirty="0">
                <a:latin typeface="Calibri"/>
                <a:cs typeface="Calibri"/>
              </a:rPr>
              <a:t>of</a:t>
            </a:r>
            <a:r>
              <a:rPr sz="2800" spc="-10" dirty="0">
                <a:latin typeface="Calibri"/>
                <a:cs typeface="Calibri"/>
              </a:rPr>
              <a:t> </a:t>
            </a:r>
            <a:r>
              <a:rPr sz="2800" spc="-15" dirty="0">
                <a:latin typeface="Calibri"/>
                <a:cs typeface="Calibri"/>
              </a:rPr>
              <a:t>charge) </a:t>
            </a:r>
            <a:r>
              <a:rPr sz="2800" spc="-620" dirty="0">
                <a:latin typeface="Calibri"/>
                <a:cs typeface="Calibri"/>
              </a:rPr>
              <a:t> </a:t>
            </a:r>
            <a:r>
              <a:rPr sz="2800" spc="-5" dirty="0">
                <a:latin typeface="Calibri"/>
                <a:cs typeface="Calibri"/>
              </a:rPr>
              <a:t>or</a:t>
            </a:r>
            <a:r>
              <a:rPr sz="2800" spc="-10" dirty="0">
                <a:latin typeface="Calibri"/>
                <a:cs typeface="Calibri"/>
              </a:rPr>
              <a:t> directly</a:t>
            </a:r>
            <a:r>
              <a:rPr sz="2800" spc="10" dirty="0">
                <a:latin typeface="Calibri"/>
                <a:cs typeface="Calibri"/>
              </a:rPr>
              <a:t> </a:t>
            </a:r>
            <a:r>
              <a:rPr sz="2800" spc="-30" dirty="0">
                <a:latin typeface="Calibri"/>
                <a:cs typeface="Calibri"/>
              </a:rPr>
              <a:t>away</a:t>
            </a:r>
            <a:r>
              <a:rPr sz="2800" spc="-20" dirty="0">
                <a:latin typeface="Calibri"/>
                <a:cs typeface="Calibri"/>
              </a:rPr>
              <a:t> from</a:t>
            </a:r>
            <a:r>
              <a:rPr sz="2800" spc="5" dirty="0">
                <a:latin typeface="Calibri"/>
                <a:cs typeface="Calibri"/>
              </a:rPr>
              <a:t> </a:t>
            </a:r>
            <a:r>
              <a:rPr sz="2800" spc="-5" dirty="0">
                <a:latin typeface="Calibri"/>
                <a:cs typeface="Calibri"/>
              </a:rPr>
              <a:t>it</a:t>
            </a:r>
            <a:r>
              <a:rPr sz="2800" spc="-10" dirty="0">
                <a:latin typeface="Calibri"/>
                <a:cs typeface="Calibri"/>
              </a:rPr>
              <a:t> </a:t>
            </a:r>
            <a:r>
              <a:rPr sz="2800" spc="-5" dirty="0">
                <a:latin typeface="Calibri"/>
                <a:cs typeface="Calibri"/>
              </a:rPr>
              <a:t>(same</a:t>
            </a:r>
            <a:r>
              <a:rPr sz="2800" dirty="0">
                <a:latin typeface="Calibri"/>
                <a:cs typeface="Calibri"/>
              </a:rPr>
              <a:t> </a:t>
            </a:r>
            <a:r>
              <a:rPr sz="2800" spc="-10" dirty="0">
                <a:latin typeface="Calibri"/>
                <a:cs typeface="Calibri"/>
              </a:rPr>
              <a:t>sign</a:t>
            </a:r>
            <a:r>
              <a:rPr sz="2800" spc="15" dirty="0">
                <a:latin typeface="Calibri"/>
                <a:cs typeface="Calibri"/>
              </a:rPr>
              <a:t> </a:t>
            </a:r>
            <a:r>
              <a:rPr sz="2800" spc="-10" dirty="0">
                <a:latin typeface="Calibri"/>
                <a:cs typeface="Calibri"/>
              </a:rPr>
              <a:t>of </a:t>
            </a:r>
            <a:r>
              <a:rPr sz="2800" spc="-5" dirty="0">
                <a:latin typeface="Calibri"/>
                <a:cs typeface="Calibri"/>
              </a:rPr>
              <a:t> </a:t>
            </a:r>
            <a:r>
              <a:rPr sz="2800" spc="-10" dirty="0">
                <a:latin typeface="Calibri"/>
                <a:cs typeface="Calibri"/>
              </a:rPr>
              <a:t>charge).</a:t>
            </a:r>
            <a:endParaRPr sz="2800">
              <a:latin typeface="Calibri"/>
              <a:cs typeface="Calibri"/>
            </a:endParaRPr>
          </a:p>
          <a:p>
            <a:pPr>
              <a:lnSpc>
                <a:spcPct val="100000"/>
              </a:lnSpc>
              <a:spcBef>
                <a:spcPts val="10"/>
              </a:spcBef>
              <a:buFont typeface="Arial MT"/>
              <a:buChar char="•"/>
            </a:pPr>
            <a:endParaRPr sz="2750">
              <a:latin typeface="Calibri"/>
              <a:cs typeface="Calibri"/>
            </a:endParaRPr>
          </a:p>
          <a:p>
            <a:pPr marL="299085" marR="193675" indent="-287020">
              <a:lnSpc>
                <a:spcPct val="100000"/>
              </a:lnSpc>
              <a:buFont typeface="Arial MT"/>
              <a:buChar char="•"/>
              <a:tabLst>
                <a:tab pos="299085" algn="l"/>
                <a:tab pos="299720" algn="l"/>
              </a:tabLst>
            </a:pPr>
            <a:r>
              <a:rPr sz="2800" spc="-5" dirty="0">
                <a:latin typeface="Calibri"/>
                <a:cs typeface="Calibri"/>
              </a:rPr>
              <a:t>If</a:t>
            </a:r>
            <a:r>
              <a:rPr sz="2800" spc="-15" dirty="0">
                <a:latin typeface="Calibri"/>
                <a:cs typeface="Calibri"/>
              </a:rPr>
              <a:t> </a:t>
            </a:r>
            <a:r>
              <a:rPr sz="2800" spc="-10" dirty="0">
                <a:latin typeface="Calibri"/>
                <a:cs typeface="Calibri"/>
              </a:rPr>
              <a:t>multiple</a:t>
            </a:r>
            <a:r>
              <a:rPr sz="2800" spc="30" dirty="0">
                <a:latin typeface="Calibri"/>
                <a:cs typeface="Calibri"/>
              </a:rPr>
              <a:t> </a:t>
            </a:r>
            <a:r>
              <a:rPr sz="2800" spc="-15" dirty="0">
                <a:latin typeface="Calibri"/>
                <a:cs typeface="Calibri"/>
              </a:rPr>
              <a:t>electrostatic</a:t>
            </a:r>
            <a:r>
              <a:rPr sz="2800" spc="5" dirty="0">
                <a:latin typeface="Calibri"/>
                <a:cs typeface="Calibri"/>
              </a:rPr>
              <a:t> </a:t>
            </a:r>
            <a:r>
              <a:rPr sz="2800" spc="-20" dirty="0">
                <a:latin typeface="Calibri"/>
                <a:cs typeface="Calibri"/>
              </a:rPr>
              <a:t>forces</a:t>
            </a:r>
            <a:r>
              <a:rPr sz="2800" spc="-10" dirty="0">
                <a:latin typeface="Calibri"/>
                <a:cs typeface="Calibri"/>
              </a:rPr>
              <a:t> </a:t>
            </a:r>
            <a:r>
              <a:rPr sz="2800" dirty="0">
                <a:latin typeface="Calibri"/>
                <a:cs typeface="Calibri"/>
              </a:rPr>
              <a:t>act</a:t>
            </a:r>
            <a:r>
              <a:rPr sz="2800" spc="-10" dirty="0">
                <a:latin typeface="Calibri"/>
                <a:cs typeface="Calibri"/>
              </a:rPr>
              <a:t> </a:t>
            </a:r>
            <a:r>
              <a:rPr sz="2800" spc="-5" dirty="0">
                <a:latin typeface="Calibri"/>
                <a:cs typeface="Calibri"/>
              </a:rPr>
              <a:t>on</a:t>
            </a:r>
            <a:r>
              <a:rPr sz="2800" dirty="0">
                <a:latin typeface="Calibri"/>
                <a:cs typeface="Calibri"/>
              </a:rPr>
              <a:t> </a:t>
            </a:r>
            <a:r>
              <a:rPr sz="2800" spc="-5" dirty="0">
                <a:latin typeface="Calibri"/>
                <a:cs typeface="Calibri"/>
              </a:rPr>
              <a:t>a </a:t>
            </a:r>
            <a:r>
              <a:rPr sz="2800" dirty="0">
                <a:latin typeface="Calibri"/>
                <a:cs typeface="Calibri"/>
              </a:rPr>
              <a:t> </a:t>
            </a:r>
            <a:r>
              <a:rPr sz="2800" spc="-10" dirty="0">
                <a:latin typeface="Calibri"/>
                <a:cs typeface="Calibri"/>
              </a:rPr>
              <a:t>particle,</a:t>
            </a:r>
            <a:r>
              <a:rPr sz="2800" spc="5" dirty="0">
                <a:latin typeface="Calibri"/>
                <a:cs typeface="Calibri"/>
              </a:rPr>
              <a:t> </a:t>
            </a:r>
            <a:r>
              <a:rPr sz="2800" spc="-5" dirty="0">
                <a:latin typeface="Calibri"/>
                <a:cs typeface="Calibri"/>
              </a:rPr>
              <a:t>the</a:t>
            </a:r>
            <a:r>
              <a:rPr sz="2800" spc="5" dirty="0">
                <a:latin typeface="Calibri"/>
                <a:cs typeface="Calibri"/>
              </a:rPr>
              <a:t> </a:t>
            </a:r>
            <a:r>
              <a:rPr sz="2800" spc="-15" dirty="0">
                <a:latin typeface="Calibri"/>
                <a:cs typeface="Calibri"/>
              </a:rPr>
              <a:t>net</a:t>
            </a:r>
            <a:r>
              <a:rPr sz="2800" spc="-5" dirty="0">
                <a:latin typeface="Calibri"/>
                <a:cs typeface="Calibri"/>
              </a:rPr>
              <a:t> </a:t>
            </a:r>
            <a:r>
              <a:rPr sz="2800" spc="-25" dirty="0">
                <a:latin typeface="Calibri"/>
                <a:cs typeface="Calibri"/>
              </a:rPr>
              <a:t>force</a:t>
            </a:r>
            <a:r>
              <a:rPr sz="2800" spc="5" dirty="0">
                <a:latin typeface="Calibri"/>
                <a:cs typeface="Calibri"/>
              </a:rPr>
              <a:t> </a:t>
            </a:r>
            <a:r>
              <a:rPr sz="2800" spc="-5" dirty="0">
                <a:latin typeface="Calibri"/>
                <a:cs typeface="Calibri"/>
              </a:rPr>
              <a:t>is</a:t>
            </a:r>
            <a:r>
              <a:rPr sz="2800" dirty="0">
                <a:latin typeface="Calibri"/>
                <a:cs typeface="Calibri"/>
              </a:rPr>
              <a:t> </a:t>
            </a:r>
            <a:r>
              <a:rPr sz="2800" spc="-5" dirty="0">
                <a:latin typeface="Calibri"/>
                <a:cs typeface="Calibri"/>
              </a:rPr>
              <a:t>the</a:t>
            </a:r>
            <a:r>
              <a:rPr sz="2800" dirty="0">
                <a:latin typeface="Calibri"/>
                <a:cs typeface="Calibri"/>
              </a:rPr>
              <a:t> </a:t>
            </a:r>
            <a:r>
              <a:rPr sz="2800" spc="-10" dirty="0">
                <a:latin typeface="Calibri"/>
                <a:cs typeface="Calibri"/>
              </a:rPr>
              <a:t>vector</a:t>
            </a:r>
            <a:r>
              <a:rPr sz="2800" spc="-5" dirty="0">
                <a:latin typeface="Calibri"/>
                <a:cs typeface="Calibri"/>
              </a:rPr>
              <a:t> </a:t>
            </a:r>
            <a:r>
              <a:rPr sz="2800" spc="-10" dirty="0">
                <a:latin typeface="Calibri"/>
                <a:cs typeface="Calibri"/>
              </a:rPr>
              <a:t>sum </a:t>
            </a:r>
            <a:r>
              <a:rPr sz="2800" spc="-5" dirty="0">
                <a:latin typeface="Calibri"/>
                <a:cs typeface="Calibri"/>
              </a:rPr>
              <a:t> (not</a:t>
            </a:r>
            <a:r>
              <a:rPr sz="2800" dirty="0">
                <a:latin typeface="Calibri"/>
                <a:cs typeface="Calibri"/>
              </a:rPr>
              <a:t> </a:t>
            </a:r>
            <a:r>
              <a:rPr sz="2800" spc="-10" dirty="0">
                <a:latin typeface="Calibri"/>
                <a:cs typeface="Calibri"/>
              </a:rPr>
              <a:t>scalar</a:t>
            </a:r>
            <a:r>
              <a:rPr sz="2800" spc="-5" dirty="0">
                <a:latin typeface="Calibri"/>
                <a:cs typeface="Calibri"/>
              </a:rPr>
              <a:t> sum)</a:t>
            </a:r>
            <a:r>
              <a:rPr sz="2800" spc="20" dirty="0">
                <a:latin typeface="Calibri"/>
                <a:cs typeface="Calibri"/>
              </a:rPr>
              <a:t> </a:t>
            </a:r>
            <a:r>
              <a:rPr sz="2800" spc="-5" dirty="0">
                <a:latin typeface="Calibri"/>
                <a:cs typeface="Calibri"/>
              </a:rPr>
              <a:t>of the</a:t>
            </a:r>
            <a:r>
              <a:rPr sz="2800" dirty="0">
                <a:latin typeface="Calibri"/>
                <a:cs typeface="Calibri"/>
              </a:rPr>
              <a:t> </a:t>
            </a:r>
            <a:r>
              <a:rPr sz="2800" spc="-10" dirty="0">
                <a:latin typeface="Calibri"/>
                <a:cs typeface="Calibri"/>
              </a:rPr>
              <a:t>individual</a:t>
            </a:r>
            <a:r>
              <a:rPr sz="2800" spc="40" dirty="0">
                <a:latin typeface="Calibri"/>
                <a:cs typeface="Calibri"/>
              </a:rPr>
              <a:t> </a:t>
            </a:r>
            <a:r>
              <a:rPr sz="2800" spc="-20" dirty="0">
                <a:latin typeface="Calibri"/>
                <a:cs typeface="Calibri"/>
              </a:rPr>
              <a:t>forces.</a:t>
            </a:r>
            <a:endParaRPr sz="2800">
              <a:latin typeface="Calibri"/>
              <a:cs typeface="Calibri"/>
            </a:endParaRPr>
          </a:p>
          <a:p>
            <a:pPr marL="316230">
              <a:lnSpc>
                <a:spcPct val="100000"/>
              </a:lnSpc>
              <a:spcBef>
                <a:spcPts val="1085"/>
              </a:spcBef>
            </a:pPr>
            <a:r>
              <a:rPr sz="2400" spc="-45" dirty="0">
                <a:latin typeface="Calibri"/>
                <a:cs typeface="Calibri"/>
              </a:rPr>
              <a:t>Two</a:t>
            </a:r>
            <a:r>
              <a:rPr sz="2400" spc="-20" dirty="0">
                <a:latin typeface="Calibri"/>
                <a:cs typeface="Calibri"/>
              </a:rPr>
              <a:t> </a:t>
            </a:r>
            <a:r>
              <a:rPr sz="2400" spc="-10" dirty="0">
                <a:latin typeface="Calibri"/>
                <a:cs typeface="Calibri"/>
              </a:rPr>
              <a:t>charged</a:t>
            </a:r>
            <a:r>
              <a:rPr sz="2400" spc="-5" dirty="0">
                <a:latin typeface="Calibri"/>
                <a:cs typeface="Calibri"/>
              </a:rPr>
              <a:t> particles</a:t>
            </a:r>
            <a:r>
              <a:rPr sz="2400" spc="-35" dirty="0">
                <a:latin typeface="Calibri"/>
                <a:cs typeface="Calibri"/>
              </a:rPr>
              <a:t> </a:t>
            </a:r>
            <a:r>
              <a:rPr sz="2400" spc="-10" dirty="0">
                <a:latin typeface="Calibri"/>
                <a:cs typeface="Calibri"/>
              </a:rPr>
              <a:t>repel</a:t>
            </a:r>
            <a:r>
              <a:rPr sz="2400" spc="-5" dirty="0">
                <a:latin typeface="Calibri"/>
                <a:cs typeface="Calibri"/>
              </a:rPr>
              <a:t> </a:t>
            </a:r>
            <a:r>
              <a:rPr sz="2400" dirty="0">
                <a:latin typeface="Calibri"/>
                <a:cs typeface="Calibri"/>
              </a:rPr>
              <a:t>each</a:t>
            </a:r>
            <a:r>
              <a:rPr sz="2400" spc="-5" dirty="0">
                <a:latin typeface="Calibri"/>
                <a:cs typeface="Calibri"/>
              </a:rPr>
              <a:t> other</a:t>
            </a:r>
            <a:r>
              <a:rPr sz="2400" spc="-20" dirty="0">
                <a:latin typeface="Calibri"/>
                <a:cs typeface="Calibri"/>
              </a:rPr>
              <a:t> </a:t>
            </a:r>
            <a:r>
              <a:rPr sz="2400" dirty="0">
                <a:latin typeface="Calibri"/>
                <a:cs typeface="Calibri"/>
              </a:rPr>
              <a:t>if</a:t>
            </a:r>
            <a:endParaRPr sz="2400">
              <a:latin typeface="Calibri"/>
              <a:cs typeface="Calibri"/>
            </a:endParaRPr>
          </a:p>
          <a:p>
            <a:pPr marL="316230">
              <a:lnSpc>
                <a:spcPct val="100000"/>
              </a:lnSpc>
            </a:pPr>
            <a:r>
              <a:rPr sz="2400" spc="-5" dirty="0">
                <a:latin typeface="Calibri"/>
                <a:cs typeface="Calibri"/>
              </a:rPr>
              <a:t>they</a:t>
            </a:r>
            <a:r>
              <a:rPr sz="2400" spc="-20" dirty="0">
                <a:latin typeface="Calibri"/>
                <a:cs typeface="Calibri"/>
              </a:rPr>
              <a:t> have</a:t>
            </a:r>
            <a:r>
              <a:rPr sz="2400" spc="-5" dirty="0">
                <a:latin typeface="Calibri"/>
                <a:cs typeface="Calibri"/>
              </a:rPr>
              <a:t> </a:t>
            </a:r>
            <a:r>
              <a:rPr sz="2400" dirty="0">
                <a:latin typeface="Calibri"/>
                <a:cs typeface="Calibri"/>
              </a:rPr>
              <a:t>the</a:t>
            </a:r>
            <a:r>
              <a:rPr sz="2400" spc="-5" dirty="0">
                <a:latin typeface="Calibri"/>
                <a:cs typeface="Calibri"/>
              </a:rPr>
              <a:t> same</a:t>
            </a:r>
            <a:r>
              <a:rPr sz="2400" spc="-20" dirty="0">
                <a:latin typeface="Calibri"/>
                <a:cs typeface="Calibri"/>
              </a:rPr>
              <a:t> </a:t>
            </a:r>
            <a:r>
              <a:rPr sz="2400" spc="-5" dirty="0">
                <a:latin typeface="Calibri"/>
                <a:cs typeface="Calibri"/>
              </a:rPr>
              <a:t>sign</a:t>
            </a:r>
            <a:r>
              <a:rPr sz="2400" spc="-10" dirty="0">
                <a:latin typeface="Calibri"/>
                <a:cs typeface="Calibri"/>
              </a:rPr>
              <a:t> of</a:t>
            </a:r>
            <a:r>
              <a:rPr sz="2400" spc="-15" dirty="0">
                <a:latin typeface="Calibri"/>
                <a:cs typeface="Calibri"/>
              </a:rPr>
              <a:t> </a:t>
            </a:r>
            <a:r>
              <a:rPr sz="2400" spc="-10" dirty="0">
                <a:latin typeface="Calibri"/>
                <a:cs typeface="Calibri"/>
              </a:rPr>
              <a:t>charge,</a:t>
            </a:r>
            <a:r>
              <a:rPr sz="2400" spc="-5" dirty="0">
                <a:latin typeface="Calibri"/>
                <a:cs typeface="Calibri"/>
              </a:rPr>
              <a:t> </a:t>
            </a:r>
            <a:r>
              <a:rPr sz="2400" dirty="0">
                <a:latin typeface="Calibri"/>
                <a:cs typeface="Calibri"/>
              </a:rPr>
              <a:t>either</a:t>
            </a:r>
            <a:endParaRPr sz="2400">
              <a:latin typeface="Calibri"/>
              <a:cs typeface="Calibri"/>
            </a:endParaRPr>
          </a:p>
          <a:p>
            <a:pPr marL="316230" marR="962660" lvl="1">
              <a:lnSpc>
                <a:spcPct val="100000"/>
              </a:lnSpc>
              <a:buAutoNum type="alphaLcParenBoth"/>
              <a:tabLst>
                <a:tab pos="713740" algn="l"/>
              </a:tabLst>
            </a:pPr>
            <a:r>
              <a:rPr sz="2400" spc="-5" dirty="0">
                <a:latin typeface="Calibri"/>
                <a:cs typeface="Calibri"/>
              </a:rPr>
              <a:t>both </a:t>
            </a:r>
            <a:r>
              <a:rPr sz="2400" spc="-10" dirty="0">
                <a:latin typeface="Calibri"/>
                <a:cs typeface="Calibri"/>
              </a:rPr>
              <a:t>positive </a:t>
            </a:r>
            <a:r>
              <a:rPr sz="2400" spc="-5" dirty="0">
                <a:latin typeface="Calibri"/>
                <a:cs typeface="Calibri"/>
              </a:rPr>
              <a:t>or </a:t>
            </a:r>
            <a:r>
              <a:rPr sz="2400" spc="5" dirty="0">
                <a:latin typeface="Calibri"/>
                <a:cs typeface="Calibri"/>
              </a:rPr>
              <a:t>(b) </a:t>
            </a:r>
            <a:r>
              <a:rPr sz="2400" spc="-5" dirty="0">
                <a:latin typeface="Calibri"/>
                <a:cs typeface="Calibri"/>
              </a:rPr>
              <a:t>both </a:t>
            </a:r>
            <a:r>
              <a:rPr sz="2400" spc="-15" dirty="0">
                <a:latin typeface="Calibri"/>
                <a:cs typeface="Calibri"/>
              </a:rPr>
              <a:t>negative. </a:t>
            </a:r>
            <a:r>
              <a:rPr sz="2400" spc="-5" dirty="0">
                <a:latin typeface="Calibri"/>
                <a:cs typeface="Calibri"/>
              </a:rPr>
              <a:t>(c) </a:t>
            </a:r>
            <a:r>
              <a:rPr sz="2400" spc="-530" dirty="0">
                <a:latin typeface="Calibri"/>
                <a:cs typeface="Calibri"/>
              </a:rPr>
              <a:t> </a:t>
            </a:r>
            <a:r>
              <a:rPr sz="2400" spc="-10" dirty="0">
                <a:latin typeface="Calibri"/>
                <a:cs typeface="Calibri"/>
              </a:rPr>
              <a:t>They </a:t>
            </a:r>
            <a:r>
              <a:rPr sz="2400" spc="-20" dirty="0">
                <a:latin typeface="Calibri"/>
                <a:cs typeface="Calibri"/>
              </a:rPr>
              <a:t>attract </a:t>
            </a:r>
            <a:r>
              <a:rPr sz="2400" dirty="0">
                <a:latin typeface="Calibri"/>
                <a:cs typeface="Calibri"/>
              </a:rPr>
              <a:t>each </a:t>
            </a:r>
            <a:r>
              <a:rPr sz="2400" spc="-5" dirty="0">
                <a:latin typeface="Calibri"/>
                <a:cs typeface="Calibri"/>
              </a:rPr>
              <a:t>other </a:t>
            </a:r>
            <a:r>
              <a:rPr sz="2400" dirty="0">
                <a:latin typeface="Calibri"/>
                <a:cs typeface="Calibri"/>
              </a:rPr>
              <a:t>if </a:t>
            </a:r>
            <a:r>
              <a:rPr sz="2400" spc="-5" dirty="0">
                <a:latin typeface="Calibri"/>
                <a:cs typeface="Calibri"/>
              </a:rPr>
              <a:t>they </a:t>
            </a:r>
            <a:r>
              <a:rPr sz="2400" spc="-20" dirty="0">
                <a:latin typeface="Calibri"/>
                <a:cs typeface="Calibri"/>
              </a:rPr>
              <a:t>have </a:t>
            </a:r>
            <a:r>
              <a:rPr sz="2400" spc="-15" dirty="0">
                <a:latin typeface="Calibri"/>
                <a:cs typeface="Calibri"/>
              </a:rPr>
              <a:t> </a:t>
            </a:r>
            <a:r>
              <a:rPr sz="2400" spc="-10" dirty="0">
                <a:latin typeface="Calibri"/>
                <a:cs typeface="Calibri"/>
              </a:rPr>
              <a:t>opposite</a:t>
            </a:r>
            <a:r>
              <a:rPr sz="2400" spc="-5" dirty="0">
                <a:latin typeface="Calibri"/>
                <a:cs typeface="Calibri"/>
              </a:rPr>
              <a:t> signs </a:t>
            </a:r>
            <a:r>
              <a:rPr sz="2400" spc="-10" dirty="0">
                <a:latin typeface="Calibri"/>
                <a:cs typeface="Calibri"/>
              </a:rPr>
              <a:t>of charge.</a:t>
            </a:r>
            <a:endParaRPr sz="240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4490" y="192151"/>
            <a:ext cx="12129770" cy="3207385"/>
          </a:xfrm>
          <a:prstGeom prst="rect">
            <a:avLst/>
          </a:prstGeom>
        </p:spPr>
        <p:txBody>
          <a:bodyPr vert="horz" wrap="square" lIns="0" tIns="12700" rIns="0" bIns="0" rtlCol="0">
            <a:spAutoFit/>
          </a:bodyPr>
          <a:lstStyle/>
          <a:p>
            <a:pPr marL="63500" marR="55880">
              <a:lnSpc>
                <a:spcPct val="100000"/>
              </a:lnSpc>
              <a:spcBef>
                <a:spcPts val="100"/>
              </a:spcBef>
            </a:pPr>
            <a:r>
              <a:rPr sz="2400" b="1" spc="-5" dirty="0">
                <a:solidFill>
                  <a:srgbClr val="00AF50"/>
                </a:solidFill>
                <a:latin typeface="Calibri"/>
                <a:cs typeface="Calibri"/>
              </a:rPr>
              <a:t>Problem_01: </a:t>
            </a:r>
            <a:r>
              <a:rPr sz="2400" b="1" dirty="0">
                <a:solidFill>
                  <a:srgbClr val="FF0000"/>
                </a:solidFill>
                <a:latin typeface="Calibri"/>
                <a:cs typeface="Calibri"/>
              </a:rPr>
              <a:t>A </a:t>
            </a:r>
            <a:r>
              <a:rPr sz="2400" b="1" spc="-5" dirty="0">
                <a:solidFill>
                  <a:srgbClr val="FF0000"/>
                </a:solidFill>
                <a:latin typeface="Calibri"/>
                <a:cs typeface="Calibri"/>
              </a:rPr>
              <a:t>positive </a:t>
            </a:r>
            <a:r>
              <a:rPr sz="2400" b="1" spc="-15" dirty="0">
                <a:solidFill>
                  <a:srgbClr val="FF0000"/>
                </a:solidFill>
                <a:latin typeface="Calibri"/>
                <a:cs typeface="Calibri"/>
              </a:rPr>
              <a:t>charge </a:t>
            </a:r>
            <a:r>
              <a:rPr sz="2400" b="1" dirty="0">
                <a:solidFill>
                  <a:srgbClr val="FF0000"/>
                </a:solidFill>
                <a:latin typeface="Calibri"/>
                <a:cs typeface="Calibri"/>
              </a:rPr>
              <a:t>of </a:t>
            </a:r>
            <a:r>
              <a:rPr sz="2400" b="1" spc="-5" dirty="0">
                <a:solidFill>
                  <a:srgbClr val="FF0000"/>
                </a:solidFill>
                <a:latin typeface="Calibri"/>
                <a:cs typeface="Calibri"/>
              </a:rPr>
              <a:t>6×10</a:t>
            </a:r>
            <a:r>
              <a:rPr sz="2400" b="1" spc="-7" baseline="24305" dirty="0">
                <a:solidFill>
                  <a:srgbClr val="FF0000"/>
                </a:solidFill>
                <a:latin typeface="Calibri"/>
                <a:cs typeface="Calibri"/>
              </a:rPr>
              <a:t>-6 </a:t>
            </a:r>
            <a:r>
              <a:rPr sz="2400" b="1" dirty="0">
                <a:solidFill>
                  <a:srgbClr val="FF0000"/>
                </a:solidFill>
                <a:latin typeface="Calibri"/>
                <a:cs typeface="Calibri"/>
              </a:rPr>
              <a:t>C is </a:t>
            </a:r>
            <a:r>
              <a:rPr sz="2400" b="1" spc="-10" dirty="0">
                <a:solidFill>
                  <a:srgbClr val="FF0000"/>
                </a:solidFill>
                <a:latin typeface="Calibri"/>
                <a:cs typeface="Calibri"/>
              </a:rPr>
              <a:t>0.040m from </a:t>
            </a:r>
            <a:r>
              <a:rPr sz="2400" b="1" spc="-5" dirty="0">
                <a:solidFill>
                  <a:srgbClr val="FF0000"/>
                </a:solidFill>
                <a:latin typeface="Calibri"/>
                <a:cs typeface="Calibri"/>
              </a:rPr>
              <a:t>the </a:t>
            </a:r>
            <a:r>
              <a:rPr sz="2400" b="1" dirty="0">
                <a:solidFill>
                  <a:srgbClr val="FF0000"/>
                </a:solidFill>
                <a:latin typeface="Calibri"/>
                <a:cs typeface="Calibri"/>
              </a:rPr>
              <a:t>second </a:t>
            </a:r>
            <a:r>
              <a:rPr sz="2400" b="1" spc="-5" dirty="0">
                <a:solidFill>
                  <a:srgbClr val="FF0000"/>
                </a:solidFill>
                <a:latin typeface="Calibri"/>
                <a:cs typeface="Calibri"/>
              </a:rPr>
              <a:t>positive </a:t>
            </a:r>
            <a:r>
              <a:rPr sz="2400" b="1" spc="-15" dirty="0">
                <a:solidFill>
                  <a:srgbClr val="FF0000"/>
                </a:solidFill>
                <a:latin typeface="Calibri"/>
                <a:cs typeface="Calibri"/>
              </a:rPr>
              <a:t>charge </a:t>
            </a:r>
            <a:r>
              <a:rPr sz="2400" b="1" dirty="0">
                <a:solidFill>
                  <a:srgbClr val="FF0000"/>
                </a:solidFill>
                <a:latin typeface="Calibri"/>
                <a:cs typeface="Calibri"/>
              </a:rPr>
              <a:t>of </a:t>
            </a:r>
            <a:r>
              <a:rPr sz="2400" b="1" spc="-5" dirty="0">
                <a:solidFill>
                  <a:srgbClr val="FF0000"/>
                </a:solidFill>
                <a:latin typeface="Calibri"/>
                <a:cs typeface="Calibri"/>
              </a:rPr>
              <a:t>4×10</a:t>
            </a:r>
            <a:r>
              <a:rPr sz="2400" b="1" spc="-7" baseline="24305" dirty="0">
                <a:solidFill>
                  <a:srgbClr val="FF0000"/>
                </a:solidFill>
                <a:latin typeface="Calibri"/>
                <a:cs typeface="Calibri"/>
              </a:rPr>
              <a:t>-6 </a:t>
            </a:r>
            <a:r>
              <a:rPr sz="2400" b="1" spc="-5" dirty="0">
                <a:solidFill>
                  <a:srgbClr val="FF0000"/>
                </a:solidFill>
                <a:latin typeface="Calibri"/>
                <a:cs typeface="Calibri"/>
              </a:rPr>
              <a:t>C </a:t>
            </a:r>
            <a:r>
              <a:rPr sz="2400" b="1" spc="-530" dirty="0">
                <a:solidFill>
                  <a:srgbClr val="FF0000"/>
                </a:solidFill>
                <a:latin typeface="Calibri"/>
                <a:cs typeface="Calibri"/>
              </a:rPr>
              <a:t> </a:t>
            </a:r>
            <a:r>
              <a:rPr sz="2400" b="1" spc="-10" dirty="0">
                <a:solidFill>
                  <a:srgbClr val="FF0000"/>
                </a:solidFill>
                <a:latin typeface="Calibri"/>
                <a:cs typeface="Calibri"/>
              </a:rPr>
              <a:t>Calculate</a:t>
            </a:r>
            <a:r>
              <a:rPr sz="2400" b="1" spc="5" dirty="0">
                <a:solidFill>
                  <a:srgbClr val="FF0000"/>
                </a:solidFill>
                <a:latin typeface="Calibri"/>
                <a:cs typeface="Calibri"/>
              </a:rPr>
              <a:t> </a:t>
            </a:r>
            <a:r>
              <a:rPr sz="2400" b="1" spc="-5" dirty="0">
                <a:solidFill>
                  <a:srgbClr val="FF0000"/>
                </a:solidFill>
                <a:latin typeface="Calibri"/>
                <a:cs typeface="Calibri"/>
              </a:rPr>
              <a:t>the</a:t>
            </a:r>
            <a:r>
              <a:rPr sz="2400" b="1" spc="5" dirty="0">
                <a:solidFill>
                  <a:srgbClr val="FF0000"/>
                </a:solidFill>
                <a:latin typeface="Calibri"/>
                <a:cs typeface="Calibri"/>
              </a:rPr>
              <a:t> </a:t>
            </a:r>
            <a:r>
              <a:rPr sz="2400" b="1" spc="-20" dirty="0">
                <a:solidFill>
                  <a:srgbClr val="FF0000"/>
                </a:solidFill>
                <a:latin typeface="Calibri"/>
                <a:cs typeface="Calibri"/>
              </a:rPr>
              <a:t>force</a:t>
            </a:r>
            <a:r>
              <a:rPr sz="2400" b="1" spc="-10" dirty="0">
                <a:solidFill>
                  <a:srgbClr val="FF0000"/>
                </a:solidFill>
                <a:latin typeface="Calibri"/>
                <a:cs typeface="Calibri"/>
              </a:rPr>
              <a:t> between</a:t>
            </a:r>
            <a:r>
              <a:rPr sz="2400" b="1" dirty="0">
                <a:solidFill>
                  <a:srgbClr val="FF0000"/>
                </a:solidFill>
                <a:latin typeface="Calibri"/>
                <a:cs typeface="Calibri"/>
              </a:rPr>
              <a:t> the</a:t>
            </a:r>
            <a:r>
              <a:rPr sz="2400" b="1" spc="5" dirty="0">
                <a:solidFill>
                  <a:srgbClr val="FF0000"/>
                </a:solidFill>
                <a:latin typeface="Calibri"/>
                <a:cs typeface="Calibri"/>
              </a:rPr>
              <a:t> </a:t>
            </a:r>
            <a:r>
              <a:rPr sz="2400" b="1" spc="-10" dirty="0">
                <a:solidFill>
                  <a:srgbClr val="FF0000"/>
                </a:solidFill>
                <a:latin typeface="Calibri"/>
                <a:cs typeface="Calibri"/>
              </a:rPr>
              <a:t>charges.</a:t>
            </a:r>
            <a:endParaRPr sz="2400">
              <a:latin typeface="Calibri"/>
              <a:cs typeface="Calibri"/>
            </a:endParaRPr>
          </a:p>
          <a:p>
            <a:pPr>
              <a:lnSpc>
                <a:spcPct val="100000"/>
              </a:lnSpc>
              <a:spcBef>
                <a:spcPts val="45"/>
              </a:spcBef>
            </a:pPr>
            <a:endParaRPr sz="2000">
              <a:latin typeface="Calibri"/>
              <a:cs typeface="Calibri"/>
            </a:endParaRPr>
          </a:p>
          <a:p>
            <a:pPr marL="158115">
              <a:lnSpc>
                <a:spcPct val="100000"/>
              </a:lnSpc>
            </a:pPr>
            <a:r>
              <a:rPr sz="2800" b="1" spc="-15" dirty="0">
                <a:latin typeface="Calibri"/>
                <a:cs typeface="Calibri"/>
              </a:rPr>
              <a:t>Given</a:t>
            </a:r>
            <a:endParaRPr sz="2800">
              <a:latin typeface="Calibri"/>
              <a:cs typeface="Calibri"/>
            </a:endParaRPr>
          </a:p>
          <a:p>
            <a:pPr marL="158115">
              <a:lnSpc>
                <a:spcPct val="100000"/>
              </a:lnSpc>
            </a:pPr>
            <a:r>
              <a:rPr sz="2800" b="1" spc="-5" dirty="0">
                <a:latin typeface="Calibri"/>
                <a:cs typeface="Calibri"/>
              </a:rPr>
              <a:t>k</a:t>
            </a:r>
            <a:r>
              <a:rPr sz="2800" b="1" spc="5" dirty="0">
                <a:latin typeface="Calibri"/>
                <a:cs typeface="Calibri"/>
              </a:rPr>
              <a:t> </a:t>
            </a:r>
            <a:r>
              <a:rPr sz="2800" b="1" spc="-5" dirty="0">
                <a:latin typeface="Calibri"/>
                <a:cs typeface="Calibri"/>
              </a:rPr>
              <a:t>=</a:t>
            </a:r>
            <a:r>
              <a:rPr sz="2800" b="1" spc="-15" dirty="0">
                <a:latin typeface="Calibri"/>
                <a:cs typeface="Calibri"/>
              </a:rPr>
              <a:t> </a:t>
            </a:r>
            <a:r>
              <a:rPr sz="2800" b="1" spc="-5" dirty="0">
                <a:latin typeface="Calibri"/>
                <a:cs typeface="Calibri"/>
              </a:rPr>
              <a:t>8.988</a:t>
            </a:r>
            <a:r>
              <a:rPr sz="2800" b="1" spc="35" dirty="0">
                <a:latin typeface="Calibri"/>
                <a:cs typeface="Calibri"/>
              </a:rPr>
              <a:t> </a:t>
            </a:r>
            <a:r>
              <a:rPr sz="2800" b="1" spc="-5" dirty="0">
                <a:latin typeface="Calibri"/>
                <a:cs typeface="Calibri"/>
              </a:rPr>
              <a:t>x</a:t>
            </a:r>
            <a:r>
              <a:rPr sz="2800" b="1" spc="-15" dirty="0">
                <a:latin typeface="Calibri"/>
                <a:cs typeface="Calibri"/>
              </a:rPr>
              <a:t> </a:t>
            </a:r>
            <a:r>
              <a:rPr sz="2800" b="1" dirty="0">
                <a:latin typeface="Calibri"/>
                <a:cs typeface="Calibri"/>
              </a:rPr>
              <a:t>10</a:t>
            </a:r>
            <a:r>
              <a:rPr sz="2775" b="1" baseline="25525" dirty="0">
                <a:latin typeface="Calibri"/>
                <a:cs typeface="Calibri"/>
              </a:rPr>
              <a:t>9</a:t>
            </a:r>
            <a:r>
              <a:rPr sz="2775" b="1" spc="345" baseline="25525" dirty="0">
                <a:latin typeface="Calibri"/>
                <a:cs typeface="Calibri"/>
              </a:rPr>
              <a:t> </a:t>
            </a:r>
            <a:r>
              <a:rPr sz="2800" b="1" dirty="0">
                <a:latin typeface="Calibri"/>
                <a:cs typeface="Calibri"/>
              </a:rPr>
              <a:t>Nm</a:t>
            </a:r>
            <a:r>
              <a:rPr sz="2775" b="1" baseline="25525" dirty="0">
                <a:latin typeface="Calibri"/>
                <a:cs typeface="Calibri"/>
              </a:rPr>
              <a:t>2</a:t>
            </a:r>
            <a:r>
              <a:rPr sz="2800" b="1" dirty="0">
                <a:latin typeface="Calibri"/>
                <a:cs typeface="Calibri"/>
              </a:rPr>
              <a:t>C</a:t>
            </a:r>
            <a:r>
              <a:rPr sz="2775" b="1" baseline="25525" dirty="0">
                <a:latin typeface="Calibri"/>
                <a:cs typeface="Calibri"/>
              </a:rPr>
              <a:t>−2</a:t>
            </a:r>
            <a:endParaRPr sz="2775" baseline="25525">
              <a:latin typeface="Calibri"/>
              <a:cs typeface="Calibri"/>
            </a:endParaRPr>
          </a:p>
          <a:p>
            <a:pPr marL="158115">
              <a:lnSpc>
                <a:spcPct val="100000"/>
              </a:lnSpc>
              <a:spcBef>
                <a:spcPts val="5"/>
              </a:spcBef>
            </a:pPr>
            <a:r>
              <a:rPr sz="2800" b="1" dirty="0">
                <a:latin typeface="Calibri"/>
                <a:cs typeface="Calibri"/>
              </a:rPr>
              <a:t>q</a:t>
            </a:r>
            <a:r>
              <a:rPr sz="2775" b="1" baseline="-21021" dirty="0">
                <a:latin typeface="Calibri"/>
                <a:cs typeface="Calibri"/>
              </a:rPr>
              <a:t>1 </a:t>
            </a:r>
            <a:r>
              <a:rPr sz="2800" b="1" spc="-5" dirty="0">
                <a:latin typeface="Calibri"/>
                <a:cs typeface="Calibri"/>
              </a:rPr>
              <a:t>=</a:t>
            </a:r>
            <a:r>
              <a:rPr sz="2800" b="1" spc="-15" dirty="0">
                <a:latin typeface="Calibri"/>
                <a:cs typeface="Calibri"/>
              </a:rPr>
              <a:t> </a:t>
            </a:r>
            <a:r>
              <a:rPr sz="2800" b="1" spc="-5" dirty="0">
                <a:latin typeface="Calibri"/>
                <a:cs typeface="Calibri"/>
              </a:rPr>
              <a:t>6</a:t>
            </a:r>
            <a:r>
              <a:rPr sz="2800" b="1" dirty="0">
                <a:latin typeface="Calibri"/>
                <a:cs typeface="Calibri"/>
              </a:rPr>
              <a:t> </a:t>
            </a:r>
            <a:r>
              <a:rPr sz="2800" b="1" spc="-5" dirty="0">
                <a:latin typeface="Calibri"/>
                <a:cs typeface="Calibri"/>
              </a:rPr>
              <a:t>×10</a:t>
            </a:r>
            <a:r>
              <a:rPr sz="2775" b="1" spc="-7" baseline="25525" dirty="0">
                <a:latin typeface="Calibri"/>
                <a:cs typeface="Calibri"/>
              </a:rPr>
              <a:t>-6</a:t>
            </a:r>
            <a:r>
              <a:rPr sz="2775" b="1" spc="352" baseline="25525" dirty="0">
                <a:latin typeface="Calibri"/>
                <a:cs typeface="Calibri"/>
              </a:rPr>
              <a:t> </a:t>
            </a:r>
            <a:r>
              <a:rPr sz="2800" b="1" spc="-5" dirty="0">
                <a:latin typeface="Calibri"/>
                <a:cs typeface="Calibri"/>
              </a:rPr>
              <a:t>C</a:t>
            </a:r>
            <a:endParaRPr sz="2800">
              <a:latin typeface="Calibri"/>
              <a:cs typeface="Calibri"/>
            </a:endParaRPr>
          </a:p>
          <a:p>
            <a:pPr marL="158115" marR="10048875">
              <a:lnSpc>
                <a:spcPct val="100000"/>
              </a:lnSpc>
            </a:pPr>
            <a:r>
              <a:rPr sz="2800" b="1" dirty="0">
                <a:latin typeface="Calibri"/>
                <a:cs typeface="Calibri"/>
              </a:rPr>
              <a:t>q</a:t>
            </a:r>
            <a:r>
              <a:rPr sz="2775" b="1" baseline="-21021" dirty="0">
                <a:latin typeface="Calibri"/>
                <a:cs typeface="Calibri"/>
              </a:rPr>
              <a:t>2</a:t>
            </a:r>
            <a:r>
              <a:rPr sz="2775" b="1" spc="292" baseline="-21021" dirty="0">
                <a:latin typeface="Calibri"/>
                <a:cs typeface="Calibri"/>
              </a:rPr>
              <a:t> </a:t>
            </a:r>
            <a:r>
              <a:rPr sz="2800" b="1" spc="-5" dirty="0">
                <a:latin typeface="Calibri"/>
                <a:cs typeface="Calibri"/>
              </a:rPr>
              <a:t>= 4</a:t>
            </a:r>
            <a:r>
              <a:rPr sz="2800" b="1" dirty="0">
                <a:latin typeface="Calibri"/>
                <a:cs typeface="Calibri"/>
              </a:rPr>
              <a:t> </a:t>
            </a:r>
            <a:r>
              <a:rPr sz="2800" b="1" spc="-5" dirty="0">
                <a:latin typeface="Calibri"/>
                <a:cs typeface="Calibri"/>
              </a:rPr>
              <a:t>×10</a:t>
            </a:r>
            <a:r>
              <a:rPr sz="2775" b="1" spc="-7" baseline="25525" dirty="0">
                <a:latin typeface="Calibri"/>
                <a:cs typeface="Calibri"/>
              </a:rPr>
              <a:t>-6</a:t>
            </a:r>
            <a:r>
              <a:rPr sz="2775" b="1" spc="330" baseline="25525" dirty="0">
                <a:latin typeface="Calibri"/>
                <a:cs typeface="Calibri"/>
              </a:rPr>
              <a:t> </a:t>
            </a:r>
            <a:r>
              <a:rPr sz="2800" b="1" spc="-5" dirty="0">
                <a:latin typeface="Calibri"/>
                <a:cs typeface="Calibri"/>
              </a:rPr>
              <a:t>C </a:t>
            </a:r>
            <a:r>
              <a:rPr sz="2800" b="1" spc="-620" dirty="0">
                <a:latin typeface="Calibri"/>
                <a:cs typeface="Calibri"/>
              </a:rPr>
              <a:t> </a:t>
            </a:r>
            <a:r>
              <a:rPr sz="2800" b="1" spc="-5" dirty="0">
                <a:latin typeface="Calibri"/>
                <a:cs typeface="Calibri"/>
              </a:rPr>
              <a:t>r</a:t>
            </a:r>
            <a:r>
              <a:rPr sz="2800" b="1" spc="-15" dirty="0">
                <a:latin typeface="Calibri"/>
                <a:cs typeface="Calibri"/>
              </a:rPr>
              <a:t> </a:t>
            </a:r>
            <a:r>
              <a:rPr sz="2800" b="1" spc="-5" dirty="0">
                <a:latin typeface="Calibri"/>
                <a:cs typeface="Calibri"/>
              </a:rPr>
              <a:t>=</a:t>
            </a:r>
            <a:r>
              <a:rPr sz="2800" b="1" dirty="0">
                <a:latin typeface="Calibri"/>
                <a:cs typeface="Calibri"/>
              </a:rPr>
              <a:t> </a:t>
            </a:r>
            <a:r>
              <a:rPr sz="2800" b="1" spc="-5" dirty="0">
                <a:latin typeface="Calibri"/>
                <a:cs typeface="Calibri"/>
              </a:rPr>
              <a:t>0.040</a:t>
            </a:r>
            <a:r>
              <a:rPr sz="2800" b="1" spc="30" dirty="0">
                <a:latin typeface="Calibri"/>
                <a:cs typeface="Calibri"/>
              </a:rPr>
              <a:t> </a:t>
            </a:r>
            <a:r>
              <a:rPr sz="2800" b="1" spc="-5" dirty="0">
                <a:latin typeface="Calibri"/>
                <a:cs typeface="Calibri"/>
              </a:rPr>
              <a:t>m</a:t>
            </a:r>
            <a:endParaRPr sz="2800">
              <a:latin typeface="Calibri"/>
              <a:cs typeface="Calibri"/>
            </a:endParaRPr>
          </a:p>
        </p:txBody>
      </p:sp>
      <p:pic>
        <p:nvPicPr>
          <p:cNvPr id="3" name="object 3"/>
          <p:cNvPicPr/>
          <p:nvPr/>
        </p:nvPicPr>
        <p:blipFill>
          <a:blip r:embed="rId2" cstate="print"/>
          <a:stretch>
            <a:fillRect/>
          </a:stretch>
        </p:blipFill>
        <p:spPr>
          <a:xfrm>
            <a:off x="6103095" y="1440076"/>
            <a:ext cx="3828552" cy="52370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9890" y="192151"/>
            <a:ext cx="12076430" cy="391160"/>
          </a:xfrm>
          <a:prstGeom prst="rect">
            <a:avLst/>
          </a:prstGeom>
        </p:spPr>
        <p:txBody>
          <a:bodyPr vert="horz" wrap="square" lIns="0" tIns="12700" rIns="0" bIns="0" rtlCol="0">
            <a:spAutoFit/>
          </a:bodyPr>
          <a:lstStyle/>
          <a:p>
            <a:pPr marL="38100">
              <a:lnSpc>
                <a:spcPct val="100000"/>
              </a:lnSpc>
              <a:spcBef>
                <a:spcPts val="100"/>
              </a:spcBef>
            </a:pPr>
            <a:r>
              <a:rPr sz="2400" spc="-5" dirty="0">
                <a:solidFill>
                  <a:srgbClr val="00AF50"/>
                </a:solidFill>
              </a:rPr>
              <a:t>Problem_02:</a:t>
            </a:r>
            <a:r>
              <a:rPr sz="2400" spc="-30" dirty="0">
                <a:solidFill>
                  <a:srgbClr val="00AF50"/>
                </a:solidFill>
              </a:rPr>
              <a:t> </a:t>
            </a:r>
            <a:r>
              <a:rPr sz="2400" spc="-15" dirty="0">
                <a:solidFill>
                  <a:srgbClr val="FF0000"/>
                </a:solidFill>
              </a:rPr>
              <a:t>Two-point</a:t>
            </a:r>
            <a:r>
              <a:rPr sz="2400" spc="-5" dirty="0">
                <a:solidFill>
                  <a:srgbClr val="FF0000"/>
                </a:solidFill>
              </a:rPr>
              <a:t> </a:t>
            </a:r>
            <a:r>
              <a:rPr sz="2400" spc="-10" dirty="0">
                <a:solidFill>
                  <a:srgbClr val="FF0000"/>
                </a:solidFill>
              </a:rPr>
              <a:t>charges, </a:t>
            </a:r>
            <a:r>
              <a:rPr sz="2400" dirty="0">
                <a:solidFill>
                  <a:srgbClr val="FF0000"/>
                </a:solidFill>
              </a:rPr>
              <a:t>q</a:t>
            </a:r>
            <a:r>
              <a:rPr sz="2400" baseline="-20833" dirty="0">
                <a:solidFill>
                  <a:srgbClr val="FF0000"/>
                </a:solidFill>
              </a:rPr>
              <a:t>1</a:t>
            </a:r>
            <a:r>
              <a:rPr sz="2400" spc="22" baseline="-20833" dirty="0">
                <a:solidFill>
                  <a:srgbClr val="FF0000"/>
                </a:solidFill>
              </a:rPr>
              <a:t> </a:t>
            </a:r>
            <a:r>
              <a:rPr sz="2400" dirty="0">
                <a:solidFill>
                  <a:srgbClr val="FF0000"/>
                </a:solidFill>
              </a:rPr>
              <a:t>=</a:t>
            </a:r>
            <a:r>
              <a:rPr sz="2400" spc="-10" dirty="0">
                <a:solidFill>
                  <a:srgbClr val="FF0000"/>
                </a:solidFill>
              </a:rPr>
              <a:t> </a:t>
            </a:r>
            <a:r>
              <a:rPr sz="2400" spc="-5" dirty="0">
                <a:solidFill>
                  <a:srgbClr val="FF0000"/>
                </a:solidFill>
              </a:rPr>
              <a:t>+9</a:t>
            </a:r>
            <a:r>
              <a:rPr sz="2400" spc="-10" dirty="0">
                <a:solidFill>
                  <a:srgbClr val="FF0000"/>
                </a:solidFill>
              </a:rPr>
              <a:t> </a:t>
            </a:r>
            <a:r>
              <a:rPr sz="2400" dirty="0">
                <a:solidFill>
                  <a:srgbClr val="FF0000"/>
                </a:solidFill>
              </a:rPr>
              <a:t>μC</a:t>
            </a:r>
            <a:r>
              <a:rPr sz="2400" spc="-5" dirty="0">
                <a:solidFill>
                  <a:srgbClr val="FF0000"/>
                </a:solidFill>
              </a:rPr>
              <a:t> </a:t>
            </a:r>
            <a:r>
              <a:rPr sz="2400" dirty="0">
                <a:solidFill>
                  <a:srgbClr val="FF0000"/>
                </a:solidFill>
              </a:rPr>
              <a:t>and </a:t>
            </a:r>
            <a:r>
              <a:rPr sz="2400" spc="-10" dirty="0">
                <a:solidFill>
                  <a:srgbClr val="FF0000"/>
                </a:solidFill>
              </a:rPr>
              <a:t>q</a:t>
            </a:r>
            <a:r>
              <a:rPr sz="2400" spc="-15" baseline="-20833" dirty="0">
                <a:solidFill>
                  <a:srgbClr val="FF0000"/>
                </a:solidFill>
              </a:rPr>
              <a:t>2</a:t>
            </a:r>
            <a:r>
              <a:rPr sz="2400" spc="7" baseline="-20833" dirty="0">
                <a:solidFill>
                  <a:srgbClr val="FF0000"/>
                </a:solidFill>
              </a:rPr>
              <a:t> </a:t>
            </a:r>
            <a:r>
              <a:rPr sz="2400" dirty="0">
                <a:solidFill>
                  <a:srgbClr val="FF0000"/>
                </a:solidFill>
              </a:rPr>
              <a:t>=</a:t>
            </a:r>
            <a:r>
              <a:rPr sz="2400" spc="-5" dirty="0">
                <a:solidFill>
                  <a:srgbClr val="FF0000"/>
                </a:solidFill>
              </a:rPr>
              <a:t> </a:t>
            </a:r>
            <a:r>
              <a:rPr sz="2400" dirty="0">
                <a:solidFill>
                  <a:srgbClr val="FF0000"/>
                </a:solidFill>
              </a:rPr>
              <a:t>4</a:t>
            </a:r>
            <a:r>
              <a:rPr sz="2400" spc="-5" dirty="0">
                <a:solidFill>
                  <a:srgbClr val="FF0000"/>
                </a:solidFill>
              </a:rPr>
              <a:t> μC, </a:t>
            </a:r>
            <a:r>
              <a:rPr sz="2400" spc="-10" dirty="0">
                <a:solidFill>
                  <a:srgbClr val="FF0000"/>
                </a:solidFill>
              </a:rPr>
              <a:t>are</a:t>
            </a:r>
            <a:r>
              <a:rPr sz="2400" spc="-15" dirty="0">
                <a:solidFill>
                  <a:srgbClr val="FF0000"/>
                </a:solidFill>
              </a:rPr>
              <a:t> separated</a:t>
            </a:r>
            <a:r>
              <a:rPr sz="2400" spc="5" dirty="0">
                <a:solidFill>
                  <a:srgbClr val="FF0000"/>
                </a:solidFill>
              </a:rPr>
              <a:t> </a:t>
            </a:r>
            <a:r>
              <a:rPr sz="2400" spc="-10" dirty="0">
                <a:solidFill>
                  <a:srgbClr val="FF0000"/>
                </a:solidFill>
              </a:rPr>
              <a:t>by</a:t>
            </a:r>
            <a:r>
              <a:rPr sz="2400" spc="-15" dirty="0">
                <a:solidFill>
                  <a:srgbClr val="FF0000"/>
                </a:solidFill>
              </a:rPr>
              <a:t> </a:t>
            </a:r>
            <a:r>
              <a:rPr sz="2400" dirty="0">
                <a:solidFill>
                  <a:srgbClr val="FF0000"/>
                </a:solidFill>
              </a:rPr>
              <a:t>a </a:t>
            </a:r>
            <a:r>
              <a:rPr sz="2400" spc="-10" dirty="0">
                <a:solidFill>
                  <a:srgbClr val="FF0000"/>
                </a:solidFill>
              </a:rPr>
              <a:t>distance</a:t>
            </a:r>
            <a:r>
              <a:rPr sz="2400" spc="10" dirty="0">
                <a:solidFill>
                  <a:srgbClr val="FF0000"/>
                </a:solidFill>
              </a:rPr>
              <a:t> </a:t>
            </a:r>
            <a:r>
              <a:rPr sz="2400" dirty="0">
                <a:solidFill>
                  <a:srgbClr val="FF0000"/>
                </a:solidFill>
              </a:rPr>
              <a:t>r</a:t>
            </a:r>
            <a:r>
              <a:rPr sz="2400" spc="-20" dirty="0">
                <a:solidFill>
                  <a:srgbClr val="FF0000"/>
                </a:solidFill>
              </a:rPr>
              <a:t> </a:t>
            </a:r>
            <a:r>
              <a:rPr sz="2400" dirty="0">
                <a:solidFill>
                  <a:srgbClr val="FF0000"/>
                </a:solidFill>
              </a:rPr>
              <a:t>=</a:t>
            </a:r>
            <a:r>
              <a:rPr sz="2400" spc="-5" dirty="0">
                <a:solidFill>
                  <a:srgbClr val="FF0000"/>
                </a:solidFill>
              </a:rPr>
              <a:t> </a:t>
            </a:r>
            <a:r>
              <a:rPr sz="2400" dirty="0">
                <a:solidFill>
                  <a:srgbClr val="FF0000"/>
                </a:solidFill>
              </a:rPr>
              <a:t>12</a:t>
            </a:r>
            <a:r>
              <a:rPr sz="2400" spc="-10" dirty="0">
                <a:solidFill>
                  <a:srgbClr val="FF0000"/>
                </a:solidFill>
              </a:rPr>
              <a:t> </a:t>
            </a:r>
            <a:r>
              <a:rPr sz="2400" dirty="0">
                <a:solidFill>
                  <a:srgbClr val="FF0000"/>
                </a:solidFill>
              </a:rPr>
              <a:t>cm.</a:t>
            </a:r>
            <a:endParaRPr sz="2400"/>
          </a:p>
        </p:txBody>
      </p:sp>
      <p:sp>
        <p:nvSpPr>
          <p:cNvPr id="3" name="object 3"/>
          <p:cNvSpPr txBox="1"/>
          <p:nvPr/>
        </p:nvSpPr>
        <p:spPr>
          <a:xfrm>
            <a:off x="202590" y="557910"/>
            <a:ext cx="5603875" cy="2414905"/>
          </a:xfrm>
          <a:prstGeom prst="rect">
            <a:avLst/>
          </a:prstGeom>
        </p:spPr>
        <p:txBody>
          <a:bodyPr vert="horz" wrap="square" lIns="0" tIns="12700" rIns="0" bIns="0" rtlCol="0">
            <a:spAutoFit/>
          </a:bodyPr>
          <a:lstStyle/>
          <a:p>
            <a:pPr marL="25400">
              <a:lnSpc>
                <a:spcPct val="100000"/>
              </a:lnSpc>
              <a:spcBef>
                <a:spcPts val="100"/>
              </a:spcBef>
            </a:pPr>
            <a:r>
              <a:rPr sz="2400" b="1" spc="-10" dirty="0">
                <a:solidFill>
                  <a:srgbClr val="FF0000"/>
                </a:solidFill>
                <a:latin typeface="Calibri"/>
                <a:cs typeface="Calibri"/>
              </a:rPr>
              <a:t>What</a:t>
            </a:r>
            <a:r>
              <a:rPr sz="2400" b="1" spc="-5" dirty="0">
                <a:solidFill>
                  <a:srgbClr val="FF0000"/>
                </a:solidFill>
                <a:latin typeface="Calibri"/>
                <a:cs typeface="Calibri"/>
              </a:rPr>
              <a:t> </a:t>
            </a:r>
            <a:r>
              <a:rPr sz="2400" b="1" dirty="0">
                <a:solidFill>
                  <a:srgbClr val="FF0000"/>
                </a:solidFill>
                <a:latin typeface="Calibri"/>
                <a:cs typeface="Calibri"/>
              </a:rPr>
              <a:t>is</a:t>
            </a:r>
            <a:r>
              <a:rPr sz="2400" b="1" spc="-5" dirty="0">
                <a:solidFill>
                  <a:srgbClr val="FF0000"/>
                </a:solidFill>
                <a:latin typeface="Calibri"/>
                <a:cs typeface="Calibri"/>
              </a:rPr>
              <a:t> the magnitude</a:t>
            </a:r>
            <a:r>
              <a:rPr sz="2400" b="1" dirty="0">
                <a:solidFill>
                  <a:srgbClr val="FF0000"/>
                </a:solidFill>
                <a:latin typeface="Calibri"/>
                <a:cs typeface="Calibri"/>
              </a:rPr>
              <a:t> of</a:t>
            </a:r>
            <a:r>
              <a:rPr sz="2400" b="1" spc="-25" dirty="0">
                <a:solidFill>
                  <a:srgbClr val="FF0000"/>
                </a:solidFill>
                <a:latin typeface="Calibri"/>
                <a:cs typeface="Calibri"/>
              </a:rPr>
              <a:t> </a:t>
            </a:r>
            <a:r>
              <a:rPr sz="2400" b="1" spc="-5" dirty="0">
                <a:solidFill>
                  <a:srgbClr val="FF0000"/>
                </a:solidFill>
                <a:latin typeface="Calibri"/>
                <a:cs typeface="Calibri"/>
              </a:rPr>
              <a:t>the</a:t>
            </a:r>
            <a:r>
              <a:rPr sz="2400" b="1" spc="15" dirty="0">
                <a:solidFill>
                  <a:srgbClr val="FF0000"/>
                </a:solidFill>
                <a:latin typeface="Calibri"/>
                <a:cs typeface="Calibri"/>
              </a:rPr>
              <a:t> </a:t>
            </a:r>
            <a:r>
              <a:rPr sz="2400" b="1" spc="-5" dirty="0">
                <a:solidFill>
                  <a:srgbClr val="FF0000"/>
                </a:solidFill>
                <a:latin typeface="Calibri"/>
                <a:cs typeface="Calibri"/>
              </a:rPr>
              <a:t>electric</a:t>
            </a:r>
            <a:r>
              <a:rPr sz="2400" b="1" spc="-25" dirty="0">
                <a:solidFill>
                  <a:srgbClr val="FF0000"/>
                </a:solidFill>
                <a:latin typeface="Calibri"/>
                <a:cs typeface="Calibri"/>
              </a:rPr>
              <a:t> </a:t>
            </a:r>
            <a:r>
              <a:rPr sz="2400" b="1" spc="-15" dirty="0">
                <a:solidFill>
                  <a:srgbClr val="FF0000"/>
                </a:solidFill>
                <a:latin typeface="Calibri"/>
                <a:cs typeface="Calibri"/>
              </a:rPr>
              <a:t>force?</a:t>
            </a:r>
            <a:endParaRPr sz="2400">
              <a:latin typeface="Calibri"/>
              <a:cs typeface="Calibri"/>
            </a:endParaRPr>
          </a:p>
          <a:p>
            <a:pPr>
              <a:lnSpc>
                <a:spcPct val="100000"/>
              </a:lnSpc>
              <a:spcBef>
                <a:spcPts val="45"/>
              </a:spcBef>
            </a:pPr>
            <a:endParaRPr sz="2000">
              <a:latin typeface="Calibri"/>
              <a:cs typeface="Calibri"/>
            </a:endParaRPr>
          </a:p>
          <a:p>
            <a:pPr marL="120014">
              <a:lnSpc>
                <a:spcPct val="100000"/>
              </a:lnSpc>
            </a:pPr>
            <a:r>
              <a:rPr sz="2800" b="1" spc="-5" dirty="0">
                <a:latin typeface="Calibri"/>
                <a:cs typeface="Calibri"/>
              </a:rPr>
              <a:t>k</a:t>
            </a:r>
            <a:r>
              <a:rPr sz="2800" b="1" dirty="0">
                <a:latin typeface="Calibri"/>
                <a:cs typeface="Calibri"/>
              </a:rPr>
              <a:t> </a:t>
            </a:r>
            <a:r>
              <a:rPr sz="2800" b="1" spc="-5" dirty="0">
                <a:latin typeface="Calibri"/>
                <a:cs typeface="Calibri"/>
              </a:rPr>
              <a:t>=</a:t>
            </a:r>
            <a:r>
              <a:rPr sz="2800" b="1" spc="-15" dirty="0">
                <a:latin typeface="Calibri"/>
                <a:cs typeface="Calibri"/>
              </a:rPr>
              <a:t> </a:t>
            </a:r>
            <a:r>
              <a:rPr sz="2800" b="1" spc="-5" dirty="0">
                <a:latin typeface="Calibri"/>
                <a:cs typeface="Calibri"/>
              </a:rPr>
              <a:t>8.988</a:t>
            </a:r>
            <a:r>
              <a:rPr sz="2800" b="1" spc="35" dirty="0">
                <a:latin typeface="Calibri"/>
                <a:cs typeface="Calibri"/>
              </a:rPr>
              <a:t> </a:t>
            </a:r>
            <a:r>
              <a:rPr sz="2800" b="1" spc="-5" dirty="0">
                <a:latin typeface="Calibri"/>
                <a:cs typeface="Calibri"/>
              </a:rPr>
              <a:t>x</a:t>
            </a:r>
            <a:r>
              <a:rPr sz="2800" b="1" spc="-15" dirty="0">
                <a:latin typeface="Calibri"/>
                <a:cs typeface="Calibri"/>
              </a:rPr>
              <a:t> </a:t>
            </a:r>
            <a:r>
              <a:rPr sz="2800" b="1" dirty="0">
                <a:latin typeface="Calibri"/>
                <a:cs typeface="Calibri"/>
              </a:rPr>
              <a:t>10</a:t>
            </a:r>
            <a:r>
              <a:rPr sz="2775" b="1" baseline="25525" dirty="0">
                <a:latin typeface="Calibri"/>
                <a:cs typeface="Calibri"/>
              </a:rPr>
              <a:t>9</a:t>
            </a:r>
            <a:r>
              <a:rPr sz="2775" b="1" spc="345" baseline="25525" dirty="0">
                <a:latin typeface="Calibri"/>
                <a:cs typeface="Calibri"/>
              </a:rPr>
              <a:t> </a:t>
            </a:r>
            <a:r>
              <a:rPr sz="2800" b="1" dirty="0">
                <a:latin typeface="Calibri"/>
                <a:cs typeface="Calibri"/>
              </a:rPr>
              <a:t>Nm</a:t>
            </a:r>
            <a:r>
              <a:rPr sz="2775" b="1" baseline="25525" dirty="0">
                <a:latin typeface="Calibri"/>
                <a:cs typeface="Calibri"/>
              </a:rPr>
              <a:t>2</a:t>
            </a:r>
            <a:r>
              <a:rPr sz="2800" b="1" dirty="0">
                <a:latin typeface="Calibri"/>
                <a:cs typeface="Calibri"/>
              </a:rPr>
              <a:t>C</a:t>
            </a:r>
            <a:r>
              <a:rPr sz="2775" b="1" baseline="25525" dirty="0">
                <a:latin typeface="Calibri"/>
                <a:cs typeface="Calibri"/>
              </a:rPr>
              <a:t>−2</a:t>
            </a:r>
            <a:endParaRPr sz="2775" baseline="25525">
              <a:latin typeface="Calibri"/>
              <a:cs typeface="Calibri"/>
            </a:endParaRPr>
          </a:p>
          <a:p>
            <a:pPr marL="120014">
              <a:lnSpc>
                <a:spcPct val="100000"/>
              </a:lnSpc>
            </a:pPr>
            <a:r>
              <a:rPr sz="2800" b="1" dirty="0">
                <a:latin typeface="Calibri"/>
                <a:cs typeface="Calibri"/>
              </a:rPr>
              <a:t>q</a:t>
            </a:r>
            <a:r>
              <a:rPr sz="2775" b="1" baseline="-21021" dirty="0">
                <a:latin typeface="Calibri"/>
                <a:cs typeface="Calibri"/>
              </a:rPr>
              <a:t>1</a:t>
            </a:r>
            <a:r>
              <a:rPr sz="2775" b="1" spc="-7" baseline="-21021" dirty="0">
                <a:latin typeface="Calibri"/>
                <a:cs typeface="Calibri"/>
              </a:rPr>
              <a:t> </a:t>
            </a:r>
            <a:r>
              <a:rPr sz="2800" b="1" spc="-5" dirty="0">
                <a:latin typeface="Calibri"/>
                <a:cs typeface="Calibri"/>
              </a:rPr>
              <a:t>=</a:t>
            </a:r>
            <a:r>
              <a:rPr sz="2800" b="1" spc="-20" dirty="0">
                <a:latin typeface="Calibri"/>
                <a:cs typeface="Calibri"/>
              </a:rPr>
              <a:t> </a:t>
            </a:r>
            <a:r>
              <a:rPr sz="2800" b="1" spc="-5" dirty="0">
                <a:latin typeface="Calibri"/>
                <a:cs typeface="Calibri"/>
              </a:rPr>
              <a:t>9 ×10</a:t>
            </a:r>
            <a:r>
              <a:rPr sz="2775" b="1" spc="-7" baseline="25525" dirty="0">
                <a:latin typeface="Calibri"/>
                <a:cs typeface="Calibri"/>
              </a:rPr>
              <a:t>-6</a:t>
            </a:r>
            <a:r>
              <a:rPr sz="2775" b="1" spc="345" baseline="25525" dirty="0">
                <a:latin typeface="Calibri"/>
                <a:cs typeface="Calibri"/>
              </a:rPr>
              <a:t> </a:t>
            </a:r>
            <a:r>
              <a:rPr sz="2800" b="1" spc="-5" dirty="0">
                <a:latin typeface="Calibri"/>
                <a:cs typeface="Calibri"/>
              </a:rPr>
              <a:t>C</a:t>
            </a:r>
            <a:endParaRPr sz="2800">
              <a:latin typeface="Calibri"/>
              <a:cs typeface="Calibri"/>
            </a:endParaRPr>
          </a:p>
          <a:p>
            <a:pPr marL="120014">
              <a:lnSpc>
                <a:spcPct val="100000"/>
              </a:lnSpc>
              <a:spcBef>
                <a:spcPts val="5"/>
              </a:spcBef>
            </a:pPr>
            <a:r>
              <a:rPr sz="2800" b="1" dirty="0">
                <a:latin typeface="Calibri"/>
                <a:cs typeface="Calibri"/>
              </a:rPr>
              <a:t>q</a:t>
            </a:r>
            <a:r>
              <a:rPr sz="2775" b="1" baseline="-21021" dirty="0">
                <a:latin typeface="Calibri"/>
                <a:cs typeface="Calibri"/>
              </a:rPr>
              <a:t>2</a:t>
            </a:r>
            <a:r>
              <a:rPr sz="2775" b="1" spc="292" baseline="-21021" dirty="0">
                <a:latin typeface="Calibri"/>
                <a:cs typeface="Calibri"/>
              </a:rPr>
              <a:t> </a:t>
            </a:r>
            <a:r>
              <a:rPr sz="2800" b="1" spc="-5" dirty="0">
                <a:latin typeface="Calibri"/>
                <a:cs typeface="Calibri"/>
              </a:rPr>
              <a:t>= 4</a:t>
            </a:r>
            <a:r>
              <a:rPr sz="2800" b="1" dirty="0">
                <a:latin typeface="Calibri"/>
                <a:cs typeface="Calibri"/>
              </a:rPr>
              <a:t> </a:t>
            </a:r>
            <a:r>
              <a:rPr sz="2800" b="1" spc="-5" dirty="0">
                <a:latin typeface="Calibri"/>
                <a:cs typeface="Calibri"/>
              </a:rPr>
              <a:t>×10</a:t>
            </a:r>
            <a:r>
              <a:rPr sz="2775" b="1" spc="-7" baseline="25525" dirty="0">
                <a:latin typeface="Calibri"/>
                <a:cs typeface="Calibri"/>
              </a:rPr>
              <a:t>-6</a:t>
            </a:r>
            <a:r>
              <a:rPr sz="2775" b="1" spc="330" baseline="25525" dirty="0">
                <a:latin typeface="Calibri"/>
                <a:cs typeface="Calibri"/>
              </a:rPr>
              <a:t> </a:t>
            </a:r>
            <a:r>
              <a:rPr sz="2800" b="1" spc="-5" dirty="0">
                <a:latin typeface="Calibri"/>
                <a:cs typeface="Calibri"/>
              </a:rPr>
              <a:t>C</a:t>
            </a:r>
            <a:endParaRPr sz="2800">
              <a:latin typeface="Calibri"/>
              <a:cs typeface="Calibri"/>
            </a:endParaRPr>
          </a:p>
          <a:p>
            <a:pPr marL="120014">
              <a:lnSpc>
                <a:spcPct val="100000"/>
              </a:lnSpc>
            </a:pPr>
            <a:r>
              <a:rPr sz="2800" b="1" spc="-5" dirty="0">
                <a:latin typeface="Calibri"/>
                <a:cs typeface="Calibri"/>
              </a:rPr>
              <a:t>r</a:t>
            </a:r>
            <a:r>
              <a:rPr sz="2800" b="1" spc="-15" dirty="0">
                <a:latin typeface="Calibri"/>
                <a:cs typeface="Calibri"/>
              </a:rPr>
              <a:t> </a:t>
            </a:r>
            <a:r>
              <a:rPr sz="2800" b="1" spc="-5" dirty="0">
                <a:latin typeface="Calibri"/>
                <a:cs typeface="Calibri"/>
              </a:rPr>
              <a:t>=</a:t>
            </a:r>
            <a:r>
              <a:rPr sz="2800" b="1" spc="5" dirty="0">
                <a:latin typeface="Calibri"/>
                <a:cs typeface="Calibri"/>
              </a:rPr>
              <a:t> </a:t>
            </a:r>
            <a:r>
              <a:rPr sz="2800" b="1" spc="-5" dirty="0">
                <a:latin typeface="Calibri"/>
                <a:cs typeface="Calibri"/>
              </a:rPr>
              <a:t>12cm</a:t>
            </a:r>
            <a:r>
              <a:rPr sz="2800" b="1" spc="10" dirty="0">
                <a:latin typeface="Calibri"/>
                <a:cs typeface="Calibri"/>
              </a:rPr>
              <a:t> </a:t>
            </a:r>
            <a:r>
              <a:rPr sz="2800" b="1" spc="-5" dirty="0">
                <a:latin typeface="Calibri"/>
                <a:cs typeface="Calibri"/>
              </a:rPr>
              <a:t>=</a:t>
            </a:r>
            <a:r>
              <a:rPr sz="2800" b="1" dirty="0">
                <a:latin typeface="Calibri"/>
                <a:cs typeface="Calibri"/>
              </a:rPr>
              <a:t> </a:t>
            </a:r>
            <a:r>
              <a:rPr sz="2800" b="1" spc="-5" dirty="0">
                <a:latin typeface="Calibri"/>
                <a:cs typeface="Calibri"/>
              </a:rPr>
              <a:t>0.12</a:t>
            </a:r>
            <a:r>
              <a:rPr sz="2800" b="1" spc="15" dirty="0">
                <a:latin typeface="Calibri"/>
                <a:cs typeface="Calibri"/>
              </a:rPr>
              <a:t> </a:t>
            </a:r>
            <a:r>
              <a:rPr sz="2800" b="1" spc="-5" dirty="0">
                <a:latin typeface="Calibri"/>
                <a:cs typeface="Calibri"/>
              </a:rPr>
              <a:t>m</a:t>
            </a:r>
            <a:endParaRPr sz="2800">
              <a:latin typeface="Calibri"/>
              <a:cs typeface="Calibri"/>
            </a:endParaRPr>
          </a:p>
        </p:txBody>
      </p:sp>
      <p:pic>
        <p:nvPicPr>
          <p:cNvPr id="4" name="object 4"/>
          <p:cNvPicPr/>
          <p:nvPr/>
        </p:nvPicPr>
        <p:blipFill>
          <a:blip r:embed="rId2" cstate="print"/>
          <a:stretch>
            <a:fillRect/>
          </a:stretch>
        </p:blipFill>
        <p:spPr>
          <a:xfrm>
            <a:off x="5780532" y="1154253"/>
            <a:ext cx="4326826" cy="517544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202304" y="3095955"/>
            <a:ext cx="172085"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a</a:t>
            </a:r>
            <a:endParaRPr sz="2400">
              <a:latin typeface="Calibri"/>
              <a:cs typeface="Calibri"/>
            </a:endParaRPr>
          </a:p>
        </p:txBody>
      </p:sp>
      <p:sp>
        <p:nvSpPr>
          <p:cNvPr id="3" name="object 3"/>
          <p:cNvSpPr txBox="1"/>
          <p:nvPr/>
        </p:nvSpPr>
        <p:spPr>
          <a:xfrm>
            <a:off x="6686804" y="3003296"/>
            <a:ext cx="17145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a</a:t>
            </a:r>
            <a:endParaRPr sz="2400">
              <a:latin typeface="Calibri"/>
              <a:cs typeface="Calibri"/>
            </a:endParaRPr>
          </a:p>
        </p:txBody>
      </p:sp>
      <p:sp>
        <p:nvSpPr>
          <p:cNvPr id="4" name="object 4"/>
          <p:cNvSpPr txBox="1"/>
          <p:nvPr/>
        </p:nvSpPr>
        <p:spPr>
          <a:xfrm>
            <a:off x="4915915" y="1623440"/>
            <a:ext cx="17145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a</a:t>
            </a:r>
            <a:endParaRPr sz="2400">
              <a:latin typeface="Calibri"/>
              <a:cs typeface="Calibri"/>
            </a:endParaRPr>
          </a:p>
        </p:txBody>
      </p:sp>
      <p:sp>
        <p:nvSpPr>
          <p:cNvPr id="5" name="object 5"/>
          <p:cNvSpPr txBox="1"/>
          <p:nvPr/>
        </p:nvSpPr>
        <p:spPr>
          <a:xfrm>
            <a:off x="4915915" y="4383151"/>
            <a:ext cx="17145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a</a:t>
            </a:r>
            <a:endParaRPr sz="2400">
              <a:latin typeface="Calibri"/>
              <a:cs typeface="Calibri"/>
            </a:endParaRPr>
          </a:p>
        </p:txBody>
      </p:sp>
      <p:grpSp>
        <p:nvGrpSpPr>
          <p:cNvPr id="6" name="object 6"/>
          <p:cNvGrpSpPr/>
          <p:nvPr/>
        </p:nvGrpSpPr>
        <p:grpSpPr>
          <a:xfrm>
            <a:off x="2203704" y="1068324"/>
            <a:ext cx="5602605" cy="4367530"/>
            <a:chOff x="2203704" y="1068324"/>
            <a:chExt cx="5602605" cy="4367530"/>
          </a:xfrm>
        </p:grpSpPr>
        <p:pic>
          <p:nvPicPr>
            <p:cNvPr id="7" name="object 7"/>
            <p:cNvPicPr/>
            <p:nvPr/>
          </p:nvPicPr>
          <p:blipFill>
            <a:blip r:embed="rId2" cstate="print"/>
            <a:stretch>
              <a:fillRect/>
            </a:stretch>
          </p:blipFill>
          <p:spPr>
            <a:xfrm>
              <a:off x="4844133" y="3058194"/>
              <a:ext cx="345782" cy="345622"/>
            </a:xfrm>
            <a:prstGeom prst="rect">
              <a:avLst/>
            </a:prstGeom>
          </p:spPr>
        </p:pic>
        <p:sp>
          <p:nvSpPr>
            <p:cNvPr id="8" name="object 8"/>
            <p:cNvSpPr/>
            <p:nvPr/>
          </p:nvSpPr>
          <p:spPr>
            <a:xfrm>
              <a:off x="3877055" y="3438144"/>
              <a:ext cx="936625" cy="741045"/>
            </a:xfrm>
            <a:custGeom>
              <a:avLst/>
              <a:gdLst/>
              <a:ahLst/>
              <a:cxnLst/>
              <a:rect l="l" t="t" r="r" b="b"/>
              <a:pathLst>
                <a:path w="936625" h="741045">
                  <a:moveTo>
                    <a:pt x="83312" y="565657"/>
                  </a:moveTo>
                  <a:lnTo>
                    <a:pt x="0" y="741044"/>
                  </a:lnTo>
                  <a:lnTo>
                    <a:pt x="190373" y="702436"/>
                  </a:lnTo>
                  <a:lnTo>
                    <a:pt x="168702" y="674750"/>
                  </a:lnTo>
                  <a:lnTo>
                    <a:pt x="131826" y="674750"/>
                  </a:lnTo>
                  <a:lnTo>
                    <a:pt x="96266" y="629030"/>
                  </a:lnTo>
                  <a:lnTo>
                    <a:pt x="118997" y="611249"/>
                  </a:lnTo>
                  <a:lnTo>
                    <a:pt x="83312" y="565657"/>
                  </a:lnTo>
                  <a:close/>
                </a:path>
                <a:path w="936625" h="741045">
                  <a:moveTo>
                    <a:pt x="118997" y="611249"/>
                  </a:moveTo>
                  <a:lnTo>
                    <a:pt x="96266" y="629030"/>
                  </a:lnTo>
                  <a:lnTo>
                    <a:pt x="131826" y="674750"/>
                  </a:lnTo>
                  <a:lnTo>
                    <a:pt x="154699" y="656861"/>
                  </a:lnTo>
                  <a:lnTo>
                    <a:pt x="118997" y="611249"/>
                  </a:lnTo>
                  <a:close/>
                </a:path>
                <a:path w="936625" h="741045">
                  <a:moveTo>
                    <a:pt x="154699" y="656861"/>
                  </a:moveTo>
                  <a:lnTo>
                    <a:pt x="131826" y="674750"/>
                  </a:lnTo>
                  <a:lnTo>
                    <a:pt x="168702" y="674750"/>
                  </a:lnTo>
                  <a:lnTo>
                    <a:pt x="154699" y="656861"/>
                  </a:lnTo>
                  <a:close/>
                </a:path>
                <a:path w="936625" h="741045">
                  <a:moveTo>
                    <a:pt x="900430" y="0"/>
                  </a:moveTo>
                  <a:lnTo>
                    <a:pt x="118997" y="611249"/>
                  </a:lnTo>
                  <a:lnTo>
                    <a:pt x="154699" y="656861"/>
                  </a:lnTo>
                  <a:lnTo>
                    <a:pt x="936117" y="45719"/>
                  </a:lnTo>
                  <a:lnTo>
                    <a:pt x="900430" y="0"/>
                  </a:lnTo>
                  <a:close/>
                </a:path>
              </a:pathLst>
            </a:custGeom>
            <a:solidFill>
              <a:srgbClr val="001F5F"/>
            </a:solidFill>
          </p:spPr>
          <p:txBody>
            <a:bodyPr wrap="square" lIns="0" tIns="0" rIns="0" bIns="0" rtlCol="0"/>
            <a:lstStyle/>
            <a:p>
              <a:endParaRPr/>
            </a:p>
          </p:txBody>
        </p:sp>
        <p:sp>
          <p:nvSpPr>
            <p:cNvPr id="9" name="object 9"/>
            <p:cNvSpPr/>
            <p:nvPr/>
          </p:nvSpPr>
          <p:spPr>
            <a:xfrm>
              <a:off x="5253101" y="2403348"/>
              <a:ext cx="897890" cy="749935"/>
            </a:xfrm>
            <a:custGeom>
              <a:avLst/>
              <a:gdLst/>
              <a:ahLst/>
              <a:cxnLst/>
              <a:rect l="l" t="t" r="r" b="b"/>
              <a:pathLst>
                <a:path w="897889" h="749935">
                  <a:moveTo>
                    <a:pt x="745351" y="88471"/>
                  </a:moveTo>
                  <a:lnTo>
                    <a:pt x="0" y="704850"/>
                  </a:lnTo>
                  <a:lnTo>
                    <a:pt x="36829" y="749426"/>
                  </a:lnTo>
                  <a:lnTo>
                    <a:pt x="782210" y="133023"/>
                  </a:lnTo>
                  <a:lnTo>
                    <a:pt x="745351" y="88471"/>
                  </a:lnTo>
                  <a:close/>
                </a:path>
                <a:path w="897889" h="749935">
                  <a:moveTo>
                    <a:pt x="866801" y="69976"/>
                  </a:moveTo>
                  <a:lnTo>
                    <a:pt x="767714" y="69976"/>
                  </a:lnTo>
                  <a:lnTo>
                    <a:pt x="804545" y="114553"/>
                  </a:lnTo>
                  <a:lnTo>
                    <a:pt x="782210" y="133023"/>
                  </a:lnTo>
                  <a:lnTo>
                    <a:pt x="819150" y="177673"/>
                  </a:lnTo>
                  <a:lnTo>
                    <a:pt x="866801" y="69976"/>
                  </a:lnTo>
                  <a:close/>
                </a:path>
                <a:path w="897889" h="749935">
                  <a:moveTo>
                    <a:pt x="767714" y="69976"/>
                  </a:moveTo>
                  <a:lnTo>
                    <a:pt x="745351" y="88471"/>
                  </a:lnTo>
                  <a:lnTo>
                    <a:pt x="782210" y="133023"/>
                  </a:lnTo>
                  <a:lnTo>
                    <a:pt x="804545" y="114553"/>
                  </a:lnTo>
                  <a:lnTo>
                    <a:pt x="767714" y="69976"/>
                  </a:lnTo>
                  <a:close/>
                </a:path>
                <a:path w="897889" h="749935">
                  <a:moveTo>
                    <a:pt x="897763" y="0"/>
                  </a:moveTo>
                  <a:lnTo>
                    <a:pt x="708406" y="43814"/>
                  </a:lnTo>
                  <a:lnTo>
                    <a:pt x="745351" y="88471"/>
                  </a:lnTo>
                  <a:lnTo>
                    <a:pt x="767714" y="69976"/>
                  </a:lnTo>
                  <a:lnTo>
                    <a:pt x="866801" y="69976"/>
                  </a:lnTo>
                  <a:lnTo>
                    <a:pt x="897763" y="0"/>
                  </a:lnTo>
                  <a:close/>
                </a:path>
              </a:pathLst>
            </a:custGeom>
            <a:solidFill>
              <a:srgbClr val="00AF50"/>
            </a:solidFill>
          </p:spPr>
          <p:txBody>
            <a:bodyPr wrap="square" lIns="0" tIns="0" rIns="0" bIns="0" rtlCol="0"/>
            <a:lstStyle/>
            <a:p>
              <a:endParaRPr/>
            </a:p>
          </p:txBody>
        </p:sp>
        <p:sp>
          <p:nvSpPr>
            <p:cNvPr id="10" name="object 10"/>
            <p:cNvSpPr/>
            <p:nvPr/>
          </p:nvSpPr>
          <p:spPr>
            <a:xfrm>
              <a:off x="5224272" y="3319653"/>
              <a:ext cx="1050925" cy="859155"/>
            </a:xfrm>
            <a:custGeom>
              <a:avLst/>
              <a:gdLst/>
              <a:ahLst/>
              <a:cxnLst/>
              <a:rect l="l" t="t" r="r" b="b"/>
              <a:pathLst>
                <a:path w="1050925" h="859154">
                  <a:moveTo>
                    <a:pt x="897257" y="771733"/>
                  </a:moveTo>
                  <a:lnTo>
                    <a:pt x="860805" y="816737"/>
                  </a:lnTo>
                  <a:lnTo>
                    <a:pt x="1050416" y="858647"/>
                  </a:lnTo>
                  <a:lnTo>
                    <a:pt x="1019244" y="789940"/>
                  </a:lnTo>
                  <a:lnTo>
                    <a:pt x="919733" y="789940"/>
                  </a:lnTo>
                  <a:lnTo>
                    <a:pt x="897257" y="771733"/>
                  </a:lnTo>
                  <a:close/>
                </a:path>
                <a:path w="1050925" h="859154">
                  <a:moveTo>
                    <a:pt x="933686" y="726757"/>
                  </a:moveTo>
                  <a:lnTo>
                    <a:pt x="897257" y="771733"/>
                  </a:lnTo>
                  <a:lnTo>
                    <a:pt x="919733" y="789940"/>
                  </a:lnTo>
                  <a:lnTo>
                    <a:pt x="956182" y="744982"/>
                  </a:lnTo>
                  <a:lnTo>
                    <a:pt x="933686" y="726757"/>
                  </a:lnTo>
                  <a:close/>
                </a:path>
                <a:path w="1050925" h="859154">
                  <a:moveTo>
                    <a:pt x="970152" y="681736"/>
                  </a:moveTo>
                  <a:lnTo>
                    <a:pt x="933686" y="726757"/>
                  </a:lnTo>
                  <a:lnTo>
                    <a:pt x="956182" y="744982"/>
                  </a:lnTo>
                  <a:lnTo>
                    <a:pt x="919733" y="789940"/>
                  </a:lnTo>
                  <a:lnTo>
                    <a:pt x="1019244" y="789940"/>
                  </a:lnTo>
                  <a:lnTo>
                    <a:pt x="970152" y="681736"/>
                  </a:lnTo>
                  <a:close/>
                </a:path>
                <a:path w="1050925" h="859154">
                  <a:moveTo>
                    <a:pt x="36575" y="0"/>
                  </a:moveTo>
                  <a:lnTo>
                    <a:pt x="0" y="44958"/>
                  </a:lnTo>
                  <a:lnTo>
                    <a:pt x="897257" y="771733"/>
                  </a:lnTo>
                  <a:lnTo>
                    <a:pt x="933686" y="726757"/>
                  </a:lnTo>
                  <a:lnTo>
                    <a:pt x="36575" y="0"/>
                  </a:lnTo>
                  <a:close/>
                </a:path>
              </a:pathLst>
            </a:custGeom>
            <a:solidFill>
              <a:srgbClr val="5B9BD4"/>
            </a:solidFill>
          </p:spPr>
          <p:txBody>
            <a:bodyPr wrap="square" lIns="0" tIns="0" rIns="0" bIns="0" rtlCol="0"/>
            <a:lstStyle/>
            <a:p>
              <a:endParaRPr/>
            </a:p>
          </p:txBody>
        </p:sp>
        <p:sp>
          <p:nvSpPr>
            <p:cNvPr id="11" name="object 11"/>
            <p:cNvSpPr/>
            <p:nvPr/>
          </p:nvSpPr>
          <p:spPr>
            <a:xfrm>
              <a:off x="3892296" y="2313431"/>
              <a:ext cx="3914140" cy="3122295"/>
            </a:xfrm>
            <a:custGeom>
              <a:avLst/>
              <a:gdLst/>
              <a:ahLst/>
              <a:cxnLst/>
              <a:rect l="l" t="t" r="r" b="b"/>
              <a:pathLst>
                <a:path w="3914140" h="3122295">
                  <a:moveTo>
                    <a:pt x="896747" y="652780"/>
                  </a:moveTo>
                  <a:lnTo>
                    <a:pt x="155359" y="82892"/>
                  </a:lnTo>
                  <a:lnTo>
                    <a:pt x="168871" y="65278"/>
                  </a:lnTo>
                  <a:lnTo>
                    <a:pt x="190627" y="36957"/>
                  </a:lnTo>
                  <a:lnTo>
                    <a:pt x="0" y="0"/>
                  </a:lnTo>
                  <a:lnTo>
                    <a:pt x="84836" y="174752"/>
                  </a:lnTo>
                  <a:lnTo>
                    <a:pt x="120065" y="128866"/>
                  </a:lnTo>
                  <a:lnTo>
                    <a:pt x="861441" y="698627"/>
                  </a:lnTo>
                  <a:lnTo>
                    <a:pt x="896747" y="652780"/>
                  </a:lnTo>
                  <a:close/>
                </a:path>
                <a:path w="3914140" h="3122295">
                  <a:moveTo>
                    <a:pt x="3914013" y="3122168"/>
                  </a:moveTo>
                  <a:lnTo>
                    <a:pt x="3882834" y="3053461"/>
                  </a:lnTo>
                  <a:lnTo>
                    <a:pt x="3833749" y="2945257"/>
                  </a:lnTo>
                  <a:lnTo>
                    <a:pt x="3797274" y="2990291"/>
                  </a:lnTo>
                  <a:lnTo>
                    <a:pt x="2900045" y="2263521"/>
                  </a:lnTo>
                  <a:lnTo>
                    <a:pt x="2863596" y="2308479"/>
                  </a:lnTo>
                  <a:lnTo>
                    <a:pt x="3760851" y="3035262"/>
                  </a:lnTo>
                  <a:lnTo>
                    <a:pt x="3724402" y="3080258"/>
                  </a:lnTo>
                  <a:lnTo>
                    <a:pt x="3914013" y="3122168"/>
                  </a:lnTo>
                  <a:close/>
                </a:path>
              </a:pathLst>
            </a:custGeom>
            <a:solidFill>
              <a:srgbClr val="FF0000"/>
            </a:solidFill>
          </p:spPr>
          <p:txBody>
            <a:bodyPr wrap="square" lIns="0" tIns="0" rIns="0" bIns="0" rtlCol="0"/>
            <a:lstStyle/>
            <a:p>
              <a:endParaRPr/>
            </a:p>
          </p:txBody>
        </p:sp>
        <p:sp>
          <p:nvSpPr>
            <p:cNvPr id="12" name="object 12"/>
            <p:cNvSpPr/>
            <p:nvPr/>
          </p:nvSpPr>
          <p:spPr>
            <a:xfrm>
              <a:off x="6755764" y="1109472"/>
              <a:ext cx="897890" cy="749935"/>
            </a:xfrm>
            <a:custGeom>
              <a:avLst/>
              <a:gdLst/>
              <a:ahLst/>
              <a:cxnLst/>
              <a:rect l="l" t="t" r="r" b="b"/>
              <a:pathLst>
                <a:path w="897890" h="749935">
                  <a:moveTo>
                    <a:pt x="745351" y="88471"/>
                  </a:moveTo>
                  <a:lnTo>
                    <a:pt x="0" y="704850"/>
                  </a:lnTo>
                  <a:lnTo>
                    <a:pt x="36829" y="749426"/>
                  </a:lnTo>
                  <a:lnTo>
                    <a:pt x="782210" y="133023"/>
                  </a:lnTo>
                  <a:lnTo>
                    <a:pt x="745351" y="88471"/>
                  </a:lnTo>
                  <a:close/>
                </a:path>
                <a:path w="897890" h="749935">
                  <a:moveTo>
                    <a:pt x="866801" y="69976"/>
                  </a:moveTo>
                  <a:lnTo>
                    <a:pt x="767714" y="69976"/>
                  </a:lnTo>
                  <a:lnTo>
                    <a:pt x="804544" y="114553"/>
                  </a:lnTo>
                  <a:lnTo>
                    <a:pt x="782210" y="133023"/>
                  </a:lnTo>
                  <a:lnTo>
                    <a:pt x="819150" y="177673"/>
                  </a:lnTo>
                  <a:lnTo>
                    <a:pt x="866801" y="69976"/>
                  </a:lnTo>
                  <a:close/>
                </a:path>
                <a:path w="897890" h="749935">
                  <a:moveTo>
                    <a:pt x="767714" y="69976"/>
                  </a:moveTo>
                  <a:lnTo>
                    <a:pt x="745351" y="88471"/>
                  </a:lnTo>
                  <a:lnTo>
                    <a:pt x="782210" y="133023"/>
                  </a:lnTo>
                  <a:lnTo>
                    <a:pt x="804544" y="114553"/>
                  </a:lnTo>
                  <a:lnTo>
                    <a:pt x="767714" y="69976"/>
                  </a:lnTo>
                  <a:close/>
                </a:path>
                <a:path w="897890" h="749935">
                  <a:moveTo>
                    <a:pt x="897762" y="0"/>
                  </a:moveTo>
                  <a:lnTo>
                    <a:pt x="708405" y="43814"/>
                  </a:lnTo>
                  <a:lnTo>
                    <a:pt x="745351" y="88471"/>
                  </a:lnTo>
                  <a:lnTo>
                    <a:pt x="767714" y="69976"/>
                  </a:lnTo>
                  <a:lnTo>
                    <a:pt x="866801" y="69976"/>
                  </a:lnTo>
                  <a:lnTo>
                    <a:pt x="897762" y="0"/>
                  </a:lnTo>
                  <a:close/>
                </a:path>
              </a:pathLst>
            </a:custGeom>
            <a:solidFill>
              <a:srgbClr val="000000"/>
            </a:solidFill>
          </p:spPr>
          <p:txBody>
            <a:bodyPr wrap="square" lIns="0" tIns="0" rIns="0" bIns="0" rtlCol="0"/>
            <a:lstStyle/>
            <a:p>
              <a:endParaRPr/>
            </a:p>
          </p:txBody>
        </p:sp>
        <p:sp>
          <p:nvSpPr>
            <p:cNvPr id="13" name="object 13"/>
            <p:cNvSpPr/>
            <p:nvPr/>
          </p:nvSpPr>
          <p:spPr>
            <a:xfrm>
              <a:off x="2203704" y="1068324"/>
              <a:ext cx="897255" cy="699135"/>
            </a:xfrm>
            <a:custGeom>
              <a:avLst/>
              <a:gdLst/>
              <a:ahLst/>
              <a:cxnLst/>
              <a:rect l="l" t="t" r="r" b="b"/>
              <a:pathLst>
                <a:path w="897255" h="699135">
                  <a:moveTo>
                    <a:pt x="155366" y="82885"/>
                  </a:moveTo>
                  <a:lnTo>
                    <a:pt x="120068" y="128861"/>
                  </a:lnTo>
                  <a:lnTo>
                    <a:pt x="861440" y="698626"/>
                  </a:lnTo>
                  <a:lnTo>
                    <a:pt x="896746" y="652779"/>
                  </a:lnTo>
                  <a:lnTo>
                    <a:pt x="155366" y="82885"/>
                  </a:lnTo>
                  <a:close/>
                </a:path>
                <a:path w="897255" h="699135">
                  <a:moveTo>
                    <a:pt x="0" y="0"/>
                  </a:moveTo>
                  <a:lnTo>
                    <a:pt x="84835" y="174751"/>
                  </a:lnTo>
                  <a:lnTo>
                    <a:pt x="120068" y="128861"/>
                  </a:lnTo>
                  <a:lnTo>
                    <a:pt x="97154" y="111251"/>
                  </a:lnTo>
                  <a:lnTo>
                    <a:pt x="132460" y="65277"/>
                  </a:lnTo>
                  <a:lnTo>
                    <a:pt x="168883" y="65277"/>
                  </a:lnTo>
                  <a:lnTo>
                    <a:pt x="190626" y="36956"/>
                  </a:lnTo>
                  <a:lnTo>
                    <a:pt x="0" y="0"/>
                  </a:lnTo>
                  <a:close/>
                </a:path>
                <a:path w="897255" h="699135">
                  <a:moveTo>
                    <a:pt x="132460" y="65277"/>
                  </a:moveTo>
                  <a:lnTo>
                    <a:pt x="97154" y="111251"/>
                  </a:lnTo>
                  <a:lnTo>
                    <a:pt x="120068" y="128861"/>
                  </a:lnTo>
                  <a:lnTo>
                    <a:pt x="155366" y="82885"/>
                  </a:lnTo>
                  <a:lnTo>
                    <a:pt x="132460" y="65277"/>
                  </a:lnTo>
                  <a:close/>
                </a:path>
                <a:path w="897255" h="699135">
                  <a:moveTo>
                    <a:pt x="168883" y="65277"/>
                  </a:moveTo>
                  <a:lnTo>
                    <a:pt x="132460" y="65277"/>
                  </a:lnTo>
                  <a:lnTo>
                    <a:pt x="155366" y="82885"/>
                  </a:lnTo>
                  <a:lnTo>
                    <a:pt x="168883" y="65277"/>
                  </a:lnTo>
                  <a:close/>
                </a:path>
              </a:pathLst>
            </a:custGeom>
            <a:solidFill>
              <a:srgbClr val="5B9BD4"/>
            </a:solidFill>
          </p:spPr>
          <p:txBody>
            <a:bodyPr wrap="square" lIns="0" tIns="0" rIns="0" bIns="0" rtlCol="0"/>
            <a:lstStyle/>
            <a:p>
              <a:endParaRPr/>
            </a:p>
          </p:txBody>
        </p:sp>
        <p:sp>
          <p:nvSpPr>
            <p:cNvPr id="14" name="object 14"/>
            <p:cNvSpPr/>
            <p:nvPr/>
          </p:nvSpPr>
          <p:spPr>
            <a:xfrm>
              <a:off x="2205228" y="4636008"/>
              <a:ext cx="936625" cy="741045"/>
            </a:xfrm>
            <a:custGeom>
              <a:avLst/>
              <a:gdLst/>
              <a:ahLst/>
              <a:cxnLst/>
              <a:rect l="l" t="t" r="r" b="b"/>
              <a:pathLst>
                <a:path w="936625" h="741045">
                  <a:moveTo>
                    <a:pt x="83312" y="565658"/>
                  </a:moveTo>
                  <a:lnTo>
                    <a:pt x="0" y="741045"/>
                  </a:lnTo>
                  <a:lnTo>
                    <a:pt x="190373" y="702437"/>
                  </a:lnTo>
                  <a:lnTo>
                    <a:pt x="168702" y="674751"/>
                  </a:lnTo>
                  <a:lnTo>
                    <a:pt x="131826" y="674751"/>
                  </a:lnTo>
                  <a:lnTo>
                    <a:pt x="96266" y="629031"/>
                  </a:lnTo>
                  <a:lnTo>
                    <a:pt x="118997" y="611249"/>
                  </a:lnTo>
                  <a:lnTo>
                    <a:pt x="83312" y="565658"/>
                  </a:lnTo>
                  <a:close/>
                </a:path>
                <a:path w="936625" h="741045">
                  <a:moveTo>
                    <a:pt x="118997" y="611249"/>
                  </a:moveTo>
                  <a:lnTo>
                    <a:pt x="96266" y="629031"/>
                  </a:lnTo>
                  <a:lnTo>
                    <a:pt x="131826" y="674751"/>
                  </a:lnTo>
                  <a:lnTo>
                    <a:pt x="154699" y="656861"/>
                  </a:lnTo>
                  <a:lnTo>
                    <a:pt x="118997" y="611249"/>
                  </a:lnTo>
                  <a:close/>
                </a:path>
                <a:path w="936625" h="741045">
                  <a:moveTo>
                    <a:pt x="154699" y="656861"/>
                  </a:moveTo>
                  <a:lnTo>
                    <a:pt x="131826" y="674751"/>
                  </a:lnTo>
                  <a:lnTo>
                    <a:pt x="168702" y="674751"/>
                  </a:lnTo>
                  <a:lnTo>
                    <a:pt x="154699" y="656861"/>
                  </a:lnTo>
                  <a:close/>
                </a:path>
                <a:path w="936625" h="741045">
                  <a:moveTo>
                    <a:pt x="900430" y="0"/>
                  </a:moveTo>
                  <a:lnTo>
                    <a:pt x="118997" y="611249"/>
                  </a:lnTo>
                  <a:lnTo>
                    <a:pt x="154699" y="656861"/>
                  </a:lnTo>
                  <a:lnTo>
                    <a:pt x="936117" y="45720"/>
                  </a:lnTo>
                  <a:lnTo>
                    <a:pt x="900430" y="0"/>
                  </a:lnTo>
                  <a:close/>
                </a:path>
              </a:pathLst>
            </a:custGeom>
            <a:solidFill>
              <a:srgbClr val="00AF50"/>
            </a:solidFill>
          </p:spPr>
          <p:txBody>
            <a:bodyPr wrap="square" lIns="0" tIns="0" rIns="0" bIns="0" rtlCol="0"/>
            <a:lstStyle/>
            <a:p>
              <a:endParaRPr/>
            </a:p>
          </p:txBody>
        </p:sp>
      </p:grpSp>
      <p:sp>
        <p:nvSpPr>
          <p:cNvPr id="15" name="object 15"/>
          <p:cNvSpPr txBox="1">
            <a:spLocks noGrp="1"/>
          </p:cNvSpPr>
          <p:nvPr>
            <p:ph type="ctrTitle"/>
          </p:nvPr>
        </p:nvSpPr>
        <p:spPr>
          <a:prstGeom prst="rect">
            <a:avLst/>
          </a:prstGeom>
        </p:spPr>
        <p:txBody>
          <a:bodyPr vert="horz" wrap="square" lIns="0" tIns="12700" rIns="0" bIns="0" rtlCol="0">
            <a:spAutoFit/>
          </a:bodyPr>
          <a:lstStyle/>
          <a:p>
            <a:pPr marL="4981575">
              <a:lnSpc>
                <a:spcPct val="100000"/>
              </a:lnSpc>
              <a:spcBef>
                <a:spcPts val="100"/>
              </a:spcBef>
            </a:pPr>
            <a:r>
              <a:rPr sz="6000" dirty="0"/>
              <a:t>F</a:t>
            </a:r>
            <a:r>
              <a:rPr spc="-5" dirty="0"/>
              <a:t>n</a:t>
            </a:r>
            <a:r>
              <a:rPr spc="-20" dirty="0"/>
              <a:t>e</a:t>
            </a:r>
            <a:r>
              <a:rPr dirty="0"/>
              <a:t>t=0</a:t>
            </a:r>
            <a:endParaRPr sz="6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04875" y="766698"/>
            <a:ext cx="11181080" cy="757555"/>
          </a:xfrm>
          <a:prstGeom prst="rect">
            <a:avLst/>
          </a:prstGeom>
        </p:spPr>
        <p:txBody>
          <a:bodyPr vert="horz" wrap="square" lIns="0" tIns="12700" rIns="0" bIns="0" rtlCol="0">
            <a:spAutoFit/>
          </a:bodyPr>
          <a:lstStyle/>
          <a:p>
            <a:pPr marL="12700" marR="5080">
              <a:lnSpc>
                <a:spcPct val="100000"/>
              </a:lnSpc>
              <a:spcBef>
                <a:spcPts val="100"/>
              </a:spcBef>
            </a:pPr>
            <a:r>
              <a:rPr sz="2400" b="1" spc="-5" dirty="0">
                <a:latin typeface="Calibri"/>
                <a:cs typeface="Calibri"/>
              </a:rPr>
              <a:t>Multiple </a:t>
            </a:r>
            <a:r>
              <a:rPr sz="2400" b="1" spc="-10" dirty="0">
                <a:latin typeface="Calibri"/>
                <a:cs typeface="Calibri"/>
              </a:rPr>
              <a:t>Forces: </a:t>
            </a:r>
            <a:r>
              <a:rPr sz="2400" dirty="0">
                <a:latin typeface="Calibri"/>
                <a:cs typeface="Calibri"/>
              </a:rPr>
              <a:t>If multiple </a:t>
            </a:r>
            <a:r>
              <a:rPr sz="2400" spc="-10" dirty="0">
                <a:latin typeface="Calibri"/>
                <a:cs typeface="Calibri"/>
              </a:rPr>
              <a:t>electrostatic </a:t>
            </a:r>
            <a:r>
              <a:rPr sz="2400" spc="-15" dirty="0">
                <a:latin typeface="Calibri"/>
                <a:cs typeface="Calibri"/>
              </a:rPr>
              <a:t>forces </a:t>
            </a:r>
            <a:r>
              <a:rPr sz="2400" dirty="0">
                <a:latin typeface="Calibri"/>
                <a:cs typeface="Calibri"/>
              </a:rPr>
              <a:t>act </a:t>
            </a:r>
            <a:r>
              <a:rPr sz="2400" spc="-5" dirty="0">
                <a:latin typeface="Calibri"/>
                <a:cs typeface="Calibri"/>
              </a:rPr>
              <a:t>on </a:t>
            </a:r>
            <a:r>
              <a:rPr sz="2400" dirty="0">
                <a:latin typeface="Calibri"/>
                <a:cs typeface="Calibri"/>
              </a:rPr>
              <a:t>a </a:t>
            </a:r>
            <a:r>
              <a:rPr sz="2400" spc="-5" dirty="0">
                <a:latin typeface="Calibri"/>
                <a:cs typeface="Calibri"/>
              </a:rPr>
              <a:t>particle, </a:t>
            </a:r>
            <a:r>
              <a:rPr sz="2400" dirty="0">
                <a:latin typeface="Calibri"/>
                <a:cs typeface="Calibri"/>
              </a:rPr>
              <a:t>the </a:t>
            </a:r>
            <a:r>
              <a:rPr sz="2400" spc="-5" dirty="0">
                <a:latin typeface="Calibri"/>
                <a:cs typeface="Calibri"/>
              </a:rPr>
              <a:t>net </a:t>
            </a:r>
            <a:r>
              <a:rPr sz="2400" spc="-20" dirty="0">
                <a:latin typeface="Calibri"/>
                <a:cs typeface="Calibri"/>
              </a:rPr>
              <a:t>force </a:t>
            </a:r>
            <a:r>
              <a:rPr sz="2400" dirty="0">
                <a:latin typeface="Calibri"/>
                <a:cs typeface="Calibri"/>
              </a:rPr>
              <a:t>is the </a:t>
            </a:r>
            <a:r>
              <a:rPr sz="2400" spc="-10" dirty="0">
                <a:latin typeface="Calibri"/>
                <a:cs typeface="Calibri"/>
              </a:rPr>
              <a:t>vector </a:t>
            </a:r>
            <a:r>
              <a:rPr sz="2400" spc="-530" dirty="0">
                <a:latin typeface="Calibri"/>
                <a:cs typeface="Calibri"/>
              </a:rPr>
              <a:t> </a:t>
            </a:r>
            <a:r>
              <a:rPr sz="2400" spc="-5" dirty="0">
                <a:latin typeface="Calibri"/>
                <a:cs typeface="Calibri"/>
              </a:rPr>
              <a:t>sum</a:t>
            </a:r>
            <a:r>
              <a:rPr sz="2400" spc="-25" dirty="0">
                <a:latin typeface="Calibri"/>
                <a:cs typeface="Calibri"/>
              </a:rPr>
              <a:t> </a:t>
            </a:r>
            <a:r>
              <a:rPr sz="2400" spc="-5" dirty="0">
                <a:latin typeface="Calibri"/>
                <a:cs typeface="Calibri"/>
              </a:rPr>
              <a:t>(not scalar</a:t>
            </a:r>
            <a:r>
              <a:rPr sz="2400" spc="-15" dirty="0">
                <a:latin typeface="Calibri"/>
                <a:cs typeface="Calibri"/>
              </a:rPr>
              <a:t> </a:t>
            </a:r>
            <a:r>
              <a:rPr sz="2400" spc="-5" dirty="0">
                <a:latin typeface="Calibri"/>
                <a:cs typeface="Calibri"/>
              </a:rPr>
              <a:t>sum)</a:t>
            </a:r>
            <a:r>
              <a:rPr sz="2400" spc="-15" dirty="0">
                <a:latin typeface="Calibri"/>
                <a:cs typeface="Calibri"/>
              </a:rPr>
              <a:t> </a:t>
            </a:r>
            <a:r>
              <a:rPr sz="2400" spc="-5" dirty="0">
                <a:latin typeface="Calibri"/>
                <a:cs typeface="Calibri"/>
              </a:rPr>
              <a:t>of</a:t>
            </a:r>
            <a:r>
              <a:rPr sz="2400" spc="-15" dirty="0">
                <a:latin typeface="Calibri"/>
                <a:cs typeface="Calibri"/>
              </a:rPr>
              <a:t> </a:t>
            </a:r>
            <a:r>
              <a:rPr sz="2400" dirty="0">
                <a:latin typeface="Calibri"/>
                <a:cs typeface="Calibri"/>
              </a:rPr>
              <a:t>the </a:t>
            </a:r>
            <a:r>
              <a:rPr sz="2400" spc="-5" dirty="0">
                <a:latin typeface="Calibri"/>
                <a:cs typeface="Calibri"/>
              </a:rPr>
              <a:t>individual</a:t>
            </a:r>
            <a:r>
              <a:rPr sz="2400" dirty="0">
                <a:latin typeface="Calibri"/>
                <a:cs typeface="Calibri"/>
              </a:rPr>
              <a:t> </a:t>
            </a:r>
            <a:r>
              <a:rPr sz="2400" spc="-15" dirty="0">
                <a:latin typeface="Calibri"/>
                <a:cs typeface="Calibri"/>
              </a:rPr>
              <a:t>forces.</a:t>
            </a:r>
            <a:endParaRPr sz="2400">
              <a:latin typeface="Calibri"/>
              <a:cs typeface="Calibri"/>
            </a:endParaRPr>
          </a:p>
        </p:txBody>
      </p:sp>
      <p:pic>
        <p:nvPicPr>
          <p:cNvPr id="3" name="object 3"/>
          <p:cNvPicPr/>
          <p:nvPr/>
        </p:nvPicPr>
        <p:blipFill>
          <a:blip r:embed="rId2" cstate="print"/>
          <a:stretch>
            <a:fillRect/>
          </a:stretch>
        </p:blipFill>
        <p:spPr>
          <a:xfrm>
            <a:off x="3005610" y="1612283"/>
            <a:ext cx="7184248" cy="509777"/>
          </a:xfrm>
          <a:prstGeom prst="rect">
            <a:avLst/>
          </a:prstGeom>
        </p:spPr>
      </p:pic>
      <p:sp>
        <p:nvSpPr>
          <p:cNvPr id="4" name="object 4"/>
          <p:cNvSpPr txBox="1">
            <a:spLocks noGrp="1"/>
          </p:cNvSpPr>
          <p:nvPr>
            <p:ph type="title"/>
          </p:nvPr>
        </p:nvSpPr>
        <p:spPr>
          <a:xfrm>
            <a:off x="806907" y="22682"/>
            <a:ext cx="2317115" cy="468630"/>
          </a:xfrm>
          <a:prstGeom prst="rect">
            <a:avLst/>
          </a:prstGeom>
        </p:spPr>
        <p:txBody>
          <a:bodyPr vert="horz" wrap="square" lIns="0" tIns="13335" rIns="0" bIns="0" rtlCol="0">
            <a:spAutoFit/>
          </a:bodyPr>
          <a:lstStyle/>
          <a:p>
            <a:pPr marL="12700">
              <a:lnSpc>
                <a:spcPct val="100000"/>
              </a:lnSpc>
              <a:spcBef>
                <a:spcPts val="105"/>
              </a:spcBef>
            </a:pPr>
            <a:r>
              <a:rPr spc="-25" dirty="0"/>
              <a:t>Coulomb’s</a:t>
            </a:r>
            <a:r>
              <a:rPr spc="-50" dirty="0"/>
              <a:t> </a:t>
            </a:r>
            <a:r>
              <a:rPr spc="-10" dirty="0"/>
              <a:t>Law</a:t>
            </a:r>
          </a:p>
        </p:txBody>
      </p:sp>
      <p:pic>
        <p:nvPicPr>
          <p:cNvPr id="5" name="object 5"/>
          <p:cNvPicPr/>
          <p:nvPr/>
        </p:nvPicPr>
        <p:blipFill>
          <a:blip r:embed="rId3" cstate="print"/>
          <a:stretch>
            <a:fillRect/>
          </a:stretch>
        </p:blipFill>
        <p:spPr>
          <a:xfrm>
            <a:off x="3907535" y="2453866"/>
            <a:ext cx="4310182" cy="1195977"/>
          </a:xfrm>
          <a:prstGeom prst="rect">
            <a:avLst/>
          </a:prstGeom>
        </p:spPr>
      </p:pic>
      <p:grpSp>
        <p:nvGrpSpPr>
          <p:cNvPr id="6" name="object 6"/>
          <p:cNvGrpSpPr/>
          <p:nvPr/>
        </p:nvGrpSpPr>
        <p:grpSpPr>
          <a:xfrm>
            <a:off x="3070098" y="4944625"/>
            <a:ext cx="1647825" cy="344805"/>
            <a:chOff x="3070098" y="4944625"/>
            <a:chExt cx="1647825" cy="344805"/>
          </a:xfrm>
        </p:grpSpPr>
        <p:pic>
          <p:nvPicPr>
            <p:cNvPr id="7" name="object 7"/>
            <p:cNvPicPr/>
            <p:nvPr/>
          </p:nvPicPr>
          <p:blipFill>
            <a:blip r:embed="rId4" cstate="print"/>
            <a:stretch>
              <a:fillRect/>
            </a:stretch>
          </p:blipFill>
          <p:spPr>
            <a:xfrm>
              <a:off x="4373084" y="4944625"/>
              <a:ext cx="344606" cy="344571"/>
            </a:xfrm>
            <a:prstGeom prst="rect">
              <a:avLst/>
            </a:prstGeom>
          </p:spPr>
        </p:pic>
        <p:sp>
          <p:nvSpPr>
            <p:cNvPr id="8" name="object 8"/>
            <p:cNvSpPr/>
            <p:nvPr/>
          </p:nvSpPr>
          <p:spPr>
            <a:xfrm>
              <a:off x="3070098" y="5043169"/>
              <a:ext cx="1264920" cy="114300"/>
            </a:xfrm>
            <a:custGeom>
              <a:avLst/>
              <a:gdLst/>
              <a:ahLst/>
              <a:cxnLst/>
              <a:rect l="l" t="t" r="r" b="b"/>
              <a:pathLst>
                <a:path w="1264920" h="114300">
                  <a:moveTo>
                    <a:pt x="114426" y="0"/>
                  </a:moveTo>
                  <a:lnTo>
                    <a:pt x="0" y="56895"/>
                  </a:lnTo>
                  <a:lnTo>
                    <a:pt x="114172" y="114299"/>
                  </a:lnTo>
                  <a:lnTo>
                    <a:pt x="114257" y="76241"/>
                  </a:lnTo>
                  <a:lnTo>
                    <a:pt x="95250" y="76199"/>
                  </a:lnTo>
                  <a:lnTo>
                    <a:pt x="95250" y="38099"/>
                  </a:lnTo>
                  <a:lnTo>
                    <a:pt x="114342" y="38099"/>
                  </a:lnTo>
                  <a:lnTo>
                    <a:pt x="114426" y="0"/>
                  </a:lnTo>
                  <a:close/>
                </a:path>
                <a:path w="1264920" h="114300">
                  <a:moveTo>
                    <a:pt x="114342" y="38141"/>
                  </a:moveTo>
                  <a:lnTo>
                    <a:pt x="114257" y="76241"/>
                  </a:lnTo>
                  <a:lnTo>
                    <a:pt x="1264412" y="78739"/>
                  </a:lnTo>
                  <a:lnTo>
                    <a:pt x="1264412" y="40639"/>
                  </a:lnTo>
                  <a:lnTo>
                    <a:pt x="114342" y="38141"/>
                  </a:lnTo>
                  <a:close/>
                </a:path>
                <a:path w="1264920" h="114300">
                  <a:moveTo>
                    <a:pt x="95250" y="38099"/>
                  </a:moveTo>
                  <a:lnTo>
                    <a:pt x="95250" y="76199"/>
                  </a:lnTo>
                  <a:lnTo>
                    <a:pt x="114257" y="76241"/>
                  </a:lnTo>
                  <a:lnTo>
                    <a:pt x="114342" y="38141"/>
                  </a:lnTo>
                  <a:lnTo>
                    <a:pt x="95250" y="38099"/>
                  </a:lnTo>
                  <a:close/>
                </a:path>
                <a:path w="1264920" h="114300">
                  <a:moveTo>
                    <a:pt x="114342" y="38099"/>
                  </a:moveTo>
                  <a:lnTo>
                    <a:pt x="95250" y="38099"/>
                  </a:lnTo>
                  <a:lnTo>
                    <a:pt x="114342" y="38141"/>
                  </a:lnTo>
                  <a:close/>
                </a:path>
              </a:pathLst>
            </a:custGeom>
            <a:solidFill>
              <a:srgbClr val="000000"/>
            </a:solidFill>
          </p:spPr>
          <p:txBody>
            <a:bodyPr wrap="square" lIns="0" tIns="0" rIns="0" bIns="0" rtlCol="0"/>
            <a:lstStyle/>
            <a:p>
              <a:endParaRPr/>
            </a:p>
          </p:txBody>
        </p:sp>
      </p:grpSp>
      <p:grpSp>
        <p:nvGrpSpPr>
          <p:cNvPr id="9" name="object 9"/>
          <p:cNvGrpSpPr/>
          <p:nvPr/>
        </p:nvGrpSpPr>
        <p:grpSpPr>
          <a:xfrm>
            <a:off x="8497161" y="4944625"/>
            <a:ext cx="1688464" cy="344805"/>
            <a:chOff x="8497161" y="4944625"/>
            <a:chExt cx="1688464" cy="344805"/>
          </a:xfrm>
        </p:grpSpPr>
        <p:pic>
          <p:nvPicPr>
            <p:cNvPr id="10" name="object 10"/>
            <p:cNvPicPr/>
            <p:nvPr/>
          </p:nvPicPr>
          <p:blipFill>
            <a:blip r:embed="rId4" cstate="print"/>
            <a:stretch>
              <a:fillRect/>
            </a:stretch>
          </p:blipFill>
          <p:spPr>
            <a:xfrm>
              <a:off x="8497161" y="4944625"/>
              <a:ext cx="345782" cy="344571"/>
            </a:xfrm>
            <a:prstGeom prst="rect">
              <a:avLst/>
            </a:prstGeom>
          </p:spPr>
        </p:pic>
        <p:sp>
          <p:nvSpPr>
            <p:cNvPr id="11" name="object 11"/>
            <p:cNvSpPr/>
            <p:nvPr/>
          </p:nvSpPr>
          <p:spPr>
            <a:xfrm>
              <a:off x="8882633" y="5045455"/>
              <a:ext cx="1303020" cy="114300"/>
            </a:xfrm>
            <a:custGeom>
              <a:avLst/>
              <a:gdLst/>
              <a:ahLst/>
              <a:cxnLst/>
              <a:rect l="l" t="t" r="r" b="b"/>
              <a:pathLst>
                <a:path w="1303020" h="114300">
                  <a:moveTo>
                    <a:pt x="1188296" y="76284"/>
                  </a:moveTo>
                  <a:lnTo>
                    <a:pt x="1188212" y="114300"/>
                  </a:lnTo>
                  <a:lnTo>
                    <a:pt x="1264581" y="76327"/>
                  </a:lnTo>
                  <a:lnTo>
                    <a:pt x="1207389" y="76327"/>
                  </a:lnTo>
                  <a:lnTo>
                    <a:pt x="1188296" y="76284"/>
                  </a:lnTo>
                  <a:close/>
                </a:path>
                <a:path w="1303020" h="114300">
                  <a:moveTo>
                    <a:pt x="1188381" y="38185"/>
                  </a:moveTo>
                  <a:lnTo>
                    <a:pt x="1188296" y="76284"/>
                  </a:lnTo>
                  <a:lnTo>
                    <a:pt x="1207389" y="76327"/>
                  </a:lnTo>
                  <a:lnTo>
                    <a:pt x="1207389" y="38227"/>
                  </a:lnTo>
                  <a:lnTo>
                    <a:pt x="1188381" y="38185"/>
                  </a:lnTo>
                  <a:close/>
                </a:path>
                <a:path w="1303020" h="114300">
                  <a:moveTo>
                    <a:pt x="1188466" y="0"/>
                  </a:moveTo>
                  <a:lnTo>
                    <a:pt x="1188381" y="38185"/>
                  </a:lnTo>
                  <a:lnTo>
                    <a:pt x="1207389" y="38227"/>
                  </a:lnTo>
                  <a:lnTo>
                    <a:pt x="1207389" y="76327"/>
                  </a:lnTo>
                  <a:lnTo>
                    <a:pt x="1264581" y="76327"/>
                  </a:lnTo>
                  <a:lnTo>
                    <a:pt x="1302639" y="57404"/>
                  </a:lnTo>
                  <a:lnTo>
                    <a:pt x="1188466" y="0"/>
                  </a:lnTo>
                  <a:close/>
                </a:path>
                <a:path w="1303020" h="114300">
                  <a:moveTo>
                    <a:pt x="0" y="35560"/>
                  </a:moveTo>
                  <a:lnTo>
                    <a:pt x="0" y="73660"/>
                  </a:lnTo>
                  <a:lnTo>
                    <a:pt x="1188296" y="76284"/>
                  </a:lnTo>
                  <a:lnTo>
                    <a:pt x="1188381" y="38185"/>
                  </a:lnTo>
                  <a:lnTo>
                    <a:pt x="0" y="35560"/>
                  </a:lnTo>
                  <a:close/>
                </a:path>
              </a:pathLst>
            </a:custGeom>
            <a:solidFill>
              <a:srgbClr val="000000"/>
            </a:solidFill>
          </p:spPr>
          <p:txBody>
            <a:bodyPr wrap="square" lIns="0" tIns="0" rIns="0" bIns="0" rtlCol="0"/>
            <a:lstStyle/>
            <a:p>
              <a:endParaRPr/>
            </a:p>
          </p:txBody>
        </p:sp>
      </p:grpSp>
      <p:sp>
        <p:nvSpPr>
          <p:cNvPr id="12" name="object 12"/>
          <p:cNvSpPr txBox="1"/>
          <p:nvPr/>
        </p:nvSpPr>
        <p:spPr>
          <a:xfrm>
            <a:off x="4461128" y="5364581"/>
            <a:ext cx="49657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q1</a:t>
            </a:r>
            <a:r>
              <a:rPr sz="1800" spc="5" dirty="0">
                <a:latin typeface="Calibri"/>
                <a:cs typeface="Calibri"/>
              </a:rPr>
              <a:t>=</a:t>
            </a:r>
            <a:r>
              <a:rPr sz="1800" dirty="0">
                <a:latin typeface="Calibri"/>
                <a:cs typeface="Calibri"/>
              </a:rPr>
              <a:t>q</a:t>
            </a:r>
            <a:endParaRPr sz="1800">
              <a:latin typeface="Calibri"/>
              <a:cs typeface="Calibri"/>
            </a:endParaRPr>
          </a:p>
        </p:txBody>
      </p:sp>
      <p:sp>
        <p:nvSpPr>
          <p:cNvPr id="13" name="object 13"/>
          <p:cNvSpPr txBox="1"/>
          <p:nvPr/>
        </p:nvSpPr>
        <p:spPr>
          <a:xfrm>
            <a:off x="8538464" y="5345429"/>
            <a:ext cx="495934"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q2</a:t>
            </a:r>
            <a:r>
              <a:rPr sz="1800" dirty="0">
                <a:latin typeface="Calibri"/>
                <a:cs typeface="Calibri"/>
              </a:rPr>
              <a:t>=q</a:t>
            </a:r>
            <a:endParaRPr sz="1800">
              <a:latin typeface="Calibri"/>
              <a:cs typeface="Calibri"/>
            </a:endParaRPr>
          </a:p>
        </p:txBody>
      </p:sp>
      <p:sp>
        <p:nvSpPr>
          <p:cNvPr id="14" name="object 14"/>
          <p:cNvSpPr txBox="1"/>
          <p:nvPr/>
        </p:nvSpPr>
        <p:spPr>
          <a:xfrm>
            <a:off x="3393185" y="4769942"/>
            <a:ext cx="247015" cy="300355"/>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F1</a:t>
            </a:r>
            <a:endParaRPr sz="1800">
              <a:latin typeface="Calibri"/>
              <a:cs typeface="Calibri"/>
            </a:endParaRPr>
          </a:p>
        </p:txBody>
      </p:sp>
      <p:sp>
        <p:nvSpPr>
          <p:cNvPr id="15" name="object 15"/>
          <p:cNvSpPr txBox="1"/>
          <p:nvPr/>
        </p:nvSpPr>
        <p:spPr>
          <a:xfrm>
            <a:off x="9409938" y="4769942"/>
            <a:ext cx="247015" cy="300355"/>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F2</a:t>
            </a:r>
            <a:endParaRPr sz="1800">
              <a:latin typeface="Calibri"/>
              <a:cs typeface="Calibri"/>
            </a:endParaRPr>
          </a:p>
        </p:txBody>
      </p:sp>
      <p:sp>
        <p:nvSpPr>
          <p:cNvPr id="16" name="object 16"/>
          <p:cNvSpPr/>
          <p:nvPr/>
        </p:nvSpPr>
        <p:spPr>
          <a:xfrm>
            <a:off x="4780788" y="5102352"/>
            <a:ext cx="3677285" cy="0"/>
          </a:xfrm>
          <a:custGeom>
            <a:avLst/>
            <a:gdLst/>
            <a:ahLst/>
            <a:cxnLst/>
            <a:rect l="l" t="t" r="r" b="b"/>
            <a:pathLst>
              <a:path w="3677284">
                <a:moveTo>
                  <a:pt x="0" y="0"/>
                </a:moveTo>
                <a:lnTo>
                  <a:pt x="3677158" y="0"/>
                </a:lnTo>
              </a:path>
            </a:pathLst>
          </a:custGeom>
          <a:ln w="9144">
            <a:solidFill>
              <a:srgbClr val="000000"/>
            </a:solidFill>
            <a:prstDash val="sysDash"/>
          </a:ln>
        </p:spPr>
        <p:txBody>
          <a:bodyPr wrap="square" lIns="0" tIns="0" rIns="0" bIns="0" rtlCol="0"/>
          <a:lstStyle/>
          <a:p>
            <a:endParaRPr/>
          </a:p>
        </p:txBody>
      </p:sp>
      <p:sp>
        <p:nvSpPr>
          <p:cNvPr id="17" name="object 17"/>
          <p:cNvSpPr txBox="1"/>
          <p:nvPr/>
        </p:nvSpPr>
        <p:spPr>
          <a:xfrm>
            <a:off x="5731890" y="3903040"/>
            <a:ext cx="1259205" cy="635000"/>
          </a:xfrm>
          <a:prstGeom prst="rect">
            <a:avLst/>
          </a:prstGeom>
        </p:spPr>
        <p:txBody>
          <a:bodyPr vert="horz" wrap="square" lIns="0" tIns="12065" rIns="0" bIns="0" rtlCol="0">
            <a:spAutoFit/>
          </a:bodyPr>
          <a:lstStyle/>
          <a:p>
            <a:pPr marL="12700">
              <a:lnSpc>
                <a:spcPct val="100000"/>
              </a:lnSpc>
              <a:spcBef>
                <a:spcPts val="95"/>
              </a:spcBef>
            </a:pPr>
            <a:r>
              <a:rPr sz="4000" spc="-10" dirty="0">
                <a:latin typeface="Calibri"/>
                <a:cs typeface="Calibri"/>
              </a:rPr>
              <a:t>F1=F2</a:t>
            </a:r>
            <a:endParaRPr sz="4000">
              <a:latin typeface="Calibri"/>
              <a:cs typeface="Calibri"/>
            </a:endParaRPr>
          </a:p>
        </p:txBody>
      </p:sp>
      <p:sp>
        <p:nvSpPr>
          <p:cNvPr id="18" name="object 18"/>
          <p:cNvSpPr txBox="1"/>
          <p:nvPr/>
        </p:nvSpPr>
        <p:spPr>
          <a:xfrm>
            <a:off x="209499" y="4121125"/>
            <a:ext cx="2633980" cy="652145"/>
          </a:xfrm>
          <a:prstGeom prst="rect">
            <a:avLst/>
          </a:prstGeom>
        </p:spPr>
        <p:txBody>
          <a:bodyPr vert="horz" wrap="square" lIns="0" tIns="51435" rIns="0" bIns="0" rtlCol="0">
            <a:spAutoFit/>
          </a:bodyPr>
          <a:lstStyle/>
          <a:p>
            <a:pPr marL="12700">
              <a:lnSpc>
                <a:spcPct val="100000"/>
              </a:lnSpc>
              <a:spcBef>
                <a:spcPts val="405"/>
              </a:spcBef>
            </a:pPr>
            <a:r>
              <a:rPr sz="1800" spc="-5" dirty="0">
                <a:solidFill>
                  <a:srgbClr val="FF0000"/>
                </a:solidFill>
                <a:latin typeface="Calibri"/>
                <a:cs typeface="Calibri"/>
              </a:rPr>
              <a:t>Find</a:t>
            </a:r>
            <a:r>
              <a:rPr sz="1800" dirty="0">
                <a:solidFill>
                  <a:srgbClr val="FF0000"/>
                </a:solidFill>
                <a:latin typeface="Calibri"/>
                <a:cs typeface="Calibri"/>
              </a:rPr>
              <a:t> </a:t>
            </a:r>
            <a:r>
              <a:rPr sz="1800" spc="-20" dirty="0">
                <a:solidFill>
                  <a:srgbClr val="FF0000"/>
                </a:solidFill>
                <a:latin typeface="Calibri"/>
                <a:cs typeface="Calibri"/>
              </a:rPr>
              <a:t>force</a:t>
            </a:r>
            <a:r>
              <a:rPr sz="1800" spc="-10" dirty="0">
                <a:solidFill>
                  <a:srgbClr val="FF0000"/>
                </a:solidFill>
                <a:latin typeface="Calibri"/>
                <a:cs typeface="Calibri"/>
              </a:rPr>
              <a:t> </a:t>
            </a:r>
            <a:r>
              <a:rPr sz="1800" dirty="0">
                <a:solidFill>
                  <a:srgbClr val="FF0000"/>
                </a:solidFill>
                <a:latin typeface="Calibri"/>
                <a:cs typeface="Calibri"/>
              </a:rPr>
              <a:t>F</a:t>
            </a:r>
            <a:r>
              <a:rPr sz="1800" spc="10" dirty="0">
                <a:solidFill>
                  <a:srgbClr val="FF0000"/>
                </a:solidFill>
                <a:latin typeface="Calibri"/>
                <a:cs typeface="Calibri"/>
              </a:rPr>
              <a:t> </a:t>
            </a:r>
            <a:r>
              <a:rPr sz="1800" spc="-5" dirty="0">
                <a:solidFill>
                  <a:srgbClr val="FF0000"/>
                </a:solidFill>
                <a:latin typeface="Calibri"/>
                <a:cs typeface="Calibri"/>
              </a:rPr>
              <a:t>on</a:t>
            </a:r>
            <a:r>
              <a:rPr sz="1800" spc="-15" dirty="0">
                <a:solidFill>
                  <a:srgbClr val="FF0000"/>
                </a:solidFill>
                <a:latin typeface="Calibri"/>
                <a:cs typeface="Calibri"/>
              </a:rPr>
              <a:t> </a:t>
            </a:r>
            <a:r>
              <a:rPr sz="1800" dirty="0">
                <a:solidFill>
                  <a:srgbClr val="FF0000"/>
                </a:solidFill>
                <a:latin typeface="Calibri"/>
                <a:cs typeface="Calibri"/>
              </a:rPr>
              <a:t>q2</a:t>
            </a:r>
            <a:r>
              <a:rPr sz="1800" spc="5" dirty="0">
                <a:solidFill>
                  <a:srgbClr val="FF0000"/>
                </a:solidFill>
                <a:latin typeface="Calibri"/>
                <a:cs typeface="Calibri"/>
              </a:rPr>
              <a:t> </a:t>
            </a:r>
            <a:r>
              <a:rPr sz="1800" spc="-5" dirty="0">
                <a:solidFill>
                  <a:srgbClr val="FF0000"/>
                </a:solidFill>
                <a:latin typeface="Calibri"/>
                <a:cs typeface="Calibri"/>
              </a:rPr>
              <a:t>due</a:t>
            </a:r>
            <a:r>
              <a:rPr sz="1800" spc="5" dirty="0">
                <a:solidFill>
                  <a:srgbClr val="FF0000"/>
                </a:solidFill>
                <a:latin typeface="Calibri"/>
                <a:cs typeface="Calibri"/>
              </a:rPr>
              <a:t> </a:t>
            </a:r>
            <a:r>
              <a:rPr sz="1800" spc="-10" dirty="0">
                <a:solidFill>
                  <a:srgbClr val="FF0000"/>
                </a:solidFill>
                <a:latin typeface="Calibri"/>
                <a:cs typeface="Calibri"/>
              </a:rPr>
              <a:t>to </a:t>
            </a:r>
            <a:r>
              <a:rPr sz="1800" spc="-5" dirty="0">
                <a:solidFill>
                  <a:srgbClr val="FF0000"/>
                </a:solidFill>
                <a:latin typeface="Calibri"/>
                <a:cs typeface="Calibri"/>
              </a:rPr>
              <a:t>q1</a:t>
            </a:r>
            <a:endParaRPr sz="1800">
              <a:latin typeface="Calibri"/>
              <a:cs typeface="Calibri"/>
            </a:endParaRPr>
          </a:p>
          <a:p>
            <a:pPr marL="12700">
              <a:lnSpc>
                <a:spcPct val="100000"/>
              </a:lnSpc>
              <a:spcBef>
                <a:spcPts val="305"/>
              </a:spcBef>
            </a:pPr>
            <a:r>
              <a:rPr sz="1800" spc="-5" dirty="0">
                <a:solidFill>
                  <a:srgbClr val="FF0000"/>
                </a:solidFill>
                <a:latin typeface="Calibri"/>
                <a:cs typeface="Calibri"/>
              </a:rPr>
              <a:t>Find</a:t>
            </a:r>
            <a:r>
              <a:rPr sz="1800" dirty="0">
                <a:solidFill>
                  <a:srgbClr val="FF0000"/>
                </a:solidFill>
                <a:latin typeface="Calibri"/>
                <a:cs typeface="Calibri"/>
              </a:rPr>
              <a:t> </a:t>
            </a:r>
            <a:r>
              <a:rPr sz="1800" spc="-20" dirty="0">
                <a:solidFill>
                  <a:srgbClr val="FF0000"/>
                </a:solidFill>
                <a:latin typeface="Calibri"/>
                <a:cs typeface="Calibri"/>
              </a:rPr>
              <a:t>force</a:t>
            </a:r>
            <a:r>
              <a:rPr sz="1800" spc="-5" dirty="0">
                <a:solidFill>
                  <a:srgbClr val="FF0000"/>
                </a:solidFill>
                <a:latin typeface="Calibri"/>
                <a:cs typeface="Calibri"/>
              </a:rPr>
              <a:t> </a:t>
            </a:r>
            <a:r>
              <a:rPr sz="1800" dirty="0">
                <a:solidFill>
                  <a:srgbClr val="FF0000"/>
                </a:solidFill>
                <a:latin typeface="Calibri"/>
                <a:cs typeface="Calibri"/>
              </a:rPr>
              <a:t>F</a:t>
            </a:r>
            <a:r>
              <a:rPr sz="1800" spc="5" dirty="0">
                <a:solidFill>
                  <a:srgbClr val="FF0000"/>
                </a:solidFill>
                <a:latin typeface="Calibri"/>
                <a:cs typeface="Calibri"/>
              </a:rPr>
              <a:t> </a:t>
            </a:r>
            <a:r>
              <a:rPr sz="1800" spc="-5" dirty="0">
                <a:solidFill>
                  <a:srgbClr val="FF0000"/>
                </a:solidFill>
                <a:latin typeface="Calibri"/>
                <a:cs typeface="Calibri"/>
              </a:rPr>
              <a:t>on</a:t>
            </a:r>
            <a:r>
              <a:rPr sz="1800" dirty="0">
                <a:solidFill>
                  <a:srgbClr val="FF0000"/>
                </a:solidFill>
                <a:latin typeface="Calibri"/>
                <a:cs typeface="Calibri"/>
              </a:rPr>
              <a:t> </a:t>
            </a:r>
            <a:r>
              <a:rPr sz="1800" spc="-5" dirty="0">
                <a:solidFill>
                  <a:srgbClr val="FF0000"/>
                </a:solidFill>
                <a:latin typeface="Calibri"/>
                <a:cs typeface="Calibri"/>
              </a:rPr>
              <a:t>q1</a:t>
            </a:r>
            <a:r>
              <a:rPr sz="1800" spc="5" dirty="0">
                <a:solidFill>
                  <a:srgbClr val="FF0000"/>
                </a:solidFill>
                <a:latin typeface="Calibri"/>
                <a:cs typeface="Calibri"/>
              </a:rPr>
              <a:t> </a:t>
            </a:r>
            <a:r>
              <a:rPr sz="1800" spc="-5" dirty="0">
                <a:solidFill>
                  <a:srgbClr val="FF0000"/>
                </a:solidFill>
                <a:latin typeface="Calibri"/>
                <a:cs typeface="Calibri"/>
              </a:rPr>
              <a:t>due</a:t>
            </a:r>
            <a:r>
              <a:rPr sz="1800" spc="5" dirty="0">
                <a:solidFill>
                  <a:srgbClr val="FF0000"/>
                </a:solidFill>
                <a:latin typeface="Calibri"/>
                <a:cs typeface="Calibri"/>
              </a:rPr>
              <a:t> </a:t>
            </a:r>
            <a:r>
              <a:rPr sz="1800" spc="-10" dirty="0">
                <a:solidFill>
                  <a:srgbClr val="FF0000"/>
                </a:solidFill>
                <a:latin typeface="Calibri"/>
                <a:cs typeface="Calibri"/>
              </a:rPr>
              <a:t>to</a:t>
            </a:r>
            <a:r>
              <a:rPr sz="1800" spc="-5" dirty="0">
                <a:solidFill>
                  <a:srgbClr val="FF0000"/>
                </a:solidFill>
                <a:latin typeface="Calibri"/>
                <a:cs typeface="Calibri"/>
              </a:rPr>
              <a:t> </a:t>
            </a:r>
            <a:r>
              <a:rPr sz="1800" dirty="0">
                <a:solidFill>
                  <a:srgbClr val="FF0000"/>
                </a:solidFill>
                <a:latin typeface="Calibri"/>
                <a:cs typeface="Calibri"/>
              </a:rPr>
              <a:t>q2</a:t>
            </a:r>
            <a:endParaRPr sz="180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95188" y="1508286"/>
            <a:ext cx="344606" cy="345622"/>
          </a:xfrm>
          <a:prstGeom prst="rect">
            <a:avLst/>
          </a:prstGeom>
        </p:spPr>
      </p:pic>
      <p:grpSp>
        <p:nvGrpSpPr>
          <p:cNvPr id="3" name="object 3"/>
          <p:cNvGrpSpPr/>
          <p:nvPr/>
        </p:nvGrpSpPr>
        <p:grpSpPr>
          <a:xfrm>
            <a:off x="1802892" y="1508286"/>
            <a:ext cx="5404485" cy="346075"/>
            <a:chOff x="1802892" y="1508286"/>
            <a:chExt cx="5404485" cy="346075"/>
          </a:xfrm>
        </p:grpSpPr>
        <p:pic>
          <p:nvPicPr>
            <p:cNvPr id="4" name="object 4"/>
            <p:cNvPicPr/>
            <p:nvPr/>
          </p:nvPicPr>
          <p:blipFill>
            <a:blip r:embed="rId2" cstate="print"/>
            <a:stretch>
              <a:fillRect/>
            </a:stretch>
          </p:blipFill>
          <p:spPr>
            <a:xfrm>
              <a:off x="5519265" y="1508286"/>
              <a:ext cx="345782" cy="345622"/>
            </a:xfrm>
            <a:prstGeom prst="rect">
              <a:avLst/>
            </a:prstGeom>
          </p:spPr>
        </p:pic>
        <p:sp>
          <p:nvSpPr>
            <p:cNvPr id="5" name="object 5"/>
            <p:cNvSpPr/>
            <p:nvPr/>
          </p:nvSpPr>
          <p:spPr>
            <a:xfrm>
              <a:off x="5904738" y="1610360"/>
              <a:ext cx="1303020" cy="114300"/>
            </a:xfrm>
            <a:custGeom>
              <a:avLst/>
              <a:gdLst/>
              <a:ahLst/>
              <a:cxnLst/>
              <a:rect l="l" t="t" r="r" b="b"/>
              <a:pathLst>
                <a:path w="1303020" h="114300">
                  <a:moveTo>
                    <a:pt x="1188296" y="76284"/>
                  </a:moveTo>
                  <a:lnTo>
                    <a:pt x="1188212" y="114300"/>
                  </a:lnTo>
                  <a:lnTo>
                    <a:pt x="1264581" y="76326"/>
                  </a:lnTo>
                  <a:lnTo>
                    <a:pt x="1207389" y="76326"/>
                  </a:lnTo>
                  <a:lnTo>
                    <a:pt x="1188296" y="76284"/>
                  </a:lnTo>
                  <a:close/>
                </a:path>
                <a:path w="1303020" h="114300">
                  <a:moveTo>
                    <a:pt x="1188381" y="38185"/>
                  </a:moveTo>
                  <a:lnTo>
                    <a:pt x="1188296" y="76284"/>
                  </a:lnTo>
                  <a:lnTo>
                    <a:pt x="1207389" y="76326"/>
                  </a:lnTo>
                  <a:lnTo>
                    <a:pt x="1207389" y="38226"/>
                  </a:lnTo>
                  <a:lnTo>
                    <a:pt x="1188381" y="38185"/>
                  </a:lnTo>
                  <a:close/>
                </a:path>
                <a:path w="1303020" h="114300">
                  <a:moveTo>
                    <a:pt x="1188465" y="0"/>
                  </a:moveTo>
                  <a:lnTo>
                    <a:pt x="1188381" y="38185"/>
                  </a:lnTo>
                  <a:lnTo>
                    <a:pt x="1207389" y="38226"/>
                  </a:lnTo>
                  <a:lnTo>
                    <a:pt x="1207389" y="76326"/>
                  </a:lnTo>
                  <a:lnTo>
                    <a:pt x="1264581" y="76326"/>
                  </a:lnTo>
                  <a:lnTo>
                    <a:pt x="1302639" y="57403"/>
                  </a:lnTo>
                  <a:lnTo>
                    <a:pt x="1188465" y="0"/>
                  </a:lnTo>
                  <a:close/>
                </a:path>
                <a:path w="1303020" h="114300">
                  <a:moveTo>
                    <a:pt x="0" y="35560"/>
                  </a:moveTo>
                  <a:lnTo>
                    <a:pt x="0" y="73660"/>
                  </a:lnTo>
                  <a:lnTo>
                    <a:pt x="1188296" y="76284"/>
                  </a:lnTo>
                  <a:lnTo>
                    <a:pt x="1188381" y="38185"/>
                  </a:lnTo>
                  <a:lnTo>
                    <a:pt x="0" y="35560"/>
                  </a:lnTo>
                  <a:close/>
                </a:path>
              </a:pathLst>
            </a:custGeom>
            <a:solidFill>
              <a:srgbClr val="000000"/>
            </a:solidFill>
          </p:spPr>
          <p:txBody>
            <a:bodyPr wrap="square" lIns="0" tIns="0" rIns="0" bIns="0" rtlCol="0"/>
            <a:lstStyle/>
            <a:p>
              <a:endParaRPr/>
            </a:p>
          </p:txBody>
        </p:sp>
        <p:sp>
          <p:nvSpPr>
            <p:cNvPr id="6" name="object 6"/>
            <p:cNvSpPr/>
            <p:nvPr/>
          </p:nvSpPr>
          <p:spPr>
            <a:xfrm>
              <a:off x="1802892" y="1667255"/>
              <a:ext cx="3677285" cy="0"/>
            </a:xfrm>
            <a:custGeom>
              <a:avLst/>
              <a:gdLst/>
              <a:ahLst/>
              <a:cxnLst/>
              <a:rect l="l" t="t" r="r" b="b"/>
              <a:pathLst>
                <a:path w="3677285">
                  <a:moveTo>
                    <a:pt x="0" y="0"/>
                  </a:moveTo>
                  <a:lnTo>
                    <a:pt x="3677157" y="0"/>
                  </a:lnTo>
                </a:path>
              </a:pathLst>
            </a:custGeom>
            <a:ln w="9144">
              <a:solidFill>
                <a:srgbClr val="000000"/>
              </a:solidFill>
              <a:prstDash val="sysDash"/>
            </a:ln>
          </p:spPr>
          <p:txBody>
            <a:bodyPr wrap="square" lIns="0" tIns="0" rIns="0" bIns="0" rtlCol="0"/>
            <a:lstStyle/>
            <a:p>
              <a:endParaRPr/>
            </a:p>
          </p:txBody>
        </p:sp>
      </p:grpSp>
      <p:sp>
        <p:nvSpPr>
          <p:cNvPr id="7" name="object 7"/>
          <p:cNvSpPr txBox="1"/>
          <p:nvPr/>
        </p:nvSpPr>
        <p:spPr>
          <a:xfrm>
            <a:off x="1482597" y="1927682"/>
            <a:ext cx="495934" cy="300355"/>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q1=q</a:t>
            </a:r>
            <a:endParaRPr sz="1800">
              <a:latin typeface="Calibri"/>
              <a:cs typeface="Calibri"/>
            </a:endParaRPr>
          </a:p>
        </p:txBody>
      </p:sp>
      <p:sp>
        <p:nvSpPr>
          <p:cNvPr id="8" name="object 8"/>
          <p:cNvSpPr txBox="1"/>
          <p:nvPr/>
        </p:nvSpPr>
        <p:spPr>
          <a:xfrm>
            <a:off x="5559678" y="1909064"/>
            <a:ext cx="495934"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q2</a:t>
            </a:r>
            <a:r>
              <a:rPr sz="1800" dirty="0">
                <a:latin typeface="Calibri"/>
                <a:cs typeface="Calibri"/>
              </a:rPr>
              <a:t>=q</a:t>
            </a:r>
            <a:endParaRPr sz="1800">
              <a:latin typeface="Calibri"/>
              <a:cs typeface="Calibri"/>
            </a:endParaRPr>
          </a:p>
        </p:txBody>
      </p:sp>
      <p:sp>
        <p:nvSpPr>
          <p:cNvPr id="9" name="object 9"/>
          <p:cNvSpPr/>
          <p:nvPr/>
        </p:nvSpPr>
        <p:spPr>
          <a:xfrm>
            <a:off x="131826" y="1608074"/>
            <a:ext cx="1225550" cy="114300"/>
          </a:xfrm>
          <a:custGeom>
            <a:avLst/>
            <a:gdLst/>
            <a:ahLst/>
            <a:cxnLst/>
            <a:rect l="l" t="t" r="r" b="b"/>
            <a:pathLst>
              <a:path w="1225550" h="114300">
                <a:moveTo>
                  <a:pt x="114427" y="0"/>
                </a:moveTo>
                <a:lnTo>
                  <a:pt x="0" y="56896"/>
                </a:lnTo>
                <a:lnTo>
                  <a:pt x="114173" y="114300"/>
                </a:lnTo>
                <a:lnTo>
                  <a:pt x="114257" y="76242"/>
                </a:lnTo>
                <a:lnTo>
                  <a:pt x="95199" y="76200"/>
                </a:lnTo>
                <a:lnTo>
                  <a:pt x="95288" y="38100"/>
                </a:lnTo>
                <a:lnTo>
                  <a:pt x="114342" y="38100"/>
                </a:lnTo>
                <a:lnTo>
                  <a:pt x="114427" y="0"/>
                </a:lnTo>
                <a:close/>
              </a:path>
              <a:path w="1225550" h="114300">
                <a:moveTo>
                  <a:pt x="114342" y="38142"/>
                </a:moveTo>
                <a:lnTo>
                  <a:pt x="114257" y="76242"/>
                </a:lnTo>
                <a:lnTo>
                  <a:pt x="1225169" y="78739"/>
                </a:lnTo>
                <a:lnTo>
                  <a:pt x="1225296" y="40639"/>
                </a:lnTo>
                <a:lnTo>
                  <a:pt x="114342" y="38142"/>
                </a:lnTo>
                <a:close/>
              </a:path>
              <a:path w="1225550" h="114300">
                <a:moveTo>
                  <a:pt x="95288" y="38100"/>
                </a:moveTo>
                <a:lnTo>
                  <a:pt x="95199" y="76200"/>
                </a:lnTo>
                <a:lnTo>
                  <a:pt x="114257" y="76242"/>
                </a:lnTo>
                <a:lnTo>
                  <a:pt x="114342" y="38142"/>
                </a:lnTo>
                <a:lnTo>
                  <a:pt x="95288" y="38100"/>
                </a:lnTo>
                <a:close/>
              </a:path>
              <a:path w="1225550" h="114300">
                <a:moveTo>
                  <a:pt x="114342" y="38100"/>
                </a:moveTo>
                <a:lnTo>
                  <a:pt x="95288" y="38100"/>
                </a:lnTo>
                <a:lnTo>
                  <a:pt x="114342" y="38142"/>
                </a:lnTo>
                <a:close/>
              </a:path>
            </a:pathLst>
          </a:custGeom>
          <a:solidFill>
            <a:srgbClr val="000000"/>
          </a:solidFill>
        </p:spPr>
        <p:txBody>
          <a:bodyPr wrap="square" lIns="0" tIns="0" rIns="0" bIns="0" rtlCol="0"/>
          <a:lstStyle/>
          <a:p>
            <a:endParaRPr/>
          </a:p>
        </p:txBody>
      </p:sp>
      <p:sp>
        <p:nvSpPr>
          <p:cNvPr id="10" name="object 10"/>
          <p:cNvSpPr txBox="1"/>
          <p:nvPr/>
        </p:nvSpPr>
        <p:spPr>
          <a:xfrm>
            <a:off x="209499" y="98171"/>
            <a:ext cx="2859405" cy="779145"/>
          </a:xfrm>
          <a:prstGeom prst="rect">
            <a:avLst/>
          </a:prstGeom>
        </p:spPr>
        <p:txBody>
          <a:bodyPr vert="horz" wrap="square" lIns="0" tIns="114935" rIns="0" bIns="0" rtlCol="0">
            <a:spAutoFit/>
          </a:bodyPr>
          <a:lstStyle/>
          <a:p>
            <a:pPr marL="238125" indent="-226060">
              <a:lnSpc>
                <a:spcPct val="100000"/>
              </a:lnSpc>
              <a:spcBef>
                <a:spcPts val="905"/>
              </a:spcBef>
              <a:buAutoNum type="arabicPeriod"/>
              <a:tabLst>
                <a:tab pos="238760" algn="l"/>
              </a:tabLst>
            </a:pPr>
            <a:r>
              <a:rPr sz="1800" spc="-5" dirty="0">
                <a:solidFill>
                  <a:srgbClr val="FF0000"/>
                </a:solidFill>
                <a:latin typeface="Calibri"/>
                <a:cs typeface="Calibri"/>
              </a:rPr>
              <a:t>Find </a:t>
            </a:r>
            <a:r>
              <a:rPr sz="1800" spc="-20" dirty="0">
                <a:solidFill>
                  <a:srgbClr val="FF0000"/>
                </a:solidFill>
                <a:latin typeface="Calibri"/>
                <a:cs typeface="Calibri"/>
              </a:rPr>
              <a:t>force</a:t>
            </a:r>
            <a:r>
              <a:rPr sz="1800" spc="-5" dirty="0">
                <a:solidFill>
                  <a:srgbClr val="FF0000"/>
                </a:solidFill>
                <a:latin typeface="Calibri"/>
                <a:cs typeface="Calibri"/>
              </a:rPr>
              <a:t> </a:t>
            </a:r>
            <a:r>
              <a:rPr sz="1800" dirty="0">
                <a:solidFill>
                  <a:srgbClr val="FF0000"/>
                </a:solidFill>
                <a:latin typeface="Calibri"/>
                <a:cs typeface="Calibri"/>
              </a:rPr>
              <a:t>F</a:t>
            </a:r>
            <a:r>
              <a:rPr sz="1800" spc="-10" dirty="0">
                <a:solidFill>
                  <a:srgbClr val="FF0000"/>
                </a:solidFill>
                <a:latin typeface="Calibri"/>
                <a:cs typeface="Calibri"/>
              </a:rPr>
              <a:t> </a:t>
            </a:r>
            <a:r>
              <a:rPr sz="1800" spc="-5" dirty="0">
                <a:solidFill>
                  <a:srgbClr val="FF0000"/>
                </a:solidFill>
                <a:latin typeface="Calibri"/>
                <a:cs typeface="Calibri"/>
              </a:rPr>
              <a:t>on</a:t>
            </a:r>
            <a:r>
              <a:rPr sz="1800" spc="5" dirty="0">
                <a:solidFill>
                  <a:srgbClr val="FF0000"/>
                </a:solidFill>
                <a:latin typeface="Calibri"/>
                <a:cs typeface="Calibri"/>
              </a:rPr>
              <a:t> </a:t>
            </a:r>
            <a:r>
              <a:rPr sz="1800" spc="-5" dirty="0">
                <a:solidFill>
                  <a:srgbClr val="FF0000"/>
                </a:solidFill>
                <a:latin typeface="Calibri"/>
                <a:cs typeface="Calibri"/>
              </a:rPr>
              <a:t>q2</a:t>
            </a:r>
            <a:r>
              <a:rPr sz="1800" dirty="0">
                <a:solidFill>
                  <a:srgbClr val="FF0000"/>
                </a:solidFill>
                <a:latin typeface="Calibri"/>
                <a:cs typeface="Calibri"/>
              </a:rPr>
              <a:t> </a:t>
            </a:r>
            <a:r>
              <a:rPr sz="1800" spc="-5" dirty="0">
                <a:solidFill>
                  <a:srgbClr val="FF0000"/>
                </a:solidFill>
                <a:latin typeface="Calibri"/>
                <a:cs typeface="Calibri"/>
              </a:rPr>
              <a:t>due</a:t>
            </a:r>
            <a:r>
              <a:rPr sz="1800" dirty="0">
                <a:solidFill>
                  <a:srgbClr val="FF0000"/>
                </a:solidFill>
                <a:latin typeface="Calibri"/>
                <a:cs typeface="Calibri"/>
              </a:rPr>
              <a:t> </a:t>
            </a:r>
            <a:r>
              <a:rPr sz="1800" spc="-10" dirty="0">
                <a:solidFill>
                  <a:srgbClr val="FF0000"/>
                </a:solidFill>
                <a:latin typeface="Calibri"/>
                <a:cs typeface="Calibri"/>
              </a:rPr>
              <a:t>to </a:t>
            </a:r>
            <a:r>
              <a:rPr sz="1800" spc="-5" dirty="0">
                <a:solidFill>
                  <a:srgbClr val="FF0000"/>
                </a:solidFill>
                <a:latin typeface="Calibri"/>
                <a:cs typeface="Calibri"/>
              </a:rPr>
              <a:t>q1</a:t>
            </a:r>
            <a:endParaRPr sz="1800">
              <a:latin typeface="Calibri"/>
              <a:cs typeface="Calibri"/>
            </a:endParaRPr>
          </a:p>
          <a:p>
            <a:pPr marL="237490" indent="-225425">
              <a:lnSpc>
                <a:spcPct val="100000"/>
              </a:lnSpc>
              <a:spcBef>
                <a:spcPts val="805"/>
              </a:spcBef>
              <a:buAutoNum type="arabicPeriod"/>
              <a:tabLst>
                <a:tab pos="238125" algn="l"/>
              </a:tabLst>
            </a:pPr>
            <a:r>
              <a:rPr sz="1800" spc="-5" dirty="0">
                <a:solidFill>
                  <a:srgbClr val="FF0000"/>
                </a:solidFill>
                <a:latin typeface="Calibri"/>
                <a:cs typeface="Calibri"/>
              </a:rPr>
              <a:t>Find</a:t>
            </a:r>
            <a:r>
              <a:rPr sz="1800" spc="5" dirty="0">
                <a:solidFill>
                  <a:srgbClr val="FF0000"/>
                </a:solidFill>
                <a:latin typeface="Calibri"/>
                <a:cs typeface="Calibri"/>
              </a:rPr>
              <a:t> </a:t>
            </a:r>
            <a:r>
              <a:rPr sz="1800" spc="-20" dirty="0">
                <a:solidFill>
                  <a:srgbClr val="FF0000"/>
                </a:solidFill>
                <a:latin typeface="Calibri"/>
                <a:cs typeface="Calibri"/>
              </a:rPr>
              <a:t>force</a:t>
            </a:r>
            <a:r>
              <a:rPr sz="1800" spc="-5" dirty="0">
                <a:solidFill>
                  <a:srgbClr val="FF0000"/>
                </a:solidFill>
                <a:latin typeface="Calibri"/>
                <a:cs typeface="Calibri"/>
              </a:rPr>
              <a:t> </a:t>
            </a:r>
            <a:r>
              <a:rPr sz="1800" dirty="0">
                <a:solidFill>
                  <a:srgbClr val="FF0000"/>
                </a:solidFill>
                <a:latin typeface="Calibri"/>
                <a:cs typeface="Calibri"/>
              </a:rPr>
              <a:t>F</a:t>
            </a:r>
            <a:r>
              <a:rPr sz="1800" spc="-10" dirty="0">
                <a:solidFill>
                  <a:srgbClr val="FF0000"/>
                </a:solidFill>
                <a:latin typeface="Calibri"/>
                <a:cs typeface="Calibri"/>
              </a:rPr>
              <a:t> </a:t>
            </a:r>
            <a:r>
              <a:rPr sz="1800" spc="-5" dirty="0">
                <a:solidFill>
                  <a:srgbClr val="FF0000"/>
                </a:solidFill>
                <a:latin typeface="Calibri"/>
                <a:cs typeface="Calibri"/>
              </a:rPr>
              <a:t>on</a:t>
            </a:r>
            <a:r>
              <a:rPr sz="1800" spc="10" dirty="0">
                <a:solidFill>
                  <a:srgbClr val="FF0000"/>
                </a:solidFill>
                <a:latin typeface="Calibri"/>
                <a:cs typeface="Calibri"/>
              </a:rPr>
              <a:t> </a:t>
            </a:r>
            <a:r>
              <a:rPr sz="1800" spc="-5" dirty="0">
                <a:solidFill>
                  <a:srgbClr val="FF0000"/>
                </a:solidFill>
                <a:latin typeface="Calibri"/>
                <a:cs typeface="Calibri"/>
              </a:rPr>
              <a:t>q1</a:t>
            </a:r>
            <a:r>
              <a:rPr sz="1800" spc="5" dirty="0">
                <a:solidFill>
                  <a:srgbClr val="FF0000"/>
                </a:solidFill>
                <a:latin typeface="Calibri"/>
                <a:cs typeface="Calibri"/>
              </a:rPr>
              <a:t> </a:t>
            </a:r>
            <a:r>
              <a:rPr sz="1800" spc="-5" dirty="0">
                <a:solidFill>
                  <a:srgbClr val="FF0000"/>
                </a:solidFill>
                <a:latin typeface="Calibri"/>
                <a:cs typeface="Calibri"/>
              </a:rPr>
              <a:t>due</a:t>
            </a:r>
            <a:r>
              <a:rPr sz="1800" spc="10" dirty="0">
                <a:solidFill>
                  <a:srgbClr val="FF0000"/>
                </a:solidFill>
                <a:latin typeface="Calibri"/>
                <a:cs typeface="Calibri"/>
              </a:rPr>
              <a:t> </a:t>
            </a:r>
            <a:r>
              <a:rPr sz="1800" spc="-10" dirty="0">
                <a:solidFill>
                  <a:srgbClr val="FF0000"/>
                </a:solidFill>
                <a:latin typeface="Calibri"/>
                <a:cs typeface="Calibri"/>
              </a:rPr>
              <a:t>to</a:t>
            </a:r>
            <a:r>
              <a:rPr sz="1800" dirty="0">
                <a:solidFill>
                  <a:srgbClr val="FF0000"/>
                </a:solidFill>
                <a:latin typeface="Calibri"/>
                <a:cs typeface="Calibri"/>
              </a:rPr>
              <a:t> q2</a:t>
            </a:r>
            <a:endParaRPr sz="1800">
              <a:latin typeface="Calibri"/>
              <a:cs typeface="Calibri"/>
            </a:endParaRPr>
          </a:p>
        </p:txBody>
      </p:sp>
      <p:sp>
        <p:nvSpPr>
          <p:cNvPr id="11" name="object 11"/>
          <p:cNvSpPr/>
          <p:nvPr/>
        </p:nvSpPr>
        <p:spPr>
          <a:xfrm>
            <a:off x="4263390" y="417956"/>
            <a:ext cx="501650" cy="15240"/>
          </a:xfrm>
          <a:custGeom>
            <a:avLst/>
            <a:gdLst/>
            <a:ahLst/>
            <a:cxnLst/>
            <a:rect l="l" t="t" r="r" b="b"/>
            <a:pathLst>
              <a:path w="501650" h="15240">
                <a:moveTo>
                  <a:pt x="501396" y="0"/>
                </a:moveTo>
                <a:lnTo>
                  <a:pt x="0" y="0"/>
                </a:lnTo>
                <a:lnTo>
                  <a:pt x="0" y="15239"/>
                </a:lnTo>
                <a:lnTo>
                  <a:pt x="501396" y="15239"/>
                </a:lnTo>
                <a:lnTo>
                  <a:pt x="501396" y="0"/>
                </a:lnTo>
                <a:close/>
              </a:path>
            </a:pathLst>
          </a:custGeom>
          <a:solidFill>
            <a:srgbClr val="000000"/>
          </a:solidFill>
        </p:spPr>
        <p:txBody>
          <a:bodyPr wrap="square" lIns="0" tIns="0" rIns="0" bIns="0" rtlCol="0"/>
          <a:lstStyle/>
          <a:p>
            <a:endParaRPr/>
          </a:p>
        </p:txBody>
      </p:sp>
      <p:sp>
        <p:nvSpPr>
          <p:cNvPr id="12" name="object 12"/>
          <p:cNvSpPr txBox="1"/>
          <p:nvPr/>
        </p:nvSpPr>
        <p:spPr>
          <a:xfrm>
            <a:off x="4362958" y="333883"/>
            <a:ext cx="292100" cy="299720"/>
          </a:xfrm>
          <a:prstGeom prst="rect">
            <a:avLst/>
          </a:prstGeom>
        </p:spPr>
        <p:txBody>
          <a:bodyPr vert="horz" wrap="square" lIns="0" tIns="12700" rIns="0" bIns="0" rtlCol="0">
            <a:spAutoFit/>
          </a:bodyPr>
          <a:lstStyle/>
          <a:p>
            <a:pPr marL="38100">
              <a:lnSpc>
                <a:spcPct val="100000"/>
              </a:lnSpc>
              <a:spcBef>
                <a:spcPts val="100"/>
              </a:spcBef>
            </a:pPr>
            <a:r>
              <a:rPr sz="2700" spc="82" baseline="-16975" dirty="0">
                <a:latin typeface="Cambria Math"/>
                <a:cs typeface="Cambria Math"/>
              </a:rPr>
              <a:t>𝑟</a:t>
            </a:r>
            <a:r>
              <a:rPr sz="1300" spc="55" dirty="0">
                <a:latin typeface="Cambria Math"/>
                <a:cs typeface="Cambria Math"/>
              </a:rPr>
              <a:t>2</a:t>
            </a:r>
            <a:endParaRPr sz="1300">
              <a:latin typeface="Cambria Math"/>
              <a:cs typeface="Cambria Math"/>
            </a:endParaRPr>
          </a:p>
        </p:txBody>
      </p:sp>
      <p:sp>
        <p:nvSpPr>
          <p:cNvPr id="13" name="object 13"/>
          <p:cNvSpPr txBox="1"/>
          <p:nvPr/>
        </p:nvSpPr>
        <p:spPr>
          <a:xfrm>
            <a:off x="3633978" y="75640"/>
            <a:ext cx="1633855" cy="474345"/>
          </a:xfrm>
          <a:prstGeom prst="rect">
            <a:avLst/>
          </a:prstGeom>
        </p:spPr>
        <p:txBody>
          <a:bodyPr vert="horz" wrap="square" lIns="0" tIns="12700" rIns="0" bIns="0" rtlCol="0">
            <a:spAutoFit/>
          </a:bodyPr>
          <a:lstStyle/>
          <a:p>
            <a:pPr marL="629920">
              <a:lnSpc>
                <a:spcPts val="1764"/>
              </a:lnSpc>
              <a:spcBef>
                <a:spcPts val="100"/>
              </a:spcBef>
            </a:pPr>
            <a:r>
              <a:rPr sz="1800" dirty="0">
                <a:latin typeface="Cambria Math"/>
                <a:cs typeface="Cambria Math"/>
              </a:rPr>
              <a:t>𝑞1𝑞2</a:t>
            </a:r>
            <a:endParaRPr sz="1800">
              <a:latin typeface="Cambria Math"/>
              <a:cs typeface="Cambria Math"/>
            </a:endParaRPr>
          </a:p>
          <a:p>
            <a:pPr marL="12700">
              <a:lnSpc>
                <a:spcPts val="1764"/>
              </a:lnSpc>
              <a:tabLst>
                <a:tab pos="1169035" algn="l"/>
              </a:tabLst>
            </a:pPr>
            <a:r>
              <a:rPr sz="1800" dirty="0">
                <a:latin typeface="Cambria Math"/>
                <a:cs typeface="Cambria Math"/>
              </a:rPr>
              <a:t>𝐹</a:t>
            </a:r>
            <a:r>
              <a:rPr sz="1800" spc="170" dirty="0">
                <a:latin typeface="Cambria Math"/>
                <a:cs typeface="Cambria Math"/>
              </a:rPr>
              <a:t> </a:t>
            </a:r>
            <a:r>
              <a:rPr sz="1800" dirty="0">
                <a:latin typeface="Cambria Math"/>
                <a:cs typeface="Cambria Math"/>
              </a:rPr>
              <a:t>=</a:t>
            </a:r>
            <a:r>
              <a:rPr sz="1800" spc="105" dirty="0">
                <a:latin typeface="Cambria Math"/>
                <a:cs typeface="Cambria Math"/>
              </a:rPr>
              <a:t> </a:t>
            </a:r>
            <a:r>
              <a:rPr sz="1800" dirty="0">
                <a:latin typeface="Cambria Math"/>
                <a:cs typeface="Cambria Math"/>
              </a:rPr>
              <a:t>𝑘	,</a:t>
            </a:r>
            <a:r>
              <a:rPr sz="1800" spc="-95" dirty="0">
                <a:latin typeface="Cambria Math"/>
                <a:cs typeface="Cambria Math"/>
              </a:rPr>
              <a:t> </a:t>
            </a:r>
            <a:r>
              <a:rPr sz="1800" dirty="0">
                <a:latin typeface="Cambria Math"/>
                <a:cs typeface="Cambria Math"/>
              </a:rPr>
              <a:t>𝑘</a:t>
            </a:r>
            <a:r>
              <a:rPr sz="1800" spc="145" dirty="0">
                <a:latin typeface="Cambria Math"/>
                <a:cs typeface="Cambria Math"/>
              </a:rPr>
              <a:t> </a:t>
            </a:r>
            <a:r>
              <a:rPr sz="1800" dirty="0">
                <a:latin typeface="Cambria Math"/>
                <a:cs typeface="Cambria Math"/>
              </a:rPr>
              <a:t>=</a:t>
            </a:r>
            <a:endParaRPr sz="1800">
              <a:latin typeface="Cambria Math"/>
              <a:cs typeface="Cambria Math"/>
            </a:endParaRPr>
          </a:p>
        </p:txBody>
      </p:sp>
      <p:sp>
        <p:nvSpPr>
          <p:cNvPr id="14" name="object 14"/>
          <p:cNvSpPr/>
          <p:nvPr/>
        </p:nvSpPr>
        <p:spPr>
          <a:xfrm>
            <a:off x="5319521" y="417956"/>
            <a:ext cx="478790" cy="15240"/>
          </a:xfrm>
          <a:custGeom>
            <a:avLst/>
            <a:gdLst/>
            <a:ahLst/>
            <a:cxnLst/>
            <a:rect l="l" t="t" r="r" b="b"/>
            <a:pathLst>
              <a:path w="478789" h="15240">
                <a:moveTo>
                  <a:pt x="478536" y="0"/>
                </a:moveTo>
                <a:lnTo>
                  <a:pt x="0" y="0"/>
                </a:lnTo>
                <a:lnTo>
                  <a:pt x="0" y="15239"/>
                </a:lnTo>
                <a:lnTo>
                  <a:pt x="478536" y="15239"/>
                </a:lnTo>
                <a:lnTo>
                  <a:pt x="478536" y="0"/>
                </a:lnTo>
                <a:close/>
              </a:path>
            </a:pathLst>
          </a:custGeom>
          <a:solidFill>
            <a:srgbClr val="000000"/>
          </a:solidFill>
        </p:spPr>
        <p:txBody>
          <a:bodyPr wrap="square" lIns="0" tIns="0" rIns="0" bIns="0" rtlCol="0"/>
          <a:lstStyle/>
          <a:p>
            <a:endParaRPr/>
          </a:p>
        </p:txBody>
      </p:sp>
      <p:sp>
        <p:nvSpPr>
          <p:cNvPr id="15" name="object 15"/>
          <p:cNvSpPr txBox="1"/>
          <p:nvPr/>
        </p:nvSpPr>
        <p:spPr>
          <a:xfrm>
            <a:off x="5482844" y="75640"/>
            <a:ext cx="152400" cy="300355"/>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Math"/>
                <a:cs typeface="Cambria Math"/>
              </a:rPr>
              <a:t>1</a:t>
            </a:r>
            <a:endParaRPr sz="1800">
              <a:latin typeface="Cambria Math"/>
              <a:cs typeface="Cambria Math"/>
            </a:endParaRPr>
          </a:p>
        </p:txBody>
      </p:sp>
      <p:sp>
        <p:nvSpPr>
          <p:cNvPr id="16" name="object 16"/>
          <p:cNvSpPr txBox="1"/>
          <p:nvPr/>
        </p:nvSpPr>
        <p:spPr>
          <a:xfrm>
            <a:off x="5281929" y="402463"/>
            <a:ext cx="541020" cy="299720"/>
          </a:xfrm>
          <a:prstGeom prst="rect">
            <a:avLst/>
          </a:prstGeom>
        </p:spPr>
        <p:txBody>
          <a:bodyPr vert="horz" wrap="square" lIns="0" tIns="12700" rIns="0" bIns="0" rtlCol="0">
            <a:spAutoFit/>
          </a:bodyPr>
          <a:lstStyle/>
          <a:p>
            <a:pPr marL="38100">
              <a:lnSpc>
                <a:spcPct val="100000"/>
              </a:lnSpc>
              <a:spcBef>
                <a:spcPts val="100"/>
              </a:spcBef>
            </a:pPr>
            <a:r>
              <a:rPr sz="1800" spc="15" dirty="0">
                <a:latin typeface="Cambria Math"/>
                <a:cs typeface="Cambria Math"/>
              </a:rPr>
              <a:t>4𝜋𝜀</a:t>
            </a:r>
            <a:r>
              <a:rPr sz="1950" spc="22" baseline="-14957" dirty="0">
                <a:latin typeface="Cambria Math"/>
                <a:cs typeface="Cambria Math"/>
              </a:rPr>
              <a:t>𝑜</a:t>
            </a:r>
            <a:endParaRPr sz="1950" baseline="-14957">
              <a:latin typeface="Cambria Math"/>
              <a:cs typeface="Cambria Math"/>
            </a:endParaRPr>
          </a:p>
        </p:txBody>
      </p:sp>
      <p:sp>
        <p:nvSpPr>
          <p:cNvPr id="17" name="object 17"/>
          <p:cNvSpPr/>
          <p:nvPr/>
        </p:nvSpPr>
        <p:spPr>
          <a:xfrm>
            <a:off x="1654301" y="1373124"/>
            <a:ext cx="3877310" cy="86995"/>
          </a:xfrm>
          <a:custGeom>
            <a:avLst/>
            <a:gdLst/>
            <a:ahLst/>
            <a:cxnLst/>
            <a:rect l="l" t="t" r="r" b="b"/>
            <a:pathLst>
              <a:path w="3877310" h="86994">
                <a:moveTo>
                  <a:pt x="86868" y="0"/>
                </a:moveTo>
                <a:lnTo>
                  <a:pt x="0" y="43434"/>
                </a:lnTo>
                <a:lnTo>
                  <a:pt x="86868" y="86867"/>
                </a:lnTo>
                <a:lnTo>
                  <a:pt x="86868" y="57912"/>
                </a:lnTo>
                <a:lnTo>
                  <a:pt x="72390" y="57912"/>
                </a:lnTo>
                <a:lnTo>
                  <a:pt x="72390" y="28955"/>
                </a:lnTo>
                <a:lnTo>
                  <a:pt x="86868" y="28955"/>
                </a:lnTo>
                <a:lnTo>
                  <a:pt x="86868" y="0"/>
                </a:lnTo>
                <a:close/>
              </a:path>
              <a:path w="3877310" h="86994">
                <a:moveTo>
                  <a:pt x="3790188" y="0"/>
                </a:moveTo>
                <a:lnTo>
                  <a:pt x="3790188" y="86867"/>
                </a:lnTo>
                <a:lnTo>
                  <a:pt x="3848100" y="57912"/>
                </a:lnTo>
                <a:lnTo>
                  <a:pt x="3804666" y="57912"/>
                </a:lnTo>
                <a:lnTo>
                  <a:pt x="3804666" y="28955"/>
                </a:lnTo>
                <a:lnTo>
                  <a:pt x="3848099" y="28955"/>
                </a:lnTo>
                <a:lnTo>
                  <a:pt x="3790188" y="0"/>
                </a:lnTo>
                <a:close/>
              </a:path>
              <a:path w="3877310" h="86994">
                <a:moveTo>
                  <a:pt x="86868" y="28955"/>
                </a:moveTo>
                <a:lnTo>
                  <a:pt x="72390" y="28955"/>
                </a:lnTo>
                <a:lnTo>
                  <a:pt x="72390" y="57912"/>
                </a:lnTo>
                <a:lnTo>
                  <a:pt x="86868" y="57912"/>
                </a:lnTo>
                <a:lnTo>
                  <a:pt x="86868" y="28955"/>
                </a:lnTo>
                <a:close/>
              </a:path>
              <a:path w="3877310" h="86994">
                <a:moveTo>
                  <a:pt x="3790188" y="28955"/>
                </a:moveTo>
                <a:lnTo>
                  <a:pt x="86868" y="28955"/>
                </a:lnTo>
                <a:lnTo>
                  <a:pt x="86868" y="57912"/>
                </a:lnTo>
                <a:lnTo>
                  <a:pt x="3790188" y="57912"/>
                </a:lnTo>
                <a:lnTo>
                  <a:pt x="3790188" y="28955"/>
                </a:lnTo>
                <a:close/>
              </a:path>
              <a:path w="3877310" h="86994">
                <a:moveTo>
                  <a:pt x="3848099" y="28955"/>
                </a:moveTo>
                <a:lnTo>
                  <a:pt x="3804666" y="28955"/>
                </a:lnTo>
                <a:lnTo>
                  <a:pt x="3804666" y="57912"/>
                </a:lnTo>
                <a:lnTo>
                  <a:pt x="3848100" y="57912"/>
                </a:lnTo>
                <a:lnTo>
                  <a:pt x="3877056" y="43434"/>
                </a:lnTo>
                <a:lnTo>
                  <a:pt x="3848099" y="28955"/>
                </a:lnTo>
                <a:close/>
              </a:path>
            </a:pathLst>
          </a:custGeom>
          <a:solidFill>
            <a:srgbClr val="000000"/>
          </a:solidFill>
        </p:spPr>
        <p:txBody>
          <a:bodyPr wrap="square" lIns="0" tIns="0" rIns="0" bIns="0" rtlCol="0"/>
          <a:lstStyle/>
          <a:p>
            <a:endParaRPr/>
          </a:p>
        </p:txBody>
      </p:sp>
      <p:sp>
        <p:nvSpPr>
          <p:cNvPr id="18" name="object 18"/>
          <p:cNvSpPr txBox="1"/>
          <p:nvPr/>
        </p:nvSpPr>
        <p:spPr>
          <a:xfrm>
            <a:off x="3501009" y="1005966"/>
            <a:ext cx="10541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r</a:t>
            </a:r>
            <a:endParaRPr sz="1800">
              <a:latin typeface="Calibri"/>
              <a:cs typeface="Calibri"/>
            </a:endParaRPr>
          </a:p>
        </p:txBody>
      </p:sp>
      <p:sp>
        <p:nvSpPr>
          <p:cNvPr id="19" name="object 19"/>
          <p:cNvSpPr txBox="1"/>
          <p:nvPr/>
        </p:nvSpPr>
        <p:spPr>
          <a:xfrm>
            <a:off x="6434582" y="1752091"/>
            <a:ext cx="380365" cy="299720"/>
          </a:xfrm>
          <a:prstGeom prst="rect">
            <a:avLst/>
          </a:prstGeom>
        </p:spPr>
        <p:txBody>
          <a:bodyPr vert="horz" wrap="square" lIns="0" tIns="12700" rIns="0" bIns="0" rtlCol="0">
            <a:spAutoFit/>
          </a:bodyPr>
          <a:lstStyle/>
          <a:p>
            <a:pPr marL="38100">
              <a:lnSpc>
                <a:spcPct val="100000"/>
              </a:lnSpc>
              <a:spcBef>
                <a:spcPts val="100"/>
              </a:spcBef>
            </a:pPr>
            <a:r>
              <a:rPr sz="2700" spc="-82" baseline="10802" dirty="0">
                <a:latin typeface="Cambria Math"/>
                <a:cs typeface="Cambria Math"/>
              </a:rPr>
              <a:t>𝐹</a:t>
            </a:r>
            <a:r>
              <a:rPr sz="1300" spc="-55" dirty="0">
                <a:latin typeface="Cambria Math"/>
                <a:cs typeface="Cambria Math"/>
              </a:rPr>
              <a:t>12</a:t>
            </a:r>
            <a:endParaRPr sz="1300">
              <a:latin typeface="Cambria Math"/>
              <a:cs typeface="Cambria Math"/>
            </a:endParaRPr>
          </a:p>
        </p:txBody>
      </p:sp>
      <p:sp>
        <p:nvSpPr>
          <p:cNvPr id="20" name="object 20"/>
          <p:cNvSpPr txBox="1"/>
          <p:nvPr/>
        </p:nvSpPr>
        <p:spPr>
          <a:xfrm>
            <a:off x="548944" y="1752091"/>
            <a:ext cx="385445" cy="299720"/>
          </a:xfrm>
          <a:prstGeom prst="rect">
            <a:avLst/>
          </a:prstGeom>
        </p:spPr>
        <p:txBody>
          <a:bodyPr vert="horz" wrap="square" lIns="0" tIns="12700" rIns="0" bIns="0" rtlCol="0">
            <a:spAutoFit/>
          </a:bodyPr>
          <a:lstStyle/>
          <a:p>
            <a:pPr marL="38100">
              <a:lnSpc>
                <a:spcPct val="100000"/>
              </a:lnSpc>
              <a:spcBef>
                <a:spcPts val="100"/>
              </a:spcBef>
            </a:pPr>
            <a:r>
              <a:rPr sz="2700" spc="-60" baseline="10802" dirty="0">
                <a:latin typeface="Cambria Math"/>
                <a:cs typeface="Cambria Math"/>
              </a:rPr>
              <a:t>𝐹</a:t>
            </a:r>
            <a:r>
              <a:rPr sz="1300" spc="-40" dirty="0">
                <a:latin typeface="Cambria Math"/>
                <a:cs typeface="Cambria Math"/>
              </a:rPr>
              <a:t>21</a:t>
            </a:r>
            <a:endParaRPr sz="1300">
              <a:latin typeface="Cambria Math"/>
              <a:cs typeface="Cambria Math"/>
            </a:endParaRPr>
          </a:p>
        </p:txBody>
      </p:sp>
      <p:sp>
        <p:nvSpPr>
          <p:cNvPr id="21" name="object 21"/>
          <p:cNvSpPr/>
          <p:nvPr/>
        </p:nvSpPr>
        <p:spPr>
          <a:xfrm>
            <a:off x="6365621" y="2864611"/>
            <a:ext cx="238125" cy="15240"/>
          </a:xfrm>
          <a:custGeom>
            <a:avLst/>
            <a:gdLst/>
            <a:ahLst/>
            <a:cxnLst/>
            <a:rect l="l" t="t" r="r" b="b"/>
            <a:pathLst>
              <a:path w="238125" h="15239">
                <a:moveTo>
                  <a:pt x="237744" y="0"/>
                </a:moveTo>
                <a:lnTo>
                  <a:pt x="0" y="0"/>
                </a:lnTo>
                <a:lnTo>
                  <a:pt x="0" y="15239"/>
                </a:lnTo>
                <a:lnTo>
                  <a:pt x="237744" y="15239"/>
                </a:lnTo>
                <a:lnTo>
                  <a:pt x="237744" y="0"/>
                </a:lnTo>
                <a:close/>
              </a:path>
            </a:pathLst>
          </a:custGeom>
          <a:solidFill>
            <a:srgbClr val="000000"/>
          </a:solidFill>
        </p:spPr>
        <p:txBody>
          <a:bodyPr wrap="square" lIns="0" tIns="0" rIns="0" bIns="0" rtlCol="0"/>
          <a:lstStyle/>
          <a:p>
            <a:endParaRPr/>
          </a:p>
        </p:txBody>
      </p:sp>
      <p:sp>
        <p:nvSpPr>
          <p:cNvPr id="22" name="object 22"/>
          <p:cNvSpPr txBox="1"/>
          <p:nvPr/>
        </p:nvSpPr>
        <p:spPr>
          <a:xfrm>
            <a:off x="5546471" y="2439670"/>
            <a:ext cx="1256030" cy="557530"/>
          </a:xfrm>
          <a:prstGeom prst="rect">
            <a:avLst/>
          </a:prstGeom>
        </p:spPr>
        <p:txBody>
          <a:bodyPr vert="horz" wrap="square" lIns="0" tIns="12700" rIns="0" bIns="0" rtlCol="0">
            <a:spAutoFit/>
          </a:bodyPr>
          <a:lstStyle/>
          <a:p>
            <a:pPr marL="819785">
              <a:lnSpc>
                <a:spcPts val="2095"/>
              </a:lnSpc>
              <a:spcBef>
                <a:spcPts val="100"/>
              </a:spcBef>
            </a:pPr>
            <a:r>
              <a:rPr sz="2700" spc="75" baseline="-20061" dirty="0">
                <a:latin typeface="Cambria Math"/>
                <a:cs typeface="Cambria Math"/>
              </a:rPr>
              <a:t>𝑞</a:t>
            </a:r>
            <a:r>
              <a:rPr sz="1300" spc="50" dirty="0">
                <a:latin typeface="Cambria Math"/>
                <a:cs typeface="Cambria Math"/>
              </a:rPr>
              <a:t>2</a:t>
            </a:r>
            <a:endParaRPr sz="1300">
              <a:latin typeface="Cambria Math"/>
              <a:cs typeface="Cambria Math"/>
            </a:endParaRPr>
          </a:p>
          <a:p>
            <a:pPr marL="38100">
              <a:lnSpc>
                <a:spcPts val="2095"/>
              </a:lnSpc>
            </a:pPr>
            <a:r>
              <a:rPr sz="1800" spc="-50" dirty="0">
                <a:latin typeface="Cambria Math"/>
                <a:cs typeface="Cambria Math"/>
              </a:rPr>
              <a:t>𝐹</a:t>
            </a:r>
            <a:r>
              <a:rPr sz="1950" spc="-75" baseline="-14957" dirty="0">
                <a:latin typeface="Cambria Math"/>
                <a:cs typeface="Cambria Math"/>
              </a:rPr>
              <a:t>12</a:t>
            </a:r>
            <a:r>
              <a:rPr sz="1950" spc="367" baseline="-14957" dirty="0">
                <a:latin typeface="Cambria Math"/>
                <a:cs typeface="Cambria Math"/>
              </a:rPr>
              <a:t> </a:t>
            </a:r>
            <a:r>
              <a:rPr sz="1800" dirty="0">
                <a:latin typeface="Cambria Math"/>
                <a:cs typeface="Cambria Math"/>
              </a:rPr>
              <a:t>=</a:t>
            </a:r>
            <a:r>
              <a:rPr sz="1800" spc="85" dirty="0">
                <a:latin typeface="Cambria Math"/>
                <a:cs typeface="Cambria Math"/>
              </a:rPr>
              <a:t> </a:t>
            </a:r>
            <a:r>
              <a:rPr sz="1800" dirty="0">
                <a:latin typeface="Cambria Math"/>
                <a:cs typeface="Cambria Math"/>
              </a:rPr>
              <a:t>𝑘</a:t>
            </a:r>
            <a:r>
              <a:rPr sz="1800" spc="-15" dirty="0">
                <a:latin typeface="Cambria Math"/>
                <a:cs typeface="Cambria Math"/>
              </a:rPr>
              <a:t> </a:t>
            </a:r>
            <a:r>
              <a:rPr sz="2700" spc="82" baseline="-37037" dirty="0">
                <a:latin typeface="Cambria Math"/>
                <a:cs typeface="Cambria Math"/>
              </a:rPr>
              <a:t>𝑟</a:t>
            </a:r>
            <a:r>
              <a:rPr sz="1950" spc="82" baseline="-27777" dirty="0">
                <a:latin typeface="Cambria Math"/>
                <a:cs typeface="Cambria Math"/>
              </a:rPr>
              <a:t>2</a:t>
            </a:r>
            <a:r>
              <a:rPr sz="1950" spc="187" baseline="-27777" dirty="0">
                <a:latin typeface="Cambria Math"/>
                <a:cs typeface="Cambria Math"/>
              </a:rPr>
              <a:t> </a:t>
            </a:r>
            <a:r>
              <a:rPr sz="1800" spc="-900" dirty="0">
                <a:latin typeface="Cambria Math"/>
                <a:cs typeface="Cambria Math"/>
              </a:rPr>
              <a:t>𝑥ො</a:t>
            </a:r>
            <a:endParaRPr sz="1800">
              <a:latin typeface="Cambria Math"/>
              <a:cs typeface="Cambria Math"/>
            </a:endParaRPr>
          </a:p>
        </p:txBody>
      </p:sp>
      <p:sp>
        <p:nvSpPr>
          <p:cNvPr id="23" name="object 23"/>
          <p:cNvSpPr/>
          <p:nvPr/>
        </p:nvSpPr>
        <p:spPr>
          <a:xfrm>
            <a:off x="1327658" y="2628773"/>
            <a:ext cx="238125" cy="15240"/>
          </a:xfrm>
          <a:custGeom>
            <a:avLst/>
            <a:gdLst/>
            <a:ahLst/>
            <a:cxnLst/>
            <a:rect l="l" t="t" r="r" b="b"/>
            <a:pathLst>
              <a:path w="238125" h="15239">
                <a:moveTo>
                  <a:pt x="237744" y="0"/>
                </a:moveTo>
                <a:lnTo>
                  <a:pt x="0" y="0"/>
                </a:lnTo>
                <a:lnTo>
                  <a:pt x="0" y="15239"/>
                </a:lnTo>
                <a:lnTo>
                  <a:pt x="237744" y="15239"/>
                </a:lnTo>
                <a:lnTo>
                  <a:pt x="237744" y="0"/>
                </a:lnTo>
                <a:close/>
              </a:path>
            </a:pathLst>
          </a:custGeom>
          <a:solidFill>
            <a:srgbClr val="000000"/>
          </a:solidFill>
        </p:spPr>
        <p:txBody>
          <a:bodyPr wrap="square" lIns="0" tIns="0" rIns="0" bIns="0" rtlCol="0"/>
          <a:lstStyle/>
          <a:p>
            <a:endParaRPr/>
          </a:p>
        </p:txBody>
      </p:sp>
      <p:sp>
        <p:nvSpPr>
          <p:cNvPr id="24" name="object 24"/>
          <p:cNvSpPr txBox="1"/>
          <p:nvPr/>
        </p:nvSpPr>
        <p:spPr>
          <a:xfrm>
            <a:off x="332536" y="2203830"/>
            <a:ext cx="1431290" cy="557530"/>
          </a:xfrm>
          <a:prstGeom prst="rect">
            <a:avLst/>
          </a:prstGeom>
        </p:spPr>
        <p:txBody>
          <a:bodyPr vert="horz" wrap="square" lIns="0" tIns="12700" rIns="0" bIns="0" rtlCol="0">
            <a:spAutoFit/>
          </a:bodyPr>
          <a:lstStyle/>
          <a:p>
            <a:pPr marR="199390" algn="r">
              <a:lnSpc>
                <a:spcPts val="2095"/>
              </a:lnSpc>
              <a:spcBef>
                <a:spcPts val="100"/>
              </a:spcBef>
            </a:pPr>
            <a:r>
              <a:rPr sz="2700" spc="75" baseline="-20061" dirty="0">
                <a:latin typeface="Cambria Math"/>
                <a:cs typeface="Cambria Math"/>
              </a:rPr>
              <a:t>𝑞</a:t>
            </a:r>
            <a:r>
              <a:rPr sz="1300" spc="50" dirty="0">
                <a:latin typeface="Cambria Math"/>
                <a:cs typeface="Cambria Math"/>
              </a:rPr>
              <a:t>2</a:t>
            </a:r>
            <a:endParaRPr sz="1300">
              <a:latin typeface="Cambria Math"/>
              <a:cs typeface="Cambria Math"/>
            </a:endParaRPr>
          </a:p>
          <a:p>
            <a:pPr marL="38100">
              <a:lnSpc>
                <a:spcPts val="2095"/>
              </a:lnSpc>
            </a:pPr>
            <a:r>
              <a:rPr sz="1800" spc="-35" dirty="0">
                <a:latin typeface="Cambria Math"/>
                <a:cs typeface="Cambria Math"/>
              </a:rPr>
              <a:t>𝐹</a:t>
            </a:r>
            <a:r>
              <a:rPr sz="1950" spc="-52" baseline="-14957" dirty="0">
                <a:latin typeface="Cambria Math"/>
                <a:cs typeface="Cambria Math"/>
              </a:rPr>
              <a:t>21</a:t>
            </a:r>
            <a:r>
              <a:rPr sz="1950" spc="359" baseline="-14957" dirty="0">
                <a:latin typeface="Cambria Math"/>
                <a:cs typeface="Cambria Math"/>
              </a:rPr>
              <a:t> </a:t>
            </a:r>
            <a:r>
              <a:rPr sz="1800" dirty="0">
                <a:latin typeface="Cambria Math"/>
                <a:cs typeface="Cambria Math"/>
              </a:rPr>
              <a:t>=</a:t>
            </a:r>
            <a:r>
              <a:rPr sz="1800" spc="85" dirty="0">
                <a:latin typeface="Cambria Math"/>
                <a:cs typeface="Cambria Math"/>
              </a:rPr>
              <a:t> </a:t>
            </a:r>
            <a:r>
              <a:rPr sz="1800" spc="5" dirty="0">
                <a:latin typeface="Cambria Math"/>
                <a:cs typeface="Cambria Math"/>
              </a:rPr>
              <a:t>−𝑘</a:t>
            </a:r>
            <a:r>
              <a:rPr sz="1800" spc="-25" dirty="0">
                <a:latin typeface="Cambria Math"/>
                <a:cs typeface="Cambria Math"/>
              </a:rPr>
              <a:t> </a:t>
            </a:r>
            <a:r>
              <a:rPr sz="2700" spc="82" baseline="-37037" dirty="0">
                <a:latin typeface="Cambria Math"/>
                <a:cs typeface="Cambria Math"/>
              </a:rPr>
              <a:t>𝑟</a:t>
            </a:r>
            <a:r>
              <a:rPr sz="1950" spc="82" baseline="-27777" dirty="0">
                <a:latin typeface="Cambria Math"/>
                <a:cs typeface="Cambria Math"/>
              </a:rPr>
              <a:t>2</a:t>
            </a:r>
            <a:r>
              <a:rPr sz="1950" spc="179" baseline="-27777" dirty="0">
                <a:latin typeface="Cambria Math"/>
                <a:cs typeface="Cambria Math"/>
              </a:rPr>
              <a:t> </a:t>
            </a:r>
            <a:r>
              <a:rPr sz="1800" spc="-900" dirty="0">
                <a:latin typeface="Cambria Math"/>
                <a:cs typeface="Cambria Math"/>
              </a:rPr>
              <a:t>𝑥ො</a:t>
            </a:r>
            <a:endParaRPr sz="1800">
              <a:latin typeface="Cambria Math"/>
              <a:cs typeface="Cambria Math"/>
            </a:endParaRPr>
          </a:p>
        </p:txBody>
      </p:sp>
      <p:sp>
        <p:nvSpPr>
          <p:cNvPr id="25" name="object 25"/>
          <p:cNvSpPr/>
          <p:nvPr/>
        </p:nvSpPr>
        <p:spPr>
          <a:xfrm>
            <a:off x="9283445" y="892810"/>
            <a:ext cx="501650" cy="15240"/>
          </a:xfrm>
          <a:custGeom>
            <a:avLst/>
            <a:gdLst/>
            <a:ahLst/>
            <a:cxnLst/>
            <a:rect l="l" t="t" r="r" b="b"/>
            <a:pathLst>
              <a:path w="501650" h="15240">
                <a:moveTo>
                  <a:pt x="501396" y="0"/>
                </a:moveTo>
                <a:lnTo>
                  <a:pt x="0" y="0"/>
                </a:lnTo>
                <a:lnTo>
                  <a:pt x="0" y="15239"/>
                </a:lnTo>
                <a:lnTo>
                  <a:pt x="501396" y="15239"/>
                </a:lnTo>
                <a:lnTo>
                  <a:pt x="501396" y="0"/>
                </a:lnTo>
                <a:close/>
              </a:path>
            </a:pathLst>
          </a:custGeom>
          <a:solidFill>
            <a:srgbClr val="000000"/>
          </a:solidFill>
        </p:spPr>
        <p:txBody>
          <a:bodyPr wrap="square" lIns="0" tIns="0" rIns="0" bIns="0" rtlCol="0"/>
          <a:lstStyle/>
          <a:p>
            <a:endParaRPr/>
          </a:p>
        </p:txBody>
      </p:sp>
      <p:sp>
        <p:nvSpPr>
          <p:cNvPr id="26" name="object 26"/>
          <p:cNvSpPr txBox="1"/>
          <p:nvPr/>
        </p:nvSpPr>
        <p:spPr>
          <a:xfrm>
            <a:off x="8654542" y="551179"/>
            <a:ext cx="1633855" cy="473709"/>
          </a:xfrm>
          <a:prstGeom prst="rect">
            <a:avLst/>
          </a:prstGeom>
        </p:spPr>
        <p:txBody>
          <a:bodyPr vert="horz" wrap="square" lIns="0" tIns="12700" rIns="0" bIns="0" rtlCol="0">
            <a:spAutoFit/>
          </a:bodyPr>
          <a:lstStyle/>
          <a:p>
            <a:pPr marL="629285">
              <a:lnSpc>
                <a:spcPts val="1764"/>
              </a:lnSpc>
              <a:spcBef>
                <a:spcPts val="100"/>
              </a:spcBef>
            </a:pPr>
            <a:r>
              <a:rPr sz="1800" spc="-5" dirty="0">
                <a:latin typeface="Cambria Math"/>
                <a:cs typeface="Cambria Math"/>
              </a:rPr>
              <a:t>𝑞1𝑞2</a:t>
            </a:r>
            <a:endParaRPr sz="1800">
              <a:latin typeface="Cambria Math"/>
              <a:cs typeface="Cambria Math"/>
            </a:endParaRPr>
          </a:p>
          <a:p>
            <a:pPr marL="12700">
              <a:lnSpc>
                <a:spcPts val="1764"/>
              </a:lnSpc>
              <a:tabLst>
                <a:tab pos="1169035" algn="l"/>
              </a:tabLst>
            </a:pPr>
            <a:r>
              <a:rPr sz="1800" dirty="0">
                <a:latin typeface="Cambria Math"/>
                <a:cs typeface="Cambria Math"/>
              </a:rPr>
              <a:t>𝐹</a:t>
            </a:r>
            <a:r>
              <a:rPr sz="1800" spc="170" dirty="0">
                <a:latin typeface="Cambria Math"/>
                <a:cs typeface="Cambria Math"/>
              </a:rPr>
              <a:t> </a:t>
            </a:r>
            <a:r>
              <a:rPr sz="1800" dirty="0">
                <a:latin typeface="Cambria Math"/>
                <a:cs typeface="Cambria Math"/>
              </a:rPr>
              <a:t>=</a:t>
            </a:r>
            <a:r>
              <a:rPr sz="1800" spc="105" dirty="0">
                <a:latin typeface="Cambria Math"/>
                <a:cs typeface="Cambria Math"/>
              </a:rPr>
              <a:t> </a:t>
            </a:r>
            <a:r>
              <a:rPr sz="1800" dirty="0">
                <a:latin typeface="Cambria Math"/>
                <a:cs typeface="Cambria Math"/>
              </a:rPr>
              <a:t>𝑘	,</a:t>
            </a:r>
            <a:r>
              <a:rPr sz="1800" spc="-95" dirty="0">
                <a:latin typeface="Cambria Math"/>
                <a:cs typeface="Cambria Math"/>
              </a:rPr>
              <a:t> </a:t>
            </a:r>
            <a:r>
              <a:rPr sz="1800" dirty="0">
                <a:latin typeface="Cambria Math"/>
                <a:cs typeface="Cambria Math"/>
              </a:rPr>
              <a:t>𝑘</a:t>
            </a:r>
            <a:r>
              <a:rPr sz="1800" spc="145" dirty="0">
                <a:latin typeface="Cambria Math"/>
                <a:cs typeface="Cambria Math"/>
              </a:rPr>
              <a:t> </a:t>
            </a:r>
            <a:r>
              <a:rPr sz="1800" dirty="0">
                <a:latin typeface="Cambria Math"/>
                <a:cs typeface="Cambria Math"/>
              </a:rPr>
              <a:t>=</a:t>
            </a:r>
            <a:endParaRPr sz="1800">
              <a:latin typeface="Cambria Math"/>
              <a:cs typeface="Cambria Math"/>
            </a:endParaRPr>
          </a:p>
        </p:txBody>
      </p:sp>
      <p:sp>
        <p:nvSpPr>
          <p:cNvPr id="27" name="object 27"/>
          <p:cNvSpPr/>
          <p:nvPr/>
        </p:nvSpPr>
        <p:spPr>
          <a:xfrm>
            <a:off x="10339578" y="892810"/>
            <a:ext cx="478790" cy="15240"/>
          </a:xfrm>
          <a:custGeom>
            <a:avLst/>
            <a:gdLst/>
            <a:ahLst/>
            <a:cxnLst/>
            <a:rect l="l" t="t" r="r" b="b"/>
            <a:pathLst>
              <a:path w="478790" h="15240">
                <a:moveTo>
                  <a:pt x="478535" y="0"/>
                </a:moveTo>
                <a:lnTo>
                  <a:pt x="0" y="0"/>
                </a:lnTo>
                <a:lnTo>
                  <a:pt x="0" y="15239"/>
                </a:lnTo>
                <a:lnTo>
                  <a:pt x="478535" y="15239"/>
                </a:lnTo>
                <a:lnTo>
                  <a:pt x="478535" y="0"/>
                </a:lnTo>
                <a:close/>
              </a:path>
            </a:pathLst>
          </a:custGeom>
          <a:solidFill>
            <a:srgbClr val="000000"/>
          </a:solidFill>
        </p:spPr>
        <p:txBody>
          <a:bodyPr wrap="square" lIns="0" tIns="0" rIns="0" bIns="0" rtlCol="0"/>
          <a:lstStyle/>
          <a:p>
            <a:endParaRPr/>
          </a:p>
        </p:txBody>
      </p:sp>
      <p:sp>
        <p:nvSpPr>
          <p:cNvPr id="28" name="object 28"/>
          <p:cNvSpPr txBox="1"/>
          <p:nvPr/>
        </p:nvSpPr>
        <p:spPr>
          <a:xfrm>
            <a:off x="10503154" y="551179"/>
            <a:ext cx="1524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Math"/>
                <a:cs typeface="Cambria Math"/>
              </a:rPr>
              <a:t>1</a:t>
            </a:r>
            <a:endParaRPr sz="1800">
              <a:latin typeface="Cambria Math"/>
              <a:cs typeface="Cambria Math"/>
            </a:endParaRPr>
          </a:p>
        </p:txBody>
      </p:sp>
      <p:sp>
        <p:nvSpPr>
          <p:cNvPr id="29" name="object 29"/>
          <p:cNvSpPr txBox="1"/>
          <p:nvPr/>
        </p:nvSpPr>
        <p:spPr>
          <a:xfrm>
            <a:off x="10302493" y="877315"/>
            <a:ext cx="541020" cy="299720"/>
          </a:xfrm>
          <a:prstGeom prst="rect">
            <a:avLst/>
          </a:prstGeom>
        </p:spPr>
        <p:txBody>
          <a:bodyPr vert="horz" wrap="square" lIns="0" tIns="12700" rIns="0" bIns="0" rtlCol="0">
            <a:spAutoFit/>
          </a:bodyPr>
          <a:lstStyle/>
          <a:p>
            <a:pPr marL="38100">
              <a:lnSpc>
                <a:spcPct val="100000"/>
              </a:lnSpc>
              <a:spcBef>
                <a:spcPts val="100"/>
              </a:spcBef>
            </a:pPr>
            <a:r>
              <a:rPr sz="1800" spc="15" dirty="0">
                <a:latin typeface="Cambria Math"/>
                <a:cs typeface="Cambria Math"/>
              </a:rPr>
              <a:t>4𝜋𝜀</a:t>
            </a:r>
            <a:r>
              <a:rPr sz="1950" spc="22" baseline="-14957" dirty="0">
                <a:latin typeface="Cambria Math"/>
                <a:cs typeface="Cambria Math"/>
              </a:rPr>
              <a:t>𝑜</a:t>
            </a:r>
            <a:endParaRPr sz="1950" baseline="-14957">
              <a:latin typeface="Cambria Math"/>
              <a:cs typeface="Cambria Math"/>
            </a:endParaRPr>
          </a:p>
        </p:txBody>
      </p:sp>
      <p:sp>
        <p:nvSpPr>
          <p:cNvPr id="30" name="object 30"/>
          <p:cNvSpPr txBox="1"/>
          <p:nvPr/>
        </p:nvSpPr>
        <p:spPr>
          <a:xfrm>
            <a:off x="8040623" y="1360678"/>
            <a:ext cx="1430020" cy="299720"/>
          </a:xfrm>
          <a:prstGeom prst="rect">
            <a:avLst/>
          </a:prstGeom>
        </p:spPr>
        <p:txBody>
          <a:bodyPr vert="horz" wrap="square" lIns="0" tIns="12700" rIns="0" bIns="0" rtlCol="0">
            <a:spAutoFit/>
          </a:bodyPr>
          <a:lstStyle/>
          <a:p>
            <a:pPr marL="38100">
              <a:lnSpc>
                <a:spcPct val="100000"/>
              </a:lnSpc>
              <a:spcBef>
                <a:spcPts val="100"/>
              </a:spcBef>
            </a:pPr>
            <a:r>
              <a:rPr sz="1800" spc="-50" dirty="0">
                <a:latin typeface="Cambria Math"/>
                <a:cs typeface="Cambria Math"/>
              </a:rPr>
              <a:t>𝐹</a:t>
            </a:r>
            <a:r>
              <a:rPr sz="1950" spc="-75" baseline="-14957" dirty="0">
                <a:latin typeface="Cambria Math"/>
                <a:cs typeface="Cambria Math"/>
              </a:rPr>
              <a:t>12</a:t>
            </a:r>
            <a:r>
              <a:rPr sz="1950" spc="37" baseline="-14957" dirty="0">
                <a:latin typeface="Cambria Math"/>
                <a:cs typeface="Cambria Math"/>
              </a:rPr>
              <a:t> </a:t>
            </a:r>
            <a:r>
              <a:rPr sz="1800" dirty="0">
                <a:latin typeface="Cambria Math"/>
                <a:cs typeface="Cambria Math"/>
              </a:rPr>
              <a:t>=</a:t>
            </a:r>
            <a:r>
              <a:rPr sz="1800" spc="85" dirty="0">
                <a:latin typeface="Cambria Math"/>
                <a:cs typeface="Cambria Math"/>
              </a:rPr>
              <a:t> </a:t>
            </a:r>
            <a:r>
              <a:rPr sz="1800" spc="-35" dirty="0">
                <a:latin typeface="Cambria Math"/>
                <a:cs typeface="Cambria Math"/>
              </a:rPr>
              <a:t>𝐹</a:t>
            </a:r>
            <a:r>
              <a:rPr sz="1950" spc="-52" baseline="-14957" dirty="0">
                <a:latin typeface="Cambria Math"/>
                <a:cs typeface="Cambria Math"/>
              </a:rPr>
              <a:t>21</a:t>
            </a:r>
            <a:r>
              <a:rPr sz="1950" spc="367" baseline="-14957" dirty="0">
                <a:latin typeface="Cambria Math"/>
                <a:cs typeface="Cambria Math"/>
              </a:rPr>
              <a:t> </a:t>
            </a:r>
            <a:r>
              <a:rPr sz="1800" dirty="0">
                <a:latin typeface="Cambria Math"/>
                <a:cs typeface="Cambria Math"/>
              </a:rPr>
              <a:t>=</a:t>
            </a:r>
            <a:r>
              <a:rPr sz="1800" spc="85" dirty="0">
                <a:latin typeface="Cambria Math"/>
                <a:cs typeface="Cambria Math"/>
              </a:rPr>
              <a:t> </a:t>
            </a:r>
            <a:r>
              <a:rPr sz="1800" dirty="0">
                <a:latin typeface="Cambria Math"/>
                <a:cs typeface="Cambria Math"/>
              </a:rPr>
              <a:t>𝑘</a:t>
            </a:r>
            <a:endParaRPr sz="1800">
              <a:latin typeface="Cambria Math"/>
              <a:cs typeface="Cambria Math"/>
            </a:endParaRPr>
          </a:p>
        </p:txBody>
      </p:sp>
      <p:sp>
        <p:nvSpPr>
          <p:cNvPr id="31" name="object 31"/>
          <p:cNvSpPr/>
          <p:nvPr/>
        </p:nvSpPr>
        <p:spPr>
          <a:xfrm>
            <a:off x="9475469" y="1528317"/>
            <a:ext cx="501650" cy="15240"/>
          </a:xfrm>
          <a:custGeom>
            <a:avLst/>
            <a:gdLst/>
            <a:ahLst/>
            <a:cxnLst/>
            <a:rect l="l" t="t" r="r" b="b"/>
            <a:pathLst>
              <a:path w="501650" h="15240">
                <a:moveTo>
                  <a:pt x="501396" y="0"/>
                </a:moveTo>
                <a:lnTo>
                  <a:pt x="0" y="0"/>
                </a:lnTo>
                <a:lnTo>
                  <a:pt x="0" y="15239"/>
                </a:lnTo>
                <a:lnTo>
                  <a:pt x="501396" y="15239"/>
                </a:lnTo>
                <a:lnTo>
                  <a:pt x="501396" y="0"/>
                </a:lnTo>
                <a:close/>
              </a:path>
            </a:pathLst>
          </a:custGeom>
          <a:solidFill>
            <a:srgbClr val="000000"/>
          </a:solidFill>
        </p:spPr>
        <p:txBody>
          <a:bodyPr wrap="square" lIns="0" tIns="0" rIns="0" bIns="0" rtlCol="0"/>
          <a:lstStyle/>
          <a:p>
            <a:endParaRPr/>
          </a:p>
        </p:txBody>
      </p:sp>
      <p:sp>
        <p:nvSpPr>
          <p:cNvPr id="32" name="object 32"/>
          <p:cNvSpPr txBox="1"/>
          <p:nvPr/>
        </p:nvSpPr>
        <p:spPr>
          <a:xfrm>
            <a:off x="9383521" y="705546"/>
            <a:ext cx="631190" cy="781050"/>
          </a:xfrm>
          <a:prstGeom prst="rect">
            <a:avLst/>
          </a:prstGeom>
        </p:spPr>
        <p:txBody>
          <a:bodyPr vert="horz" wrap="square" lIns="0" tIns="115570" rIns="0" bIns="0" rtlCol="0">
            <a:spAutoFit/>
          </a:bodyPr>
          <a:lstStyle/>
          <a:p>
            <a:pPr marL="38100">
              <a:lnSpc>
                <a:spcPct val="100000"/>
              </a:lnSpc>
              <a:spcBef>
                <a:spcPts val="910"/>
              </a:spcBef>
            </a:pPr>
            <a:r>
              <a:rPr sz="2700" spc="82" baseline="-16975" dirty="0">
                <a:latin typeface="Cambria Math"/>
                <a:cs typeface="Cambria Math"/>
              </a:rPr>
              <a:t>𝑟</a:t>
            </a:r>
            <a:r>
              <a:rPr sz="1300" spc="55" dirty="0">
                <a:latin typeface="Cambria Math"/>
                <a:cs typeface="Cambria Math"/>
              </a:rPr>
              <a:t>2</a:t>
            </a:r>
            <a:endParaRPr sz="1300">
              <a:latin typeface="Cambria Math"/>
              <a:cs typeface="Cambria Math"/>
            </a:endParaRPr>
          </a:p>
          <a:p>
            <a:pPr marL="92710">
              <a:lnSpc>
                <a:spcPct val="100000"/>
              </a:lnSpc>
              <a:spcBef>
                <a:spcPts val="815"/>
              </a:spcBef>
            </a:pPr>
            <a:r>
              <a:rPr sz="1800" dirty="0">
                <a:latin typeface="Cambria Math"/>
                <a:cs typeface="Cambria Math"/>
              </a:rPr>
              <a:t>𝑞1𝑞2</a:t>
            </a:r>
            <a:endParaRPr sz="1800">
              <a:latin typeface="Cambria Math"/>
              <a:cs typeface="Cambria Math"/>
            </a:endParaRPr>
          </a:p>
        </p:txBody>
      </p:sp>
      <p:sp>
        <p:nvSpPr>
          <p:cNvPr id="33" name="object 33"/>
          <p:cNvSpPr txBox="1"/>
          <p:nvPr/>
        </p:nvSpPr>
        <p:spPr>
          <a:xfrm>
            <a:off x="9577069" y="1444497"/>
            <a:ext cx="292100" cy="299720"/>
          </a:xfrm>
          <a:prstGeom prst="rect">
            <a:avLst/>
          </a:prstGeom>
        </p:spPr>
        <p:txBody>
          <a:bodyPr vert="horz" wrap="square" lIns="0" tIns="12700" rIns="0" bIns="0" rtlCol="0">
            <a:spAutoFit/>
          </a:bodyPr>
          <a:lstStyle/>
          <a:p>
            <a:pPr marL="38100">
              <a:lnSpc>
                <a:spcPct val="100000"/>
              </a:lnSpc>
              <a:spcBef>
                <a:spcPts val="100"/>
              </a:spcBef>
            </a:pPr>
            <a:r>
              <a:rPr sz="2700" spc="82" baseline="-16975" dirty="0">
                <a:latin typeface="Cambria Math"/>
                <a:cs typeface="Cambria Math"/>
              </a:rPr>
              <a:t>𝑟</a:t>
            </a:r>
            <a:r>
              <a:rPr sz="1300" spc="55" dirty="0">
                <a:latin typeface="Cambria Math"/>
                <a:cs typeface="Cambria Math"/>
              </a:rPr>
              <a:t>2</a:t>
            </a:r>
            <a:endParaRPr sz="1300">
              <a:latin typeface="Cambria Math"/>
              <a:cs typeface="Cambria Math"/>
            </a:endParaRPr>
          </a:p>
        </p:txBody>
      </p:sp>
      <p:sp>
        <p:nvSpPr>
          <p:cNvPr id="34" name="object 34"/>
          <p:cNvSpPr/>
          <p:nvPr/>
        </p:nvSpPr>
        <p:spPr>
          <a:xfrm>
            <a:off x="10446257" y="1528317"/>
            <a:ext cx="254635" cy="15240"/>
          </a:xfrm>
          <a:custGeom>
            <a:avLst/>
            <a:gdLst/>
            <a:ahLst/>
            <a:cxnLst/>
            <a:rect l="l" t="t" r="r" b="b"/>
            <a:pathLst>
              <a:path w="254634" h="15240">
                <a:moveTo>
                  <a:pt x="254507" y="0"/>
                </a:moveTo>
                <a:lnTo>
                  <a:pt x="0" y="0"/>
                </a:lnTo>
                <a:lnTo>
                  <a:pt x="0" y="15239"/>
                </a:lnTo>
                <a:lnTo>
                  <a:pt x="254507" y="15239"/>
                </a:lnTo>
                <a:lnTo>
                  <a:pt x="254507" y="0"/>
                </a:lnTo>
                <a:close/>
              </a:path>
            </a:pathLst>
          </a:custGeom>
          <a:solidFill>
            <a:srgbClr val="000000"/>
          </a:solidFill>
        </p:spPr>
        <p:txBody>
          <a:bodyPr wrap="square" lIns="0" tIns="0" rIns="0" bIns="0" rtlCol="0"/>
          <a:lstStyle/>
          <a:p>
            <a:endParaRPr/>
          </a:p>
        </p:txBody>
      </p:sp>
      <p:sp>
        <p:nvSpPr>
          <p:cNvPr id="35" name="object 35"/>
          <p:cNvSpPr txBox="1"/>
          <p:nvPr/>
        </p:nvSpPr>
        <p:spPr>
          <a:xfrm>
            <a:off x="10434573" y="1186383"/>
            <a:ext cx="272415" cy="300355"/>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Math"/>
                <a:cs typeface="Cambria Math"/>
              </a:rPr>
              <a:t>𝑞𝑞</a:t>
            </a:r>
            <a:endParaRPr sz="1800">
              <a:latin typeface="Cambria Math"/>
              <a:cs typeface="Cambria Math"/>
            </a:endParaRPr>
          </a:p>
        </p:txBody>
      </p:sp>
      <p:sp>
        <p:nvSpPr>
          <p:cNvPr id="36" name="object 36"/>
          <p:cNvSpPr/>
          <p:nvPr/>
        </p:nvSpPr>
        <p:spPr>
          <a:xfrm>
            <a:off x="11168633" y="1528317"/>
            <a:ext cx="238125" cy="15240"/>
          </a:xfrm>
          <a:custGeom>
            <a:avLst/>
            <a:gdLst/>
            <a:ahLst/>
            <a:cxnLst/>
            <a:rect l="l" t="t" r="r" b="b"/>
            <a:pathLst>
              <a:path w="238125" h="15240">
                <a:moveTo>
                  <a:pt x="237744" y="0"/>
                </a:moveTo>
                <a:lnTo>
                  <a:pt x="0" y="0"/>
                </a:lnTo>
                <a:lnTo>
                  <a:pt x="0" y="15239"/>
                </a:lnTo>
                <a:lnTo>
                  <a:pt x="237744" y="15239"/>
                </a:lnTo>
                <a:lnTo>
                  <a:pt x="237744" y="0"/>
                </a:lnTo>
                <a:close/>
              </a:path>
            </a:pathLst>
          </a:custGeom>
          <a:solidFill>
            <a:srgbClr val="000000"/>
          </a:solidFill>
        </p:spPr>
        <p:txBody>
          <a:bodyPr wrap="square" lIns="0" tIns="0" rIns="0" bIns="0" rtlCol="0"/>
          <a:lstStyle/>
          <a:p>
            <a:endParaRPr/>
          </a:p>
        </p:txBody>
      </p:sp>
      <p:sp>
        <p:nvSpPr>
          <p:cNvPr id="37" name="object 37"/>
          <p:cNvSpPr txBox="1"/>
          <p:nvPr/>
        </p:nvSpPr>
        <p:spPr>
          <a:xfrm>
            <a:off x="11131931" y="1102563"/>
            <a:ext cx="304800" cy="300355"/>
          </a:xfrm>
          <a:prstGeom prst="rect">
            <a:avLst/>
          </a:prstGeom>
        </p:spPr>
        <p:txBody>
          <a:bodyPr vert="horz" wrap="square" lIns="0" tIns="12700" rIns="0" bIns="0" rtlCol="0">
            <a:spAutoFit/>
          </a:bodyPr>
          <a:lstStyle/>
          <a:p>
            <a:pPr marL="38100">
              <a:lnSpc>
                <a:spcPct val="100000"/>
              </a:lnSpc>
              <a:spcBef>
                <a:spcPts val="100"/>
              </a:spcBef>
            </a:pPr>
            <a:r>
              <a:rPr sz="2700" spc="75" baseline="-20061" dirty="0">
                <a:latin typeface="Cambria Math"/>
                <a:cs typeface="Cambria Math"/>
              </a:rPr>
              <a:t>𝑞</a:t>
            </a:r>
            <a:r>
              <a:rPr sz="1300" spc="50" dirty="0">
                <a:latin typeface="Cambria Math"/>
                <a:cs typeface="Cambria Math"/>
              </a:rPr>
              <a:t>2</a:t>
            </a:r>
            <a:endParaRPr sz="1300">
              <a:latin typeface="Cambria Math"/>
              <a:cs typeface="Cambria Math"/>
            </a:endParaRPr>
          </a:p>
        </p:txBody>
      </p:sp>
      <p:sp>
        <p:nvSpPr>
          <p:cNvPr id="38" name="object 38"/>
          <p:cNvSpPr txBox="1"/>
          <p:nvPr/>
        </p:nvSpPr>
        <p:spPr>
          <a:xfrm>
            <a:off x="10003790" y="1360678"/>
            <a:ext cx="1426845" cy="299720"/>
          </a:xfrm>
          <a:prstGeom prst="rect">
            <a:avLst/>
          </a:prstGeom>
        </p:spPr>
        <p:txBody>
          <a:bodyPr vert="horz" wrap="square" lIns="0" tIns="12700" rIns="0" bIns="0" rtlCol="0">
            <a:spAutoFit/>
          </a:bodyPr>
          <a:lstStyle/>
          <a:p>
            <a:pPr marL="38100">
              <a:lnSpc>
                <a:spcPct val="100000"/>
              </a:lnSpc>
              <a:spcBef>
                <a:spcPts val="100"/>
              </a:spcBef>
            </a:pPr>
            <a:r>
              <a:rPr sz="1800" dirty="0">
                <a:latin typeface="Cambria Math"/>
                <a:cs typeface="Cambria Math"/>
              </a:rPr>
              <a:t>=</a:t>
            </a:r>
            <a:r>
              <a:rPr sz="1800" spc="90" dirty="0">
                <a:latin typeface="Cambria Math"/>
                <a:cs typeface="Cambria Math"/>
              </a:rPr>
              <a:t> </a:t>
            </a:r>
            <a:r>
              <a:rPr sz="1800" dirty="0">
                <a:latin typeface="Cambria Math"/>
                <a:cs typeface="Cambria Math"/>
              </a:rPr>
              <a:t>𝑘</a:t>
            </a:r>
            <a:r>
              <a:rPr sz="1800" spc="45" dirty="0">
                <a:latin typeface="Cambria Math"/>
                <a:cs typeface="Cambria Math"/>
              </a:rPr>
              <a:t> </a:t>
            </a:r>
            <a:r>
              <a:rPr sz="2700" spc="82" baseline="-37037" dirty="0">
                <a:latin typeface="Cambria Math"/>
                <a:cs typeface="Cambria Math"/>
              </a:rPr>
              <a:t>𝑟</a:t>
            </a:r>
            <a:r>
              <a:rPr sz="1950" spc="82" baseline="-27777" dirty="0">
                <a:latin typeface="Cambria Math"/>
                <a:cs typeface="Cambria Math"/>
              </a:rPr>
              <a:t>2</a:t>
            </a:r>
            <a:r>
              <a:rPr sz="1950" spc="569" baseline="-27777" dirty="0">
                <a:latin typeface="Cambria Math"/>
                <a:cs typeface="Cambria Math"/>
              </a:rPr>
              <a:t> </a:t>
            </a:r>
            <a:r>
              <a:rPr sz="1800" dirty="0">
                <a:latin typeface="Cambria Math"/>
                <a:cs typeface="Cambria Math"/>
              </a:rPr>
              <a:t>=</a:t>
            </a:r>
            <a:r>
              <a:rPr sz="1800" spc="90" dirty="0">
                <a:latin typeface="Cambria Math"/>
                <a:cs typeface="Cambria Math"/>
              </a:rPr>
              <a:t> </a:t>
            </a:r>
            <a:r>
              <a:rPr sz="1800" dirty="0">
                <a:latin typeface="Cambria Math"/>
                <a:cs typeface="Cambria Math"/>
              </a:rPr>
              <a:t>𝑘</a:t>
            </a:r>
            <a:r>
              <a:rPr sz="1800" spc="-10" dirty="0">
                <a:latin typeface="Cambria Math"/>
                <a:cs typeface="Cambria Math"/>
              </a:rPr>
              <a:t> </a:t>
            </a:r>
            <a:r>
              <a:rPr sz="2700" spc="82" baseline="-37037" dirty="0">
                <a:latin typeface="Cambria Math"/>
                <a:cs typeface="Cambria Math"/>
              </a:rPr>
              <a:t>𝑟</a:t>
            </a:r>
            <a:r>
              <a:rPr sz="1950" spc="82" baseline="-27777" dirty="0">
                <a:latin typeface="Cambria Math"/>
                <a:cs typeface="Cambria Math"/>
              </a:rPr>
              <a:t>2</a:t>
            </a:r>
            <a:endParaRPr sz="1950" baseline="-27777">
              <a:latin typeface="Cambria Math"/>
              <a:cs typeface="Cambria Math"/>
            </a:endParaRPr>
          </a:p>
        </p:txBody>
      </p:sp>
      <p:sp>
        <p:nvSpPr>
          <p:cNvPr id="39" name="object 39"/>
          <p:cNvSpPr/>
          <p:nvPr/>
        </p:nvSpPr>
        <p:spPr>
          <a:xfrm>
            <a:off x="9929621" y="2116582"/>
            <a:ext cx="238125" cy="15240"/>
          </a:xfrm>
          <a:custGeom>
            <a:avLst/>
            <a:gdLst/>
            <a:ahLst/>
            <a:cxnLst/>
            <a:rect l="l" t="t" r="r" b="b"/>
            <a:pathLst>
              <a:path w="238125" h="15239">
                <a:moveTo>
                  <a:pt x="237744" y="0"/>
                </a:moveTo>
                <a:lnTo>
                  <a:pt x="0" y="0"/>
                </a:lnTo>
                <a:lnTo>
                  <a:pt x="0" y="15239"/>
                </a:lnTo>
                <a:lnTo>
                  <a:pt x="237744" y="15239"/>
                </a:lnTo>
                <a:lnTo>
                  <a:pt x="237744" y="0"/>
                </a:lnTo>
                <a:close/>
              </a:path>
            </a:pathLst>
          </a:custGeom>
          <a:solidFill>
            <a:srgbClr val="000000"/>
          </a:solidFill>
        </p:spPr>
        <p:txBody>
          <a:bodyPr wrap="square" lIns="0" tIns="0" rIns="0" bIns="0" rtlCol="0"/>
          <a:lstStyle/>
          <a:p>
            <a:endParaRPr/>
          </a:p>
        </p:txBody>
      </p:sp>
      <p:sp>
        <p:nvSpPr>
          <p:cNvPr id="40" name="object 40"/>
          <p:cNvSpPr txBox="1"/>
          <p:nvPr/>
        </p:nvSpPr>
        <p:spPr>
          <a:xfrm>
            <a:off x="9892538" y="1691385"/>
            <a:ext cx="304800" cy="299720"/>
          </a:xfrm>
          <a:prstGeom prst="rect">
            <a:avLst/>
          </a:prstGeom>
        </p:spPr>
        <p:txBody>
          <a:bodyPr vert="horz" wrap="square" lIns="0" tIns="12700" rIns="0" bIns="0" rtlCol="0">
            <a:spAutoFit/>
          </a:bodyPr>
          <a:lstStyle/>
          <a:p>
            <a:pPr marL="38100">
              <a:lnSpc>
                <a:spcPct val="100000"/>
              </a:lnSpc>
              <a:spcBef>
                <a:spcPts val="100"/>
              </a:spcBef>
            </a:pPr>
            <a:r>
              <a:rPr sz="2700" spc="75" baseline="-20061" dirty="0">
                <a:latin typeface="Cambria Math"/>
                <a:cs typeface="Cambria Math"/>
              </a:rPr>
              <a:t>𝑞</a:t>
            </a:r>
            <a:r>
              <a:rPr sz="1300" spc="50" dirty="0">
                <a:latin typeface="Cambria Math"/>
                <a:cs typeface="Cambria Math"/>
              </a:rPr>
              <a:t>2</a:t>
            </a:r>
            <a:endParaRPr sz="1300">
              <a:latin typeface="Cambria Math"/>
              <a:cs typeface="Cambria Math"/>
            </a:endParaRPr>
          </a:p>
        </p:txBody>
      </p:sp>
      <p:sp>
        <p:nvSpPr>
          <p:cNvPr id="41" name="object 41"/>
          <p:cNvSpPr txBox="1"/>
          <p:nvPr/>
        </p:nvSpPr>
        <p:spPr>
          <a:xfrm>
            <a:off x="9112250" y="1948941"/>
            <a:ext cx="1254125" cy="299720"/>
          </a:xfrm>
          <a:prstGeom prst="rect">
            <a:avLst/>
          </a:prstGeom>
        </p:spPr>
        <p:txBody>
          <a:bodyPr vert="horz" wrap="square" lIns="0" tIns="12700" rIns="0" bIns="0" rtlCol="0">
            <a:spAutoFit/>
          </a:bodyPr>
          <a:lstStyle/>
          <a:p>
            <a:pPr marL="38100">
              <a:lnSpc>
                <a:spcPct val="100000"/>
              </a:lnSpc>
              <a:spcBef>
                <a:spcPts val="100"/>
              </a:spcBef>
            </a:pPr>
            <a:r>
              <a:rPr sz="1800" spc="-50" dirty="0">
                <a:latin typeface="Cambria Math"/>
                <a:cs typeface="Cambria Math"/>
              </a:rPr>
              <a:t>𝐹</a:t>
            </a:r>
            <a:r>
              <a:rPr sz="1950" spc="-75" baseline="-14957" dirty="0">
                <a:latin typeface="Cambria Math"/>
                <a:cs typeface="Cambria Math"/>
              </a:rPr>
              <a:t>12</a:t>
            </a:r>
            <a:r>
              <a:rPr sz="1950" spc="382" baseline="-14957" dirty="0">
                <a:latin typeface="Cambria Math"/>
                <a:cs typeface="Cambria Math"/>
              </a:rPr>
              <a:t> </a:t>
            </a:r>
            <a:r>
              <a:rPr sz="1800" dirty="0">
                <a:latin typeface="Cambria Math"/>
                <a:cs typeface="Cambria Math"/>
              </a:rPr>
              <a:t>=</a:t>
            </a:r>
            <a:r>
              <a:rPr sz="1800" spc="85" dirty="0">
                <a:latin typeface="Cambria Math"/>
                <a:cs typeface="Cambria Math"/>
              </a:rPr>
              <a:t> </a:t>
            </a:r>
            <a:r>
              <a:rPr sz="1800" dirty="0">
                <a:latin typeface="Cambria Math"/>
                <a:cs typeface="Cambria Math"/>
              </a:rPr>
              <a:t>𝑘</a:t>
            </a:r>
            <a:r>
              <a:rPr sz="1800" spc="-25" dirty="0">
                <a:latin typeface="Cambria Math"/>
                <a:cs typeface="Cambria Math"/>
              </a:rPr>
              <a:t> </a:t>
            </a:r>
            <a:r>
              <a:rPr sz="2700" spc="82" baseline="-37037" dirty="0">
                <a:latin typeface="Cambria Math"/>
                <a:cs typeface="Cambria Math"/>
              </a:rPr>
              <a:t>𝑟</a:t>
            </a:r>
            <a:r>
              <a:rPr sz="1950" spc="82" baseline="-27777" dirty="0">
                <a:latin typeface="Cambria Math"/>
                <a:cs typeface="Cambria Math"/>
              </a:rPr>
              <a:t>2</a:t>
            </a:r>
            <a:r>
              <a:rPr sz="1950" spc="179" baseline="-27777" dirty="0">
                <a:latin typeface="Cambria Math"/>
                <a:cs typeface="Cambria Math"/>
              </a:rPr>
              <a:t> </a:t>
            </a:r>
            <a:r>
              <a:rPr sz="1800" spc="-900" dirty="0">
                <a:latin typeface="Cambria Math"/>
                <a:cs typeface="Cambria Math"/>
              </a:rPr>
              <a:t>𝑥ො</a:t>
            </a:r>
            <a:endParaRPr sz="1800">
              <a:latin typeface="Cambria Math"/>
              <a:cs typeface="Cambria Math"/>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932838" y="1622290"/>
            <a:ext cx="303441" cy="304652"/>
          </a:xfrm>
          <a:prstGeom prst="rect">
            <a:avLst/>
          </a:prstGeom>
        </p:spPr>
      </p:pic>
      <p:pic>
        <p:nvPicPr>
          <p:cNvPr id="3" name="object 3"/>
          <p:cNvPicPr/>
          <p:nvPr/>
        </p:nvPicPr>
        <p:blipFill>
          <a:blip r:embed="rId2" cstate="print"/>
          <a:stretch>
            <a:fillRect/>
          </a:stretch>
        </p:blipFill>
        <p:spPr>
          <a:xfrm>
            <a:off x="7422078" y="1477954"/>
            <a:ext cx="529258" cy="528413"/>
          </a:xfrm>
          <a:prstGeom prst="rect">
            <a:avLst/>
          </a:prstGeom>
        </p:spPr>
      </p:pic>
      <p:sp>
        <p:nvSpPr>
          <p:cNvPr id="4" name="object 4"/>
          <p:cNvSpPr txBox="1"/>
          <p:nvPr/>
        </p:nvSpPr>
        <p:spPr>
          <a:xfrm>
            <a:off x="2971926" y="1993519"/>
            <a:ext cx="495934"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q1</a:t>
            </a:r>
            <a:r>
              <a:rPr sz="1800" dirty="0">
                <a:latin typeface="Calibri"/>
                <a:cs typeface="Calibri"/>
              </a:rPr>
              <a:t>=q</a:t>
            </a:r>
            <a:endParaRPr sz="1800">
              <a:latin typeface="Calibri"/>
              <a:cs typeface="Calibri"/>
            </a:endParaRPr>
          </a:p>
        </p:txBody>
      </p:sp>
      <p:sp>
        <p:nvSpPr>
          <p:cNvPr id="5" name="object 5"/>
          <p:cNvSpPr txBox="1"/>
          <p:nvPr/>
        </p:nvSpPr>
        <p:spPr>
          <a:xfrm>
            <a:off x="5064378" y="1987041"/>
            <a:ext cx="61150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q2</a:t>
            </a:r>
            <a:r>
              <a:rPr sz="1800" dirty="0">
                <a:latin typeface="Calibri"/>
                <a:cs typeface="Calibri"/>
              </a:rPr>
              <a:t>=2q</a:t>
            </a:r>
            <a:endParaRPr sz="1800">
              <a:latin typeface="Calibri"/>
              <a:cs typeface="Calibri"/>
            </a:endParaRPr>
          </a:p>
        </p:txBody>
      </p:sp>
      <p:grpSp>
        <p:nvGrpSpPr>
          <p:cNvPr id="6" name="object 6"/>
          <p:cNvGrpSpPr/>
          <p:nvPr/>
        </p:nvGrpSpPr>
        <p:grpSpPr>
          <a:xfrm>
            <a:off x="3192017" y="1495044"/>
            <a:ext cx="6092825" cy="295275"/>
            <a:chOff x="3192017" y="1495044"/>
            <a:chExt cx="6092825" cy="295275"/>
          </a:xfrm>
        </p:grpSpPr>
        <p:sp>
          <p:nvSpPr>
            <p:cNvPr id="7" name="object 7"/>
            <p:cNvSpPr/>
            <p:nvPr/>
          </p:nvSpPr>
          <p:spPr>
            <a:xfrm>
              <a:off x="7981950" y="1675892"/>
              <a:ext cx="1303020" cy="114300"/>
            </a:xfrm>
            <a:custGeom>
              <a:avLst/>
              <a:gdLst/>
              <a:ahLst/>
              <a:cxnLst/>
              <a:rect l="l" t="t" r="r" b="b"/>
              <a:pathLst>
                <a:path w="1303020" h="114300">
                  <a:moveTo>
                    <a:pt x="1188296" y="76284"/>
                  </a:moveTo>
                  <a:lnTo>
                    <a:pt x="1188211" y="114300"/>
                  </a:lnTo>
                  <a:lnTo>
                    <a:pt x="1264581" y="76327"/>
                  </a:lnTo>
                  <a:lnTo>
                    <a:pt x="1207389" y="76327"/>
                  </a:lnTo>
                  <a:lnTo>
                    <a:pt x="1188296" y="76284"/>
                  </a:lnTo>
                  <a:close/>
                </a:path>
                <a:path w="1303020" h="114300">
                  <a:moveTo>
                    <a:pt x="1188381" y="38185"/>
                  </a:moveTo>
                  <a:lnTo>
                    <a:pt x="1188296" y="76284"/>
                  </a:lnTo>
                  <a:lnTo>
                    <a:pt x="1207389" y="76327"/>
                  </a:lnTo>
                  <a:lnTo>
                    <a:pt x="1207389" y="38227"/>
                  </a:lnTo>
                  <a:lnTo>
                    <a:pt x="1188381" y="38185"/>
                  </a:lnTo>
                  <a:close/>
                </a:path>
                <a:path w="1303020" h="114300">
                  <a:moveTo>
                    <a:pt x="1188466" y="0"/>
                  </a:moveTo>
                  <a:lnTo>
                    <a:pt x="1188381" y="38185"/>
                  </a:lnTo>
                  <a:lnTo>
                    <a:pt x="1207389" y="38227"/>
                  </a:lnTo>
                  <a:lnTo>
                    <a:pt x="1207389" y="76327"/>
                  </a:lnTo>
                  <a:lnTo>
                    <a:pt x="1264581" y="76327"/>
                  </a:lnTo>
                  <a:lnTo>
                    <a:pt x="1302639" y="57404"/>
                  </a:lnTo>
                  <a:lnTo>
                    <a:pt x="1188466" y="0"/>
                  </a:lnTo>
                  <a:close/>
                </a:path>
                <a:path w="1303020" h="114300">
                  <a:moveTo>
                    <a:pt x="0" y="35560"/>
                  </a:moveTo>
                  <a:lnTo>
                    <a:pt x="0" y="73660"/>
                  </a:lnTo>
                  <a:lnTo>
                    <a:pt x="1188296" y="76284"/>
                  </a:lnTo>
                  <a:lnTo>
                    <a:pt x="1188381" y="38185"/>
                  </a:lnTo>
                  <a:lnTo>
                    <a:pt x="0" y="35560"/>
                  </a:lnTo>
                  <a:close/>
                </a:path>
              </a:pathLst>
            </a:custGeom>
            <a:solidFill>
              <a:srgbClr val="000000"/>
            </a:solidFill>
          </p:spPr>
          <p:txBody>
            <a:bodyPr wrap="square" lIns="0" tIns="0" rIns="0" bIns="0" rtlCol="0"/>
            <a:lstStyle/>
            <a:p>
              <a:endParaRPr/>
            </a:p>
          </p:txBody>
        </p:sp>
        <p:sp>
          <p:nvSpPr>
            <p:cNvPr id="8" name="object 8"/>
            <p:cNvSpPr/>
            <p:nvPr/>
          </p:nvSpPr>
          <p:spPr>
            <a:xfrm>
              <a:off x="3291839" y="1720596"/>
              <a:ext cx="4070985" cy="41910"/>
            </a:xfrm>
            <a:custGeom>
              <a:avLst/>
              <a:gdLst/>
              <a:ahLst/>
              <a:cxnLst/>
              <a:rect l="l" t="t" r="r" b="b"/>
              <a:pathLst>
                <a:path w="4070984" h="41910">
                  <a:moveTo>
                    <a:pt x="0" y="41655"/>
                  </a:moveTo>
                  <a:lnTo>
                    <a:pt x="4070604" y="0"/>
                  </a:lnTo>
                </a:path>
              </a:pathLst>
            </a:custGeom>
            <a:ln w="9143">
              <a:solidFill>
                <a:srgbClr val="000000"/>
              </a:solidFill>
              <a:prstDash val="sysDash"/>
            </a:ln>
          </p:spPr>
          <p:txBody>
            <a:bodyPr wrap="square" lIns="0" tIns="0" rIns="0" bIns="0" rtlCol="0"/>
            <a:lstStyle/>
            <a:p>
              <a:endParaRPr/>
            </a:p>
          </p:txBody>
        </p:sp>
        <p:sp>
          <p:nvSpPr>
            <p:cNvPr id="9" name="object 9"/>
            <p:cNvSpPr/>
            <p:nvPr/>
          </p:nvSpPr>
          <p:spPr>
            <a:xfrm>
              <a:off x="3192017" y="1495044"/>
              <a:ext cx="1914525" cy="86995"/>
            </a:xfrm>
            <a:custGeom>
              <a:avLst/>
              <a:gdLst/>
              <a:ahLst/>
              <a:cxnLst/>
              <a:rect l="l" t="t" r="r" b="b"/>
              <a:pathLst>
                <a:path w="1914525" h="86994">
                  <a:moveTo>
                    <a:pt x="86868" y="0"/>
                  </a:moveTo>
                  <a:lnTo>
                    <a:pt x="0" y="43433"/>
                  </a:lnTo>
                  <a:lnTo>
                    <a:pt x="86868" y="86867"/>
                  </a:lnTo>
                  <a:lnTo>
                    <a:pt x="86868" y="57911"/>
                  </a:lnTo>
                  <a:lnTo>
                    <a:pt x="72390" y="57911"/>
                  </a:lnTo>
                  <a:lnTo>
                    <a:pt x="72390" y="28955"/>
                  </a:lnTo>
                  <a:lnTo>
                    <a:pt x="86868" y="28955"/>
                  </a:lnTo>
                  <a:lnTo>
                    <a:pt x="86868" y="0"/>
                  </a:lnTo>
                  <a:close/>
                </a:path>
                <a:path w="1914525" h="86994">
                  <a:moveTo>
                    <a:pt x="1827148" y="0"/>
                  </a:moveTo>
                  <a:lnTo>
                    <a:pt x="1827148" y="86867"/>
                  </a:lnTo>
                  <a:lnTo>
                    <a:pt x="1885061" y="57911"/>
                  </a:lnTo>
                  <a:lnTo>
                    <a:pt x="1841627" y="57911"/>
                  </a:lnTo>
                  <a:lnTo>
                    <a:pt x="1841627" y="28955"/>
                  </a:lnTo>
                  <a:lnTo>
                    <a:pt x="1885060" y="28955"/>
                  </a:lnTo>
                  <a:lnTo>
                    <a:pt x="1827148" y="0"/>
                  </a:lnTo>
                  <a:close/>
                </a:path>
                <a:path w="1914525" h="86994">
                  <a:moveTo>
                    <a:pt x="86868" y="28955"/>
                  </a:moveTo>
                  <a:lnTo>
                    <a:pt x="72390" y="28955"/>
                  </a:lnTo>
                  <a:lnTo>
                    <a:pt x="72390" y="57911"/>
                  </a:lnTo>
                  <a:lnTo>
                    <a:pt x="86868" y="57911"/>
                  </a:lnTo>
                  <a:lnTo>
                    <a:pt x="86868" y="28955"/>
                  </a:lnTo>
                  <a:close/>
                </a:path>
                <a:path w="1914525" h="86994">
                  <a:moveTo>
                    <a:pt x="1827148" y="28955"/>
                  </a:moveTo>
                  <a:lnTo>
                    <a:pt x="86868" y="28955"/>
                  </a:lnTo>
                  <a:lnTo>
                    <a:pt x="86868" y="57911"/>
                  </a:lnTo>
                  <a:lnTo>
                    <a:pt x="1827148" y="57911"/>
                  </a:lnTo>
                  <a:lnTo>
                    <a:pt x="1827148" y="28955"/>
                  </a:lnTo>
                  <a:close/>
                </a:path>
                <a:path w="1914525" h="86994">
                  <a:moveTo>
                    <a:pt x="1885060" y="28955"/>
                  </a:moveTo>
                  <a:lnTo>
                    <a:pt x="1841627" y="28955"/>
                  </a:lnTo>
                  <a:lnTo>
                    <a:pt x="1841627" y="57911"/>
                  </a:lnTo>
                  <a:lnTo>
                    <a:pt x="1885061" y="57911"/>
                  </a:lnTo>
                  <a:lnTo>
                    <a:pt x="1914017" y="43433"/>
                  </a:lnTo>
                  <a:lnTo>
                    <a:pt x="1885060" y="28955"/>
                  </a:lnTo>
                  <a:close/>
                </a:path>
              </a:pathLst>
            </a:custGeom>
            <a:solidFill>
              <a:srgbClr val="000000"/>
            </a:solidFill>
          </p:spPr>
          <p:txBody>
            <a:bodyPr wrap="square" lIns="0" tIns="0" rIns="0" bIns="0" rtlCol="0"/>
            <a:lstStyle/>
            <a:p>
              <a:endParaRPr/>
            </a:p>
          </p:txBody>
        </p:sp>
      </p:grpSp>
      <p:sp>
        <p:nvSpPr>
          <p:cNvPr id="10" name="object 10"/>
          <p:cNvSpPr txBox="1"/>
          <p:nvPr/>
        </p:nvSpPr>
        <p:spPr>
          <a:xfrm>
            <a:off x="209499" y="200355"/>
            <a:ext cx="3321685" cy="300355"/>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0000"/>
                </a:solidFill>
                <a:latin typeface="Calibri"/>
                <a:cs typeface="Calibri"/>
              </a:rPr>
              <a:t>Find</a:t>
            </a:r>
            <a:r>
              <a:rPr sz="1800" spc="5" dirty="0">
                <a:solidFill>
                  <a:srgbClr val="FF0000"/>
                </a:solidFill>
                <a:latin typeface="Calibri"/>
                <a:cs typeface="Calibri"/>
              </a:rPr>
              <a:t> </a:t>
            </a:r>
            <a:r>
              <a:rPr sz="1800" spc="-20" dirty="0">
                <a:solidFill>
                  <a:srgbClr val="FF0000"/>
                </a:solidFill>
                <a:latin typeface="Calibri"/>
                <a:cs typeface="Calibri"/>
              </a:rPr>
              <a:t>force</a:t>
            </a:r>
            <a:r>
              <a:rPr sz="1800" spc="-5" dirty="0">
                <a:solidFill>
                  <a:srgbClr val="FF0000"/>
                </a:solidFill>
                <a:latin typeface="Calibri"/>
                <a:cs typeface="Calibri"/>
              </a:rPr>
              <a:t> </a:t>
            </a:r>
            <a:r>
              <a:rPr sz="1800" dirty="0">
                <a:solidFill>
                  <a:srgbClr val="FF0000"/>
                </a:solidFill>
                <a:latin typeface="Calibri"/>
                <a:cs typeface="Calibri"/>
              </a:rPr>
              <a:t>F</a:t>
            </a:r>
            <a:r>
              <a:rPr sz="1800" spc="5" dirty="0">
                <a:solidFill>
                  <a:srgbClr val="FF0000"/>
                </a:solidFill>
                <a:latin typeface="Calibri"/>
                <a:cs typeface="Calibri"/>
              </a:rPr>
              <a:t> </a:t>
            </a:r>
            <a:r>
              <a:rPr sz="1800" spc="-5" dirty="0">
                <a:solidFill>
                  <a:srgbClr val="FF0000"/>
                </a:solidFill>
                <a:latin typeface="Calibri"/>
                <a:cs typeface="Calibri"/>
              </a:rPr>
              <a:t>on q3</a:t>
            </a:r>
            <a:r>
              <a:rPr sz="1800" dirty="0">
                <a:solidFill>
                  <a:srgbClr val="FF0000"/>
                </a:solidFill>
                <a:latin typeface="Calibri"/>
                <a:cs typeface="Calibri"/>
              </a:rPr>
              <a:t> </a:t>
            </a:r>
            <a:r>
              <a:rPr sz="1800" spc="-5" dirty="0">
                <a:solidFill>
                  <a:srgbClr val="FF0000"/>
                </a:solidFill>
                <a:latin typeface="Calibri"/>
                <a:cs typeface="Calibri"/>
              </a:rPr>
              <a:t>due</a:t>
            </a:r>
            <a:r>
              <a:rPr sz="1800" spc="5" dirty="0">
                <a:solidFill>
                  <a:srgbClr val="FF0000"/>
                </a:solidFill>
                <a:latin typeface="Calibri"/>
                <a:cs typeface="Calibri"/>
              </a:rPr>
              <a:t> </a:t>
            </a:r>
            <a:r>
              <a:rPr sz="1800" spc="-10" dirty="0">
                <a:solidFill>
                  <a:srgbClr val="FF0000"/>
                </a:solidFill>
                <a:latin typeface="Calibri"/>
                <a:cs typeface="Calibri"/>
              </a:rPr>
              <a:t>to </a:t>
            </a:r>
            <a:r>
              <a:rPr sz="1800" spc="-5" dirty="0">
                <a:solidFill>
                  <a:srgbClr val="FF0000"/>
                </a:solidFill>
                <a:latin typeface="Calibri"/>
                <a:cs typeface="Calibri"/>
              </a:rPr>
              <a:t>q1 </a:t>
            </a:r>
            <a:r>
              <a:rPr sz="1800" dirty="0">
                <a:solidFill>
                  <a:srgbClr val="FF0000"/>
                </a:solidFill>
                <a:latin typeface="Calibri"/>
                <a:cs typeface="Calibri"/>
              </a:rPr>
              <a:t>and</a:t>
            </a:r>
            <a:r>
              <a:rPr sz="1800" spc="5" dirty="0">
                <a:solidFill>
                  <a:srgbClr val="FF0000"/>
                </a:solidFill>
                <a:latin typeface="Calibri"/>
                <a:cs typeface="Calibri"/>
              </a:rPr>
              <a:t> </a:t>
            </a:r>
            <a:r>
              <a:rPr sz="1800" spc="-5" dirty="0">
                <a:solidFill>
                  <a:srgbClr val="FF0000"/>
                </a:solidFill>
                <a:latin typeface="Calibri"/>
                <a:cs typeface="Calibri"/>
              </a:rPr>
              <a:t>q2</a:t>
            </a:r>
            <a:endParaRPr sz="1800">
              <a:latin typeface="Calibri"/>
              <a:cs typeface="Calibri"/>
            </a:endParaRPr>
          </a:p>
        </p:txBody>
      </p:sp>
      <p:sp>
        <p:nvSpPr>
          <p:cNvPr id="11" name="object 11"/>
          <p:cNvSpPr txBox="1"/>
          <p:nvPr/>
        </p:nvSpPr>
        <p:spPr>
          <a:xfrm>
            <a:off x="4017009" y="200914"/>
            <a:ext cx="59817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Math"/>
                <a:cs typeface="Cambria Math"/>
              </a:rPr>
              <a:t>𝐹</a:t>
            </a:r>
            <a:r>
              <a:rPr sz="1800" spc="120" dirty="0">
                <a:latin typeface="Cambria Math"/>
                <a:cs typeface="Cambria Math"/>
              </a:rPr>
              <a:t> </a:t>
            </a:r>
            <a:r>
              <a:rPr sz="1800" dirty="0">
                <a:latin typeface="Cambria Math"/>
                <a:cs typeface="Cambria Math"/>
              </a:rPr>
              <a:t>=</a:t>
            </a:r>
            <a:r>
              <a:rPr sz="1800" spc="60" dirty="0">
                <a:latin typeface="Cambria Math"/>
                <a:cs typeface="Cambria Math"/>
              </a:rPr>
              <a:t> </a:t>
            </a:r>
            <a:r>
              <a:rPr sz="1800" dirty="0">
                <a:latin typeface="Cambria Math"/>
                <a:cs typeface="Cambria Math"/>
              </a:rPr>
              <a:t>𝑘</a:t>
            </a:r>
            <a:endParaRPr sz="1800">
              <a:latin typeface="Cambria Math"/>
              <a:cs typeface="Cambria Math"/>
            </a:endParaRPr>
          </a:p>
        </p:txBody>
      </p:sp>
      <p:sp>
        <p:nvSpPr>
          <p:cNvPr id="12" name="object 12"/>
          <p:cNvSpPr/>
          <p:nvPr/>
        </p:nvSpPr>
        <p:spPr>
          <a:xfrm>
            <a:off x="4646548" y="368808"/>
            <a:ext cx="501650" cy="15240"/>
          </a:xfrm>
          <a:custGeom>
            <a:avLst/>
            <a:gdLst/>
            <a:ahLst/>
            <a:cxnLst/>
            <a:rect l="l" t="t" r="r" b="b"/>
            <a:pathLst>
              <a:path w="501650" h="15239">
                <a:moveTo>
                  <a:pt x="501396" y="0"/>
                </a:moveTo>
                <a:lnTo>
                  <a:pt x="0" y="0"/>
                </a:lnTo>
                <a:lnTo>
                  <a:pt x="0" y="15239"/>
                </a:lnTo>
                <a:lnTo>
                  <a:pt x="501396" y="15239"/>
                </a:lnTo>
                <a:lnTo>
                  <a:pt x="501396" y="0"/>
                </a:lnTo>
                <a:close/>
              </a:path>
            </a:pathLst>
          </a:custGeom>
          <a:solidFill>
            <a:srgbClr val="000000"/>
          </a:solidFill>
        </p:spPr>
        <p:txBody>
          <a:bodyPr wrap="square" lIns="0" tIns="0" rIns="0" bIns="0" rtlCol="0"/>
          <a:lstStyle/>
          <a:p>
            <a:endParaRPr/>
          </a:p>
        </p:txBody>
      </p:sp>
      <p:sp>
        <p:nvSpPr>
          <p:cNvPr id="13" name="object 13"/>
          <p:cNvSpPr txBox="1"/>
          <p:nvPr/>
        </p:nvSpPr>
        <p:spPr>
          <a:xfrm>
            <a:off x="4634229" y="26619"/>
            <a:ext cx="525780" cy="300355"/>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Math"/>
                <a:cs typeface="Cambria Math"/>
              </a:rPr>
              <a:t>𝑞</a:t>
            </a:r>
            <a:r>
              <a:rPr sz="1800" spc="-5" dirty="0">
                <a:latin typeface="Cambria Math"/>
                <a:cs typeface="Cambria Math"/>
              </a:rPr>
              <a:t>1</a:t>
            </a:r>
            <a:r>
              <a:rPr sz="1800" dirty="0">
                <a:latin typeface="Cambria Math"/>
                <a:cs typeface="Cambria Math"/>
              </a:rPr>
              <a:t>𝑞2</a:t>
            </a:r>
            <a:endParaRPr sz="1800">
              <a:latin typeface="Cambria Math"/>
              <a:cs typeface="Cambria Math"/>
            </a:endParaRPr>
          </a:p>
        </p:txBody>
      </p:sp>
      <p:sp>
        <p:nvSpPr>
          <p:cNvPr id="14" name="object 14"/>
          <p:cNvSpPr txBox="1"/>
          <p:nvPr/>
        </p:nvSpPr>
        <p:spPr>
          <a:xfrm>
            <a:off x="4745990" y="284734"/>
            <a:ext cx="292100" cy="299720"/>
          </a:xfrm>
          <a:prstGeom prst="rect">
            <a:avLst/>
          </a:prstGeom>
        </p:spPr>
        <p:txBody>
          <a:bodyPr vert="horz" wrap="square" lIns="0" tIns="12700" rIns="0" bIns="0" rtlCol="0">
            <a:spAutoFit/>
          </a:bodyPr>
          <a:lstStyle/>
          <a:p>
            <a:pPr marL="38100">
              <a:lnSpc>
                <a:spcPct val="100000"/>
              </a:lnSpc>
              <a:spcBef>
                <a:spcPts val="100"/>
              </a:spcBef>
            </a:pPr>
            <a:r>
              <a:rPr sz="2700" spc="82" baseline="-16975" dirty="0">
                <a:latin typeface="Cambria Math"/>
                <a:cs typeface="Cambria Math"/>
              </a:rPr>
              <a:t>𝑟</a:t>
            </a:r>
            <a:r>
              <a:rPr sz="1300" spc="55" dirty="0">
                <a:latin typeface="Cambria Math"/>
                <a:cs typeface="Cambria Math"/>
              </a:rPr>
              <a:t>2</a:t>
            </a:r>
            <a:endParaRPr sz="1300">
              <a:latin typeface="Cambria Math"/>
              <a:cs typeface="Cambria Math"/>
            </a:endParaRPr>
          </a:p>
        </p:txBody>
      </p:sp>
      <p:sp>
        <p:nvSpPr>
          <p:cNvPr id="15" name="object 15"/>
          <p:cNvSpPr/>
          <p:nvPr/>
        </p:nvSpPr>
        <p:spPr>
          <a:xfrm>
            <a:off x="5702680" y="368808"/>
            <a:ext cx="478790" cy="15240"/>
          </a:xfrm>
          <a:custGeom>
            <a:avLst/>
            <a:gdLst/>
            <a:ahLst/>
            <a:cxnLst/>
            <a:rect l="l" t="t" r="r" b="b"/>
            <a:pathLst>
              <a:path w="478789" h="15239">
                <a:moveTo>
                  <a:pt x="478536" y="0"/>
                </a:moveTo>
                <a:lnTo>
                  <a:pt x="0" y="0"/>
                </a:lnTo>
                <a:lnTo>
                  <a:pt x="0" y="15239"/>
                </a:lnTo>
                <a:lnTo>
                  <a:pt x="478536" y="15239"/>
                </a:lnTo>
                <a:lnTo>
                  <a:pt x="478536" y="0"/>
                </a:lnTo>
                <a:close/>
              </a:path>
            </a:pathLst>
          </a:custGeom>
          <a:solidFill>
            <a:srgbClr val="000000"/>
          </a:solidFill>
        </p:spPr>
        <p:txBody>
          <a:bodyPr wrap="square" lIns="0" tIns="0" rIns="0" bIns="0" rtlCol="0"/>
          <a:lstStyle/>
          <a:p>
            <a:endParaRPr/>
          </a:p>
        </p:txBody>
      </p:sp>
      <p:sp>
        <p:nvSpPr>
          <p:cNvPr id="16" name="object 16"/>
          <p:cNvSpPr txBox="1"/>
          <p:nvPr/>
        </p:nvSpPr>
        <p:spPr>
          <a:xfrm>
            <a:off x="5866003" y="26619"/>
            <a:ext cx="152400" cy="300355"/>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Math"/>
                <a:cs typeface="Cambria Math"/>
              </a:rPr>
              <a:t>1</a:t>
            </a:r>
            <a:endParaRPr sz="1800">
              <a:latin typeface="Cambria Math"/>
              <a:cs typeface="Cambria Math"/>
            </a:endParaRPr>
          </a:p>
        </p:txBody>
      </p:sp>
      <p:sp>
        <p:nvSpPr>
          <p:cNvPr id="17" name="object 17"/>
          <p:cNvSpPr txBox="1"/>
          <p:nvPr/>
        </p:nvSpPr>
        <p:spPr>
          <a:xfrm>
            <a:off x="5148707" y="200914"/>
            <a:ext cx="963930" cy="299720"/>
          </a:xfrm>
          <a:prstGeom prst="rect">
            <a:avLst/>
          </a:prstGeom>
        </p:spPr>
        <p:txBody>
          <a:bodyPr vert="horz" wrap="square" lIns="0" tIns="12700" rIns="0" bIns="0" rtlCol="0">
            <a:spAutoFit/>
          </a:bodyPr>
          <a:lstStyle/>
          <a:p>
            <a:pPr marL="38100">
              <a:lnSpc>
                <a:spcPct val="100000"/>
              </a:lnSpc>
              <a:spcBef>
                <a:spcPts val="100"/>
              </a:spcBef>
            </a:pPr>
            <a:r>
              <a:rPr sz="1800" dirty="0">
                <a:latin typeface="Cambria Math"/>
                <a:cs typeface="Cambria Math"/>
              </a:rPr>
              <a:t>,</a:t>
            </a:r>
            <a:r>
              <a:rPr sz="1800" spc="-95" dirty="0">
                <a:latin typeface="Cambria Math"/>
                <a:cs typeface="Cambria Math"/>
              </a:rPr>
              <a:t> </a:t>
            </a:r>
            <a:r>
              <a:rPr sz="1800" dirty="0">
                <a:latin typeface="Cambria Math"/>
                <a:cs typeface="Cambria Math"/>
              </a:rPr>
              <a:t>𝑘</a:t>
            </a:r>
            <a:r>
              <a:rPr sz="1800" spc="145" dirty="0">
                <a:latin typeface="Cambria Math"/>
                <a:cs typeface="Cambria Math"/>
              </a:rPr>
              <a:t> </a:t>
            </a:r>
            <a:r>
              <a:rPr sz="1800" dirty="0">
                <a:latin typeface="Cambria Math"/>
                <a:cs typeface="Cambria Math"/>
              </a:rPr>
              <a:t>=</a:t>
            </a:r>
            <a:r>
              <a:rPr sz="1800" spc="114" dirty="0">
                <a:latin typeface="Cambria Math"/>
                <a:cs typeface="Cambria Math"/>
              </a:rPr>
              <a:t> </a:t>
            </a:r>
            <a:r>
              <a:rPr sz="2700" spc="-7" baseline="-37037" dirty="0">
                <a:latin typeface="Cambria Math"/>
                <a:cs typeface="Cambria Math"/>
              </a:rPr>
              <a:t>4</a:t>
            </a:r>
            <a:r>
              <a:rPr sz="2700" spc="52" baseline="-37037" dirty="0">
                <a:latin typeface="Cambria Math"/>
                <a:cs typeface="Cambria Math"/>
              </a:rPr>
              <a:t>𝜋</a:t>
            </a:r>
            <a:r>
              <a:rPr sz="2700" baseline="-37037" dirty="0">
                <a:latin typeface="Cambria Math"/>
                <a:cs typeface="Cambria Math"/>
              </a:rPr>
              <a:t>𝜀</a:t>
            </a:r>
            <a:endParaRPr sz="2700" baseline="-37037">
              <a:latin typeface="Cambria Math"/>
              <a:cs typeface="Cambria Math"/>
            </a:endParaRPr>
          </a:p>
        </p:txBody>
      </p:sp>
      <p:sp>
        <p:nvSpPr>
          <p:cNvPr id="18" name="object 18"/>
          <p:cNvSpPr txBox="1"/>
          <p:nvPr/>
        </p:nvSpPr>
        <p:spPr>
          <a:xfrm>
            <a:off x="6056503" y="461518"/>
            <a:ext cx="124460" cy="226695"/>
          </a:xfrm>
          <a:prstGeom prst="rect">
            <a:avLst/>
          </a:prstGeom>
        </p:spPr>
        <p:txBody>
          <a:bodyPr vert="horz" wrap="square" lIns="0" tIns="15240" rIns="0" bIns="0" rtlCol="0">
            <a:spAutoFit/>
          </a:bodyPr>
          <a:lstStyle/>
          <a:p>
            <a:pPr marL="12700">
              <a:lnSpc>
                <a:spcPct val="100000"/>
              </a:lnSpc>
              <a:spcBef>
                <a:spcPts val="120"/>
              </a:spcBef>
            </a:pPr>
            <a:r>
              <a:rPr sz="1300" spc="155" dirty="0">
                <a:latin typeface="Cambria Math"/>
                <a:cs typeface="Cambria Math"/>
              </a:rPr>
              <a:t>𝑜</a:t>
            </a:r>
            <a:endParaRPr sz="1300">
              <a:latin typeface="Cambria Math"/>
              <a:cs typeface="Cambria Math"/>
            </a:endParaRPr>
          </a:p>
        </p:txBody>
      </p:sp>
      <p:sp>
        <p:nvSpPr>
          <p:cNvPr id="19" name="object 19"/>
          <p:cNvSpPr txBox="1"/>
          <p:nvPr/>
        </p:nvSpPr>
        <p:spPr>
          <a:xfrm>
            <a:off x="3978909" y="1187322"/>
            <a:ext cx="10541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r</a:t>
            </a:r>
            <a:endParaRPr sz="1800">
              <a:latin typeface="Calibri"/>
              <a:cs typeface="Calibri"/>
            </a:endParaRPr>
          </a:p>
        </p:txBody>
      </p:sp>
      <p:sp>
        <p:nvSpPr>
          <p:cNvPr id="20" name="object 20"/>
          <p:cNvSpPr/>
          <p:nvPr/>
        </p:nvSpPr>
        <p:spPr>
          <a:xfrm>
            <a:off x="9301353" y="1154938"/>
            <a:ext cx="238125" cy="15240"/>
          </a:xfrm>
          <a:custGeom>
            <a:avLst/>
            <a:gdLst/>
            <a:ahLst/>
            <a:cxnLst/>
            <a:rect l="l" t="t" r="r" b="b"/>
            <a:pathLst>
              <a:path w="238125" h="15240">
                <a:moveTo>
                  <a:pt x="237744" y="0"/>
                </a:moveTo>
                <a:lnTo>
                  <a:pt x="0" y="0"/>
                </a:lnTo>
                <a:lnTo>
                  <a:pt x="0" y="15239"/>
                </a:lnTo>
                <a:lnTo>
                  <a:pt x="237744" y="15239"/>
                </a:lnTo>
                <a:lnTo>
                  <a:pt x="237744" y="0"/>
                </a:lnTo>
                <a:close/>
              </a:path>
            </a:pathLst>
          </a:custGeom>
          <a:solidFill>
            <a:srgbClr val="000000"/>
          </a:solidFill>
        </p:spPr>
        <p:txBody>
          <a:bodyPr wrap="square" lIns="0" tIns="0" rIns="0" bIns="0" rtlCol="0"/>
          <a:lstStyle/>
          <a:p>
            <a:endParaRPr/>
          </a:p>
        </p:txBody>
      </p:sp>
      <p:sp>
        <p:nvSpPr>
          <p:cNvPr id="21" name="object 21"/>
          <p:cNvSpPr txBox="1"/>
          <p:nvPr/>
        </p:nvSpPr>
        <p:spPr>
          <a:xfrm>
            <a:off x="8482583" y="729488"/>
            <a:ext cx="1256030" cy="557530"/>
          </a:xfrm>
          <a:prstGeom prst="rect">
            <a:avLst/>
          </a:prstGeom>
        </p:spPr>
        <p:txBody>
          <a:bodyPr vert="horz" wrap="square" lIns="0" tIns="12700" rIns="0" bIns="0" rtlCol="0">
            <a:spAutoFit/>
          </a:bodyPr>
          <a:lstStyle/>
          <a:p>
            <a:pPr marL="819785">
              <a:lnSpc>
                <a:spcPts val="2095"/>
              </a:lnSpc>
              <a:spcBef>
                <a:spcPts val="100"/>
              </a:spcBef>
            </a:pPr>
            <a:r>
              <a:rPr sz="2700" spc="75" baseline="-20061" dirty="0">
                <a:latin typeface="Cambria Math"/>
                <a:cs typeface="Cambria Math"/>
              </a:rPr>
              <a:t>𝑞</a:t>
            </a:r>
            <a:r>
              <a:rPr sz="1300" spc="50" dirty="0">
                <a:latin typeface="Cambria Math"/>
                <a:cs typeface="Cambria Math"/>
              </a:rPr>
              <a:t>2</a:t>
            </a:r>
            <a:endParaRPr sz="1300">
              <a:latin typeface="Cambria Math"/>
              <a:cs typeface="Cambria Math"/>
            </a:endParaRPr>
          </a:p>
          <a:p>
            <a:pPr marL="38100">
              <a:lnSpc>
                <a:spcPts val="2095"/>
              </a:lnSpc>
            </a:pPr>
            <a:r>
              <a:rPr sz="1800" spc="-50" dirty="0">
                <a:latin typeface="Cambria Math"/>
                <a:cs typeface="Cambria Math"/>
              </a:rPr>
              <a:t>𝐹</a:t>
            </a:r>
            <a:r>
              <a:rPr sz="1950" spc="-75" baseline="-14957" dirty="0">
                <a:latin typeface="Cambria Math"/>
                <a:cs typeface="Cambria Math"/>
              </a:rPr>
              <a:t>13</a:t>
            </a:r>
            <a:r>
              <a:rPr sz="1950" spc="359" baseline="-14957" dirty="0">
                <a:latin typeface="Cambria Math"/>
                <a:cs typeface="Cambria Math"/>
              </a:rPr>
              <a:t> </a:t>
            </a:r>
            <a:r>
              <a:rPr sz="1800" dirty="0">
                <a:latin typeface="Cambria Math"/>
                <a:cs typeface="Cambria Math"/>
              </a:rPr>
              <a:t>=</a:t>
            </a:r>
            <a:r>
              <a:rPr sz="1800" spc="85" dirty="0">
                <a:latin typeface="Cambria Math"/>
                <a:cs typeface="Cambria Math"/>
              </a:rPr>
              <a:t> </a:t>
            </a:r>
            <a:r>
              <a:rPr sz="1800" dirty="0">
                <a:latin typeface="Cambria Math"/>
                <a:cs typeface="Cambria Math"/>
              </a:rPr>
              <a:t>𝑘</a:t>
            </a:r>
            <a:r>
              <a:rPr sz="1800" spc="-15" dirty="0">
                <a:latin typeface="Cambria Math"/>
                <a:cs typeface="Cambria Math"/>
              </a:rPr>
              <a:t> </a:t>
            </a:r>
            <a:r>
              <a:rPr sz="2700" spc="89" baseline="-37037" dirty="0">
                <a:latin typeface="Cambria Math"/>
                <a:cs typeface="Cambria Math"/>
              </a:rPr>
              <a:t>𝑟</a:t>
            </a:r>
            <a:r>
              <a:rPr sz="1950" spc="89" baseline="-27777" dirty="0">
                <a:latin typeface="Cambria Math"/>
                <a:cs typeface="Cambria Math"/>
              </a:rPr>
              <a:t>2</a:t>
            </a:r>
            <a:r>
              <a:rPr sz="1950" spc="179" baseline="-27777" dirty="0">
                <a:latin typeface="Cambria Math"/>
                <a:cs typeface="Cambria Math"/>
              </a:rPr>
              <a:t> </a:t>
            </a:r>
            <a:r>
              <a:rPr sz="1800" spc="-900" dirty="0">
                <a:latin typeface="Cambria Math"/>
                <a:cs typeface="Cambria Math"/>
              </a:rPr>
              <a:t>𝑥ො</a:t>
            </a:r>
            <a:endParaRPr sz="1800">
              <a:latin typeface="Cambria Math"/>
              <a:cs typeface="Cambria Math"/>
            </a:endParaRPr>
          </a:p>
        </p:txBody>
      </p:sp>
      <p:grpSp>
        <p:nvGrpSpPr>
          <p:cNvPr id="22" name="object 22"/>
          <p:cNvGrpSpPr/>
          <p:nvPr/>
        </p:nvGrpSpPr>
        <p:grpSpPr>
          <a:xfrm>
            <a:off x="5105400" y="1463039"/>
            <a:ext cx="5189220" cy="573405"/>
            <a:chOff x="5105400" y="1463039"/>
            <a:chExt cx="5189220" cy="573405"/>
          </a:xfrm>
        </p:grpSpPr>
        <p:pic>
          <p:nvPicPr>
            <p:cNvPr id="23" name="object 23"/>
            <p:cNvPicPr/>
            <p:nvPr/>
          </p:nvPicPr>
          <p:blipFill>
            <a:blip r:embed="rId3" cstate="print"/>
            <a:stretch>
              <a:fillRect/>
            </a:stretch>
          </p:blipFill>
          <p:spPr>
            <a:xfrm>
              <a:off x="5105400" y="1467611"/>
              <a:ext cx="560831" cy="568451"/>
            </a:xfrm>
            <a:prstGeom prst="rect">
              <a:avLst/>
            </a:prstGeom>
          </p:spPr>
        </p:pic>
        <p:sp>
          <p:nvSpPr>
            <p:cNvPr id="24" name="object 24"/>
            <p:cNvSpPr/>
            <p:nvPr/>
          </p:nvSpPr>
          <p:spPr>
            <a:xfrm>
              <a:off x="5525262" y="1463039"/>
              <a:ext cx="4769485" cy="124460"/>
            </a:xfrm>
            <a:custGeom>
              <a:avLst/>
              <a:gdLst/>
              <a:ahLst/>
              <a:cxnLst/>
              <a:rect l="l" t="t" r="r" b="b"/>
              <a:pathLst>
                <a:path w="4769484" h="124459">
                  <a:moveTo>
                    <a:pt x="1931416" y="41910"/>
                  </a:moveTo>
                  <a:lnTo>
                    <a:pt x="1903793" y="28702"/>
                  </a:lnTo>
                  <a:lnTo>
                    <a:pt x="1843786" y="0"/>
                  </a:lnTo>
                  <a:lnTo>
                    <a:pt x="1844281" y="28956"/>
                  </a:lnTo>
                  <a:lnTo>
                    <a:pt x="86614" y="59702"/>
                  </a:lnTo>
                  <a:lnTo>
                    <a:pt x="86106" y="30734"/>
                  </a:lnTo>
                  <a:lnTo>
                    <a:pt x="0" y="75692"/>
                  </a:lnTo>
                  <a:lnTo>
                    <a:pt x="87630" y="117602"/>
                  </a:lnTo>
                  <a:lnTo>
                    <a:pt x="87122" y="88900"/>
                  </a:lnTo>
                  <a:lnTo>
                    <a:pt x="87122" y="88658"/>
                  </a:lnTo>
                  <a:lnTo>
                    <a:pt x="1844789" y="57912"/>
                  </a:lnTo>
                  <a:lnTo>
                    <a:pt x="1845310" y="86868"/>
                  </a:lnTo>
                  <a:lnTo>
                    <a:pt x="1931416" y="41910"/>
                  </a:lnTo>
                  <a:close/>
                </a:path>
                <a:path w="4769484" h="124459">
                  <a:moveTo>
                    <a:pt x="4769231" y="66294"/>
                  </a:moveTo>
                  <a:lnTo>
                    <a:pt x="4731778" y="47879"/>
                  </a:lnTo>
                  <a:lnTo>
                    <a:pt x="4654550" y="9906"/>
                  </a:lnTo>
                  <a:lnTo>
                    <a:pt x="4654791" y="48006"/>
                  </a:lnTo>
                  <a:lnTo>
                    <a:pt x="2445893" y="62611"/>
                  </a:lnTo>
                  <a:lnTo>
                    <a:pt x="2446147" y="100711"/>
                  </a:lnTo>
                  <a:lnTo>
                    <a:pt x="4655045" y="86106"/>
                  </a:lnTo>
                  <a:lnTo>
                    <a:pt x="4655312" y="124206"/>
                  </a:lnTo>
                  <a:lnTo>
                    <a:pt x="4769231" y="66294"/>
                  </a:lnTo>
                  <a:close/>
                </a:path>
              </a:pathLst>
            </a:custGeom>
            <a:solidFill>
              <a:srgbClr val="000000"/>
            </a:solidFill>
          </p:spPr>
          <p:txBody>
            <a:bodyPr wrap="square" lIns="0" tIns="0" rIns="0" bIns="0" rtlCol="0"/>
            <a:lstStyle/>
            <a:p>
              <a:endParaRPr/>
            </a:p>
          </p:txBody>
        </p:sp>
      </p:grpSp>
      <p:sp>
        <p:nvSpPr>
          <p:cNvPr id="25" name="object 25"/>
          <p:cNvSpPr txBox="1"/>
          <p:nvPr/>
        </p:nvSpPr>
        <p:spPr>
          <a:xfrm>
            <a:off x="7360284" y="1817623"/>
            <a:ext cx="949325" cy="477520"/>
          </a:xfrm>
          <a:prstGeom prst="rect">
            <a:avLst/>
          </a:prstGeom>
        </p:spPr>
        <p:txBody>
          <a:bodyPr vert="horz" wrap="square" lIns="0" tIns="12700" rIns="0" bIns="0" rtlCol="0">
            <a:spAutoFit/>
          </a:bodyPr>
          <a:lstStyle/>
          <a:p>
            <a:pPr marL="601980">
              <a:lnSpc>
                <a:spcPts val="1780"/>
              </a:lnSpc>
              <a:spcBef>
                <a:spcPts val="100"/>
              </a:spcBef>
            </a:pPr>
            <a:r>
              <a:rPr sz="2700" spc="-60" baseline="10802" dirty="0">
                <a:latin typeface="Cambria Math"/>
                <a:cs typeface="Cambria Math"/>
              </a:rPr>
              <a:t>𝐹</a:t>
            </a:r>
            <a:r>
              <a:rPr sz="1300" spc="-40" dirty="0">
                <a:latin typeface="Cambria Math"/>
                <a:cs typeface="Cambria Math"/>
              </a:rPr>
              <a:t>23</a:t>
            </a:r>
            <a:endParaRPr sz="1300">
              <a:latin typeface="Cambria Math"/>
              <a:cs typeface="Cambria Math"/>
            </a:endParaRPr>
          </a:p>
          <a:p>
            <a:pPr marL="38100">
              <a:lnSpc>
                <a:spcPts val="1780"/>
              </a:lnSpc>
            </a:pPr>
            <a:r>
              <a:rPr sz="1800" spc="-5" dirty="0">
                <a:latin typeface="Calibri"/>
                <a:cs typeface="Calibri"/>
              </a:rPr>
              <a:t>q3=3q</a:t>
            </a:r>
            <a:endParaRPr sz="1800">
              <a:latin typeface="Calibri"/>
              <a:cs typeface="Calibri"/>
            </a:endParaRPr>
          </a:p>
        </p:txBody>
      </p:sp>
      <p:sp>
        <p:nvSpPr>
          <p:cNvPr id="26" name="object 26"/>
          <p:cNvSpPr txBox="1"/>
          <p:nvPr/>
        </p:nvSpPr>
        <p:spPr>
          <a:xfrm>
            <a:off x="6290817" y="1118996"/>
            <a:ext cx="10541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r</a:t>
            </a:r>
            <a:endParaRPr sz="1800">
              <a:latin typeface="Calibri"/>
              <a:cs typeface="Calibri"/>
            </a:endParaRPr>
          </a:p>
        </p:txBody>
      </p:sp>
      <p:sp>
        <p:nvSpPr>
          <p:cNvPr id="27" name="object 27"/>
          <p:cNvSpPr/>
          <p:nvPr/>
        </p:nvSpPr>
        <p:spPr>
          <a:xfrm>
            <a:off x="9190608" y="2207132"/>
            <a:ext cx="238125" cy="15240"/>
          </a:xfrm>
          <a:custGeom>
            <a:avLst/>
            <a:gdLst/>
            <a:ahLst/>
            <a:cxnLst/>
            <a:rect l="l" t="t" r="r" b="b"/>
            <a:pathLst>
              <a:path w="238125" h="15239">
                <a:moveTo>
                  <a:pt x="237744" y="0"/>
                </a:moveTo>
                <a:lnTo>
                  <a:pt x="0" y="0"/>
                </a:lnTo>
                <a:lnTo>
                  <a:pt x="0" y="15239"/>
                </a:lnTo>
                <a:lnTo>
                  <a:pt x="237744" y="15239"/>
                </a:lnTo>
                <a:lnTo>
                  <a:pt x="237744" y="0"/>
                </a:lnTo>
                <a:close/>
              </a:path>
            </a:pathLst>
          </a:custGeom>
          <a:solidFill>
            <a:srgbClr val="000000"/>
          </a:solidFill>
        </p:spPr>
        <p:txBody>
          <a:bodyPr wrap="square" lIns="0" tIns="0" rIns="0" bIns="0" rtlCol="0"/>
          <a:lstStyle/>
          <a:p>
            <a:endParaRPr/>
          </a:p>
        </p:txBody>
      </p:sp>
      <p:sp>
        <p:nvSpPr>
          <p:cNvPr id="28" name="object 28"/>
          <p:cNvSpPr txBox="1"/>
          <p:nvPr/>
        </p:nvSpPr>
        <p:spPr>
          <a:xfrm>
            <a:off x="8367014" y="1781936"/>
            <a:ext cx="1261110" cy="557530"/>
          </a:xfrm>
          <a:prstGeom prst="rect">
            <a:avLst/>
          </a:prstGeom>
        </p:spPr>
        <p:txBody>
          <a:bodyPr vert="horz" wrap="square" lIns="0" tIns="12700" rIns="0" bIns="0" rtlCol="0">
            <a:spAutoFit/>
          </a:bodyPr>
          <a:lstStyle/>
          <a:p>
            <a:pPr marL="824230">
              <a:lnSpc>
                <a:spcPts val="2095"/>
              </a:lnSpc>
              <a:spcBef>
                <a:spcPts val="100"/>
              </a:spcBef>
            </a:pPr>
            <a:r>
              <a:rPr sz="2700" spc="75" baseline="-20061" dirty="0">
                <a:latin typeface="Cambria Math"/>
                <a:cs typeface="Cambria Math"/>
              </a:rPr>
              <a:t>𝑞</a:t>
            </a:r>
            <a:r>
              <a:rPr sz="1300" spc="50" dirty="0">
                <a:latin typeface="Cambria Math"/>
                <a:cs typeface="Cambria Math"/>
              </a:rPr>
              <a:t>2</a:t>
            </a:r>
            <a:endParaRPr sz="1300" dirty="0">
              <a:latin typeface="Cambria Math"/>
              <a:cs typeface="Cambria Math"/>
            </a:endParaRPr>
          </a:p>
          <a:p>
            <a:pPr marL="38100">
              <a:lnSpc>
                <a:spcPts val="2095"/>
              </a:lnSpc>
            </a:pPr>
            <a:r>
              <a:rPr sz="1800" spc="-35" dirty="0">
                <a:latin typeface="Cambria Math"/>
                <a:cs typeface="Cambria Math"/>
              </a:rPr>
              <a:t>𝐹</a:t>
            </a:r>
            <a:r>
              <a:rPr sz="1950" spc="-52" baseline="-14957" dirty="0">
                <a:latin typeface="Cambria Math"/>
                <a:cs typeface="Cambria Math"/>
              </a:rPr>
              <a:t>23</a:t>
            </a:r>
            <a:r>
              <a:rPr sz="1950" spc="382" baseline="-14957" dirty="0">
                <a:latin typeface="Cambria Math"/>
                <a:cs typeface="Cambria Math"/>
              </a:rPr>
              <a:t> </a:t>
            </a:r>
            <a:r>
              <a:rPr sz="1800" dirty="0">
                <a:latin typeface="Cambria Math"/>
                <a:cs typeface="Cambria Math"/>
              </a:rPr>
              <a:t>=</a:t>
            </a:r>
            <a:r>
              <a:rPr sz="1800" spc="85" dirty="0">
                <a:latin typeface="Cambria Math"/>
                <a:cs typeface="Cambria Math"/>
              </a:rPr>
              <a:t> </a:t>
            </a:r>
            <a:r>
              <a:rPr sz="1800" dirty="0">
                <a:latin typeface="Cambria Math"/>
                <a:cs typeface="Cambria Math"/>
              </a:rPr>
              <a:t>𝑘</a:t>
            </a:r>
            <a:r>
              <a:rPr sz="1800" spc="-25" dirty="0">
                <a:latin typeface="Cambria Math"/>
                <a:cs typeface="Cambria Math"/>
              </a:rPr>
              <a:t> </a:t>
            </a:r>
            <a:r>
              <a:rPr sz="2700" spc="82" baseline="-37037" dirty="0">
                <a:latin typeface="Cambria Math"/>
                <a:cs typeface="Cambria Math"/>
              </a:rPr>
              <a:t>𝑟</a:t>
            </a:r>
            <a:r>
              <a:rPr sz="1950" spc="82" baseline="-27777" dirty="0">
                <a:latin typeface="Cambria Math"/>
                <a:cs typeface="Cambria Math"/>
              </a:rPr>
              <a:t>2</a:t>
            </a:r>
            <a:r>
              <a:rPr sz="1950" spc="179" baseline="-27777" dirty="0">
                <a:latin typeface="Cambria Math"/>
                <a:cs typeface="Cambria Math"/>
              </a:rPr>
              <a:t> </a:t>
            </a:r>
            <a:r>
              <a:rPr sz="1800" spc="-900" dirty="0" smtClean="0">
                <a:latin typeface="Cambria Math"/>
                <a:cs typeface="Cambria Math"/>
              </a:rPr>
              <a:t>𝑥</a:t>
            </a:r>
            <a:endParaRPr sz="1800" dirty="0">
              <a:latin typeface="Cambria Math"/>
              <a:cs typeface="Cambria Math"/>
            </a:endParaRPr>
          </a:p>
        </p:txBody>
      </p:sp>
      <p:sp>
        <p:nvSpPr>
          <p:cNvPr id="29" name="object 29"/>
          <p:cNvSpPr txBox="1"/>
          <p:nvPr/>
        </p:nvSpPr>
        <p:spPr>
          <a:xfrm>
            <a:off x="3814571" y="3082798"/>
            <a:ext cx="897890" cy="330835"/>
          </a:xfrm>
          <a:prstGeom prst="rect">
            <a:avLst/>
          </a:prstGeom>
        </p:spPr>
        <p:txBody>
          <a:bodyPr vert="horz" wrap="square" lIns="0" tIns="13335" rIns="0" bIns="0" rtlCol="0">
            <a:spAutoFit/>
          </a:bodyPr>
          <a:lstStyle/>
          <a:p>
            <a:pPr marL="38100">
              <a:lnSpc>
                <a:spcPct val="100000"/>
              </a:lnSpc>
              <a:spcBef>
                <a:spcPts val="105"/>
              </a:spcBef>
            </a:pPr>
            <a:r>
              <a:rPr sz="2000" spc="-60" dirty="0">
                <a:latin typeface="Cambria Math"/>
                <a:cs typeface="Cambria Math"/>
              </a:rPr>
              <a:t>𝐹</a:t>
            </a:r>
            <a:r>
              <a:rPr sz="2175" spc="-89" baseline="-15325" dirty="0">
                <a:latin typeface="Cambria Math"/>
                <a:cs typeface="Cambria Math"/>
              </a:rPr>
              <a:t>13</a:t>
            </a:r>
            <a:r>
              <a:rPr sz="2175" spc="419" baseline="-15325" dirty="0">
                <a:latin typeface="Cambria Math"/>
                <a:cs typeface="Cambria Math"/>
              </a:rPr>
              <a:t> </a:t>
            </a:r>
            <a:r>
              <a:rPr sz="2000" dirty="0">
                <a:latin typeface="Cambria Math"/>
                <a:cs typeface="Cambria Math"/>
              </a:rPr>
              <a:t>=</a:t>
            </a:r>
            <a:r>
              <a:rPr sz="2000" spc="90" dirty="0">
                <a:latin typeface="Cambria Math"/>
                <a:cs typeface="Cambria Math"/>
              </a:rPr>
              <a:t> </a:t>
            </a:r>
            <a:r>
              <a:rPr sz="2000" dirty="0">
                <a:latin typeface="Cambria Math"/>
                <a:cs typeface="Cambria Math"/>
              </a:rPr>
              <a:t>𝑘</a:t>
            </a:r>
            <a:endParaRPr sz="2000">
              <a:latin typeface="Cambria Math"/>
              <a:cs typeface="Cambria Math"/>
            </a:endParaRPr>
          </a:p>
        </p:txBody>
      </p:sp>
      <p:sp>
        <p:nvSpPr>
          <p:cNvPr id="30" name="object 30"/>
          <p:cNvSpPr/>
          <p:nvPr/>
        </p:nvSpPr>
        <p:spPr>
          <a:xfrm>
            <a:off x="4722495" y="3268344"/>
            <a:ext cx="597535" cy="297180"/>
          </a:xfrm>
          <a:custGeom>
            <a:avLst/>
            <a:gdLst/>
            <a:ahLst/>
            <a:cxnLst/>
            <a:rect l="l" t="t" r="r" b="b"/>
            <a:pathLst>
              <a:path w="597535" h="297179">
                <a:moveTo>
                  <a:pt x="100838" y="70739"/>
                </a:moveTo>
                <a:lnTo>
                  <a:pt x="97536" y="61214"/>
                </a:lnTo>
                <a:lnTo>
                  <a:pt x="80403" y="67386"/>
                </a:lnTo>
                <a:lnTo>
                  <a:pt x="65417" y="76327"/>
                </a:lnTo>
                <a:lnTo>
                  <a:pt x="33274" y="119214"/>
                </a:lnTo>
                <a:lnTo>
                  <a:pt x="23558" y="157556"/>
                </a:lnTo>
                <a:lnTo>
                  <a:pt x="22352" y="179197"/>
                </a:lnTo>
                <a:lnTo>
                  <a:pt x="23558" y="200850"/>
                </a:lnTo>
                <a:lnTo>
                  <a:pt x="33223" y="239141"/>
                </a:lnTo>
                <a:lnTo>
                  <a:pt x="65354" y="281889"/>
                </a:lnTo>
                <a:lnTo>
                  <a:pt x="97536" y="296938"/>
                </a:lnTo>
                <a:lnTo>
                  <a:pt x="100457" y="287413"/>
                </a:lnTo>
                <a:lnTo>
                  <a:pt x="87045" y="281470"/>
                </a:lnTo>
                <a:lnTo>
                  <a:pt x="75450" y="273202"/>
                </a:lnTo>
                <a:lnTo>
                  <a:pt x="51689" y="234505"/>
                </a:lnTo>
                <a:lnTo>
                  <a:pt x="43815" y="177927"/>
                </a:lnTo>
                <a:lnTo>
                  <a:pt x="44691" y="157784"/>
                </a:lnTo>
                <a:lnTo>
                  <a:pt x="57785" y="108077"/>
                </a:lnTo>
                <a:lnTo>
                  <a:pt x="87210" y="76720"/>
                </a:lnTo>
                <a:lnTo>
                  <a:pt x="100838" y="70739"/>
                </a:lnTo>
                <a:close/>
              </a:path>
              <a:path w="597535" h="297179">
                <a:moveTo>
                  <a:pt x="455041" y="179197"/>
                </a:moveTo>
                <a:lnTo>
                  <a:pt x="450176" y="137566"/>
                </a:lnTo>
                <a:lnTo>
                  <a:pt x="424840" y="88049"/>
                </a:lnTo>
                <a:lnTo>
                  <a:pt x="379857" y="61214"/>
                </a:lnTo>
                <a:lnTo>
                  <a:pt x="376555" y="70739"/>
                </a:lnTo>
                <a:lnTo>
                  <a:pt x="390169" y="76720"/>
                </a:lnTo>
                <a:lnTo>
                  <a:pt x="401891" y="84937"/>
                </a:lnTo>
                <a:lnTo>
                  <a:pt x="425691" y="122872"/>
                </a:lnTo>
                <a:lnTo>
                  <a:pt x="433578" y="177927"/>
                </a:lnTo>
                <a:lnTo>
                  <a:pt x="432689" y="198691"/>
                </a:lnTo>
                <a:lnTo>
                  <a:pt x="419608" y="249555"/>
                </a:lnTo>
                <a:lnTo>
                  <a:pt x="390309" y="281470"/>
                </a:lnTo>
                <a:lnTo>
                  <a:pt x="376936" y="287413"/>
                </a:lnTo>
                <a:lnTo>
                  <a:pt x="379857" y="296938"/>
                </a:lnTo>
                <a:lnTo>
                  <a:pt x="424942" y="270217"/>
                </a:lnTo>
                <a:lnTo>
                  <a:pt x="450189" y="220827"/>
                </a:lnTo>
                <a:lnTo>
                  <a:pt x="453821" y="200850"/>
                </a:lnTo>
                <a:lnTo>
                  <a:pt x="455041" y="179197"/>
                </a:lnTo>
                <a:close/>
              </a:path>
              <a:path w="597535" h="297179">
                <a:moveTo>
                  <a:pt x="597408" y="0"/>
                </a:moveTo>
                <a:lnTo>
                  <a:pt x="0" y="0"/>
                </a:lnTo>
                <a:lnTo>
                  <a:pt x="0" y="16764"/>
                </a:lnTo>
                <a:lnTo>
                  <a:pt x="597408" y="16764"/>
                </a:lnTo>
                <a:lnTo>
                  <a:pt x="597408" y="0"/>
                </a:lnTo>
                <a:close/>
              </a:path>
            </a:pathLst>
          </a:custGeom>
          <a:solidFill>
            <a:srgbClr val="000000"/>
          </a:solidFill>
        </p:spPr>
        <p:txBody>
          <a:bodyPr wrap="square" lIns="0" tIns="0" rIns="0" bIns="0" rtlCol="0"/>
          <a:lstStyle/>
          <a:p>
            <a:endParaRPr/>
          </a:p>
        </p:txBody>
      </p:sp>
      <p:sp>
        <p:nvSpPr>
          <p:cNvPr id="31" name="object 31"/>
          <p:cNvSpPr txBox="1"/>
          <p:nvPr/>
        </p:nvSpPr>
        <p:spPr>
          <a:xfrm>
            <a:off x="4729988" y="2890774"/>
            <a:ext cx="581660"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Cambria Math"/>
                <a:cs typeface="Cambria Math"/>
              </a:rPr>
              <a:t>𝑞</a:t>
            </a:r>
            <a:r>
              <a:rPr sz="2000" spc="-5" dirty="0">
                <a:latin typeface="Cambria Math"/>
                <a:cs typeface="Cambria Math"/>
              </a:rPr>
              <a:t>1</a:t>
            </a:r>
            <a:r>
              <a:rPr sz="2000" dirty="0">
                <a:latin typeface="Cambria Math"/>
                <a:cs typeface="Cambria Math"/>
              </a:rPr>
              <a:t>𝑞3</a:t>
            </a:r>
            <a:endParaRPr sz="2000">
              <a:latin typeface="Cambria Math"/>
              <a:cs typeface="Cambria Math"/>
            </a:endParaRPr>
          </a:p>
        </p:txBody>
      </p:sp>
      <p:sp>
        <p:nvSpPr>
          <p:cNvPr id="32" name="object 32"/>
          <p:cNvSpPr txBox="1"/>
          <p:nvPr/>
        </p:nvSpPr>
        <p:spPr>
          <a:xfrm>
            <a:off x="4815332" y="3253485"/>
            <a:ext cx="287020" cy="330835"/>
          </a:xfrm>
          <a:prstGeom prst="rect">
            <a:avLst/>
          </a:prstGeom>
        </p:spPr>
        <p:txBody>
          <a:bodyPr vert="horz" wrap="square" lIns="0" tIns="13335" rIns="0" bIns="0" rtlCol="0">
            <a:spAutoFit/>
          </a:bodyPr>
          <a:lstStyle/>
          <a:p>
            <a:pPr marL="12700">
              <a:lnSpc>
                <a:spcPct val="100000"/>
              </a:lnSpc>
              <a:spcBef>
                <a:spcPts val="105"/>
              </a:spcBef>
            </a:pPr>
            <a:r>
              <a:rPr sz="2000" spc="-10" dirty="0">
                <a:latin typeface="Cambria Math"/>
                <a:cs typeface="Cambria Math"/>
              </a:rPr>
              <a:t>2</a:t>
            </a:r>
            <a:r>
              <a:rPr sz="2000" dirty="0">
                <a:latin typeface="Cambria Math"/>
                <a:cs typeface="Cambria Math"/>
              </a:rPr>
              <a:t>𝑟</a:t>
            </a:r>
            <a:endParaRPr sz="2000">
              <a:latin typeface="Cambria Math"/>
              <a:cs typeface="Cambria Math"/>
            </a:endParaRPr>
          </a:p>
        </p:txBody>
      </p:sp>
      <p:sp>
        <p:nvSpPr>
          <p:cNvPr id="33" name="object 33"/>
          <p:cNvSpPr txBox="1"/>
          <p:nvPr/>
        </p:nvSpPr>
        <p:spPr>
          <a:xfrm>
            <a:off x="5163565" y="3082798"/>
            <a:ext cx="666750" cy="330835"/>
          </a:xfrm>
          <a:prstGeom prst="rect">
            <a:avLst/>
          </a:prstGeom>
        </p:spPr>
        <p:txBody>
          <a:bodyPr vert="horz" wrap="square" lIns="0" tIns="13335" rIns="0" bIns="0" rtlCol="0">
            <a:spAutoFit/>
          </a:bodyPr>
          <a:lstStyle/>
          <a:p>
            <a:pPr marL="38100">
              <a:lnSpc>
                <a:spcPct val="100000"/>
              </a:lnSpc>
              <a:spcBef>
                <a:spcPts val="105"/>
              </a:spcBef>
            </a:pPr>
            <a:r>
              <a:rPr sz="2175" spc="60" baseline="-28735" dirty="0">
                <a:latin typeface="Cambria Math"/>
                <a:cs typeface="Cambria Math"/>
              </a:rPr>
              <a:t>2</a:t>
            </a:r>
            <a:r>
              <a:rPr sz="2175" spc="419" baseline="-28735" dirty="0">
                <a:latin typeface="Cambria Math"/>
                <a:cs typeface="Cambria Math"/>
              </a:rPr>
              <a:t> </a:t>
            </a:r>
            <a:r>
              <a:rPr sz="2000" dirty="0">
                <a:latin typeface="Cambria Math"/>
                <a:cs typeface="Cambria Math"/>
              </a:rPr>
              <a:t>=</a:t>
            </a:r>
            <a:r>
              <a:rPr sz="2000" spc="75" dirty="0">
                <a:latin typeface="Cambria Math"/>
                <a:cs typeface="Cambria Math"/>
              </a:rPr>
              <a:t> </a:t>
            </a:r>
            <a:r>
              <a:rPr sz="2000" dirty="0">
                <a:latin typeface="Cambria Math"/>
                <a:cs typeface="Cambria Math"/>
              </a:rPr>
              <a:t>𝑘</a:t>
            </a:r>
            <a:endParaRPr sz="2000">
              <a:latin typeface="Cambria Math"/>
              <a:cs typeface="Cambria Math"/>
            </a:endParaRPr>
          </a:p>
        </p:txBody>
      </p:sp>
      <p:sp>
        <p:nvSpPr>
          <p:cNvPr id="34" name="object 34"/>
          <p:cNvSpPr/>
          <p:nvPr/>
        </p:nvSpPr>
        <p:spPr>
          <a:xfrm>
            <a:off x="5839586" y="3268345"/>
            <a:ext cx="640080" cy="17145"/>
          </a:xfrm>
          <a:custGeom>
            <a:avLst/>
            <a:gdLst/>
            <a:ahLst/>
            <a:cxnLst/>
            <a:rect l="l" t="t" r="r" b="b"/>
            <a:pathLst>
              <a:path w="640079" h="17145">
                <a:moveTo>
                  <a:pt x="640079" y="0"/>
                </a:moveTo>
                <a:lnTo>
                  <a:pt x="0" y="0"/>
                </a:lnTo>
                <a:lnTo>
                  <a:pt x="0" y="16763"/>
                </a:lnTo>
                <a:lnTo>
                  <a:pt x="640079" y="16763"/>
                </a:lnTo>
                <a:lnTo>
                  <a:pt x="640079" y="0"/>
                </a:lnTo>
                <a:close/>
              </a:path>
            </a:pathLst>
          </a:custGeom>
          <a:solidFill>
            <a:srgbClr val="000000"/>
          </a:solidFill>
        </p:spPr>
        <p:txBody>
          <a:bodyPr wrap="square" lIns="0" tIns="0" rIns="0" bIns="0" rtlCol="0"/>
          <a:lstStyle/>
          <a:p>
            <a:endParaRPr/>
          </a:p>
        </p:txBody>
      </p:sp>
      <p:sp>
        <p:nvSpPr>
          <p:cNvPr id="35" name="object 35"/>
          <p:cNvSpPr/>
          <p:nvPr/>
        </p:nvSpPr>
        <p:spPr>
          <a:xfrm>
            <a:off x="6006719" y="2966847"/>
            <a:ext cx="451484" cy="236220"/>
          </a:xfrm>
          <a:custGeom>
            <a:avLst/>
            <a:gdLst/>
            <a:ahLst/>
            <a:cxnLst/>
            <a:rect l="l" t="t" r="r" b="b"/>
            <a:pathLst>
              <a:path w="451485" h="236219">
                <a:moveTo>
                  <a:pt x="375792" y="0"/>
                </a:moveTo>
                <a:lnTo>
                  <a:pt x="372490" y="9525"/>
                </a:lnTo>
                <a:lnTo>
                  <a:pt x="386111" y="15501"/>
                </a:lnTo>
                <a:lnTo>
                  <a:pt x="397827" y="23717"/>
                </a:lnTo>
                <a:lnTo>
                  <a:pt x="421638" y="61652"/>
                </a:lnTo>
                <a:lnTo>
                  <a:pt x="429513" y="116712"/>
                </a:lnTo>
                <a:lnTo>
                  <a:pt x="428634" y="137477"/>
                </a:lnTo>
                <a:lnTo>
                  <a:pt x="415543" y="188340"/>
                </a:lnTo>
                <a:lnTo>
                  <a:pt x="386254" y="220255"/>
                </a:lnTo>
                <a:lnTo>
                  <a:pt x="372871" y="226187"/>
                </a:lnTo>
                <a:lnTo>
                  <a:pt x="375792" y="235712"/>
                </a:lnTo>
                <a:lnTo>
                  <a:pt x="420887" y="208994"/>
                </a:lnTo>
                <a:lnTo>
                  <a:pt x="446135" y="159607"/>
                </a:lnTo>
                <a:lnTo>
                  <a:pt x="450976" y="117982"/>
                </a:lnTo>
                <a:lnTo>
                  <a:pt x="449762" y="96335"/>
                </a:lnTo>
                <a:lnTo>
                  <a:pt x="440047" y="57993"/>
                </a:lnTo>
                <a:lnTo>
                  <a:pt x="407908" y="15112"/>
                </a:lnTo>
                <a:lnTo>
                  <a:pt x="392916" y="6163"/>
                </a:lnTo>
                <a:lnTo>
                  <a:pt x="375792" y="0"/>
                </a:lnTo>
                <a:close/>
              </a:path>
              <a:path w="451485" h="236219">
                <a:moveTo>
                  <a:pt x="75183" y="0"/>
                </a:moveTo>
                <a:lnTo>
                  <a:pt x="30196" y="26824"/>
                </a:lnTo>
                <a:lnTo>
                  <a:pt x="4857" y="76342"/>
                </a:lnTo>
                <a:lnTo>
                  <a:pt x="0" y="117982"/>
                </a:lnTo>
                <a:lnTo>
                  <a:pt x="1212" y="139628"/>
                </a:lnTo>
                <a:lnTo>
                  <a:pt x="10876" y="177919"/>
                </a:lnTo>
                <a:lnTo>
                  <a:pt x="43005" y="220662"/>
                </a:lnTo>
                <a:lnTo>
                  <a:pt x="75183" y="235712"/>
                </a:lnTo>
                <a:lnTo>
                  <a:pt x="78104" y="226187"/>
                </a:lnTo>
                <a:lnTo>
                  <a:pt x="64650" y="220255"/>
                </a:lnTo>
                <a:lnTo>
                  <a:pt x="53054" y="211978"/>
                </a:lnTo>
                <a:lnTo>
                  <a:pt x="29338" y="173291"/>
                </a:lnTo>
                <a:lnTo>
                  <a:pt x="21462" y="116712"/>
                </a:lnTo>
                <a:lnTo>
                  <a:pt x="22342" y="96565"/>
                </a:lnTo>
                <a:lnTo>
                  <a:pt x="35432" y="46862"/>
                </a:lnTo>
                <a:lnTo>
                  <a:pt x="64865" y="15501"/>
                </a:lnTo>
                <a:lnTo>
                  <a:pt x="78485" y="9525"/>
                </a:lnTo>
                <a:lnTo>
                  <a:pt x="75183" y="0"/>
                </a:lnTo>
                <a:close/>
              </a:path>
            </a:pathLst>
          </a:custGeom>
          <a:solidFill>
            <a:srgbClr val="000000"/>
          </a:solidFill>
        </p:spPr>
        <p:txBody>
          <a:bodyPr wrap="square" lIns="0" tIns="0" rIns="0" bIns="0" rtlCol="0"/>
          <a:lstStyle/>
          <a:p>
            <a:endParaRPr/>
          </a:p>
        </p:txBody>
      </p:sp>
      <p:sp>
        <p:nvSpPr>
          <p:cNvPr id="36" name="object 36"/>
          <p:cNvSpPr txBox="1"/>
          <p:nvPr/>
        </p:nvSpPr>
        <p:spPr>
          <a:xfrm>
            <a:off x="5827521" y="2890774"/>
            <a:ext cx="553085"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Cambria Math"/>
                <a:cs typeface="Cambria Math"/>
              </a:rPr>
              <a:t>𝑞</a:t>
            </a:r>
            <a:r>
              <a:rPr sz="2000" spc="360" dirty="0">
                <a:latin typeface="Cambria Math"/>
                <a:cs typeface="Cambria Math"/>
              </a:rPr>
              <a:t> </a:t>
            </a:r>
            <a:r>
              <a:rPr sz="2000" spc="-5" dirty="0">
                <a:latin typeface="Cambria Math"/>
                <a:cs typeface="Cambria Math"/>
              </a:rPr>
              <a:t>3𝑞</a:t>
            </a:r>
            <a:endParaRPr sz="2000">
              <a:latin typeface="Cambria Math"/>
              <a:cs typeface="Cambria Math"/>
            </a:endParaRPr>
          </a:p>
        </p:txBody>
      </p:sp>
      <p:sp>
        <p:nvSpPr>
          <p:cNvPr id="37" name="object 37"/>
          <p:cNvSpPr txBox="1"/>
          <p:nvPr/>
        </p:nvSpPr>
        <p:spPr>
          <a:xfrm>
            <a:off x="5925565" y="3253485"/>
            <a:ext cx="458470" cy="330835"/>
          </a:xfrm>
          <a:prstGeom prst="rect">
            <a:avLst/>
          </a:prstGeom>
        </p:spPr>
        <p:txBody>
          <a:bodyPr vert="horz" wrap="square" lIns="0" tIns="13335" rIns="0" bIns="0" rtlCol="0">
            <a:spAutoFit/>
          </a:bodyPr>
          <a:lstStyle/>
          <a:p>
            <a:pPr marL="38100">
              <a:lnSpc>
                <a:spcPct val="100000"/>
              </a:lnSpc>
              <a:spcBef>
                <a:spcPts val="105"/>
              </a:spcBef>
            </a:pPr>
            <a:r>
              <a:rPr sz="2000" spc="45" dirty="0">
                <a:latin typeface="Cambria Math"/>
                <a:cs typeface="Cambria Math"/>
              </a:rPr>
              <a:t>4𝑟</a:t>
            </a:r>
            <a:r>
              <a:rPr sz="2175" spc="67" baseline="22988" dirty="0">
                <a:latin typeface="Cambria Math"/>
                <a:cs typeface="Cambria Math"/>
              </a:rPr>
              <a:t>2</a:t>
            </a:r>
            <a:endParaRPr sz="2175" baseline="22988">
              <a:latin typeface="Cambria Math"/>
              <a:cs typeface="Cambria Math"/>
            </a:endParaRPr>
          </a:p>
        </p:txBody>
      </p:sp>
      <p:sp>
        <p:nvSpPr>
          <p:cNvPr id="38" name="object 38"/>
          <p:cNvSpPr/>
          <p:nvPr/>
        </p:nvSpPr>
        <p:spPr>
          <a:xfrm>
            <a:off x="7002398" y="3268345"/>
            <a:ext cx="403860" cy="17145"/>
          </a:xfrm>
          <a:custGeom>
            <a:avLst/>
            <a:gdLst/>
            <a:ahLst/>
            <a:cxnLst/>
            <a:rect l="l" t="t" r="r" b="b"/>
            <a:pathLst>
              <a:path w="403859" h="17145">
                <a:moveTo>
                  <a:pt x="403859" y="0"/>
                </a:moveTo>
                <a:lnTo>
                  <a:pt x="0" y="0"/>
                </a:lnTo>
                <a:lnTo>
                  <a:pt x="0" y="16763"/>
                </a:lnTo>
                <a:lnTo>
                  <a:pt x="403859" y="16763"/>
                </a:lnTo>
                <a:lnTo>
                  <a:pt x="403859" y="0"/>
                </a:lnTo>
                <a:close/>
              </a:path>
            </a:pathLst>
          </a:custGeom>
          <a:solidFill>
            <a:srgbClr val="000000"/>
          </a:solidFill>
        </p:spPr>
        <p:txBody>
          <a:bodyPr wrap="square" lIns="0" tIns="0" rIns="0" bIns="0" rtlCol="0"/>
          <a:lstStyle/>
          <a:p>
            <a:endParaRPr/>
          </a:p>
        </p:txBody>
      </p:sp>
      <p:sp>
        <p:nvSpPr>
          <p:cNvPr id="39" name="object 39"/>
          <p:cNvSpPr txBox="1"/>
          <p:nvPr/>
        </p:nvSpPr>
        <p:spPr>
          <a:xfrm>
            <a:off x="6513830" y="2890774"/>
            <a:ext cx="920115" cy="694055"/>
          </a:xfrm>
          <a:prstGeom prst="rect">
            <a:avLst/>
          </a:prstGeom>
        </p:spPr>
        <p:txBody>
          <a:bodyPr vert="horz" wrap="square" lIns="0" tIns="13335" rIns="0" bIns="0" rtlCol="0">
            <a:spAutoFit/>
          </a:bodyPr>
          <a:lstStyle/>
          <a:p>
            <a:pPr marL="488950">
              <a:lnSpc>
                <a:spcPts val="1955"/>
              </a:lnSpc>
              <a:spcBef>
                <a:spcPts val="105"/>
              </a:spcBef>
            </a:pPr>
            <a:r>
              <a:rPr sz="2000" spc="30" dirty="0">
                <a:latin typeface="Cambria Math"/>
                <a:cs typeface="Cambria Math"/>
              </a:rPr>
              <a:t>3𝑞</a:t>
            </a:r>
            <a:r>
              <a:rPr sz="2175" spc="44" baseline="28735" dirty="0">
                <a:latin typeface="Cambria Math"/>
                <a:cs typeface="Cambria Math"/>
              </a:rPr>
              <a:t>2</a:t>
            </a:r>
            <a:endParaRPr sz="2175" baseline="28735">
              <a:latin typeface="Cambria Math"/>
              <a:cs typeface="Cambria Math"/>
            </a:endParaRPr>
          </a:p>
          <a:p>
            <a:pPr marL="38100">
              <a:lnSpc>
                <a:spcPts val="1430"/>
              </a:lnSpc>
            </a:pPr>
            <a:r>
              <a:rPr sz="2000" dirty="0">
                <a:latin typeface="Cambria Math"/>
                <a:cs typeface="Cambria Math"/>
              </a:rPr>
              <a:t>=</a:t>
            </a:r>
            <a:r>
              <a:rPr sz="2000" spc="65" dirty="0">
                <a:latin typeface="Cambria Math"/>
                <a:cs typeface="Cambria Math"/>
              </a:rPr>
              <a:t> </a:t>
            </a:r>
            <a:r>
              <a:rPr sz="2000" dirty="0">
                <a:latin typeface="Cambria Math"/>
                <a:cs typeface="Cambria Math"/>
              </a:rPr>
              <a:t>𝑘</a:t>
            </a:r>
            <a:endParaRPr sz="2000">
              <a:latin typeface="Cambria Math"/>
              <a:cs typeface="Cambria Math"/>
            </a:endParaRPr>
          </a:p>
          <a:p>
            <a:pPr marL="493395">
              <a:lnSpc>
                <a:spcPts val="1870"/>
              </a:lnSpc>
            </a:pPr>
            <a:r>
              <a:rPr sz="2000" spc="45" dirty="0">
                <a:latin typeface="Cambria Math"/>
                <a:cs typeface="Cambria Math"/>
              </a:rPr>
              <a:t>4𝑟</a:t>
            </a:r>
            <a:r>
              <a:rPr sz="2175" spc="67" baseline="22988" dirty="0">
                <a:latin typeface="Cambria Math"/>
                <a:cs typeface="Cambria Math"/>
              </a:rPr>
              <a:t>2</a:t>
            </a:r>
            <a:endParaRPr sz="2175" baseline="22988">
              <a:latin typeface="Cambria Math"/>
              <a:cs typeface="Cambria Math"/>
            </a:endParaRPr>
          </a:p>
        </p:txBody>
      </p:sp>
      <p:sp>
        <p:nvSpPr>
          <p:cNvPr id="40" name="object 40"/>
          <p:cNvSpPr txBox="1"/>
          <p:nvPr/>
        </p:nvSpPr>
        <p:spPr>
          <a:xfrm>
            <a:off x="3657600" y="3780790"/>
            <a:ext cx="902969" cy="330835"/>
          </a:xfrm>
          <a:prstGeom prst="rect">
            <a:avLst/>
          </a:prstGeom>
        </p:spPr>
        <p:txBody>
          <a:bodyPr vert="horz" wrap="square" lIns="0" tIns="12700" rIns="0" bIns="0" rtlCol="0">
            <a:spAutoFit/>
          </a:bodyPr>
          <a:lstStyle/>
          <a:p>
            <a:pPr marL="38100">
              <a:lnSpc>
                <a:spcPct val="100000"/>
              </a:lnSpc>
              <a:spcBef>
                <a:spcPts val="100"/>
              </a:spcBef>
            </a:pPr>
            <a:r>
              <a:rPr sz="2000" spc="-45" dirty="0">
                <a:latin typeface="Cambria Math"/>
                <a:cs typeface="Cambria Math"/>
              </a:rPr>
              <a:t>𝐹</a:t>
            </a:r>
            <a:r>
              <a:rPr sz="2175" spc="-67" baseline="-15325" dirty="0">
                <a:latin typeface="Cambria Math"/>
                <a:cs typeface="Cambria Math"/>
              </a:rPr>
              <a:t>23</a:t>
            </a:r>
            <a:r>
              <a:rPr sz="2175" spc="405" baseline="-15325" dirty="0">
                <a:latin typeface="Cambria Math"/>
                <a:cs typeface="Cambria Math"/>
              </a:rPr>
              <a:t> </a:t>
            </a:r>
            <a:r>
              <a:rPr sz="2000" dirty="0">
                <a:latin typeface="Cambria Math"/>
                <a:cs typeface="Cambria Math"/>
              </a:rPr>
              <a:t>=</a:t>
            </a:r>
            <a:r>
              <a:rPr sz="2000" spc="90" dirty="0">
                <a:latin typeface="Cambria Math"/>
                <a:cs typeface="Cambria Math"/>
              </a:rPr>
              <a:t> </a:t>
            </a:r>
            <a:r>
              <a:rPr sz="2000" dirty="0">
                <a:latin typeface="Cambria Math"/>
                <a:cs typeface="Cambria Math"/>
              </a:rPr>
              <a:t>𝑘</a:t>
            </a:r>
            <a:endParaRPr sz="2000">
              <a:latin typeface="Cambria Math"/>
              <a:cs typeface="Cambria Math"/>
            </a:endParaRPr>
          </a:p>
        </p:txBody>
      </p:sp>
      <p:sp>
        <p:nvSpPr>
          <p:cNvPr id="41" name="object 41"/>
          <p:cNvSpPr/>
          <p:nvPr/>
        </p:nvSpPr>
        <p:spPr>
          <a:xfrm>
            <a:off x="4570095" y="3966336"/>
            <a:ext cx="556260" cy="297180"/>
          </a:xfrm>
          <a:custGeom>
            <a:avLst/>
            <a:gdLst/>
            <a:ahLst/>
            <a:cxnLst/>
            <a:rect l="l" t="t" r="r" b="b"/>
            <a:pathLst>
              <a:path w="556260" h="297179">
                <a:moveTo>
                  <a:pt x="151130" y="70739"/>
                </a:moveTo>
                <a:lnTo>
                  <a:pt x="147828" y="61214"/>
                </a:lnTo>
                <a:lnTo>
                  <a:pt x="130695" y="67386"/>
                </a:lnTo>
                <a:lnTo>
                  <a:pt x="115709" y="76327"/>
                </a:lnTo>
                <a:lnTo>
                  <a:pt x="83566" y="119214"/>
                </a:lnTo>
                <a:lnTo>
                  <a:pt x="73850" y="157556"/>
                </a:lnTo>
                <a:lnTo>
                  <a:pt x="72644" y="179197"/>
                </a:lnTo>
                <a:lnTo>
                  <a:pt x="73850" y="200850"/>
                </a:lnTo>
                <a:lnTo>
                  <a:pt x="83515" y="239141"/>
                </a:lnTo>
                <a:lnTo>
                  <a:pt x="115646" y="281889"/>
                </a:lnTo>
                <a:lnTo>
                  <a:pt x="147828" y="296926"/>
                </a:lnTo>
                <a:lnTo>
                  <a:pt x="150749" y="287401"/>
                </a:lnTo>
                <a:lnTo>
                  <a:pt x="137337" y="281470"/>
                </a:lnTo>
                <a:lnTo>
                  <a:pt x="125742" y="273202"/>
                </a:lnTo>
                <a:lnTo>
                  <a:pt x="101981" y="234505"/>
                </a:lnTo>
                <a:lnTo>
                  <a:pt x="94107" y="177927"/>
                </a:lnTo>
                <a:lnTo>
                  <a:pt x="94983" y="157784"/>
                </a:lnTo>
                <a:lnTo>
                  <a:pt x="108077" y="108077"/>
                </a:lnTo>
                <a:lnTo>
                  <a:pt x="137502" y="76720"/>
                </a:lnTo>
                <a:lnTo>
                  <a:pt x="151130" y="70739"/>
                </a:lnTo>
                <a:close/>
              </a:path>
              <a:path w="556260" h="297179">
                <a:moveTo>
                  <a:pt x="365125" y="179197"/>
                </a:moveTo>
                <a:lnTo>
                  <a:pt x="360260" y="137566"/>
                </a:lnTo>
                <a:lnTo>
                  <a:pt x="334924" y="88049"/>
                </a:lnTo>
                <a:lnTo>
                  <a:pt x="289941" y="61214"/>
                </a:lnTo>
                <a:lnTo>
                  <a:pt x="286639" y="70739"/>
                </a:lnTo>
                <a:lnTo>
                  <a:pt x="300253" y="76720"/>
                </a:lnTo>
                <a:lnTo>
                  <a:pt x="311975" y="84937"/>
                </a:lnTo>
                <a:lnTo>
                  <a:pt x="335775" y="122872"/>
                </a:lnTo>
                <a:lnTo>
                  <a:pt x="343662" y="177927"/>
                </a:lnTo>
                <a:lnTo>
                  <a:pt x="342773" y="198691"/>
                </a:lnTo>
                <a:lnTo>
                  <a:pt x="329692" y="249555"/>
                </a:lnTo>
                <a:lnTo>
                  <a:pt x="300393" y="281470"/>
                </a:lnTo>
                <a:lnTo>
                  <a:pt x="287020" y="287401"/>
                </a:lnTo>
                <a:lnTo>
                  <a:pt x="289941" y="296926"/>
                </a:lnTo>
                <a:lnTo>
                  <a:pt x="335026" y="270217"/>
                </a:lnTo>
                <a:lnTo>
                  <a:pt x="360273" y="220827"/>
                </a:lnTo>
                <a:lnTo>
                  <a:pt x="363905" y="200850"/>
                </a:lnTo>
                <a:lnTo>
                  <a:pt x="365125" y="179197"/>
                </a:lnTo>
                <a:close/>
              </a:path>
              <a:path w="556260" h="297179">
                <a:moveTo>
                  <a:pt x="556260" y="0"/>
                </a:moveTo>
                <a:lnTo>
                  <a:pt x="0" y="0"/>
                </a:lnTo>
                <a:lnTo>
                  <a:pt x="0" y="16764"/>
                </a:lnTo>
                <a:lnTo>
                  <a:pt x="556260" y="16764"/>
                </a:lnTo>
                <a:lnTo>
                  <a:pt x="556260" y="0"/>
                </a:lnTo>
                <a:close/>
              </a:path>
            </a:pathLst>
          </a:custGeom>
          <a:solidFill>
            <a:srgbClr val="000000"/>
          </a:solidFill>
        </p:spPr>
        <p:txBody>
          <a:bodyPr wrap="square" lIns="0" tIns="0" rIns="0" bIns="0" rtlCol="0"/>
          <a:lstStyle/>
          <a:p>
            <a:endParaRPr/>
          </a:p>
        </p:txBody>
      </p:sp>
      <p:sp>
        <p:nvSpPr>
          <p:cNvPr id="42" name="object 42"/>
          <p:cNvSpPr txBox="1"/>
          <p:nvPr/>
        </p:nvSpPr>
        <p:spPr>
          <a:xfrm>
            <a:off x="4557776" y="3588765"/>
            <a:ext cx="581660"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Cambria Math"/>
                <a:cs typeface="Cambria Math"/>
              </a:rPr>
              <a:t>𝑞</a:t>
            </a:r>
            <a:r>
              <a:rPr sz="2000" spc="-10" dirty="0">
                <a:latin typeface="Cambria Math"/>
                <a:cs typeface="Cambria Math"/>
              </a:rPr>
              <a:t>2</a:t>
            </a:r>
            <a:r>
              <a:rPr sz="2000" dirty="0">
                <a:latin typeface="Cambria Math"/>
                <a:cs typeface="Cambria Math"/>
              </a:rPr>
              <a:t>𝑞3</a:t>
            </a:r>
            <a:endParaRPr sz="2000">
              <a:latin typeface="Cambria Math"/>
              <a:cs typeface="Cambria Math"/>
            </a:endParaRPr>
          </a:p>
        </p:txBody>
      </p:sp>
      <p:sp>
        <p:nvSpPr>
          <p:cNvPr id="43" name="object 43"/>
          <p:cNvSpPr txBox="1"/>
          <p:nvPr/>
        </p:nvSpPr>
        <p:spPr>
          <a:xfrm>
            <a:off x="4713223" y="3951173"/>
            <a:ext cx="146685" cy="331470"/>
          </a:xfrm>
          <a:prstGeom prst="rect">
            <a:avLst/>
          </a:prstGeom>
        </p:spPr>
        <p:txBody>
          <a:bodyPr vert="horz" wrap="square" lIns="0" tIns="13335" rIns="0" bIns="0" rtlCol="0">
            <a:spAutoFit/>
          </a:bodyPr>
          <a:lstStyle/>
          <a:p>
            <a:pPr marL="12700">
              <a:lnSpc>
                <a:spcPct val="100000"/>
              </a:lnSpc>
              <a:spcBef>
                <a:spcPts val="105"/>
              </a:spcBef>
            </a:pPr>
            <a:r>
              <a:rPr sz="2000" spc="5" dirty="0">
                <a:latin typeface="Cambria Math"/>
                <a:cs typeface="Cambria Math"/>
              </a:rPr>
              <a:t>𝑟</a:t>
            </a:r>
            <a:endParaRPr sz="2000">
              <a:latin typeface="Cambria Math"/>
              <a:cs typeface="Cambria Math"/>
            </a:endParaRPr>
          </a:p>
        </p:txBody>
      </p:sp>
      <p:sp>
        <p:nvSpPr>
          <p:cNvPr id="44" name="object 44"/>
          <p:cNvSpPr txBox="1"/>
          <p:nvPr/>
        </p:nvSpPr>
        <p:spPr>
          <a:xfrm>
            <a:off x="4944871" y="3943857"/>
            <a:ext cx="133350" cy="248920"/>
          </a:xfrm>
          <a:prstGeom prst="rect">
            <a:avLst/>
          </a:prstGeom>
        </p:spPr>
        <p:txBody>
          <a:bodyPr vert="horz" wrap="square" lIns="0" tIns="13970" rIns="0" bIns="0" rtlCol="0">
            <a:spAutoFit/>
          </a:bodyPr>
          <a:lstStyle/>
          <a:p>
            <a:pPr marL="12700">
              <a:lnSpc>
                <a:spcPct val="100000"/>
              </a:lnSpc>
              <a:spcBef>
                <a:spcPts val="110"/>
              </a:spcBef>
            </a:pPr>
            <a:r>
              <a:rPr sz="1450" spc="40" dirty="0">
                <a:latin typeface="Cambria Math"/>
                <a:cs typeface="Cambria Math"/>
              </a:rPr>
              <a:t>2</a:t>
            </a:r>
            <a:endParaRPr sz="1450">
              <a:latin typeface="Cambria Math"/>
              <a:cs typeface="Cambria Math"/>
            </a:endParaRPr>
          </a:p>
        </p:txBody>
      </p:sp>
      <p:sp>
        <p:nvSpPr>
          <p:cNvPr id="45" name="object 45"/>
          <p:cNvSpPr txBox="1"/>
          <p:nvPr/>
        </p:nvSpPr>
        <p:spPr>
          <a:xfrm>
            <a:off x="5184394" y="3780790"/>
            <a:ext cx="426720" cy="330835"/>
          </a:xfrm>
          <a:prstGeom prst="rect">
            <a:avLst/>
          </a:prstGeom>
        </p:spPr>
        <p:txBody>
          <a:bodyPr vert="horz" wrap="square" lIns="0" tIns="12700" rIns="0" bIns="0" rtlCol="0">
            <a:spAutoFit/>
          </a:bodyPr>
          <a:lstStyle/>
          <a:p>
            <a:pPr marL="12700">
              <a:lnSpc>
                <a:spcPct val="100000"/>
              </a:lnSpc>
              <a:spcBef>
                <a:spcPts val="100"/>
              </a:spcBef>
            </a:pPr>
            <a:r>
              <a:rPr sz="2000" dirty="0">
                <a:latin typeface="Cambria Math"/>
                <a:cs typeface="Cambria Math"/>
              </a:rPr>
              <a:t>=</a:t>
            </a:r>
            <a:r>
              <a:rPr sz="2000" spc="30" dirty="0">
                <a:latin typeface="Cambria Math"/>
                <a:cs typeface="Cambria Math"/>
              </a:rPr>
              <a:t> </a:t>
            </a:r>
            <a:r>
              <a:rPr sz="2000" dirty="0">
                <a:latin typeface="Cambria Math"/>
                <a:cs typeface="Cambria Math"/>
              </a:rPr>
              <a:t>𝑘</a:t>
            </a:r>
            <a:endParaRPr sz="2000">
              <a:latin typeface="Cambria Math"/>
              <a:cs typeface="Cambria Math"/>
            </a:endParaRPr>
          </a:p>
        </p:txBody>
      </p:sp>
      <p:sp>
        <p:nvSpPr>
          <p:cNvPr id="46" name="object 46"/>
          <p:cNvSpPr/>
          <p:nvPr/>
        </p:nvSpPr>
        <p:spPr>
          <a:xfrm>
            <a:off x="5647563" y="3966336"/>
            <a:ext cx="992505" cy="17145"/>
          </a:xfrm>
          <a:custGeom>
            <a:avLst/>
            <a:gdLst/>
            <a:ahLst/>
            <a:cxnLst/>
            <a:rect l="l" t="t" r="r" b="b"/>
            <a:pathLst>
              <a:path w="992504" h="17145">
                <a:moveTo>
                  <a:pt x="992123" y="0"/>
                </a:moveTo>
                <a:lnTo>
                  <a:pt x="0" y="0"/>
                </a:lnTo>
                <a:lnTo>
                  <a:pt x="0" y="16763"/>
                </a:lnTo>
                <a:lnTo>
                  <a:pt x="992123" y="16763"/>
                </a:lnTo>
                <a:lnTo>
                  <a:pt x="992123" y="0"/>
                </a:lnTo>
                <a:close/>
              </a:path>
            </a:pathLst>
          </a:custGeom>
          <a:solidFill>
            <a:srgbClr val="000000"/>
          </a:solidFill>
        </p:spPr>
        <p:txBody>
          <a:bodyPr wrap="square" lIns="0" tIns="0" rIns="0" bIns="0" rtlCol="0"/>
          <a:lstStyle/>
          <a:p>
            <a:endParaRPr/>
          </a:p>
        </p:txBody>
      </p:sp>
      <p:sp>
        <p:nvSpPr>
          <p:cNvPr id="47" name="object 47"/>
          <p:cNvSpPr/>
          <p:nvPr/>
        </p:nvSpPr>
        <p:spPr>
          <a:xfrm>
            <a:off x="6165215" y="3664839"/>
            <a:ext cx="451484" cy="236220"/>
          </a:xfrm>
          <a:custGeom>
            <a:avLst/>
            <a:gdLst/>
            <a:ahLst/>
            <a:cxnLst/>
            <a:rect l="l" t="t" r="r" b="b"/>
            <a:pathLst>
              <a:path w="451484" h="236220">
                <a:moveTo>
                  <a:pt x="375792" y="0"/>
                </a:moveTo>
                <a:lnTo>
                  <a:pt x="372490" y="9525"/>
                </a:lnTo>
                <a:lnTo>
                  <a:pt x="386111" y="15501"/>
                </a:lnTo>
                <a:lnTo>
                  <a:pt x="397827" y="23717"/>
                </a:lnTo>
                <a:lnTo>
                  <a:pt x="421638" y="61652"/>
                </a:lnTo>
                <a:lnTo>
                  <a:pt x="429513" y="116712"/>
                </a:lnTo>
                <a:lnTo>
                  <a:pt x="428634" y="137477"/>
                </a:lnTo>
                <a:lnTo>
                  <a:pt x="415543" y="188341"/>
                </a:lnTo>
                <a:lnTo>
                  <a:pt x="386254" y="220255"/>
                </a:lnTo>
                <a:lnTo>
                  <a:pt x="372871" y="226187"/>
                </a:lnTo>
                <a:lnTo>
                  <a:pt x="375792" y="235712"/>
                </a:lnTo>
                <a:lnTo>
                  <a:pt x="420887" y="208994"/>
                </a:lnTo>
                <a:lnTo>
                  <a:pt x="446135" y="159607"/>
                </a:lnTo>
                <a:lnTo>
                  <a:pt x="450977" y="117983"/>
                </a:lnTo>
                <a:lnTo>
                  <a:pt x="449762" y="96335"/>
                </a:lnTo>
                <a:lnTo>
                  <a:pt x="440047" y="57993"/>
                </a:lnTo>
                <a:lnTo>
                  <a:pt x="407908" y="15112"/>
                </a:lnTo>
                <a:lnTo>
                  <a:pt x="392916" y="6163"/>
                </a:lnTo>
                <a:lnTo>
                  <a:pt x="375792" y="0"/>
                </a:lnTo>
                <a:close/>
              </a:path>
              <a:path w="451484" h="236220">
                <a:moveTo>
                  <a:pt x="75184" y="0"/>
                </a:moveTo>
                <a:lnTo>
                  <a:pt x="30196" y="26824"/>
                </a:lnTo>
                <a:lnTo>
                  <a:pt x="4857" y="76342"/>
                </a:lnTo>
                <a:lnTo>
                  <a:pt x="0" y="117983"/>
                </a:lnTo>
                <a:lnTo>
                  <a:pt x="1212" y="139628"/>
                </a:lnTo>
                <a:lnTo>
                  <a:pt x="10876" y="177919"/>
                </a:lnTo>
                <a:lnTo>
                  <a:pt x="43005" y="220662"/>
                </a:lnTo>
                <a:lnTo>
                  <a:pt x="75184" y="235712"/>
                </a:lnTo>
                <a:lnTo>
                  <a:pt x="78105" y="226187"/>
                </a:lnTo>
                <a:lnTo>
                  <a:pt x="64704" y="220255"/>
                </a:lnTo>
                <a:lnTo>
                  <a:pt x="53101" y="211978"/>
                </a:lnTo>
                <a:lnTo>
                  <a:pt x="29338" y="173291"/>
                </a:lnTo>
                <a:lnTo>
                  <a:pt x="21462" y="116712"/>
                </a:lnTo>
                <a:lnTo>
                  <a:pt x="22342" y="96565"/>
                </a:lnTo>
                <a:lnTo>
                  <a:pt x="35433" y="46862"/>
                </a:lnTo>
                <a:lnTo>
                  <a:pt x="64865" y="15501"/>
                </a:lnTo>
                <a:lnTo>
                  <a:pt x="78486" y="9525"/>
                </a:lnTo>
                <a:lnTo>
                  <a:pt x="75184" y="0"/>
                </a:lnTo>
                <a:close/>
              </a:path>
            </a:pathLst>
          </a:custGeom>
          <a:solidFill>
            <a:srgbClr val="000000"/>
          </a:solidFill>
        </p:spPr>
        <p:txBody>
          <a:bodyPr wrap="square" lIns="0" tIns="0" rIns="0" bIns="0" rtlCol="0"/>
          <a:lstStyle/>
          <a:p>
            <a:endParaRPr/>
          </a:p>
        </p:txBody>
      </p:sp>
      <p:sp>
        <p:nvSpPr>
          <p:cNvPr id="48" name="object 48"/>
          <p:cNvSpPr txBox="1"/>
          <p:nvPr/>
        </p:nvSpPr>
        <p:spPr>
          <a:xfrm>
            <a:off x="5635497" y="3588765"/>
            <a:ext cx="903605" cy="330835"/>
          </a:xfrm>
          <a:prstGeom prst="rect">
            <a:avLst/>
          </a:prstGeom>
        </p:spPr>
        <p:txBody>
          <a:bodyPr vert="horz" wrap="square" lIns="0" tIns="13335" rIns="0" bIns="0" rtlCol="0">
            <a:spAutoFit/>
          </a:bodyPr>
          <a:lstStyle/>
          <a:p>
            <a:pPr marL="12700">
              <a:lnSpc>
                <a:spcPct val="100000"/>
              </a:lnSpc>
              <a:spcBef>
                <a:spcPts val="105"/>
              </a:spcBef>
            </a:pPr>
            <a:r>
              <a:rPr lang="en-US" sz="3000" spc="-419" baseline="2777" dirty="0">
                <a:latin typeface="Cambria Math"/>
                <a:cs typeface="Cambria Math"/>
              </a:rPr>
              <a:t>(</a:t>
            </a:r>
            <a:r>
              <a:rPr sz="2000" spc="-280" dirty="0" smtClean="0">
                <a:latin typeface="Cambria Math"/>
                <a:cs typeface="Cambria Math"/>
              </a:rPr>
              <a:t>2</a:t>
            </a:r>
            <a:r>
              <a:rPr sz="2000" spc="-280" dirty="0">
                <a:latin typeface="Cambria Math"/>
                <a:cs typeface="Cambria Math"/>
              </a:rPr>
              <a:t>𝑞</a:t>
            </a:r>
            <a:r>
              <a:rPr sz="2000" spc="-280" dirty="0" smtClean="0">
                <a:latin typeface="Cambria Math"/>
                <a:cs typeface="Cambria Math"/>
              </a:rPr>
              <a:t>)</a:t>
            </a:r>
            <a:r>
              <a:rPr sz="2000" spc="295" dirty="0" smtClean="0">
                <a:latin typeface="Cambria Math"/>
                <a:cs typeface="Cambria Math"/>
              </a:rPr>
              <a:t> </a:t>
            </a:r>
            <a:r>
              <a:rPr sz="2000" spc="-5" dirty="0" smtClean="0">
                <a:latin typeface="Cambria Math"/>
                <a:cs typeface="Cambria Math"/>
              </a:rPr>
              <a:t>3𝑞</a:t>
            </a:r>
            <a:endParaRPr sz="2000" dirty="0">
              <a:latin typeface="Cambria Math"/>
              <a:cs typeface="Cambria Math"/>
            </a:endParaRPr>
          </a:p>
        </p:txBody>
      </p:sp>
      <p:sp>
        <p:nvSpPr>
          <p:cNvPr id="49" name="object 49"/>
          <p:cNvSpPr txBox="1"/>
          <p:nvPr/>
        </p:nvSpPr>
        <p:spPr>
          <a:xfrm>
            <a:off x="5980429" y="3874973"/>
            <a:ext cx="316865" cy="331470"/>
          </a:xfrm>
          <a:prstGeom prst="rect">
            <a:avLst/>
          </a:prstGeom>
        </p:spPr>
        <p:txBody>
          <a:bodyPr vert="horz" wrap="square" lIns="0" tIns="13335" rIns="0" bIns="0" rtlCol="0">
            <a:spAutoFit/>
          </a:bodyPr>
          <a:lstStyle/>
          <a:p>
            <a:pPr marL="38100">
              <a:lnSpc>
                <a:spcPct val="100000"/>
              </a:lnSpc>
              <a:spcBef>
                <a:spcPts val="105"/>
              </a:spcBef>
            </a:pPr>
            <a:r>
              <a:rPr sz="3000" spc="97" baseline="-16666" dirty="0">
                <a:latin typeface="Cambria Math"/>
                <a:cs typeface="Cambria Math"/>
              </a:rPr>
              <a:t>𝑟</a:t>
            </a:r>
            <a:r>
              <a:rPr sz="1450" spc="65" dirty="0">
                <a:latin typeface="Cambria Math"/>
                <a:cs typeface="Cambria Math"/>
              </a:rPr>
              <a:t>2</a:t>
            </a:r>
            <a:endParaRPr sz="1450">
              <a:latin typeface="Cambria Math"/>
              <a:cs typeface="Cambria Math"/>
            </a:endParaRPr>
          </a:p>
        </p:txBody>
      </p:sp>
      <p:sp>
        <p:nvSpPr>
          <p:cNvPr id="50" name="object 50"/>
          <p:cNvSpPr/>
          <p:nvPr/>
        </p:nvSpPr>
        <p:spPr>
          <a:xfrm>
            <a:off x="7159370" y="3966336"/>
            <a:ext cx="403860" cy="17145"/>
          </a:xfrm>
          <a:custGeom>
            <a:avLst/>
            <a:gdLst/>
            <a:ahLst/>
            <a:cxnLst/>
            <a:rect l="l" t="t" r="r" b="b"/>
            <a:pathLst>
              <a:path w="403859" h="17145">
                <a:moveTo>
                  <a:pt x="403859" y="0"/>
                </a:moveTo>
                <a:lnTo>
                  <a:pt x="0" y="0"/>
                </a:lnTo>
                <a:lnTo>
                  <a:pt x="0" y="16763"/>
                </a:lnTo>
                <a:lnTo>
                  <a:pt x="403859" y="16763"/>
                </a:lnTo>
                <a:lnTo>
                  <a:pt x="403859" y="0"/>
                </a:lnTo>
                <a:close/>
              </a:path>
            </a:pathLst>
          </a:custGeom>
          <a:solidFill>
            <a:srgbClr val="000000"/>
          </a:solidFill>
        </p:spPr>
        <p:txBody>
          <a:bodyPr wrap="square" lIns="0" tIns="0" rIns="0" bIns="0" rtlCol="0"/>
          <a:lstStyle/>
          <a:p>
            <a:endParaRPr/>
          </a:p>
        </p:txBody>
      </p:sp>
      <p:sp>
        <p:nvSpPr>
          <p:cNvPr id="51" name="object 51"/>
          <p:cNvSpPr txBox="1"/>
          <p:nvPr/>
        </p:nvSpPr>
        <p:spPr>
          <a:xfrm>
            <a:off x="6672326" y="3588765"/>
            <a:ext cx="920115" cy="617855"/>
          </a:xfrm>
          <a:prstGeom prst="rect">
            <a:avLst/>
          </a:prstGeom>
        </p:spPr>
        <p:txBody>
          <a:bodyPr vert="horz" wrap="square" lIns="0" tIns="13335" rIns="0" bIns="0" rtlCol="0">
            <a:spAutoFit/>
          </a:bodyPr>
          <a:lstStyle/>
          <a:p>
            <a:pPr marL="487045">
              <a:lnSpc>
                <a:spcPts val="1955"/>
              </a:lnSpc>
              <a:spcBef>
                <a:spcPts val="105"/>
              </a:spcBef>
            </a:pPr>
            <a:r>
              <a:rPr sz="2000" spc="35" dirty="0">
                <a:latin typeface="Cambria Math"/>
                <a:cs typeface="Cambria Math"/>
              </a:rPr>
              <a:t>6𝑞</a:t>
            </a:r>
            <a:r>
              <a:rPr sz="2175" spc="52" baseline="28735" dirty="0">
                <a:latin typeface="Cambria Math"/>
                <a:cs typeface="Cambria Math"/>
              </a:rPr>
              <a:t>2</a:t>
            </a:r>
            <a:endParaRPr sz="2175" baseline="28735">
              <a:latin typeface="Cambria Math"/>
              <a:cs typeface="Cambria Math"/>
            </a:endParaRPr>
          </a:p>
          <a:p>
            <a:pPr marL="38100">
              <a:lnSpc>
                <a:spcPts val="1130"/>
              </a:lnSpc>
            </a:pPr>
            <a:r>
              <a:rPr sz="2000" dirty="0">
                <a:latin typeface="Cambria Math"/>
                <a:cs typeface="Cambria Math"/>
              </a:rPr>
              <a:t>=</a:t>
            </a:r>
            <a:r>
              <a:rPr sz="2000" spc="65" dirty="0">
                <a:latin typeface="Cambria Math"/>
                <a:cs typeface="Cambria Math"/>
              </a:rPr>
              <a:t> </a:t>
            </a:r>
            <a:r>
              <a:rPr sz="2000" dirty="0">
                <a:latin typeface="Cambria Math"/>
                <a:cs typeface="Cambria Math"/>
              </a:rPr>
              <a:t>𝑘</a:t>
            </a:r>
            <a:endParaRPr sz="2000">
              <a:latin typeface="Cambria Math"/>
              <a:cs typeface="Cambria Math"/>
            </a:endParaRPr>
          </a:p>
          <a:p>
            <a:pPr marL="563245">
              <a:lnSpc>
                <a:spcPts val="1570"/>
              </a:lnSpc>
            </a:pPr>
            <a:r>
              <a:rPr sz="3000" spc="97" baseline="-16666" dirty="0">
                <a:latin typeface="Cambria Math"/>
                <a:cs typeface="Cambria Math"/>
              </a:rPr>
              <a:t>𝑟</a:t>
            </a:r>
            <a:r>
              <a:rPr sz="1450" spc="65" dirty="0">
                <a:latin typeface="Cambria Math"/>
                <a:cs typeface="Cambria Math"/>
              </a:rPr>
              <a:t>2</a:t>
            </a:r>
            <a:endParaRPr sz="1450">
              <a:latin typeface="Cambria Math"/>
              <a:cs typeface="Cambria Math"/>
            </a:endParaRPr>
          </a:p>
        </p:txBody>
      </p:sp>
      <p:sp>
        <p:nvSpPr>
          <p:cNvPr id="52" name="object 52"/>
          <p:cNvSpPr/>
          <p:nvPr/>
        </p:nvSpPr>
        <p:spPr>
          <a:xfrm>
            <a:off x="4580763" y="4969128"/>
            <a:ext cx="403860" cy="17145"/>
          </a:xfrm>
          <a:custGeom>
            <a:avLst/>
            <a:gdLst/>
            <a:ahLst/>
            <a:cxnLst/>
            <a:rect l="l" t="t" r="r" b="b"/>
            <a:pathLst>
              <a:path w="403860" h="17145">
                <a:moveTo>
                  <a:pt x="403860" y="0"/>
                </a:moveTo>
                <a:lnTo>
                  <a:pt x="0" y="0"/>
                </a:lnTo>
                <a:lnTo>
                  <a:pt x="0" y="16764"/>
                </a:lnTo>
                <a:lnTo>
                  <a:pt x="403860" y="16764"/>
                </a:lnTo>
                <a:lnTo>
                  <a:pt x="403860" y="0"/>
                </a:lnTo>
                <a:close/>
              </a:path>
            </a:pathLst>
          </a:custGeom>
          <a:solidFill>
            <a:srgbClr val="000000"/>
          </a:solidFill>
        </p:spPr>
        <p:txBody>
          <a:bodyPr wrap="square" lIns="0" tIns="0" rIns="0" bIns="0" rtlCol="0"/>
          <a:lstStyle/>
          <a:p>
            <a:endParaRPr/>
          </a:p>
        </p:txBody>
      </p:sp>
      <p:sp>
        <p:nvSpPr>
          <p:cNvPr id="53" name="object 53"/>
          <p:cNvSpPr/>
          <p:nvPr/>
        </p:nvSpPr>
        <p:spPr>
          <a:xfrm>
            <a:off x="5476875" y="4969128"/>
            <a:ext cx="403860" cy="17145"/>
          </a:xfrm>
          <a:custGeom>
            <a:avLst/>
            <a:gdLst/>
            <a:ahLst/>
            <a:cxnLst/>
            <a:rect l="l" t="t" r="r" b="b"/>
            <a:pathLst>
              <a:path w="403860" h="17145">
                <a:moveTo>
                  <a:pt x="403860" y="0"/>
                </a:moveTo>
                <a:lnTo>
                  <a:pt x="0" y="0"/>
                </a:lnTo>
                <a:lnTo>
                  <a:pt x="0" y="16764"/>
                </a:lnTo>
                <a:lnTo>
                  <a:pt x="403860" y="16764"/>
                </a:lnTo>
                <a:lnTo>
                  <a:pt x="403860" y="0"/>
                </a:lnTo>
                <a:close/>
              </a:path>
            </a:pathLst>
          </a:custGeom>
          <a:solidFill>
            <a:srgbClr val="000000"/>
          </a:solidFill>
        </p:spPr>
        <p:txBody>
          <a:bodyPr wrap="square" lIns="0" tIns="0" rIns="0" bIns="0" rtlCol="0"/>
          <a:lstStyle/>
          <a:p>
            <a:endParaRPr/>
          </a:p>
        </p:txBody>
      </p:sp>
      <p:sp>
        <p:nvSpPr>
          <p:cNvPr id="54" name="object 54"/>
          <p:cNvSpPr/>
          <p:nvPr/>
        </p:nvSpPr>
        <p:spPr>
          <a:xfrm>
            <a:off x="6233795" y="4652645"/>
            <a:ext cx="532765" cy="648970"/>
          </a:xfrm>
          <a:custGeom>
            <a:avLst/>
            <a:gdLst/>
            <a:ahLst/>
            <a:cxnLst/>
            <a:rect l="l" t="t" r="r" b="b"/>
            <a:pathLst>
              <a:path w="532765" h="648970">
                <a:moveTo>
                  <a:pt x="116967" y="9271"/>
                </a:moveTo>
                <a:lnTo>
                  <a:pt x="65303" y="54457"/>
                </a:lnTo>
                <a:lnTo>
                  <a:pt x="46329" y="89763"/>
                </a:lnTo>
                <a:lnTo>
                  <a:pt x="29972" y="130429"/>
                </a:lnTo>
                <a:lnTo>
                  <a:pt x="16865" y="175056"/>
                </a:lnTo>
                <a:lnTo>
                  <a:pt x="7505" y="222224"/>
                </a:lnTo>
                <a:lnTo>
                  <a:pt x="1866" y="271919"/>
                </a:lnTo>
                <a:lnTo>
                  <a:pt x="0" y="324231"/>
                </a:lnTo>
                <a:lnTo>
                  <a:pt x="1866" y="375640"/>
                </a:lnTo>
                <a:lnTo>
                  <a:pt x="7505" y="425043"/>
                </a:lnTo>
                <a:lnTo>
                  <a:pt x="16865" y="472313"/>
                </a:lnTo>
                <a:lnTo>
                  <a:pt x="29972" y="517398"/>
                </a:lnTo>
                <a:lnTo>
                  <a:pt x="46329" y="558622"/>
                </a:lnTo>
                <a:lnTo>
                  <a:pt x="65303" y="594283"/>
                </a:lnTo>
                <a:lnTo>
                  <a:pt x="111125" y="648970"/>
                </a:lnTo>
                <a:lnTo>
                  <a:pt x="116967" y="639699"/>
                </a:lnTo>
                <a:lnTo>
                  <a:pt x="96139" y="614794"/>
                </a:lnTo>
                <a:lnTo>
                  <a:pt x="77876" y="584860"/>
                </a:lnTo>
                <a:lnTo>
                  <a:pt x="62128" y="549884"/>
                </a:lnTo>
                <a:lnTo>
                  <a:pt x="48895" y="509905"/>
                </a:lnTo>
                <a:lnTo>
                  <a:pt x="38481" y="466382"/>
                </a:lnTo>
                <a:lnTo>
                  <a:pt x="31064" y="420928"/>
                </a:lnTo>
                <a:lnTo>
                  <a:pt x="26619" y="373557"/>
                </a:lnTo>
                <a:lnTo>
                  <a:pt x="25146" y="324104"/>
                </a:lnTo>
                <a:lnTo>
                  <a:pt x="26619" y="273926"/>
                </a:lnTo>
                <a:lnTo>
                  <a:pt x="31076" y="226047"/>
                </a:lnTo>
                <a:lnTo>
                  <a:pt x="38531" y="180632"/>
                </a:lnTo>
                <a:lnTo>
                  <a:pt x="49022" y="137668"/>
                </a:lnTo>
                <a:lnTo>
                  <a:pt x="62255" y="98361"/>
                </a:lnTo>
                <a:lnTo>
                  <a:pt x="96215" y="34163"/>
                </a:lnTo>
                <a:lnTo>
                  <a:pt x="116967" y="9271"/>
                </a:lnTo>
                <a:close/>
              </a:path>
              <a:path w="532765" h="648970">
                <a:moveTo>
                  <a:pt x="407416" y="316484"/>
                </a:moveTo>
                <a:lnTo>
                  <a:pt x="125476" y="316484"/>
                </a:lnTo>
                <a:lnTo>
                  <a:pt x="125476" y="333248"/>
                </a:lnTo>
                <a:lnTo>
                  <a:pt x="407416" y="333248"/>
                </a:lnTo>
                <a:lnTo>
                  <a:pt x="407416" y="316484"/>
                </a:lnTo>
                <a:close/>
              </a:path>
              <a:path w="532765" h="648970">
                <a:moveTo>
                  <a:pt x="532511" y="324104"/>
                </a:moveTo>
                <a:lnTo>
                  <a:pt x="530631" y="271919"/>
                </a:lnTo>
                <a:lnTo>
                  <a:pt x="524992" y="222224"/>
                </a:lnTo>
                <a:lnTo>
                  <a:pt x="515632" y="175056"/>
                </a:lnTo>
                <a:lnTo>
                  <a:pt x="502539" y="130429"/>
                </a:lnTo>
                <a:lnTo>
                  <a:pt x="486168" y="89763"/>
                </a:lnTo>
                <a:lnTo>
                  <a:pt x="467194" y="54457"/>
                </a:lnTo>
                <a:lnTo>
                  <a:pt x="421386" y="0"/>
                </a:lnTo>
                <a:lnTo>
                  <a:pt x="415544" y="9271"/>
                </a:lnTo>
                <a:lnTo>
                  <a:pt x="436219" y="34163"/>
                </a:lnTo>
                <a:lnTo>
                  <a:pt x="454444" y="63855"/>
                </a:lnTo>
                <a:lnTo>
                  <a:pt x="483362" y="137668"/>
                </a:lnTo>
                <a:lnTo>
                  <a:pt x="493852" y="180632"/>
                </a:lnTo>
                <a:lnTo>
                  <a:pt x="501357" y="226047"/>
                </a:lnTo>
                <a:lnTo>
                  <a:pt x="505853" y="273926"/>
                </a:lnTo>
                <a:lnTo>
                  <a:pt x="507365" y="324231"/>
                </a:lnTo>
                <a:lnTo>
                  <a:pt x="505879" y="373557"/>
                </a:lnTo>
                <a:lnTo>
                  <a:pt x="501421" y="420928"/>
                </a:lnTo>
                <a:lnTo>
                  <a:pt x="493966" y="466382"/>
                </a:lnTo>
                <a:lnTo>
                  <a:pt x="483489" y="509905"/>
                </a:lnTo>
                <a:lnTo>
                  <a:pt x="470306" y="549884"/>
                </a:lnTo>
                <a:lnTo>
                  <a:pt x="454609" y="584860"/>
                </a:lnTo>
                <a:lnTo>
                  <a:pt x="415544" y="639699"/>
                </a:lnTo>
                <a:lnTo>
                  <a:pt x="421386" y="648970"/>
                </a:lnTo>
                <a:lnTo>
                  <a:pt x="467194" y="594283"/>
                </a:lnTo>
                <a:lnTo>
                  <a:pt x="486168" y="558622"/>
                </a:lnTo>
                <a:lnTo>
                  <a:pt x="502539" y="517398"/>
                </a:lnTo>
                <a:lnTo>
                  <a:pt x="515632" y="472313"/>
                </a:lnTo>
                <a:lnTo>
                  <a:pt x="524992" y="425043"/>
                </a:lnTo>
                <a:lnTo>
                  <a:pt x="530631" y="375640"/>
                </a:lnTo>
                <a:lnTo>
                  <a:pt x="532511" y="324104"/>
                </a:lnTo>
                <a:close/>
              </a:path>
            </a:pathLst>
          </a:custGeom>
          <a:solidFill>
            <a:srgbClr val="000000"/>
          </a:solidFill>
        </p:spPr>
        <p:txBody>
          <a:bodyPr wrap="square" lIns="0" tIns="0" rIns="0" bIns="0" rtlCol="0"/>
          <a:lstStyle/>
          <a:p>
            <a:endParaRPr/>
          </a:p>
        </p:txBody>
      </p:sp>
      <p:sp>
        <p:nvSpPr>
          <p:cNvPr id="55" name="object 55"/>
          <p:cNvSpPr/>
          <p:nvPr/>
        </p:nvSpPr>
        <p:spPr>
          <a:xfrm>
            <a:off x="7019163" y="4969128"/>
            <a:ext cx="262255" cy="17145"/>
          </a:xfrm>
          <a:custGeom>
            <a:avLst/>
            <a:gdLst/>
            <a:ahLst/>
            <a:cxnLst/>
            <a:rect l="l" t="t" r="r" b="b"/>
            <a:pathLst>
              <a:path w="262254" h="17145">
                <a:moveTo>
                  <a:pt x="262127" y="0"/>
                </a:moveTo>
                <a:lnTo>
                  <a:pt x="0" y="0"/>
                </a:lnTo>
                <a:lnTo>
                  <a:pt x="0" y="16764"/>
                </a:lnTo>
                <a:lnTo>
                  <a:pt x="262127" y="16764"/>
                </a:lnTo>
                <a:lnTo>
                  <a:pt x="262127" y="0"/>
                </a:lnTo>
                <a:close/>
              </a:path>
            </a:pathLst>
          </a:custGeom>
          <a:solidFill>
            <a:srgbClr val="000000"/>
          </a:solidFill>
        </p:spPr>
        <p:txBody>
          <a:bodyPr wrap="square" lIns="0" tIns="0" rIns="0" bIns="0" rtlCol="0"/>
          <a:lstStyle/>
          <a:p>
            <a:endParaRPr/>
          </a:p>
        </p:txBody>
      </p:sp>
      <p:sp>
        <p:nvSpPr>
          <p:cNvPr id="56" name="object 56"/>
          <p:cNvSpPr txBox="1"/>
          <p:nvPr/>
        </p:nvSpPr>
        <p:spPr>
          <a:xfrm>
            <a:off x="3678935" y="4208500"/>
            <a:ext cx="3843020" cy="906780"/>
          </a:xfrm>
          <a:prstGeom prst="rect">
            <a:avLst/>
          </a:prstGeom>
        </p:spPr>
        <p:txBody>
          <a:bodyPr vert="horz" wrap="square" lIns="0" tIns="52069" rIns="0" bIns="0" rtlCol="0">
            <a:spAutoFit/>
          </a:bodyPr>
          <a:lstStyle/>
          <a:p>
            <a:pPr marL="47625" algn="ctr">
              <a:lnSpc>
                <a:spcPct val="100000"/>
              </a:lnSpc>
              <a:spcBef>
                <a:spcPts val="409"/>
              </a:spcBef>
            </a:pPr>
            <a:r>
              <a:rPr sz="2000" spc="-55" dirty="0">
                <a:latin typeface="Cambria Math"/>
                <a:cs typeface="Cambria Math"/>
              </a:rPr>
              <a:t>𝐹</a:t>
            </a:r>
            <a:r>
              <a:rPr sz="2175" spc="-82" baseline="-15325" dirty="0">
                <a:latin typeface="Cambria Math"/>
                <a:cs typeface="Cambria Math"/>
              </a:rPr>
              <a:t>𝑇</a:t>
            </a:r>
            <a:r>
              <a:rPr sz="2175" spc="127" baseline="-15325" dirty="0">
                <a:latin typeface="Cambria Math"/>
                <a:cs typeface="Cambria Math"/>
              </a:rPr>
              <a:t> </a:t>
            </a:r>
            <a:r>
              <a:rPr sz="2000" dirty="0">
                <a:latin typeface="Cambria Math"/>
                <a:cs typeface="Cambria Math"/>
              </a:rPr>
              <a:t>=</a:t>
            </a:r>
            <a:r>
              <a:rPr sz="2000" spc="90" dirty="0">
                <a:latin typeface="Cambria Math"/>
                <a:cs typeface="Cambria Math"/>
              </a:rPr>
              <a:t> </a:t>
            </a:r>
            <a:r>
              <a:rPr sz="2000" spc="-60" dirty="0">
                <a:latin typeface="Cambria Math"/>
                <a:cs typeface="Cambria Math"/>
              </a:rPr>
              <a:t>𝐹</a:t>
            </a:r>
            <a:r>
              <a:rPr sz="2175" spc="-89" baseline="-15325" dirty="0">
                <a:latin typeface="Cambria Math"/>
                <a:cs typeface="Cambria Math"/>
              </a:rPr>
              <a:t>13  </a:t>
            </a:r>
            <a:r>
              <a:rPr sz="2000" dirty="0">
                <a:latin typeface="Cambria Math"/>
                <a:cs typeface="Cambria Math"/>
              </a:rPr>
              <a:t>+</a:t>
            </a:r>
            <a:r>
              <a:rPr sz="2000" spc="-10" dirty="0">
                <a:latin typeface="Cambria Math"/>
                <a:cs typeface="Cambria Math"/>
              </a:rPr>
              <a:t> </a:t>
            </a:r>
            <a:r>
              <a:rPr sz="2000" spc="-45" dirty="0">
                <a:latin typeface="Cambria Math"/>
                <a:cs typeface="Cambria Math"/>
              </a:rPr>
              <a:t>𝐹</a:t>
            </a:r>
            <a:r>
              <a:rPr sz="2175" spc="-67" baseline="-15325" dirty="0">
                <a:latin typeface="Cambria Math"/>
                <a:cs typeface="Cambria Math"/>
              </a:rPr>
              <a:t>23</a:t>
            </a:r>
            <a:endParaRPr sz="2175" baseline="-15325" dirty="0">
              <a:latin typeface="Cambria Math"/>
              <a:cs typeface="Cambria Math"/>
            </a:endParaRPr>
          </a:p>
          <a:p>
            <a:pPr marL="901700">
              <a:lnSpc>
                <a:spcPts val="1955"/>
              </a:lnSpc>
              <a:spcBef>
                <a:spcPts val="310"/>
              </a:spcBef>
              <a:tabLst>
                <a:tab pos="1798320" algn="l"/>
                <a:tab pos="2680335" algn="l"/>
                <a:tab pos="3340735" algn="l"/>
              </a:tabLst>
            </a:pPr>
            <a:r>
              <a:rPr sz="2000" spc="35" dirty="0">
                <a:latin typeface="Cambria Math"/>
                <a:cs typeface="Cambria Math"/>
              </a:rPr>
              <a:t>3𝑞</a:t>
            </a:r>
            <a:r>
              <a:rPr sz="2175" spc="52" baseline="28735" dirty="0">
                <a:latin typeface="Cambria Math"/>
                <a:cs typeface="Cambria Math"/>
              </a:rPr>
              <a:t>2	</a:t>
            </a:r>
            <a:r>
              <a:rPr sz="2000" spc="35" dirty="0">
                <a:latin typeface="Cambria Math"/>
                <a:cs typeface="Cambria Math"/>
              </a:rPr>
              <a:t>6𝑞</a:t>
            </a:r>
            <a:r>
              <a:rPr sz="2175" spc="52" baseline="28735" dirty="0">
                <a:latin typeface="Cambria Math"/>
                <a:cs typeface="Cambria Math"/>
              </a:rPr>
              <a:t>2	</a:t>
            </a:r>
            <a:r>
              <a:rPr sz="2000" spc="-5" dirty="0">
                <a:latin typeface="Cambria Math"/>
                <a:cs typeface="Cambria Math"/>
              </a:rPr>
              <a:t>27	</a:t>
            </a:r>
            <a:r>
              <a:rPr sz="2000" spc="50" dirty="0">
                <a:latin typeface="Cambria Math"/>
                <a:cs typeface="Cambria Math"/>
              </a:rPr>
              <a:t>𝑞</a:t>
            </a:r>
            <a:r>
              <a:rPr sz="2175" spc="75" baseline="28735" dirty="0">
                <a:latin typeface="Cambria Math"/>
                <a:cs typeface="Cambria Math"/>
              </a:rPr>
              <a:t>2</a:t>
            </a:r>
            <a:endParaRPr sz="2175" baseline="28735" dirty="0">
              <a:latin typeface="Cambria Math"/>
              <a:cs typeface="Cambria Math"/>
            </a:endParaRPr>
          </a:p>
          <a:p>
            <a:pPr marL="50165" algn="ctr">
              <a:lnSpc>
                <a:spcPts val="1955"/>
              </a:lnSpc>
              <a:tabLst>
                <a:tab pos="2210435" algn="l"/>
                <a:tab pos="2687320" algn="l"/>
                <a:tab pos="3086735" algn="l"/>
              </a:tabLst>
            </a:pPr>
            <a:r>
              <a:rPr sz="2000" spc="-55" dirty="0">
                <a:latin typeface="Cambria Math"/>
                <a:cs typeface="Cambria Math"/>
              </a:rPr>
              <a:t>𝐹</a:t>
            </a:r>
            <a:r>
              <a:rPr sz="2175" spc="-82" baseline="-15325" dirty="0">
                <a:latin typeface="Cambria Math"/>
                <a:cs typeface="Cambria Math"/>
              </a:rPr>
              <a:t>𝑇</a:t>
            </a:r>
            <a:r>
              <a:rPr sz="2175" spc="525" baseline="-15325" dirty="0">
                <a:latin typeface="Cambria Math"/>
                <a:cs typeface="Cambria Math"/>
              </a:rPr>
              <a:t> </a:t>
            </a:r>
            <a:r>
              <a:rPr sz="2000" dirty="0">
                <a:latin typeface="Cambria Math"/>
                <a:cs typeface="Cambria Math"/>
              </a:rPr>
              <a:t>=</a:t>
            </a:r>
            <a:r>
              <a:rPr sz="2000" spc="130" dirty="0">
                <a:latin typeface="Cambria Math"/>
                <a:cs typeface="Cambria Math"/>
              </a:rPr>
              <a:t> </a:t>
            </a:r>
            <a:r>
              <a:rPr sz="2000" dirty="0">
                <a:latin typeface="Cambria Math"/>
                <a:cs typeface="Cambria Math"/>
              </a:rPr>
              <a:t>𝑘</a:t>
            </a:r>
            <a:r>
              <a:rPr sz="2000" spc="-25" dirty="0">
                <a:latin typeface="Cambria Math"/>
                <a:cs typeface="Cambria Math"/>
              </a:rPr>
              <a:t> </a:t>
            </a:r>
            <a:r>
              <a:rPr sz="3000" spc="67" baseline="-37500" dirty="0">
                <a:latin typeface="Cambria Math"/>
                <a:cs typeface="Cambria Math"/>
              </a:rPr>
              <a:t>4𝑟</a:t>
            </a:r>
            <a:r>
              <a:rPr sz="2175" spc="67" baseline="-28735" dirty="0">
                <a:latin typeface="Cambria Math"/>
                <a:cs typeface="Cambria Math"/>
              </a:rPr>
              <a:t>2</a:t>
            </a:r>
            <a:r>
              <a:rPr sz="2175" spc="397" baseline="-28735" dirty="0">
                <a:latin typeface="Cambria Math"/>
                <a:cs typeface="Cambria Math"/>
              </a:rPr>
              <a:t> </a:t>
            </a:r>
            <a:r>
              <a:rPr sz="2000" dirty="0">
                <a:latin typeface="Cambria Math"/>
                <a:cs typeface="Cambria Math"/>
              </a:rPr>
              <a:t>+</a:t>
            </a:r>
            <a:r>
              <a:rPr sz="2000" spc="5" dirty="0">
                <a:latin typeface="Cambria Math"/>
                <a:cs typeface="Cambria Math"/>
              </a:rPr>
              <a:t> </a:t>
            </a:r>
            <a:r>
              <a:rPr sz="2000" dirty="0">
                <a:latin typeface="Cambria Math"/>
                <a:cs typeface="Cambria Math"/>
              </a:rPr>
              <a:t>𝑘</a:t>
            </a:r>
            <a:r>
              <a:rPr sz="2000" spc="550" dirty="0">
                <a:latin typeface="Cambria Math"/>
                <a:cs typeface="Cambria Math"/>
              </a:rPr>
              <a:t> </a:t>
            </a:r>
            <a:r>
              <a:rPr sz="3000" spc="97" baseline="-37500" dirty="0">
                <a:latin typeface="Cambria Math"/>
                <a:cs typeface="Cambria Math"/>
              </a:rPr>
              <a:t>𝑟</a:t>
            </a:r>
            <a:r>
              <a:rPr sz="2175" spc="97" baseline="-28735" dirty="0">
                <a:latin typeface="Cambria Math"/>
                <a:cs typeface="Cambria Math"/>
              </a:rPr>
              <a:t>2	</a:t>
            </a:r>
            <a:r>
              <a:rPr sz="2000" dirty="0">
                <a:latin typeface="Cambria Math"/>
                <a:cs typeface="Cambria Math"/>
              </a:rPr>
              <a:t>=	</a:t>
            </a:r>
            <a:r>
              <a:rPr sz="3000" baseline="-37500" dirty="0">
                <a:latin typeface="Cambria Math"/>
                <a:cs typeface="Cambria Math"/>
              </a:rPr>
              <a:t>4	</a:t>
            </a:r>
            <a:r>
              <a:rPr sz="2000" dirty="0">
                <a:latin typeface="Cambria Math"/>
                <a:cs typeface="Cambria Math"/>
              </a:rPr>
              <a:t>𝑘</a:t>
            </a:r>
            <a:r>
              <a:rPr sz="2000" spc="-40" dirty="0">
                <a:latin typeface="Cambria Math"/>
                <a:cs typeface="Cambria Math"/>
              </a:rPr>
              <a:t> </a:t>
            </a:r>
            <a:r>
              <a:rPr sz="3000" spc="97" baseline="-37500" dirty="0">
                <a:latin typeface="Cambria Math"/>
                <a:cs typeface="Cambria Math"/>
              </a:rPr>
              <a:t>𝑟</a:t>
            </a:r>
            <a:r>
              <a:rPr sz="2175" spc="97" baseline="-28735" dirty="0">
                <a:latin typeface="Cambria Math"/>
                <a:cs typeface="Cambria Math"/>
              </a:rPr>
              <a:t>2</a:t>
            </a:r>
            <a:r>
              <a:rPr sz="2175" spc="187" baseline="-28735" dirty="0">
                <a:latin typeface="Cambria Math"/>
                <a:cs typeface="Cambria Math"/>
              </a:rPr>
              <a:t> </a:t>
            </a:r>
            <a:r>
              <a:rPr sz="2000" spc="-1010" dirty="0" smtClean="0">
                <a:latin typeface="Cambria Math"/>
                <a:cs typeface="Cambria Math"/>
              </a:rPr>
              <a:t>𝑥</a:t>
            </a:r>
            <a:endParaRPr sz="2000" dirty="0">
              <a:latin typeface="Cambria Math"/>
              <a:cs typeface="Cambria Math"/>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932838" y="1622290"/>
            <a:ext cx="303441" cy="304652"/>
          </a:xfrm>
          <a:prstGeom prst="rect">
            <a:avLst/>
          </a:prstGeom>
        </p:spPr>
      </p:pic>
      <p:pic>
        <p:nvPicPr>
          <p:cNvPr id="3" name="object 3"/>
          <p:cNvPicPr/>
          <p:nvPr/>
        </p:nvPicPr>
        <p:blipFill>
          <a:blip r:embed="rId2" cstate="print"/>
          <a:stretch>
            <a:fillRect/>
          </a:stretch>
        </p:blipFill>
        <p:spPr>
          <a:xfrm>
            <a:off x="7422078" y="1477954"/>
            <a:ext cx="529258" cy="528413"/>
          </a:xfrm>
          <a:prstGeom prst="rect">
            <a:avLst/>
          </a:prstGeom>
        </p:spPr>
      </p:pic>
      <p:sp>
        <p:nvSpPr>
          <p:cNvPr id="4" name="object 4"/>
          <p:cNvSpPr txBox="1"/>
          <p:nvPr/>
        </p:nvSpPr>
        <p:spPr>
          <a:xfrm>
            <a:off x="2971926" y="1993519"/>
            <a:ext cx="495934"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q1</a:t>
            </a:r>
            <a:r>
              <a:rPr sz="1800" dirty="0">
                <a:latin typeface="Calibri"/>
                <a:cs typeface="Calibri"/>
              </a:rPr>
              <a:t>=q</a:t>
            </a:r>
            <a:endParaRPr sz="1800">
              <a:latin typeface="Calibri"/>
              <a:cs typeface="Calibri"/>
            </a:endParaRPr>
          </a:p>
        </p:txBody>
      </p:sp>
      <p:sp>
        <p:nvSpPr>
          <p:cNvPr id="5" name="object 5"/>
          <p:cNvSpPr txBox="1"/>
          <p:nvPr/>
        </p:nvSpPr>
        <p:spPr>
          <a:xfrm>
            <a:off x="5064378" y="1987041"/>
            <a:ext cx="61150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q2</a:t>
            </a:r>
            <a:r>
              <a:rPr sz="1800" dirty="0">
                <a:latin typeface="Calibri"/>
                <a:cs typeface="Calibri"/>
              </a:rPr>
              <a:t>=2q</a:t>
            </a:r>
            <a:endParaRPr sz="1800">
              <a:latin typeface="Calibri"/>
              <a:cs typeface="Calibri"/>
            </a:endParaRPr>
          </a:p>
        </p:txBody>
      </p:sp>
      <p:grpSp>
        <p:nvGrpSpPr>
          <p:cNvPr id="6" name="object 6"/>
          <p:cNvGrpSpPr/>
          <p:nvPr/>
        </p:nvGrpSpPr>
        <p:grpSpPr>
          <a:xfrm>
            <a:off x="3192017" y="1495044"/>
            <a:ext cx="4175760" cy="426720"/>
            <a:chOff x="3192017" y="1495044"/>
            <a:chExt cx="4175760" cy="426720"/>
          </a:xfrm>
        </p:grpSpPr>
        <p:sp>
          <p:nvSpPr>
            <p:cNvPr id="7" name="object 7"/>
            <p:cNvSpPr/>
            <p:nvPr/>
          </p:nvSpPr>
          <p:spPr>
            <a:xfrm>
              <a:off x="3850386" y="1807336"/>
              <a:ext cx="2594610" cy="114935"/>
            </a:xfrm>
            <a:custGeom>
              <a:avLst/>
              <a:gdLst/>
              <a:ahLst/>
              <a:cxnLst/>
              <a:rect l="l" t="t" r="r" b="b"/>
              <a:pathLst>
                <a:path w="2594610" h="114935">
                  <a:moveTo>
                    <a:pt x="1225550" y="59563"/>
                  </a:moveTo>
                  <a:lnTo>
                    <a:pt x="1224915" y="21463"/>
                  </a:lnTo>
                  <a:lnTo>
                    <a:pt x="113995" y="38074"/>
                  </a:lnTo>
                  <a:lnTo>
                    <a:pt x="113411" y="0"/>
                  </a:lnTo>
                  <a:lnTo>
                    <a:pt x="0" y="58801"/>
                  </a:lnTo>
                  <a:lnTo>
                    <a:pt x="115189" y="114300"/>
                  </a:lnTo>
                  <a:lnTo>
                    <a:pt x="114592" y="76454"/>
                  </a:lnTo>
                  <a:lnTo>
                    <a:pt x="114592" y="76174"/>
                  </a:lnTo>
                  <a:lnTo>
                    <a:pt x="1225550" y="59563"/>
                  </a:lnTo>
                  <a:close/>
                </a:path>
                <a:path w="2594610" h="114935">
                  <a:moveTo>
                    <a:pt x="2594356" y="57277"/>
                  </a:moveTo>
                  <a:lnTo>
                    <a:pt x="2556256" y="38227"/>
                  </a:lnTo>
                  <a:lnTo>
                    <a:pt x="2480056" y="127"/>
                  </a:lnTo>
                  <a:lnTo>
                    <a:pt x="2480056" y="38227"/>
                  </a:lnTo>
                  <a:lnTo>
                    <a:pt x="1804416" y="38227"/>
                  </a:lnTo>
                  <a:lnTo>
                    <a:pt x="1804416" y="76327"/>
                  </a:lnTo>
                  <a:lnTo>
                    <a:pt x="2480056" y="76327"/>
                  </a:lnTo>
                  <a:lnTo>
                    <a:pt x="2480056" y="114427"/>
                  </a:lnTo>
                  <a:lnTo>
                    <a:pt x="2556256" y="76327"/>
                  </a:lnTo>
                  <a:lnTo>
                    <a:pt x="2594356" y="57277"/>
                  </a:lnTo>
                  <a:close/>
                </a:path>
              </a:pathLst>
            </a:custGeom>
            <a:solidFill>
              <a:srgbClr val="000000"/>
            </a:solidFill>
          </p:spPr>
          <p:txBody>
            <a:bodyPr wrap="square" lIns="0" tIns="0" rIns="0" bIns="0" rtlCol="0"/>
            <a:lstStyle/>
            <a:p>
              <a:endParaRPr/>
            </a:p>
          </p:txBody>
        </p:sp>
        <p:sp>
          <p:nvSpPr>
            <p:cNvPr id="8" name="object 8"/>
            <p:cNvSpPr/>
            <p:nvPr/>
          </p:nvSpPr>
          <p:spPr>
            <a:xfrm>
              <a:off x="3291839" y="1720596"/>
              <a:ext cx="4070985" cy="41910"/>
            </a:xfrm>
            <a:custGeom>
              <a:avLst/>
              <a:gdLst/>
              <a:ahLst/>
              <a:cxnLst/>
              <a:rect l="l" t="t" r="r" b="b"/>
              <a:pathLst>
                <a:path w="4070984" h="41910">
                  <a:moveTo>
                    <a:pt x="0" y="41655"/>
                  </a:moveTo>
                  <a:lnTo>
                    <a:pt x="4070604" y="0"/>
                  </a:lnTo>
                </a:path>
              </a:pathLst>
            </a:custGeom>
            <a:ln w="9143">
              <a:solidFill>
                <a:srgbClr val="000000"/>
              </a:solidFill>
              <a:prstDash val="sysDash"/>
            </a:ln>
          </p:spPr>
          <p:txBody>
            <a:bodyPr wrap="square" lIns="0" tIns="0" rIns="0" bIns="0" rtlCol="0"/>
            <a:lstStyle/>
            <a:p>
              <a:endParaRPr/>
            </a:p>
          </p:txBody>
        </p:sp>
        <p:sp>
          <p:nvSpPr>
            <p:cNvPr id="9" name="object 9"/>
            <p:cNvSpPr/>
            <p:nvPr/>
          </p:nvSpPr>
          <p:spPr>
            <a:xfrm>
              <a:off x="3192017" y="1495044"/>
              <a:ext cx="1914525" cy="86995"/>
            </a:xfrm>
            <a:custGeom>
              <a:avLst/>
              <a:gdLst/>
              <a:ahLst/>
              <a:cxnLst/>
              <a:rect l="l" t="t" r="r" b="b"/>
              <a:pathLst>
                <a:path w="1914525" h="86994">
                  <a:moveTo>
                    <a:pt x="86868" y="0"/>
                  </a:moveTo>
                  <a:lnTo>
                    <a:pt x="0" y="43433"/>
                  </a:lnTo>
                  <a:lnTo>
                    <a:pt x="86868" y="86867"/>
                  </a:lnTo>
                  <a:lnTo>
                    <a:pt x="86868" y="57911"/>
                  </a:lnTo>
                  <a:lnTo>
                    <a:pt x="72390" y="57911"/>
                  </a:lnTo>
                  <a:lnTo>
                    <a:pt x="72390" y="28955"/>
                  </a:lnTo>
                  <a:lnTo>
                    <a:pt x="86868" y="28955"/>
                  </a:lnTo>
                  <a:lnTo>
                    <a:pt x="86868" y="0"/>
                  </a:lnTo>
                  <a:close/>
                </a:path>
                <a:path w="1914525" h="86994">
                  <a:moveTo>
                    <a:pt x="1827148" y="0"/>
                  </a:moveTo>
                  <a:lnTo>
                    <a:pt x="1827148" y="86867"/>
                  </a:lnTo>
                  <a:lnTo>
                    <a:pt x="1885061" y="57911"/>
                  </a:lnTo>
                  <a:lnTo>
                    <a:pt x="1841627" y="57911"/>
                  </a:lnTo>
                  <a:lnTo>
                    <a:pt x="1841627" y="28955"/>
                  </a:lnTo>
                  <a:lnTo>
                    <a:pt x="1885060" y="28955"/>
                  </a:lnTo>
                  <a:lnTo>
                    <a:pt x="1827148" y="0"/>
                  </a:lnTo>
                  <a:close/>
                </a:path>
                <a:path w="1914525" h="86994">
                  <a:moveTo>
                    <a:pt x="86868" y="28955"/>
                  </a:moveTo>
                  <a:lnTo>
                    <a:pt x="72390" y="28955"/>
                  </a:lnTo>
                  <a:lnTo>
                    <a:pt x="72390" y="57911"/>
                  </a:lnTo>
                  <a:lnTo>
                    <a:pt x="86868" y="57911"/>
                  </a:lnTo>
                  <a:lnTo>
                    <a:pt x="86868" y="28955"/>
                  </a:lnTo>
                  <a:close/>
                </a:path>
                <a:path w="1914525" h="86994">
                  <a:moveTo>
                    <a:pt x="1827148" y="28955"/>
                  </a:moveTo>
                  <a:lnTo>
                    <a:pt x="86868" y="28955"/>
                  </a:lnTo>
                  <a:lnTo>
                    <a:pt x="86868" y="57911"/>
                  </a:lnTo>
                  <a:lnTo>
                    <a:pt x="1827148" y="57911"/>
                  </a:lnTo>
                  <a:lnTo>
                    <a:pt x="1827148" y="28955"/>
                  </a:lnTo>
                  <a:close/>
                </a:path>
                <a:path w="1914525" h="86994">
                  <a:moveTo>
                    <a:pt x="1885060" y="28955"/>
                  </a:moveTo>
                  <a:lnTo>
                    <a:pt x="1841627" y="28955"/>
                  </a:lnTo>
                  <a:lnTo>
                    <a:pt x="1841627" y="57911"/>
                  </a:lnTo>
                  <a:lnTo>
                    <a:pt x="1885061" y="57911"/>
                  </a:lnTo>
                  <a:lnTo>
                    <a:pt x="1914017" y="43433"/>
                  </a:lnTo>
                  <a:lnTo>
                    <a:pt x="1885060" y="28955"/>
                  </a:lnTo>
                  <a:close/>
                </a:path>
              </a:pathLst>
            </a:custGeom>
            <a:solidFill>
              <a:srgbClr val="000000"/>
            </a:solidFill>
          </p:spPr>
          <p:txBody>
            <a:bodyPr wrap="square" lIns="0" tIns="0" rIns="0" bIns="0" rtlCol="0"/>
            <a:lstStyle/>
            <a:p>
              <a:endParaRPr/>
            </a:p>
          </p:txBody>
        </p:sp>
      </p:grpSp>
      <p:sp>
        <p:nvSpPr>
          <p:cNvPr id="10" name="object 10"/>
          <p:cNvSpPr/>
          <p:nvPr/>
        </p:nvSpPr>
        <p:spPr>
          <a:xfrm>
            <a:off x="4263390" y="417956"/>
            <a:ext cx="501650" cy="15240"/>
          </a:xfrm>
          <a:custGeom>
            <a:avLst/>
            <a:gdLst/>
            <a:ahLst/>
            <a:cxnLst/>
            <a:rect l="l" t="t" r="r" b="b"/>
            <a:pathLst>
              <a:path w="501650" h="15240">
                <a:moveTo>
                  <a:pt x="501396" y="0"/>
                </a:moveTo>
                <a:lnTo>
                  <a:pt x="0" y="0"/>
                </a:lnTo>
                <a:lnTo>
                  <a:pt x="0" y="15239"/>
                </a:lnTo>
                <a:lnTo>
                  <a:pt x="501396" y="15239"/>
                </a:lnTo>
                <a:lnTo>
                  <a:pt x="501396" y="0"/>
                </a:lnTo>
                <a:close/>
              </a:path>
            </a:pathLst>
          </a:custGeom>
          <a:solidFill>
            <a:srgbClr val="000000"/>
          </a:solidFill>
        </p:spPr>
        <p:txBody>
          <a:bodyPr wrap="square" lIns="0" tIns="0" rIns="0" bIns="0" rtlCol="0"/>
          <a:lstStyle/>
          <a:p>
            <a:endParaRPr/>
          </a:p>
        </p:txBody>
      </p:sp>
      <p:sp>
        <p:nvSpPr>
          <p:cNvPr id="11" name="object 11"/>
          <p:cNvSpPr txBox="1"/>
          <p:nvPr/>
        </p:nvSpPr>
        <p:spPr>
          <a:xfrm>
            <a:off x="4362958" y="333883"/>
            <a:ext cx="292100" cy="299720"/>
          </a:xfrm>
          <a:prstGeom prst="rect">
            <a:avLst/>
          </a:prstGeom>
        </p:spPr>
        <p:txBody>
          <a:bodyPr vert="horz" wrap="square" lIns="0" tIns="12700" rIns="0" bIns="0" rtlCol="0">
            <a:spAutoFit/>
          </a:bodyPr>
          <a:lstStyle/>
          <a:p>
            <a:pPr marL="38100">
              <a:lnSpc>
                <a:spcPct val="100000"/>
              </a:lnSpc>
              <a:spcBef>
                <a:spcPts val="100"/>
              </a:spcBef>
            </a:pPr>
            <a:r>
              <a:rPr sz="2700" spc="82" baseline="-16975" dirty="0">
                <a:latin typeface="Cambria Math"/>
                <a:cs typeface="Cambria Math"/>
              </a:rPr>
              <a:t>𝑟</a:t>
            </a:r>
            <a:r>
              <a:rPr sz="1300" spc="55" dirty="0">
                <a:latin typeface="Cambria Math"/>
                <a:cs typeface="Cambria Math"/>
              </a:rPr>
              <a:t>2</a:t>
            </a:r>
            <a:endParaRPr sz="1300">
              <a:latin typeface="Cambria Math"/>
              <a:cs typeface="Cambria Math"/>
            </a:endParaRPr>
          </a:p>
        </p:txBody>
      </p:sp>
      <p:sp>
        <p:nvSpPr>
          <p:cNvPr id="12" name="object 12"/>
          <p:cNvSpPr txBox="1">
            <a:spLocks noGrp="1"/>
          </p:cNvSpPr>
          <p:nvPr>
            <p:ph type="title"/>
          </p:nvPr>
        </p:nvSpPr>
        <p:spPr>
          <a:xfrm>
            <a:off x="184099" y="200355"/>
            <a:ext cx="5109210" cy="300355"/>
          </a:xfrm>
          <a:prstGeom prst="rect">
            <a:avLst/>
          </a:prstGeom>
        </p:spPr>
        <p:txBody>
          <a:bodyPr vert="horz" wrap="square" lIns="0" tIns="12700" rIns="0" bIns="0" rtlCol="0">
            <a:spAutoFit/>
          </a:bodyPr>
          <a:lstStyle/>
          <a:p>
            <a:pPr marL="38100">
              <a:lnSpc>
                <a:spcPct val="100000"/>
              </a:lnSpc>
              <a:spcBef>
                <a:spcPts val="100"/>
              </a:spcBef>
              <a:tabLst>
                <a:tab pos="3462020" algn="l"/>
              </a:tabLst>
            </a:pPr>
            <a:r>
              <a:rPr sz="1800" b="0" spc="-5" dirty="0">
                <a:solidFill>
                  <a:srgbClr val="FF0000"/>
                </a:solidFill>
                <a:latin typeface="Calibri"/>
                <a:cs typeface="Calibri"/>
              </a:rPr>
              <a:t>F</a:t>
            </a:r>
            <a:r>
              <a:rPr sz="1800" b="0" spc="-10" dirty="0">
                <a:solidFill>
                  <a:srgbClr val="FF0000"/>
                </a:solidFill>
                <a:latin typeface="Calibri"/>
                <a:cs typeface="Calibri"/>
              </a:rPr>
              <a:t>i</a:t>
            </a:r>
            <a:r>
              <a:rPr sz="1800" b="0" spc="-5" dirty="0">
                <a:solidFill>
                  <a:srgbClr val="FF0000"/>
                </a:solidFill>
                <a:latin typeface="Calibri"/>
                <a:cs typeface="Calibri"/>
              </a:rPr>
              <a:t>n</a:t>
            </a:r>
            <a:r>
              <a:rPr sz="1800" b="0" dirty="0">
                <a:solidFill>
                  <a:srgbClr val="FF0000"/>
                </a:solidFill>
                <a:latin typeface="Calibri"/>
                <a:cs typeface="Calibri"/>
              </a:rPr>
              <a:t>d</a:t>
            </a:r>
            <a:r>
              <a:rPr sz="1800" b="0" spc="10" dirty="0">
                <a:solidFill>
                  <a:srgbClr val="FF0000"/>
                </a:solidFill>
                <a:latin typeface="Calibri"/>
                <a:cs typeface="Calibri"/>
              </a:rPr>
              <a:t> </a:t>
            </a:r>
            <a:r>
              <a:rPr sz="1800" b="0" spc="-35" dirty="0">
                <a:solidFill>
                  <a:srgbClr val="FF0000"/>
                </a:solidFill>
                <a:latin typeface="Calibri"/>
                <a:cs typeface="Calibri"/>
              </a:rPr>
              <a:t>f</a:t>
            </a:r>
            <a:r>
              <a:rPr sz="1800" b="0" spc="-5" dirty="0">
                <a:solidFill>
                  <a:srgbClr val="FF0000"/>
                </a:solidFill>
                <a:latin typeface="Calibri"/>
                <a:cs typeface="Calibri"/>
              </a:rPr>
              <a:t>o</a:t>
            </a:r>
            <a:r>
              <a:rPr sz="1800" b="0" spc="-35" dirty="0">
                <a:solidFill>
                  <a:srgbClr val="FF0000"/>
                </a:solidFill>
                <a:latin typeface="Calibri"/>
                <a:cs typeface="Calibri"/>
              </a:rPr>
              <a:t>r</a:t>
            </a:r>
            <a:r>
              <a:rPr sz="1800" b="0" spc="-10" dirty="0">
                <a:solidFill>
                  <a:srgbClr val="FF0000"/>
                </a:solidFill>
                <a:latin typeface="Calibri"/>
                <a:cs typeface="Calibri"/>
              </a:rPr>
              <a:t>c</a:t>
            </a:r>
            <a:r>
              <a:rPr sz="1800" b="0" dirty="0">
                <a:solidFill>
                  <a:srgbClr val="FF0000"/>
                </a:solidFill>
                <a:latin typeface="Calibri"/>
                <a:cs typeface="Calibri"/>
              </a:rPr>
              <a:t>e F</a:t>
            </a:r>
            <a:r>
              <a:rPr sz="1800" b="0" spc="10" dirty="0">
                <a:solidFill>
                  <a:srgbClr val="FF0000"/>
                </a:solidFill>
                <a:latin typeface="Calibri"/>
                <a:cs typeface="Calibri"/>
              </a:rPr>
              <a:t> </a:t>
            </a:r>
            <a:r>
              <a:rPr sz="1800" b="0" spc="-5" dirty="0">
                <a:solidFill>
                  <a:srgbClr val="FF0000"/>
                </a:solidFill>
                <a:latin typeface="Calibri"/>
                <a:cs typeface="Calibri"/>
              </a:rPr>
              <a:t>o</a:t>
            </a:r>
            <a:r>
              <a:rPr sz="1800" b="0" dirty="0">
                <a:solidFill>
                  <a:srgbClr val="FF0000"/>
                </a:solidFill>
                <a:latin typeface="Calibri"/>
                <a:cs typeface="Calibri"/>
              </a:rPr>
              <a:t>n</a:t>
            </a:r>
            <a:r>
              <a:rPr sz="1800" b="0" spc="-5" dirty="0">
                <a:solidFill>
                  <a:srgbClr val="FF0000"/>
                </a:solidFill>
                <a:latin typeface="Calibri"/>
                <a:cs typeface="Calibri"/>
              </a:rPr>
              <a:t> q</a:t>
            </a:r>
            <a:r>
              <a:rPr sz="1800" b="0" dirty="0">
                <a:solidFill>
                  <a:srgbClr val="FF0000"/>
                </a:solidFill>
                <a:latin typeface="Calibri"/>
                <a:cs typeface="Calibri"/>
              </a:rPr>
              <a:t>2</a:t>
            </a:r>
            <a:r>
              <a:rPr sz="1800" b="0" spc="5" dirty="0">
                <a:solidFill>
                  <a:srgbClr val="FF0000"/>
                </a:solidFill>
                <a:latin typeface="Calibri"/>
                <a:cs typeface="Calibri"/>
              </a:rPr>
              <a:t> </a:t>
            </a:r>
            <a:r>
              <a:rPr sz="1800" b="0" spc="-5" dirty="0">
                <a:solidFill>
                  <a:srgbClr val="FF0000"/>
                </a:solidFill>
                <a:latin typeface="Calibri"/>
                <a:cs typeface="Calibri"/>
              </a:rPr>
              <a:t>du</a:t>
            </a:r>
            <a:r>
              <a:rPr sz="1800" b="0" dirty="0">
                <a:solidFill>
                  <a:srgbClr val="FF0000"/>
                </a:solidFill>
                <a:latin typeface="Calibri"/>
                <a:cs typeface="Calibri"/>
              </a:rPr>
              <a:t>e</a:t>
            </a:r>
            <a:r>
              <a:rPr sz="1800" b="0" spc="10" dirty="0">
                <a:solidFill>
                  <a:srgbClr val="FF0000"/>
                </a:solidFill>
                <a:latin typeface="Calibri"/>
                <a:cs typeface="Calibri"/>
              </a:rPr>
              <a:t> </a:t>
            </a:r>
            <a:r>
              <a:rPr sz="1800" b="0" spc="-20" dirty="0">
                <a:solidFill>
                  <a:srgbClr val="FF0000"/>
                </a:solidFill>
                <a:latin typeface="Calibri"/>
                <a:cs typeface="Calibri"/>
              </a:rPr>
              <a:t>t</a:t>
            </a:r>
            <a:r>
              <a:rPr sz="1800" b="0" dirty="0">
                <a:solidFill>
                  <a:srgbClr val="FF0000"/>
                </a:solidFill>
                <a:latin typeface="Calibri"/>
                <a:cs typeface="Calibri"/>
              </a:rPr>
              <a:t>o</a:t>
            </a:r>
            <a:r>
              <a:rPr sz="1800" b="0" spc="-5" dirty="0">
                <a:solidFill>
                  <a:srgbClr val="FF0000"/>
                </a:solidFill>
                <a:latin typeface="Calibri"/>
                <a:cs typeface="Calibri"/>
              </a:rPr>
              <a:t> q</a:t>
            </a:r>
            <a:r>
              <a:rPr sz="1800" b="0" dirty="0">
                <a:solidFill>
                  <a:srgbClr val="FF0000"/>
                </a:solidFill>
                <a:latin typeface="Calibri"/>
                <a:cs typeface="Calibri"/>
              </a:rPr>
              <a:t>1</a:t>
            </a:r>
            <a:r>
              <a:rPr sz="1800" b="0" spc="-5" dirty="0">
                <a:solidFill>
                  <a:srgbClr val="FF0000"/>
                </a:solidFill>
                <a:latin typeface="Calibri"/>
                <a:cs typeface="Calibri"/>
              </a:rPr>
              <a:t> </a:t>
            </a:r>
            <a:r>
              <a:rPr sz="1800" b="0" dirty="0">
                <a:solidFill>
                  <a:srgbClr val="FF0000"/>
                </a:solidFill>
                <a:latin typeface="Calibri"/>
                <a:cs typeface="Calibri"/>
              </a:rPr>
              <a:t>and</a:t>
            </a:r>
            <a:r>
              <a:rPr sz="1800" b="0" spc="10" dirty="0">
                <a:solidFill>
                  <a:srgbClr val="FF0000"/>
                </a:solidFill>
                <a:latin typeface="Calibri"/>
                <a:cs typeface="Calibri"/>
              </a:rPr>
              <a:t> </a:t>
            </a:r>
            <a:r>
              <a:rPr sz="1800" b="0" spc="-5" dirty="0">
                <a:solidFill>
                  <a:srgbClr val="FF0000"/>
                </a:solidFill>
                <a:latin typeface="Calibri"/>
                <a:cs typeface="Calibri"/>
              </a:rPr>
              <a:t>q</a:t>
            </a:r>
            <a:r>
              <a:rPr sz="1800" b="0" dirty="0">
                <a:solidFill>
                  <a:srgbClr val="FF0000"/>
                </a:solidFill>
                <a:latin typeface="Calibri"/>
                <a:cs typeface="Calibri"/>
              </a:rPr>
              <a:t>3	</a:t>
            </a:r>
            <a:r>
              <a:rPr sz="2700" b="0" baseline="-12345" dirty="0">
                <a:solidFill>
                  <a:srgbClr val="000000"/>
                </a:solidFill>
                <a:latin typeface="Cambria Math"/>
                <a:cs typeface="Cambria Math"/>
              </a:rPr>
              <a:t>𝐹</a:t>
            </a:r>
            <a:r>
              <a:rPr sz="2700" b="0" spc="254" baseline="-12345" dirty="0">
                <a:solidFill>
                  <a:srgbClr val="000000"/>
                </a:solidFill>
                <a:latin typeface="Cambria Math"/>
                <a:cs typeface="Cambria Math"/>
              </a:rPr>
              <a:t> </a:t>
            </a:r>
            <a:r>
              <a:rPr sz="2700" b="0" baseline="-12345" dirty="0">
                <a:solidFill>
                  <a:srgbClr val="000000"/>
                </a:solidFill>
                <a:latin typeface="Cambria Math"/>
                <a:cs typeface="Cambria Math"/>
              </a:rPr>
              <a:t>=</a:t>
            </a:r>
            <a:r>
              <a:rPr sz="2700" b="0" spc="157" baseline="-12345" dirty="0">
                <a:solidFill>
                  <a:srgbClr val="000000"/>
                </a:solidFill>
                <a:latin typeface="Cambria Math"/>
                <a:cs typeface="Cambria Math"/>
              </a:rPr>
              <a:t> </a:t>
            </a:r>
            <a:r>
              <a:rPr sz="2700" b="0" baseline="-12345" dirty="0">
                <a:solidFill>
                  <a:srgbClr val="000000"/>
                </a:solidFill>
                <a:latin typeface="Cambria Math"/>
                <a:cs typeface="Cambria Math"/>
              </a:rPr>
              <a:t>𝑘</a:t>
            </a:r>
            <a:r>
              <a:rPr sz="2700" b="0" spc="-75" baseline="-12345" dirty="0">
                <a:solidFill>
                  <a:srgbClr val="000000"/>
                </a:solidFill>
                <a:latin typeface="Cambria Math"/>
                <a:cs typeface="Cambria Math"/>
              </a:rPr>
              <a:t> </a:t>
            </a:r>
            <a:r>
              <a:rPr sz="2700" b="0" baseline="30864" dirty="0">
                <a:solidFill>
                  <a:srgbClr val="000000"/>
                </a:solidFill>
                <a:latin typeface="Cambria Math"/>
                <a:cs typeface="Cambria Math"/>
              </a:rPr>
              <a:t>𝑞</a:t>
            </a:r>
            <a:r>
              <a:rPr sz="2700" b="0" spc="-7" baseline="30864" dirty="0">
                <a:solidFill>
                  <a:srgbClr val="000000"/>
                </a:solidFill>
                <a:latin typeface="Cambria Math"/>
                <a:cs typeface="Cambria Math"/>
              </a:rPr>
              <a:t>1</a:t>
            </a:r>
            <a:r>
              <a:rPr sz="2700" b="0" baseline="30864" dirty="0">
                <a:solidFill>
                  <a:srgbClr val="000000"/>
                </a:solidFill>
                <a:latin typeface="Cambria Math"/>
                <a:cs typeface="Cambria Math"/>
              </a:rPr>
              <a:t>𝑞2</a:t>
            </a:r>
            <a:r>
              <a:rPr sz="2700" b="0" spc="-135" baseline="30864" dirty="0">
                <a:solidFill>
                  <a:srgbClr val="000000"/>
                </a:solidFill>
                <a:latin typeface="Cambria Math"/>
                <a:cs typeface="Cambria Math"/>
              </a:rPr>
              <a:t> </a:t>
            </a:r>
            <a:r>
              <a:rPr sz="2700" b="0" baseline="-12345" dirty="0">
                <a:solidFill>
                  <a:srgbClr val="000000"/>
                </a:solidFill>
                <a:latin typeface="Cambria Math"/>
                <a:cs typeface="Cambria Math"/>
              </a:rPr>
              <a:t>,</a:t>
            </a:r>
            <a:r>
              <a:rPr sz="2700" b="0" spc="-142" baseline="-12345" dirty="0">
                <a:solidFill>
                  <a:srgbClr val="000000"/>
                </a:solidFill>
                <a:latin typeface="Cambria Math"/>
                <a:cs typeface="Cambria Math"/>
              </a:rPr>
              <a:t> </a:t>
            </a:r>
            <a:r>
              <a:rPr sz="2700" b="0" baseline="-12345" dirty="0">
                <a:solidFill>
                  <a:srgbClr val="000000"/>
                </a:solidFill>
                <a:latin typeface="Cambria Math"/>
                <a:cs typeface="Cambria Math"/>
              </a:rPr>
              <a:t>𝑘</a:t>
            </a:r>
            <a:r>
              <a:rPr sz="2700" b="0" spc="217" baseline="-12345" dirty="0">
                <a:solidFill>
                  <a:srgbClr val="000000"/>
                </a:solidFill>
                <a:latin typeface="Cambria Math"/>
                <a:cs typeface="Cambria Math"/>
              </a:rPr>
              <a:t> </a:t>
            </a:r>
            <a:r>
              <a:rPr sz="2700" b="0" baseline="-12345" dirty="0">
                <a:solidFill>
                  <a:srgbClr val="000000"/>
                </a:solidFill>
                <a:latin typeface="Cambria Math"/>
                <a:cs typeface="Cambria Math"/>
              </a:rPr>
              <a:t>=</a:t>
            </a:r>
            <a:endParaRPr sz="2700" baseline="-12345">
              <a:latin typeface="Cambria Math"/>
              <a:cs typeface="Cambria Math"/>
            </a:endParaRPr>
          </a:p>
        </p:txBody>
      </p:sp>
      <p:sp>
        <p:nvSpPr>
          <p:cNvPr id="13" name="object 13"/>
          <p:cNvSpPr/>
          <p:nvPr/>
        </p:nvSpPr>
        <p:spPr>
          <a:xfrm>
            <a:off x="5319521" y="417956"/>
            <a:ext cx="478790" cy="15240"/>
          </a:xfrm>
          <a:custGeom>
            <a:avLst/>
            <a:gdLst/>
            <a:ahLst/>
            <a:cxnLst/>
            <a:rect l="l" t="t" r="r" b="b"/>
            <a:pathLst>
              <a:path w="478789" h="15240">
                <a:moveTo>
                  <a:pt x="478536" y="0"/>
                </a:moveTo>
                <a:lnTo>
                  <a:pt x="0" y="0"/>
                </a:lnTo>
                <a:lnTo>
                  <a:pt x="0" y="15239"/>
                </a:lnTo>
                <a:lnTo>
                  <a:pt x="478536" y="15239"/>
                </a:lnTo>
                <a:lnTo>
                  <a:pt x="478536" y="0"/>
                </a:lnTo>
                <a:close/>
              </a:path>
            </a:pathLst>
          </a:custGeom>
          <a:solidFill>
            <a:srgbClr val="000000"/>
          </a:solidFill>
        </p:spPr>
        <p:txBody>
          <a:bodyPr wrap="square" lIns="0" tIns="0" rIns="0" bIns="0" rtlCol="0"/>
          <a:lstStyle/>
          <a:p>
            <a:endParaRPr/>
          </a:p>
        </p:txBody>
      </p:sp>
      <p:sp>
        <p:nvSpPr>
          <p:cNvPr id="14" name="object 14"/>
          <p:cNvSpPr txBox="1"/>
          <p:nvPr/>
        </p:nvSpPr>
        <p:spPr>
          <a:xfrm>
            <a:off x="5482844" y="75640"/>
            <a:ext cx="152400" cy="300355"/>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Math"/>
                <a:cs typeface="Cambria Math"/>
              </a:rPr>
              <a:t>1</a:t>
            </a:r>
            <a:endParaRPr sz="1800">
              <a:latin typeface="Cambria Math"/>
              <a:cs typeface="Cambria Math"/>
            </a:endParaRPr>
          </a:p>
        </p:txBody>
      </p:sp>
      <p:sp>
        <p:nvSpPr>
          <p:cNvPr id="15" name="object 15"/>
          <p:cNvSpPr txBox="1"/>
          <p:nvPr/>
        </p:nvSpPr>
        <p:spPr>
          <a:xfrm>
            <a:off x="5281929" y="402463"/>
            <a:ext cx="541020" cy="299720"/>
          </a:xfrm>
          <a:prstGeom prst="rect">
            <a:avLst/>
          </a:prstGeom>
        </p:spPr>
        <p:txBody>
          <a:bodyPr vert="horz" wrap="square" lIns="0" tIns="12700" rIns="0" bIns="0" rtlCol="0">
            <a:spAutoFit/>
          </a:bodyPr>
          <a:lstStyle/>
          <a:p>
            <a:pPr marL="38100">
              <a:lnSpc>
                <a:spcPct val="100000"/>
              </a:lnSpc>
              <a:spcBef>
                <a:spcPts val="100"/>
              </a:spcBef>
            </a:pPr>
            <a:r>
              <a:rPr sz="1800" spc="15" dirty="0">
                <a:latin typeface="Cambria Math"/>
                <a:cs typeface="Cambria Math"/>
              </a:rPr>
              <a:t>4𝜋𝜀</a:t>
            </a:r>
            <a:r>
              <a:rPr sz="1950" spc="22" baseline="-14957" dirty="0">
                <a:latin typeface="Cambria Math"/>
                <a:cs typeface="Cambria Math"/>
              </a:rPr>
              <a:t>𝑜</a:t>
            </a:r>
            <a:endParaRPr sz="1950" baseline="-14957">
              <a:latin typeface="Cambria Math"/>
              <a:cs typeface="Cambria Math"/>
            </a:endParaRPr>
          </a:p>
        </p:txBody>
      </p:sp>
      <p:sp>
        <p:nvSpPr>
          <p:cNvPr id="16" name="object 16"/>
          <p:cNvSpPr txBox="1"/>
          <p:nvPr/>
        </p:nvSpPr>
        <p:spPr>
          <a:xfrm>
            <a:off x="3978909" y="1187322"/>
            <a:ext cx="10541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r</a:t>
            </a:r>
            <a:endParaRPr sz="1800">
              <a:latin typeface="Calibri"/>
              <a:cs typeface="Calibri"/>
            </a:endParaRPr>
          </a:p>
        </p:txBody>
      </p:sp>
      <p:grpSp>
        <p:nvGrpSpPr>
          <p:cNvPr id="17" name="object 17"/>
          <p:cNvGrpSpPr/>
          <p:nvPr/>
        </p:nvGrpSpPr>
        <p:grpSpPr>
          <a:xfrm>
            <a:off x="5105400" y="1463039"/>
            <a:ext cx="2351405" cy="573405"/>
            <a:chOff x="5105400" y="1463039"/>
            <a:chExt cx="2351405" cy="573405"/>
          </a:xfrm>
        </p:grpSpPr>
        <p:pic>
          <p:nvPicPr>
            <p:cNvPr id="18" name="object 18"/>
            <p:cNvPicPr/>
            <p:nvPr/>
          </p:nvPicPr>
          <p:blipFill>
            <a:blip r:embed="rId3" cstate="print"/>
            <a:stretch>
              <a:fillRect/>
            </a:stretch>
          </p:blipFill>
          <p:spPr>
            <a:xfrm>
              <a:off x="5105400" y="1467611"/>
              <a:ext cx="560831" cy="568451"/>
            </a:xfrm>
            <a:prstGeom prst="rect">
              <a:avLst/>
            </a:prstGeom>
          </p:spPr>
        </p:pic>
        <p:sp>
          <p:nvSpPr>
            <p:cNvPr id="19" name="object 19"/>
            <p:cNvSpPr/>
            <p:nvPr/>
          </p:nvSpPr>
          <p:spPr>
            <a:xfrm>
              <a:off x="5525262" y="1463039"/>
              <a:ext cx="1931670" cy="118110"/>
            </a:xfrm>
            <a:custGeom>
              <a:avLst/>
              <a:gdLst/>
              <a:ahLst/>
              <a:cxnLst/>
              <a:rect l="l" t="t" r="r" b="b"/>
              <a:pathLst>
                <a:path w="1931670" h="118109">
                  <a:moveTo>
                    <a:pt x="86105" y="30734"/>
                  </a:moveTo>
                  <a:lnTo>
                    <a:pt x="0" y="75692"/>
                  </a:lnTo>
                  <a:lnTo>
                    <a:pt x="87629" y="117601"/>
                  </a:lnTo>
                  <a:lnTo>
                    <a:pt x="87126" y="88900"/>
                  </a:lnTo>
                  <a:lnTo>
                    <a:pt x="72643" y="88900"/>
                  </a:lnTo>
                  <a:lnTo>
                    <a:pt x="72136" y="59944"/>
                  </a:lnTo>
                  <a:lnTo>
                    <a:pt x="86614" y="59690"/>
                  </a:lnTo>
                  <a:lnTo>
                    <a:pt x="86105" y="30734"/>
                  </a:lnTo>
                  <a:close/>
                </a:path>
                <a:path w="1931670" h="118109">
                  <a:moveTo>
                    <a:pt x="86614" y="59690"/>
                  </a:moveTo>
                  <a:lnTo>
                    <a:pt x="72136" y="59944"/>
                  </a:lnTo>
                  <a:lnTo>
                    <a:pt x="72643" y="88900"/>
                  </a:lnTo>
                  <a:lnTo>
                    <a:pt x="87122" y="88646"/>
                  </a:lnTo>
                  <a:lnTo>
                    <a:pt x="86614" y="59690"/>
                  </a:lnTo>
                  <a:close/>
                </a:path>
                <a:path w="1931670" h="118109">
                  <a:moveTo>
                    <a:pt x="87122" y="88646"/>
                  </a:moveTo>
                  <a:lnTo>
                    <a:pt x="72643" y="88900"/>
                  </a:lnTo>
                  <a:lnTo>
                    <a:pt x="87126" y="88900"/>
                  </a:lnTo>
                  <a:lnTo>
                    <a:pt x="87122" y="88646"/>
                  </a:lnTo>
                  <a:close/>
                </a:path>
                <a:path w="1931670" h="118109">
                  <a:moveTo>
                    <a:pt x="1844293" y="28955"/>
                  </a:moveTo>
                  <a:lnTo>
                    <a:pt x="86614" y="59690"/>
                  </a:lnTo>
                  <a:lnTo>
                    <a:pt x="87122" y="88646"/>
                  </a:lnTo>
                  <a:lnTo>
                    <a:pt x="1844801" y="57911"/>
                  </a:lnTo>
                  <a:lnTo>
                    <a:pt x="1844293" y="28955"/>
                  </a:lnTo>
                  <a:close/>
                </a:path>
                <a:path w="1931670" h="118109">
                  <a:moveTo>
                    <a:pt x="1903799" y="28701"/>
                  </a:moveTo>
                  <a:lnTo>
                    <a:pt x="1858771" y="28701"/>
                  </a:lnTo>
                  <a:lnTo>
                    <a:pt x="1859280" y="57658"/>
                  </a:lnTo>
                  <a:lnTo>
                    <a:pt x="1844801" y="57911"/>
                  </a:lnTo>
                  <a:lnTo>
                    <a:pt x="1845310" y="86868"/>
                  </a:lnTo>
                  <a:lnTo>
                    <a:pt x="1931415" y="41910"/>
                  </a:lnTo>
                  <a:lnTo>
                    <a:pt x="1903799" y="28701"/>
                  </a:lnTo>
                  <a:close/>
                </a:path>
                <a:path w="1931670" h="118109">
                  <a:moveTo>
                    <a:pt x="1858771" y="28701"/>
                  </a:moveTo>
                  <a:lnTo>
                    <a:pt x="1844293" y="28955"/>
                  </a:lnTo>
                  <a:lnTo>
                    <a:pt x="1844801" y="57911"/>
                  </a:lnTo>
                  <a:lnTo>
                    <a:pt x="1859280" y="57658"/>
                  </a:lnTo>
                  <a:lnTo>
                    <a:pt x="1858771" y="28701"/>
                  </a:lnTo>
                  <a:close/>
                </a:path>
                <a:path w="1931670" h="118109">
                  <a:moveTo>
                    <a:pt x="1843786" y="0"/>
                  </a:moveTo>
                  <a:lnTo>
                    <a:pt x="1844293" y="28955"/>
                  </a:lnTo>
                  <a:lnTo>
                    <a:pt x="1858771" y="28701"/>
                  </a:lnTo>
                  <a:lnTo>
                    <a:pt x="1903799" y="28701"/>
                  </a:lnTo>
                  <a:lnTo>
                    <a:pt x="1843786" y="0"/>
                  </a:lnTo>
                  <a:close/>
                </a:path>
              </a:pathLst>
            </a:custGeom>
            <a:solidFill>
              <a:srgbClr val="000000"/>
            </a:solidFill>
          </p:spPr>
          <p:txBody>
            <a:bodyPr wrap="square" lIns="0" tIns="0" rIns="0" bIns="0" rtlCol="0"/>
            <a:lstStyle/>
            <a:p>
              <a:endParaRPr/>
            </a:p>
          </p:txBody>
        </p:sp>
      </p:grpSp>
      <p:sp>
        <p:nvSpPr>
          <p:cNvPr id="20" name="object 20"/>
          <p:cNvSpPr txBox="1"/>
          <p:nvPr/>
        </p:nvSpPr>
        <p:spPr>
          <a:xfrm>
            <a:off x="7385684" y="1995042"/>
            <a:ext cx="61150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q3</a:t>
            </a:r>
            <a:r>
              <a:rPr sz="1800" dirty="0">
                <a:latin typeface="Calibri"/>
                <a:cs typeface="Calibri"/>
              </a:rPr>
              <a:t>=3q</a:t>
            </a:r>
            <a:endParaRPr sz="1800">
              <a:latin typeface="Calibri"/>
              <a:cs typeface="Calibri"/>
            </a:endParaRPr>
          </a:p>
        </p:txBody>
      </p:sp>
      <p:sp>
        <p:nvSpPr>
          <p:cNvPr id="21" name="object 21"/>
          <p:cNvSpPr txBox="1"/>
          <p:nvPr/>
        </p:nvSpPr>
        <p:spPr>
          <a:xfrm>
            <a:off x="6290817" y="1118996"/>
            <a:ext cx="10541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r</a:t>
            </a:r>
            <a:endParaRPr sz="1800">
              <a:latin typeface="Calibri"/>
              <a:cs typeface="Calibri"/>
            </a:endParaRPr>
          </a:p>
        </p:txBody>
      </p:sp>
      <p:sp>
        <p:nvSpPr>
          <p:cNvPr id="22" name="object 22"/>
          <p:cNvSpPr txBox="1"/>
          <p:nvPr/>
        </p:nvSpPr>
        <p:spPr>
          <a:xfrm>
            <a:off x="3866134" y="3396742"/>
            <a:ext cx="814069" cy="299720"/>
          </a:xfrm>
          <a:prstGeom prst="rect">
            <a:avLst/>
          </a:prstGeom>
        </p:spPr>
        <p:txBody>
          <a:bodyPr vert="horz" wrap="square" lIns="0" tIns="12700" rIns="0" bIns="0" rtlCol="0">
            <a:spAutoFit/>
          </a:bodyPr>
          <a:lstStyle/>
          <a:p>
            <a:pPr marL="38100">
              <a:lnSpc>
                <a:spcPct val="100000"/>
              </a:lnSpc>
              <a:spcBef>
                <a:spcPts val="100"/>
              </a:spcBef>
            </a:pPr>
            <a:r>
              <a:rPr sz="1800" spc="-50" dirty="0">
                <a:latin typeface="Cambria Math"/>
                <a:cs typeface="Cambria Math"/>
              </a:rPr>
              <a:t>𝐹</a:t>
            </a:r>
            <a:r>
              <a:rPr sz="1950" spc="-75" baseline="-14957" dirty="0">
                <a:latin typeface="Cambria Math"/>
                <a:cs typeface="Cambria Math"/>
              </a:rPr>
              <a:t>12</a:t>
            </a:r>
            <a:r>
              <a:rPr sz="1950" spc="359" baseline="-14957" dirty="0">
                <a:latin typeface="Cambria Math"/>
                <a:cs typeface="Cambria Math"/>
              </a:rPr>
              <a:t> </a:t>
            </a:r>
            <a:r>
              <a:rPr sz="1800" dirty="0">
                <a:latin typeface="Cambria Math"/>
                <a:cs typeface="Cambria Math"/>
              </a:rPr>
              <a:t>=</a:t>
            </a:r>
            <a:r>
              <a:rPr sz="1800" spc="70" dirty="0">
                <a:latin typeface="Cambria Math"/>
                <a:cs typeface="Cambria Math"/>
              </a:rPr>
              <a:t> </a:t>
            </a:r>
            <a:r>
              <a:rPr sz="1800" dirty="0">
                <a:latin typeface="Cambria Math"/>
                <a:cs typeface="Cambria Math"/>
              </a:rPr>
              <a:t>𝑘</a:t>
            </a:r>
            <a:endParaRPr sz="1800">
              <a:latin typeface="Cambria Math"/>
              <a:cs typeface="Cambria Math"/>
            </a:endParaRPr>
          </a:p>
        </p:txBody>
      </p:sp>
      <p:sp>
        <p:nvSpPr>
          <p:cNvPr id="23" name="object 23"/>
          <p:cNvSpPr/>
          <p:nvPr/>
        </p:nvSpPr>
        <p:spPr>
          <a:xfrm>
            <a:off x="4684141" y="3564000"/>
            <a:ext cx="501650" cy="267335"/>
          </a:xfrm>
          <a:custGeom>
            <a:avLst/>
            <a:gdLst/>
            <a:ahLst/>
            <a:cxnLst/>
            <a:rect l="l" t="t" r="r" b="b"/>
            <a:pathLst>
              <a:path w="501650" h="267335">
                <a:moveTo>
                  <a:pt x="137795" y="63627"/>
                </a:moveTo>
                <a:lnTo>
                  <a:pt x="134747" y="55118"/>
                </a:lnTo>
                <a:lnTo>
                  <a:pt x="119405" y="60655"/>
                </a:lnTo>
                <a:lnTo>
                  <a:pt x="105956" y="68668"/>
                </a:lnTo>
                <a:lnTo>
                  <a:pt x="77114" y="107213"/>
                </a:lnTo>
                <a:lnTo>
                  <a:pt x="67310" y="161036"/>
                </a:lnTo>
                <a:lnTo>
                  <a:pt x="68376" y="180479"/>
                </a:lnTo>
                <a:lnTo>
                  <a:pt x="84709" y="229870"/>
                </a:lnTo>
                <a:lnTo>
                  <a:pt x="119380" y="261302"/>
                </a:lnTo>
                <a:lnTo>
                  <a:pt x="134747" y="266827"/>
                </a:lnTo>
                <a:lnTo>
                  <a:pt x="137541" y="258191"/>
                </a:lnTo>
                <a:lnTo>
                  <a:pt x="125437" y="252857"/>
                </a:lnTo>
                <a:lnTo>
                  <a:pt x="115023" y="245427"/>
                </a:lnTo>
                <a:lnTo>
                  <a:pt x="93675" y="210756"/>
                </a:lnTo>
                <a:lnTo>
                  <a:pt x="86614" y="159893"/>
                </a:lnTo>
                <a:lnTo>
                  <a:pt x="87388" y="141833"/>
                </a:lnTo>
                <a:lnTo>
                  <a:pt x="99187" y="97155"/>
                </a:lnTo>
                <a:lnTo>
                  <a:pt x="125590" y="68948"/>
                </a:lnTo>
                <a:lnTo>
                  <a:pt x="137795" y="63627"/>
                </a:lnTo>
                <a:close/>
              </a:path>
              <a:path w="501650" h="267335">
                <a:moveTo>
                  <a:pt x="329184" y="161036"/>
                </a:moveTo>
                <a:lnTo>
                  <a:pt x="319430" y="107213"/>
                </a:lnTo>
                <a:lnTo>
                  <a:pt x="290525" y="68668"/>
                </a:lnTo>
                <a:lnTo>
                  <a:pt x="261747" y="55118"/>
                </a:lnTo>
                <a:lnTo>
                  <a:pt x="258699" y="63627"/>
                </a:lnTo>
                <a:lnTo>
                  <a:pt x="270954" y="68948"/>
                </a:lnTo>
                <a:lnTo>
                  <a:pt x="281482" y="76301"/>
                </a:lnTo>
                <a:lnTo>
                  <a:pt x="302907" y="110451"/>
                </a:lnTo>
                <a:lnTo>
                  <a:pt x="309880" y="159893"/>
                </a:lnTo>
                <a:lnTo>
                  <a:pt x="309092" y="178562"/>
                </a:lnTo>
                <a:lnTo>
                  <a:pt x="297307" y="224282"/>
                </a:lnTo>
                <a:lnTo>
                  <a:pt x="271119" y="252857"/>
                </a:lnTo>
                <a:lnTo>
                  <a:pt x="259080" y="258191"/>
                </a:lnTo>
                <a:lnTo>
                  <a:pt x="261747" y="266827"/>
                </a:lnTo>
                <a:lnTo>
                  <a:pt x="302133" y="242824"/>
                </a:lnTo>
                <a:lnTo>
                  <a:pt x="324866" y="198412"/>
                </a:lnTo>
                <a:lnTo>
                  <a:pt x="328104" y="180479"/>
                </a:lnTo>
                <a:lnTo>
                  <a:pt x="329184" y="161036"/>
                </a:lnTo>
                <a:close/>
              </a:path>
              <a:path w="501650" h="267335">
                <a:moveTo>
                  <a:pt x="501396" y="0"/>
                </a:moveTo>
                <a:lnTo>
                  <a:pt x="0" y="0"/>
                </a:lnTo>
                <a:lnTo>
                  <a:pt x="0" y="15240"/>
                </a:lnTo>
                <a:lnTo>
                  <a:pt x="501396" y="15240"/>
                </a:lnTo>
                <a:lnTo>
                  <a:pt x="501396" y="0"/>
                </a:lnTo>
                <a:close/>
              </a:path>
            </a:pathLst>
          </a:custGeom>
          <a:solidFill>
            <a:srgbClr val="000000"/>
          </a:solidFill>
        </p:spPr>
        <p:txBody>
          <a:bodyPr wrap="square" lIns="0" tIns="0" rIns="0" bIns="0" rtlCol="0"/>
          <a:lstStyle/>
          <a:p>
            <a:endParaRPr/>
          </a:p>
        </p:txBody>
      </p:sp>
      <p:sp>
        <p:nvSpPr>
          <p:cNvPr id="24" name="object 24"/>
          <p:cNvSpPr txBox="1"/>
          <p:nvPr/>
        </p:nvSpPr>
        <p:spPr>
          <a:xfrm>
            <a:off x="4672076" y="3223005"/>
            <a:ext cx="52578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Math"/>
                <a:cs typeface="Cambria Math"/>
              </a:rPr>
              <a:t>𝑞</a:t>
            </a:r>
            <a:r>
              <a:rPr sz="1800" spc="-5" dirty="0">
                <a:latin typeface="Cambria Math"/>
                <a:cs typeface="Cambria Math"/>
              </a:rPr>
              <a:t>1</a:t>
            </a:r>
            <a:r>
              <a:rPr sz="1800" dirty="0">
                <a:latin typeface="Cambria Math"/>
                <a:cs typeface="Cambria Math"/>
              </a:rPr>
              <a:t>𝑞2</a:t>
            </a:r>
            <a:endParaRPr sz="1800">
              <a:latin typeface="Cambria Math"/>
              <a:cs typeface="Cambria Math"/>
            </a:endParaRPr>
          </a:p>
        </p:txBody>
      </p:sp>
      <p:sp>
        <p:nvSpPr>
          <p:cNvPr id="25" name="object 25"/>
          <p:cNvSpPr txBox="1"/>
          <p:nvPr/>
        </p:nvSpPr>
        <p:spPr>
          <a:xfrm>
            <a:off x="4813808" y="3549142"/>
            <a:ext cx="13462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Math"/>
                <a:cs typeface="Cambria Math"/>
              </a:rPr>
              <a:t>𝑟</a:t>
            </a:r>
            <a:endParaRPr sz="1800">
              <a:latin typeface="Cambria Math"/>
              <a:cs typeface="Cambria Math"/>
            </a:endParaRPr>
          </a:p>
        </p:txBody>
      </p:sp>
      <p:sp>
        <p:nvSpPr>
          <p:cNvPr id="26" name="object 26"/>
          <p:cNvSpPr txBox="1"/>
          <p:nvPr/>
        </p:nvSpPr>
        <p:spPr>
          <a:xfrm>
            <a:off x="5021071" y="3541521"/>
            <a:ext cx="122555" cy="226695"/>
          </a:xfrm>
          <a:prstGeom prst="rect">
            <a:avLst/>
          </a:prstGeom>
        </p:spPr>
        <p:txBody>
          <a:bodyPr vert="horz" wrap="square" lIns="0" tIns="15240" rIns="0" bIns="0" rtlCol="0">
            <a:spAutoFit/>
          </a:bodyPr>
          <a:lstStyle/>
          <a:p>
            <a:pPr marL="12700">
              <a:lnSpc>
                <a:spcPct val="100000"/>
              </a:lnSpc>
              <a:spcBef>
                <a:spcPts val="120"/>
              </a:spcBef>
            </a:pPr>
            <a:r>
              <a:rPr sz="1300" spc="40" dirty="0">
                <a:latin typeface="Cambria Math"/>
                <a:cs typeface="Cambria Math"/>
              </a:rPr>
              <a:t>2</a:t>
            </a:r>
            <a:endParaRPr sz="1300">
              <a:latin typeface="Cambria Math"/>
              <a:cs typeface="Cambria Math"/>
            </a:endParaRPr>
          </a:p>
        </p:txBody>
      </p:sp>
      <p:sp>
        <p:nvSpPr>
          <p:cNvPr id="27" name="object 27"/>
          <p:cNvSpPr txBox="1"/>
          <p:nvPr/>
        </p:nvSpPr>
        <p:spPr>
          <a:xfrm>
            <a:off x="5237479" y="3396742"/>
            <a:ext cx="38671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Math"/>
                <a:cs typeface="Cambria Math"/>
              </a:rPr>
              <a:t>=</a:t>
            </a:r>
            <a:r>
              <a:rPr sz="1800" spc="20" dirty="0">
                <a:latin typeface="Cambria Math"/>
                <a:cs typeface="Cambria Math"/>
              </a:rPr>
              <a:t> </a:t>
            </a:r>
            <a:r>
              <a:rPr sz="1800" dirty="0">
                <a:latin typeface="Cambria Math"/>
                <a:cs typeface="Cambria Math"/>
              </a:rPr>
              <a:t>𝑘</a:t>
            </a:r>
            <a:endParaRPr sz="1800">
              <a:latin typeface="Cambria Math"/>
              <a:cs typeface="Cambria Math"/>
            </a:endParaRPr>
          </a:p>
        </p:txBody>
      </p:sp>
      <p:sp>
        <p:nvSpPr>
          <p:cNvPr id="28" name="object 28"/>
          <p:cNvSpPr/>
          <p:nvPr/>
        </p:nvSpPr>
        <p:spPr>
          <a:xfrm>
            <a:off x="5654928" y="3564001"/>
            <a:ext cx="577850" cy="15240"/>
          </a:xfrm>
          <a:custGeom>
            <a:avLst/>
            <a:gdLst/>
            <a:ahLst/>
            <a:cxnLst/>
            <a:rect l="l" t="t" r="r" b="b"/>
            <a:pathLst>
              <a:path w="577850" h="15239">
                <a:moveTo>
                  <a:pt x="577596" y="0"/>
                </a:moveTo>
                <a:lnTo>
                  <a:pt x="0" y="0"/>
                </a:lnTo>
                <a:lnTo>
                  <a:pt x="0" y="15239"/>
                </a:lnTo>
                <a:lnTo>
                  <a:pt x="577596" y="15239"/>
                </a:lnTo>
                <a:lnTo>
                  <a:pt x="577596" y="0"/>
                </a:lnTo>
                <a:close/>
              </a:path>
            </a:pathLst>
          </a:custGeom>
          <a:solidFill>
            <a:srgbClr val="000000"/>
          </a:solidFill>
        </p:spPr>
        <p:txBody>
          <a:bodyPr wrap="square" lIns="0" tIns="0" rIns="0" bIns="0" rtlCol="0"/>
          <a:lstStyle/>
          <a:p>
            <a:endParaRPr/>
          </a:p>
        </p:txBody>
      </p:sp>
      <p:sp>
        <p:nvSpPr>
          <p:cNvPr id="29" name="object 29"/>
          <p:cNvSpPr/>
          <p:nvPr/>
        </p:nvSpPr>
        <p:spPr>
          <a:xfrm>
            <a:off x="5806059" y="3292983"/>
            <a:ext cx="407034" cy="212090"/>
          </a:xfrm>
          <a:custGeom>
            <a:avLst/>
            <a:gdLst/>
            <a:ahLst/>
            <a:cxnLst/>
            <a:rect l="l" t="t" r="r" b="b"/>
            <a:pathLst>
              <a:path w="407035" h="212089">
                <a:moveTo>
                  <a:pt x="339216" y="0"/>
                </a:moveTo>
                <a:lnTo>
                  <a:pt x="336168" y="8508"/>
                </a:lnTo>
                <a:lnTo>
                  <a:pt x="348436" y="13819"/>
                </a:lnTo>
                <a:lnTo>
                  <a:pt x="358965" y="21177"/>
                </a:lnTo>
                <a:lnTo>
                  <a:pt x="380384" y="55322"/>
                </a:lnTo>
                <a:lnTo>
                  <a:pt x="387350" y="104775"/>
                </a:lnTo>
                <a:lnTo>
                  <a:pt x="386564" y="123444"/>
                </a:lnTo>
                <a:lnTo>
                  <a:pt x="374776" y="169163"/>
                </a:lnTo>
                <a:lnTo>
                  <a:pt x="348595" y="197738"/>
                </a:lnTo>
                <a:lnTo>
                  <a:pt x="336550" y="203072"/>
                </a:lnTo>
                <a:lnTo>
                  <a:pt x="339216" y="211708"/>
                </a:lnTo>
                <a:lnTo>
                  <a:pt x="379614" y="187705"/>
                </a:lnTo>
                <a:lnTo>
                  <a:pt x="402336" y="143287"/>
                </a:lnTo>
                <a:lnTo>
                  <a:pt x="406653" y="105917"/>
                </a:lnTo>
                <a:lnTo>
                  <a:pt x="405578" y="86483"/>
                </a:lnTo>
                <a:lnTo>
                  <a:pt x="389254" y="37083"/>
                </a:lnTo>
                <a:lnTo>
                  <a:pt x="354554" y="5526"/>
                </a:lnTo>
                <a:lnTo>
                  <a:pt x="339216" y="0"/>
                </a:lnTo>
                <a:close/>
              </a:path>
              <a:path w="407035" h="212089">
                <a:moveTo>
                  <a:pt x="67437" y="0"/>
                </a:moveTo>
                <a:lnTo>
                  <a:pt x="27092" y="24056"/>
                </a:lnTo>
                <a:lnTo>
                  <a:pt x="4365" y="68548"/>
                </a:lnTo>
                <a:lnTo>
                  <a:pt x="0" y="105917"/>
                </a:lnTo>
                <a:lnTo>
                  <a:pt x="1075" y="125352"/>
                </a:lnTo>
                <a:lnTo>
                  <a:pt x="17399" y="174751"/>
                </a:lnTo>
                <a:lnTo>
                  <a:pt x="52081" y="206184"/>
                </a:lnTo>
                <a:lnTo>
                  <a:pt x="67437" y="211708"/>
                </a:lnTo>
                <a:lnTo>
                  <a:pt x="70230" y="203072"/>
                </a:lnTo>
                <a:lnTo>
                  <a:pt x="58130" y="197738"/>
                </a:lnTo>
                <a:lnTo>
                  <a:pt x="47720" y="190309"/>
                </a:lnTo>
                <a:lnTo>
                  <a:pt x="26376" y="155638"/>
                </a:lnTo>
                <a:lnTo>
                  <a:pt x="19303" y="104775"/>
                </a:lnTo>
                <a:lnTo>
                  <a:pt x="20089" y="86703"/>
                </a:lnTo>
                <a:lnTo>
                  <a:pt x="31876" y="42037"/>
                </a:lnTo>
                <a:lnTo>
                  <a:pt x="58291" y="13819"/>
                </a:lnTo>
                <a:lnTo>
                  <a:pt x="70485" y="8508"/>
                </a:lnTo>
                <a:lnTo>
                  <a:pt x="67437" y="0"/>
                </a:lnTo>
                <a:close/>
              </a:path>
            </a:pathLst>
          </a:custGeom>
          <a:solidFill>
            <a:srgbClr val="000000"/>
          </a:solidFill>
        </p:spPr>
        <p:txBody>
          <a:bodyPr wrap="square" lIns="0" tIns="0" rIns="0" bIns="0" rtlCol="0"/>
          <a:lstStyle/>
          <a:p>
            <a:endParaRPr/>
          </a:p>
        </p:txBody>
      </p:sp>
      <p:sp>
        <p:nvSpPr>
          <p:cNvPr id="30" name="object 30"/>
          <p:cNvSpPr txBox="1"/>
          <p:nvPr/>
        </p:nvSpPr>
        <p:spPr>
          <a:xfrm>
            <a:off x="5642864" y="3223005"/>
            <a:ext cx="50101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Math"/>
                <a:cs typeface="Cambria Math"/>
              </a:rPr>
              <a:t>𝑞</a:t>
            </a:r>
            <a:r>
              <a:rPr sz="1800" spc="320" dirty="0">
                <a:latin typeface="Cambria Math"/>
                <a:cs typeface="Cambria Math"/>
              </a:rPr>
              <a:t> </a:t>
            </a:r>
            <a:r>
              <a:rPr sz="1800" spc="-5" dirty="0">
                <a:latin typeface="Cambria Math"/>
                <a:cs typeface="Cambria Math"/>
              </a:rPr>
              <a:t>2𝑞</a:t>
            </a:r>
            <a:endParaRPr sz="1800">
              <a:latin typeface="Cambria Math"/>
              <a:cs typeface="Cambria Math"/>
            </a:endParaRPr>
          </a:p>
        </p:txBody>
      </p:sp>
      <p:sp>
        <p:nvSpPr>
          <p:cNvPr id="31" name="object 31"/>
          <p:cNvSpPr txBox="1"/>
          <p:nvPr/>
        </p:nvSpPr>
        <p:spPr>
          <a:xfrm>
            <a:off x="5794247" y="3480561"/>
            <a:ext cx="292100" cy="299720"/>
          </a:xfrm>
          <a:prstGeom prst="rect">
            <a:avLst/>
          </a:prstGeom>
        </p:spPr>
        <p:txBody>
          <a:bodyPr vert="horz" wrap="square" lIns="0" tIns="12700" rIns="0" bIns="0" rtlCol="0">
            <a:spAutoFit/>
          </a:bodyPr>
          <a:lstStyle/>
          <a:p>
            <a:pPr marL="38100">
              <a:lnSpc>
                <a:spcPct val="100000"/>
              </a:lnSpc>
              <a:spcBef>
                <a:spcPts val="100"/>
              </a:spcBef>
            </a:pPr>
            <a:r>
              <a:rPr sz="2700" spc="82" baseline="-16975" dirty="0">
                <a:latin typeface="Cambria Math"/>
                <a:cs typeface="Cambria Math"/>
              </a:rPr>
              <a:t>𝑟</a:t>
            </a:r>
            <a:r>
              <a:rPr sz="1300" spc="55" dirty="0">
                <a:latin typeface="Cambria Math"/>
                <a:cs typeface="Cambria Math"/>
              </a:rPr>
              <a:t>2</a:t>
            </a:r>
            <a:endParaRPr sz="1300">
              <a:latin typeface="Cambria Math"/>
              <a:cs typeface="Cambria Math"/>
            </a:endParaRPr>
          </a:p>
        </p:txBody>
      </p:sp>
      <p:sp>
        <p:nvSpPr>
          <p:cNvPr id="32" name="object 32"/>
          <p:cNvSpPr/>
          <p:nvPr/>
        </p:nvSpPr>
        <p:spPr>
          <a:xfrm>
            <a:off x="6701917" y="3564001"/>
            <a:ext cx="364490" cy="15240"/>
          </a:xfrm>
          <a:custGeom>
            <a:avLst/>
            <a:gdLst/>
            <a:ahLst/>
            <a:cxnLst/>
            <a:rect l="l" t="t" r="r" b="b"/>
            <a:pathLst>
              <a:path w="364490" h="15239">
                <a:moveTo>
                  <a:pt x="364235" y="0"/>
                </a:moveTo>
                <a:lnTo>
                  <a:pt x="0" y="0"/>
                </a:lnTo>
                <a:lnTo>
                  <a:pt x="0" y="15239"/>
                </a:lnTo>
                <a:lnTo>
                  <a:pt x="364235" y="15239"/>
                </a:lnTo>
                <a:lnTo>
                  <a:pt x="364235" y="0"/>
                </a:lnTo>
                <a:close/>
              </a:path>
            </a:pathLst>
          </a:custGeom>
          <a:solidFill>
            <a:srgbClr val="000000"/>
          </a:solidFill>
        </p:spPr>
        <p:txBody>
          <a:bodyPr wrap="square" lIns="0" tIns="0" rIns="0" bIns="0" rtlCol="0"/>
          <a:lstStyle/>
          <a:p>
            <a:endParaRPr/>
          </a:p>
        </p:txBody>
      </p:sp>
      <p:sp>
        <p:nvSpPr>
          <p:cNvPr id="33" name="object 33"/>
          <p:cNvSpPr txBox="1"/>
          <p:nvPr/>
        </p:nvSpPr>
        <p:spPr>
          <a:xfrm>
            <a:off x="6259067" y="3223005"/>
            <a:ext cx="836294" cy="473709"/>
          </a:xfrm>
          <a:prstGeom prst="rect">
            <a:avLst/>
          </a:prstGeom>
        </p:spPr>
        <p:txBody>
          <a:bodyPr vert="horz" wrap="square" lIns="0" tIns="12700" rIns="0" bIns="0" rtlCol="0">
            <a:spAutoFit/>
          </a:bodyPr>
          <a:lstStyle/>
          <a:p>
            <a:pPr marL="443230">
              <a:lnSpc>
                <a:spcPts val="1764"/>
              </a:lnSpc>
              <a:spcBef>
                <a:spcPts val="100"/>
              </a:spcBef>
            </a:pPr>
            <a:r>
              <a:rPr sz="1800" spc="30" dirty="0">
                <a:latin typeface="Cambria Math"/>
                <a:cs typeface="Cambria Math"/>
              </a:rPr>
              <a:t>2𝑞</a:t>
            </a:r>
            <a:r>
              <a:rPr sz="1950" spc="44" baseline="27777" dirty="0">
                <a:latin typeface="Cambria Math"/>
                <a:cs typeface="Cambria Math"/>
              </a:rPr>
              <a:t>2</a:t>
            </a:r>
            <a:endParaRPr sz="1950" baseline="27777">
              <a:latin typeface="Cambria Math"/>
              <a:cs typeface="Cambria Math"/>
            </a:endParaRPr>
          </a:p>
          <a:p>
            <a:pPr marL="38100">
              <a:lnSpc>
                <a:spcPts val="1764"/>
              </a:lnSpc>
            </a:pPr>
            <a:r>
              <a:rPr sz="1800" dirty="0">
                <a:latin typeface="Cambria Math"/>
                <a:cs typeface="Cambria Math"/>
              </a:rPr>
              <a:t>=</a:t>
            </a:r>
            <a:r>
              <a:rPr sz="1800" spc="70" dirty="0">
                <a:latin typeface="Cambria Math"/>
                <a:cs typeface="Cambria Math"/>
              </a:rPr>
              <a:t> </a:t>
            </a:r>
            <a:r>
              <a:rPr sz="1800" dirty="0">
                <a:latin typeface="Cambria Math"/>
                <a:cs typeface="Cambria Math"/>
              </a:rPr>
              <a:t>𝑘</a:t>
            </a:r>
            <a:r>
              <a:rPr sz="1800" spc="434" dirty="0">
                <a:latin typeface="Cambria Math"/>
                <a:cs typeface="Cambria Math"/>
              </a:rPr>
              <a:t> </a:t>
            </a:r>
            <a:r>
              <a:rPr sz="2700" spc="82" baseline="-37037" dirty="0">
                <a:latin typeface="Cambria Math"/>
                <a:cs typeface="Cambria Math"/>
              </a:rPr>
              <a:t>𝑟</a:t>
            </a:r>
            <a:r>
              <a:rPr sz="1950" spc="82" baseline="-27777" dirty="0">
                <a:latin typeface="Cambria Math"/>
                <a:cs typeface="Cambria Math"/>
              </a:rPr>
              <a:t>2</a:t>
            </a:r>
            <a:endParaRPr sz="1950" baseline="-27777">
              <a:latin typeface="Cambria Math"/>
              <a:cs typeface="Cambria Math"/>
            </a:endParaRPr>
          </a:p>
        </p:txBody>
      </p:sp>
      <p:sp>
        <p:nvSpPr>
          <p:cNvPr id="34" name="object 34"/>
          <p:cNvSpPr txBox="1"/>
          <p:nvPr/>
        </p:nvSpPr>
        <p:spPr>
          <a:xfrm>
            <a:off x="3704590" y="4024629"/>
            <a:ext cx="818515" cy="299720"/>
          </a:xfrm>
          <a:prstGeom prst="rect">
            <a:avLst/>
          </a:prstGeom>
        </p:spPr>
        <p:txBody>
          <a:bodyPr vert="horz" wrap="square" lIns="0" tIns="12700" rIns="0" bIns="0" rtlCol="0">
            <a:spAutoFit/>
          </a:bodyPr>
          <a:lstStyle/>
          <a:p>
            <a:pPr marL="38100">
              <a:lnSpc>
                <a:spcPct val="100000"/>
              </a:lnSpc>
              <a:spcBef>
                <a:spcPts val="100"/>
              </a:spcBef>
            </a:pPr>
            <a:r>
              <a:rPr sz="1800" spc="-35" dirty="0">
                <a:latin typeface="Cambria Math"/>
                <a:cs typeface="Cambria Math"/>
              </a:rPr>
              <a:t>𝐹</a:t>
            </a:r>
            <a:r>
              <a:rPr sz="1950" spc="-52" baseline="-14957" dirty="0">
                <a:latin typeface="Cambria Math"/>
                <a:cs typeface="Cambria Math"/>
              </a:rPr>
              <a:t>32</a:t>
            </a:r>
            <a:r>
              <a:rPr sz="1950" spc="337" baseline="-14957" dirty="0">
                <a:latin typeface="Cambria Math"/>
                <a:cs typeface="Cambria Math"/>
              </a:rPr>
              <a:t> </a:t>
            </a:r>
            <a:r>
              <a:rPr sz="1800" dirty="0">
                <a:latin typeface="Cambria Math"/>
                <a:cs typeface="Cambria Math"/>
              </a:rPr>
              <a:t>=</a:t>
            </a:r>
            <a:r>
              <a:rPr sz="1800" spc="70" dirty="0">
                <a:latin typeface="Cambria Math"/>
                <a:cs typeface="Cambria Math"/>
              </a:rPr>
              <a:t> </a:t>
            </a:r>
            <a:r>
              <a:rPr sz="1800" dirty="0">
                <a:latin typeface="Cambria Math"/>
                <a:cs typeface="Cambria Math"/>
              </a:rPr>
              <a:t>𝑘</a:t>
            </a:r>
            <a:endParaRPr sz="1800">
              <a:latin typeface="Cambria Math"/>
              <a:cs typeface="Cambria Math"/>
            </a:endParaRPr>
          </a:p>
        </p:txBody>
      </p:sp>
      <p:sp>
        <p:nvSpPr>
          <p:cNvPr id="35" name="object 35"/>
          <p:cNvSpPr/>
          <p:nvPr/>
        </p:nvSpPr>
        <p:spPr>
          <a:xfrm>
            <a:off x="4528693" y="4191901"/>
            <a:ext cx="501650" cy="267335"/>
          </a:xfrm>
          <a:custGeom>
            <a:avLst/>
            <a:gdLst/>
            <a:ahLst/>
            <a:cxnLst/>
            <a:rect l="l" t="t" r="r" b="b"/>
            <a:pathLst>
              <a:path w="501650" h="267335">
                <a:moveTo>
                  <a:pt x="137795" y="63614"/>
                </a:moveTo>
                <a:lnTo>
                  <a:pt x="134747" y="55105"/>
                </a:lnTo>
                <a:lnTo>
                  <a:pt x="119405" y="60642"/>
                </a:lnTo>
                <a:lnTo>
                  <a:pt x="105956" y="68656"/>
                </a:lnTo>
                <a:lnTo>
                  <a:pt x="77114" y="107200"/>
                </a:lnTo>
                <a:lnTo>
                  <a:pt x="67310" y="161023"/>
                </a:lnTo>
                <a:lnTo>
                  <a:pt x="68376" y="180467"/>
                </a:lnTo>
                <a:lnTo>
                  <a:pt x="84709" y="229857"/>
                </a:lnTo>
                <a:lnTo>
                  <a:pt x="119380" y="261289"/>
                </a:lnTo>
                <a:lnTo>
                  <a:pt x="134747" y="266814"/>
                </a:lnTo>
                <a:lnTo>
                  <a:pt x="137541" y="258178"/>
                </a:lnTo>
                <a:lnTo>
                  <a:pt x="125437" y="252844"/>
                </a:lnTo>
                <a:lnTo>
                  <a:pt x="115023" y="245414"/>
                </a:lnTo>
                <a:lnTo>
                  <a:pt x="93675" y="210743"/>
                </a:lnTo>
                <a:lnTo>
                  <a:pt x="86614" y="159880"/>
                </a:lnTo>
                <a:lnTo>
                  <a:pt x="87388" y="141820"/>
                </a:lnTo>
                <a:lnTo>
                  <a:pt x="99187" y="97142"/>
                </a:lnTo>
                <a:lnTo>
                  <a:pt x="125590" y="68935"/>
                </a:lnTo>
                <a:lnTo>
                  <a:pt x="137795" y="63614"/>
                </a:lnTo>
                <a:close/>
              </a:path>
              <a:path w="501650" h="267335">
                <a:moveTo>
                  <a:pt x="329184" y="161023"/>
                </a:moveTo>
                <a:lnTo>
                  <a:pt x="319430" y="107200"/>
                </a:lnTo>
                <a:lnTo>
                  <a:pt x="290525" y="68656"/>
                </a:lnTo>
                <a:lnTo>
                  <a:pt x="261747" y="55105"/>
                </a:lnTo>
                <a:lnTo>
                  <a:pt x="258699" y="63614"/>
                </a:lnTo>
                <a:lnTo>
                  <a:pt x="270954" y="68935"/>
                </a:lnTo>
                <a:lnTo>
                  <a:pt x="281495" y="76288"/>
                </a:lnTo>
                <a:lnTo>
                  <a:pt x="302907" y="110439"/>
                </a:lnTo>
                <a:lnTo>
                  <a:pt x="309880" y="159880"/>
                </a:lnTo>
                <a:lnTo>
                  <a:pt x="309092" y="178549"/>
                </a:lnTo>
                <a:lnTo>
                  <a:pt x="297307" y="224269"/>
                </a:lnTo>
                <a:lnTo>
                  <a:pt x="271119" y="252844"/>
                </a:lnTo>
                <a:lnTo>
                  <a:pt x="259080" y="258178"/>
                </a:lnTo>
                <a:lnTo>
                  <a:pt x="261747" y="266814"/>
                </a:lnTo>
                <a:lnTo>
                  <a:pt x="302133" y="242811"/>
                </a:lnTo>
                <a:lnTo>
                  <a:pt x="324866" y="198399"/>
                </a:lnTo>
                <a:lnTo>
                  <a:pt x="328104" y="180467"/>
                </a:lnTo>
                <a:lnTo>
                  <a:pt x="329184" y="161023"/>
                </a:lnTo>
                <a:close/>
              </a:path>
              <a:path w="501650" h="267335">
                <a:moveTo>
                  <a:pt x="501396" y="0"/>
                </a:moveTo>
                <a:lnTo>
                  <a:pt x="0" y="0"/>
                </a:lnTo>
                <a:lnTo>
                  <a:pt x="0" y="15227"/>
                </a:lnTo>
                <a:lnTo>
                  <a:pt x="501396" y="15227"/>
                </a:lnTo>
                <a:lnTo>
                  <a:pt x="501396" y="0"/>
                </a:lnTo>
                <a:close/>
              </a:path>
            </a:pathLst>
          </a:custGeom>
          <a:solidFill>
            <a:srgbClr val="000000"/>
          </a:solidFill>
        </p:spPr>
        <p:txBody>
          <a:bodyPr wrap="square" lIns="0" tIns="0" rIns="0" bIns="0" rtlCol="0"/>
          <a:lstStyle/>
          <a:p>
            <a:endParaRPr/>
          </a:p>
        </p:txBody>
      </p:sp>
      <p:sp>
        <p:nvSpPr>
          <p:cNvPr id="36" name="object 36"/>
          <p:cNvSpPr txBox="1"/>
          <p:nvPr/>
        </p:nvSpPr>
        <p:spPr>
          <a:xfrm>
            <a:off x="4516373" y="3850894"/>
            <a:ext cx="52578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Math"/>
                <a:cs typeface="Cambria Math"/>
              </a:rPr>
              <a:t>𝑞</a:t>
            </a:r>
            <a:r>
              <a:rPr sz="1800" spc="-5" dirty="0">
                <a:latin typeface="Cambria Math"/>
                <a:cs typeface="Cambria Math"/>
              </a:rPr>
              <a:t>2</a:t>
            </a:r>
            <a:r>
              <a:rPr sz="1800" dirty="0">
                <a:latin typeface="Cambria Math"/>
                <a:cs typeface="Cambria Math"/>
              </a:rPr>
              <a:t>𝑞3</a:t>
            </a:r>
            <a:endParaRPr sz="1800">
              <a:latin typeface="Cambria Math"/>
              <a:cs typeface="Cambria Math"/>
            </a:endParaRPr>
          </a:p>
        </p:txBody>
      </p:sp>
      <p:sp>
        <p:nvSpPr>
          <p:cNvPr id="37" name="object 37"/>
          <p:cNvSpPr txBox="1"/>
          <p:nvPr/>
        </p:nvSpPr>
        <p:spPr>
          <a:xfrm>
            <a:off x="4658359" y="4176725"/>
            <a:ext cx="134620" cy="300355"/>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Math"/>
                <a:cs typeface="Cambria Math"/>
              </a:rPr>
              <a:t>𝑟</a:t>
            </a:r>
            <a:endParaRPr sz="1800">
              <a:latin typeface="Cambria Math"/>
              <a:cs typeface="Cambria Math"/>
            </a:endParaRPr>
          </a:p>
        </p:txBody>
      </p:sp>
      <p:sp>
        <p:nvSpPr>
          <p:cNvPr id="38" name="object 38"/>
          <p:cNvSpPr txBox="1"/>
          <p:nvPr/>
        </p:nvSpPr>
        <p:spPr>
          <a:xfrm>
            <a:off x="4865623" y="4169409"/>
            <a:ext cx="122555" cy="226695"/>
          </a:xfrm>
          <a:prstGeom prst="rect">
            <a:avLst/>
          </a:prstGeom>
        </p:spPr>
        <p:txBody>
          <a:bodyPr vert="horz" wrap="square" lIns="0" tIns="15240" rIns="0" bIns="0" rtlCol="0">
            <a:spAutoFit/>
          </a:bodyPr>
          <a:lstStyle/>
          <a:p>
            <a:pPr marL="12700">
              <a:lnSpc>
                <a:spcPct val="100000"/>
              </a:lnSpc>
              <a:spcBef>
                <a:spcPts val="120"/>
              </a:spcBef>
            </a:pPr>
            <a:r>
              <a:rPr sz="1300" spc="40" dirty="0">
                <a:latin typeface="Cambria Math"/>
                <a:cs typeface="Cambria Math"/>
              </a:rPr>
              <a:t>2</a:t>
            </a:r>
            <a:endParaRPr sz="1300">
              <a:latin typeface="Cambria Math"/>
              <a:cs typeface="Cambria Math"/>
            </a:endParaRPr>
          </a:p>
        </p:txBody>
      </p:sp>
      <p:sp>
        <p:nvSpPr>
          <p:cNvPr id="39" name="object 39"/>
          <p:cNvSpPr txBox="1"/>
          <p:nvPr/>
        </p:nvSpPr>
        <p:spPr>
          <a:xfrm>
            <a:off x="5082032" y="4024629"/>
            <a:ext cx="38671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Math"/>
                <a:cs typeface="Cambria Math"/>
              </a:rPr>
              <a:t>=</a:t>
            </a:r>
            <a:r>
              <a:rPr sz="1800" spc="20" dirty="0">
                <a:latin typeface="Cambria Math"/>
                <a:cs typeface="Cambria Math"/>
              </a:rPr>
              <a:t> </a:t>
            </a:r>
            <a:r>
              <a:rPr sz="1800" dirty="0">
                <a:latin typeface="Cambria Math"/>
                <a:cs typeface="Cambria Math"/>
              </a:rPr>
              <a:t>𝑘</a:t>
            </a:r>
            <a:endParaRPr sz="1800">
              <a:latin typeface="Cambria Math"/>
              <a:cs typeface="Cambria Math"/>
            </a:endParaRPr>
          </a:p>
        </p:txBody>
      </p:sp>
      <p:sp>
        <p:nvSpPr>
          <p:cNvPr id="40" name="object 40"/>
          <p:cNvSpPr/>
          <p:nvPr/>
        </p:nvSpPr>
        <p:spPr>
          <a:xfrm>
            <a:off x="5499480" y="4191889"/>
            <a:ext cx="896619" cy="15240"/>
          </a:xfrm>
          <a:custGeom>
            <a:avLst/>
            <a:gdLst/>
            <a:ahLst/>
            <a:cxnLst/>
            <a:rect l="l" t="t" r="r" b="b"/>
            <a:pathLst>
              <a:path w="896620" h="15239">
                <a:moveTo>
                  <a:pt x="896112" y="0"/>
                </a:moveTo>
                <a:lnTo>
                  <a:pt x="0" y="0"/>
                </a:lnTo>
                <a:lnTo>
                  <a:pt x="0" y="15240"/>
                </a:lnTo>
                <a:lnTo>
                  <a:pt x="896112" y="15240"/>
                </a:lnTo>
                <a:lnTo>
                  <a:pt x="896112" y="0"/>
                </a:lnTo>
                <a:close/>
              </a:path>
            </a:pathLst>
          </a:custGeom>
          <a:solidFill>
            <a:srgbClr val="000000"/>
          </a:solidFill>
        </p:spPr>
        <p:txBody>
          <a:bodyPr wrap="square" lIns="0" tIns="0" rIns="0" bIns="0" rtlCol="0"/>
          <a:lstStyle/>
          <a:p>
            <a:endParaRPr/>
          </a:p>
        </p:txBody>
      </p:sp>
      <p:sp>
        <p:nvSpPr>
          <p:cNvPr id="41" name="object 41"/>
          <p:cNvSpPr/>
          <p:nvPr/>
        </p:nvSpPr>
        <p:spPr>
          <a:xfrm>
            <a:off x="5967603" y="3920871"/>
            <a:ext cx="407034" cy="212090"/>
          </a:xfrm>
          <a:custGeom>
            <a:avLst/>
            <a:gdLst/>
            <a:ahLst/>
            <a:cxnLst/>
            <a:rect l="l" t="t" r="r" b="b"/>
            <a:pathLst>
              <a:path w="407035" h="212089">
                <a:moveTo>
                  <a:pt x="339217" y="0"/>
                </a:moveTo>
                <a:lnTo>
                  <a:pt x="336169" y="8508"/>
                </a:lnTo>
                <a:lnTo>
                  <a:pt x="348436" y="13819"/>
                </a:lnTo>
                <a:lnTo>
                  <a:pt x="358965" y="21177"/>
                </a:lnTo>
                <a:lnTo>
                  <a:pt x="380384" y="55322"/>
                </a:lnTo>
                <a:lnTo>
                  <a:pt x="387350" y="104774"/>
                </a:lnTo>
                <a:lnTo>
                  <a:pt x="386564" y="123443"/>
                </a:lnTo>
                <a:lnTo>
                  <a:pt x="374776" y="169163"/>
                </a:lnTo>
                <a:lnTo>
                  <a:pt x="348595" y="197738"/>
                </a:lnTo>
                <a:lnTo>
                  <a:pt x="336550" y="203072"/>
                </a:lnTo>
                <a:lnTo>
                  <a:pt x="339217" y="211708"/>
                </a:lnTo>
                <a:lnTo>
                  <a:pt x="379614" y="187705"/>
                </a:lnTo>
                <a:lnTo>
                  <a:pt x="402336" y="143287"/>
                </a:lnTo>
                <a:lnTo>
                  <a:pt x="406654" y="105917"/>
                </a:lnTo>
                <a:lnTo>
                  <a:pt x="405578" y="86483"/>
                </a:lnTo>
                <a:lnTo>
                  <a:pt x="389255" y="37083"/>
                </a:lnTo>
                <a:lnTo>
                  <a:pt x="354554" y="5526"/>
                </a:lnTo>
                <a:lnTo>
                  <a:pt x="339217" y="0"/>
                </a:lnTo>
                <a:close/>
              </a:path>
              <a:path w="407035" h="212089">
                <a:moveTo>
                  <a:pt x="67437" y="0"/>
                </a:moveTo>
                <a:lnTo>
                  <a:pt x="27092" y="24056"/>
                </a:lnTo>
                <a:lnTo>
                  <a:pt x="4365" y="68548"/>
                </a:lnTo>
                <a:lnTo>
                  <a:pt x="0" y="105917"/>
                </a:lnTo>
                <a:lnTo>
                  <a:pt x="1075" y="125352"/>
                </a:lnTo>
                <a:lnTo>
                  <a:pt x="17399" y="174751"/>
                </a:lnTo>
                <a:lnTo>
                  <a:pt x="52081" y="206184"/>
                </a:lnTo>
                <a:lnTo>
                  <a:pt x="67437" y="211708"/>
                </a:lnTo>
                <a:lnTo>
                  <a:pt x="70231" y="203072"/>
                </a:lnTo>
                <a:lnTo>
                  <a:pt x="58130" y="197738"/>
                </a:lnTo>
                <a:lnTo>
                  <a:pt x="47720" y="190309"/>
                </a:lnTo>
                <a:lnTo>
                  <a:pt x="26376" y="155638"/>
                </a:lnTo>
                <a:lnTo>
                  <a:pt x="19304" y="104774"/>
                </a:lnTo>
                <a:lnTo>
                  <a:pt x="20089" y="86703"/>
                </a:lnTo>
                <a:lnTo>
                  <a:pt x="31876" y="42036"/>
                </a:lnTo>
                <a:lnTo>
                  <a:pt x="58291" y="13819"/>
                </a:lnTo>
                <a:lnTo>
                  <a:pt x="70485" y="8508"/>
                </a:lnTo>
                <a:lnTo>
                  <a:pt x="67437" y="0"/>
                </a:lnTo>
                <a:close/>
              </a:path>
            </a:pathLst>
          </a:custGeom>
          <a:solidFill>
            <a:srgbClr val="000000"/>
          </a:solidFill>
        </p:spPr>
        <p:txBody>
          <a:bodyPr wrap="square" lIns="0" tIns="0" rIns="0" bIns="0" rtlCol="0"/>
          <a:lstStyle/>
          <a:p>
            <a:endParaRPr/>
          </a:p>
        </p:txBody>
      </p:sp>
      <p:sp>
        <p:nvSpPr>
          <p:cNvPr id="42" name="object 42"/>
          <p:cNvSpPr txBox="1"/>
          <p:nvPr/>
        </p:nvSpPr>
        <p:spPr>
          <a:xfrm>
            <a:off x="5487415" y="3850894"/>
            <a:ext cx="817880" cy="299720"/>
          </a:xfrm>
          <a:prstGeom prst="rect">
            <a:avLst/>
          </a:prstGeom>
        </p:spPr>
        <p:txBody>
          <a:bodyPr vert="horz" wrap="square" lIns="0" tIns="12700" rIns="0" bIns="0" rtlCol="0">
            <a:spAutoFit/>
          </a:bodyPr>
          <a:lstStyle/>
          <a:p>
            <a:pPr marL="12700">
              <a:lnSpc>
                <a:spcPct val="100000"/>
              </a:lnSpc>
              <a:spcBef>
                <a:spcPts val="100"/>
              </a:spcBef>
            </a:pPr>
            <a:r>
              <a:rPr lang="en-US" sz="2700" spc="-382" baseline="1543" dirty="0">
                <a:latin typeface="Cambria Math"/>
                <a:cs typeface="Cambria Math"/>
              </a:rPr>
              <a:t>(</a:t>
            </a:r>
            <a:r>
              <a:rPr sz="1800" spc="-254" dirty="0" smtClean="0">
                <a:latin typeface="Cambria Math"/>
                <a:cs typeface="Cambria Math"/>
              </a:rPr>
              <a:t>2</a:t>
            </a:r>
            <a:r>
              <a:rPr sz="1800" spc="-254" dirty="0">
                <a:latin typeface="Cambria Math"/>
                <a:cs typeface="Cambria Math"/>
              </a:rPr>
              <a:t>𝑞)</a:t>
            </a:r>
            <a:r>
              <a:rPr sz="1800" spc="285" dirty="0">
                <a:latin typeface="Cambria Math"/>
                <a:cs typeface="Cambria Math"/>
              </a:rPr>
              <a:t> </a:t>
            </a:r>
            <a:r>
              <a:rPr sz="1800" spc="-5" dirty="0">
                <a:latin typeface="Cambria Math"/>
                <a:cs typeface="Cambria Math"/>
              </a:rPr>
              <a:t>3𝑞</a:t>
            </a:r>
            <a:endParaRPr sz="1800" dirty="0">
              <a:latin typeface="Cambria Math"/>
              <a:cs typeface="Cambria Math"/>
            </a:endParaRPr>
          </a:p>
        </p:txBody>
      </p:sp>
      <p:sp>
        <p:nvSpPr>
          <p:cNvPr id="43" name="object 43"/>
          <p:cNvSpPr txBox="1"/>
          <p:nvPr/>
        </p:nvSpPr>
        <p:spPr>
          <a:xfrm>
            <a:off x="5797296" y="4108145"/>
            <a:ext cx="292100" cy="300355"/>
          </a:xfrm>
          <a:prstGeom prst="rect">
            <a:avLst/>
          </a:prstGeom>
        </p:spPr>
        <p:txBody>
          <a:bodyPr vert="horz" wrap="square" lIns="0" tIns="12700" rIns="0" bIns="0" rtlCol="0">
            <a:spAutoFit/>
          </a:bodyPr>
          <a:lstStyle/>
          <a:p>
            <a:pPr marL="38100">
              <a:lnSpc>
                <a:spcPct val="100000"/>
              </a:lnSpc>
              <a:spcBef>
                <a:spcPts val="100"/>
              </a:spcBef>
            </a:pPr>
            <a:r>
              <a:rPr sz="2700" spc="89" baseline="-16975" dirty="0">
                <a:latin typeface="Cambria Math"/>
                <a:cs typeface="Cambria Math"/>
              </a:rPr>
              <a:t>𝑟</a:t>
            </a:r>
            <a:r>
              <a:rPr sz="1300" spc="60" dirty="0">
                <a:latin typeface="Cambria Math"/>
                <a:cs typeface="Cambria Math"/>
              </a:rPr>
              <a:t>2</a:t>
            </a:r>
            <a:endParaRPr sz="1300">
              <a:latin typeface="Cambria Math"/>
              <a:cs typeface="Cambria Math"/>
            </a:endParaRPr>
          </a:p>
        </p:txBody>
      </p:sp>
      <p:sp>
        <p:nvSpPr>
          <p:cNvPr id="44" name="object 44"/>
          <p:cNvSpPr/>
          <p:nvPr/>
        </p:nvSpPr>
        <p:spPr>
          <a:xfrm>
            <a:off x="6863460" y="4191889"/>
            <a:ext cx="364490" cy="15240"/>
          </a:xfrm>
          <a:custGeom>
            <a:avLst/>
            <a:gdLst/>
            <a:ahLst/>
            <a:cxnLst/>
            <a:rect l="l" t="t" r="r" b="b"/>
            <a:pathLst>
              <a:path w="364490" h="15239">
                <a:moveTo>
                  <a:pt x="364235" y="0"/>
                </a:moveTo>
                <a:lnTo>
                  <a:pt x="0" y="0"/>
                </a:lnTo>
                <a:lnTo>
                  <a:pt x="0" y="15239"/>
                </a:lnTo>
                <a:lnTo>
                  <a:pt x="364235" y="15239"/>
                </a:lnTo>
                <a:lnTo>
                  <a:pt x="364235" y="0"/>
                </a:lnTo>
                <a:close/>
              </a:path>
            </a:pathLst>
          </a:custGeom>
          <a:solidFill>
            <a:srgbClr val="000000"/>
          </a:solidFill>
        </p:spPr>
        <p:txBody>
          <a:bodyPr wrap="square" lIns="0" tIns="0" rIns="0" bIns="0" rtlCol="0"/>
          <a:lstStyle/>
          <a:p>
            <a:endParaRPr/>
          </a:p>
        </p:txBody>
      </p:sp>
      <p:sp>
        <p:nvSpPr>
          <p:cNvPr id="45" name="object 45"/>
          <p:cNvSpPr txBox="1"/>
          <p:nvPr/>
        </p:nvSpPr>
        <p:spPr>
          <a:xfrm>
            <a:off x="6420611" y="3850894"/>
            <a:ext cx="836294" cy="473709"/>
          </a:xfrm>
          <a:prstGeom prst="rect">
            <a:avLst/>
          </a:prstGeom>
        </p:spPr>
        <p:txBody>
          <a:bodyPr vert="horz" wrap="square" lIns="0" tIns="12700" rIns="0" bIns="0" rtlCol="0">
            <a:spAutoFit/>
          </a:bodyPr>
          <a:lstStyle/>
          <a:p>
            <a:pPr marL="443230">
              <a:lnSpc>
                <a:spcPts val="1764"/>
              </a:lnSpc>
              <a:spcBef>
                <a:spcPts val="100"/>
              </a:spcBef>
            </a:pPr>
            <a:r>
              <a:rPr sz="1800" spc="30" dirty="0">
                <a:latin typeface="Cambria Math"/>
                <a:cs typeface="Cambria Math"/>
              </a:rPr>
              <a:t>6𝑞</a:t>
            </a:r>
            <a:r>
              <a:rPr sz="1950" spc="44" baseline="27777" dirty="0">
                <a:latin typeface="Cambria Math"/>
                <a:cs typeface="Cambria Math"/>
              </a:rPr>
              <a:t>2</a:t>
            </a:r>
            <a:endParaRPr sz="1950" baseline="27777">
              <a:latin typeface="Cambria Math"/>
              <a:cs typeface="Cambria Math"/>
            </a:endParaRPr>
          </a:p>
          <a:p>
            <a:pPr marL="38100">
              <a:lnSpc>
                <a:spcPts val="1764"/>
              </a:lnSpc>
            </a:pPr>
            <a:r>
              <a:rPr sz="1800" dirty="0">
                <a:latin typeface="Cambria Math"/>
                <a:cs typeface="Cambria Math"/>
              </a:rPr>
              <a:t>=</a:t>
            </a:r>
            <a:r>
              <a:rPr sz="1800" spc="65" dirty="0">
                <a:latin typeface="Cambria Math"/>
                <a:cs typeface="Cambria Math"/>
              </a:rPr>
              <a:t> </a:t>
            </a:r>
            <a:r>
              <a:rPr sz="1800" dirty="0">
                <a:latin typeface="Cambria Math"/>
                <a:cs typeface="Cambria Math"/>
              </a:rPr>
              <a:t>𝑘</a:t>
            </a:r>
            <a:r>
              <a:rPr sz="1800" spc="430" dirty="0">
                <a:latin typeface="Cambria Math"/>
                <a:cs typeface="Cambria Math"/>
              </a:rPr>
              <a:t> </a:t>
            </a:r>
            <a:r>
              <a:rPr sz="2700" spc="89" baseline="-37037" dirty="0">
                <a:latin typeface="Cambria Math"/>
                <a:cs typeface="Cambria Math"/>
              </a:rPr>
              <a:t>𝑟</a:t>
            </a:r>
            <a:r>
              <a:rPr sz="1950" spc="89" baseline="-27777" dirty="0">
                <a:latin typeface="Cambria Math"/>
                <a:cs typeface="Cambria Math"/>
              </a:rPr>
              <a:t>2</a:t>
            </a:r>
            <a:endParaRPr sz="1950" baseline="-27777">
              <a:latin typeface="Cambria Math"/>
              <a:cs typeface="Cambria Math"/>
            </a:endParaRPr>
          </a:p>
        </p:txBody>
      </p:sp>
      <p:sp>
        <p:nvSpPr>
          <p:cNvPr id="46" name="object 46"/>
          <p:cNvSpPr txBox="1"/>
          <p:nvPr/>
        </p:nvSpPr>
        <p:spPr>
          <a:xfrm>
            <a:off x="4725923" y="4444110"/>
            <a:ext cx="1511935" cy="299720"/>
          </a:xfrm>
          <a:prstGeom prst="rect">
            <a:avLst/>
          </a:prstGeom>
        </p:spPr>
        <p:txBody>
          <a:bodyPr vert="horz" wrap="square" lIns="0" tIns="12700" rIns="0" bIns="0" rtlCol="0">
            <a:spAutoFit/>
          </a:bodyPr>
          <a:lstStyle/>
          <a:p>
            <a:pPr marL="38100">
              <a:lnSpc>
                <a:spcPct val="100000"/>
              </a:lnSpc>
              <a:spcBef>
                <a:spcPts val="100"/>
              </a:spcBef>
            </a:pPr>
            <a:r>
              <a:rPr sz="1800" spc="-50" dirty="0">
                <a:latin typeface="Cambria Math"/>
                <a:cs typeface="Cambria Math"/>
              </a:rPr>
              <a:t>𝐹</a:t>
            </a:r>
            <a:r>
              <a:rPr sz="1950" spc="-75" baseline="-14957" dirty="0">
                <a:latin typeface="Cambria Math"/>
                <a:cs typeface="Cambria Math"/>
              </a:rPr>
              <a:t>𝑇</a:t>
            </a:r>
            <a:r>
              <a:rPr sz="1950" spc="112" baseline="-14957" dirty="0">
                <a:latin typeface="Cambria Math"/>
                <a:cs typeface="Cambria Math"/>
              </a:rPr>
              <a:t> </a:t>
            </a:r>
            <a:r>
              <a:rPr sz="1800" dirty="0">
                <a:latin typeface="Cambria Math"/>
                <a:cs typeface="Cambria Math"/>
              </a:rPr>
              <a:t>=</a:t>
            </a:r>
            <a:r>
              <a:rPr sz="1800" spc="85" dirty="0">
                <a:latin typeface="Cambria Math"/>
                <a:cs typeface="Cambria Math"/>
              </a:rPr>
              <a:t> </a:t>
            </a:r>
            <a:r>
              <a:rPr sz="1800" spc="-50" dirty="0">
                <a:latin typeface="Cambria Math"/>
                <a:cs typeface="Cambria Math"/>
              </a:rPr>
              <a:t>𝐹</a:t>
            </a:r>
            <a:r>
              <a:rPr sz="1950" spc="-75" baseline="-14957" dirty="0">
                <a:latin typeface="Cambria Math"/>
                <a:cs typeface="Cambria Math"/>
              </a:rPr>
              <a:t>12</a:t>
            </a:r>
            <a:r>
              <a:rPr sz="1950" spc="232" baseline="-14957" dirty="0">
                <a:latin typeface="Cambria Math"/>
                <a:cs typeface="Cambria Math"/>
              </a:rPr>
              <a:t> </a:t>
            </a:r>
            <a:r>
              <a:rPr sz="1800" dirty="0">
                <a:latin typeface="Cambria Math"/>
                <a:cs typeface="Cambria Math"/>
              </a:rPr>
              <a:t>+</a:t>
            </a:r>
            <a:r>
              <a:rPr sz="1800" spc="-10" dirty="0">
                <a:latin typeface="Cambria Math"/>
                <a:cs typeface="Cambria Math"/>
              </a:rPr>
              <a:t> </a:t>
            </a:r>
            <a:r>
              <a:rPr sz="1800" spc="-35" dirty="0">
                <a:latin typeface="Cambria Math"/>
                <a:cs typeface="Cambria Math"/>
              </a:rPr>
              <a:t>𝐹</a:t>
            </a:r>
            <a:r>
              <a:rPr sz="1950" spc="-52" baseline="-14957" dirty="0">
                <a:latin typeface="Cambria Math"/>
                <a:cs typeface="Cambria Math"/>
              </a:rPr>
              <a:t>32</a:t>
            </a:r>
            <a:endParaRPr sz="1950" baseline="-14957">
              <a:latin typeface="Cambria Math"/>
              <a:cs typeface="Cambria Math"/>
            </a:endParaRPr>
          </a:p>
        </p:txBody>
      </p:sp>
      <p:sp>
        <p:nvSpPr>
          <p:cNvPr id="47" name="object 47"/>
          <p:cNvSpPr/>
          <p:nvPr/>
        </p:nvSpPr>
        <p:spPr>
          <a:xfrm>
            <a:off x="4667377" y="5094096"/>
            <a:ext cx="364490" cy="15240"/>
          </a:xfrm>
          <a:custGeom>
            <a:avLst/>
            <a:gdLst/>
            <a:ahLst/>
            <a:cxnLst/>
            <a:rect l="l" t="t" r="r" b="b"/>
            <a:pathLst>
              <a:path w="364489" h="15239">
                <a:moveTo>
                  <a:pt x="364236" y="0"/>
                </a:moveTo>
                <a:lnTo>
                  <a:pt x="0" y="0"/>
                </a:lnTo>
                <a:lnTo>
                  <a:pt x="0" y="15239"/>
                </a:lnTo>
                <a:lnTo>
                  <a:pt x="364236" y="15239"/>
                </a:lnTo>
                <a:lnTo>
                  <a:pt x="364236" y="0"/>
                </a:lnTo>
                <a:close/>
              </a:path>
            </a:pathLst>
          </a:custGeom>
          <a:solidFill>
            <a:srgbClr val="000000"/>
          </a:solidFill>
        </p:spPr>
        <p:txBody>
          <a:bodyPr wrap="square" lIns="0" tIns="0" rIns="0" bIns="0" rtlCol="0"/>
          <a:lstStyle/>
          <a:p>
            <a:endParaRPr/>
          </a:p>
        </p:txBody>
      </p:sp>
      <p:sp>
        <p:nvSpPr>
          <p:cNvPr id="48" name="object 48"/>
          <p:cNvSpPr/>
          <p:nvPr/>
        </p:nvSpPr>
        <p:spPr>
          <a:xfrm>
            <a:off x="5475096" y="5094096"/>
            <a:ext cx="364490" cy="15240"/>
          </a:xfrm>
          <a:custGeom>
            <a:avLst/>
            <a:gdLst/>
            <a:ahLst/>
            <a:cxnLst/>
            <a:rect l="l" t="t" r="r" b="b"/>
            <a:pathLst>
              <a:path w="364489" h="15239">
                <a:moveTo>
                  <a:pt x="364236" y="0"/>
                </a:moveTo>
                <a:lnTo>
                  <a:pt x="0" y="0"/>
                </a:lnTo>
                <a:lnTo>
                  <a:pt x="0" y="15239"/>
                </a:lnTo>
                <a:lnTo>
                  <a:pt x="364236" y="15239"/>
                </a:lnTo>
                <a:lnTo>
                  <a:pt x="364236" y="0"/>
                </a:lnTo>
                <a:close/>
              </a:path>
            </a:pathLst>
          </a:custGeom>
          <a:solidFill>
            <a:srgbClr val="000000"/>
          </a:solidFill>
        </p:spPr>
        <p:txBody>
          <a:bodyPr wrap="square" lIns="0" tIns="0" rIns="0" bIns="0" rtlCol="0"/>
          <a:lstStyle/>
          <a:p>
            <a:endParaRPr/>
          </a:p>
        </p:txBody>
      </p:sp>
      <p:sp>
        <p:nvSpPr>
          <p:cNvPr id="49" name="object 49"/>
          <p:cNvSpPr txBox="1"/>
          <p:nvPr/>
        </p:nvSpPr>
        <p:spPr>
          <a:xfrm>
            <a:off x="4617211" y="4753482"/>
            <a:ext cx="1264285" cy="299720"/>
          </a:xfrm>
          <a:prstGeom prst="rect">
            <a:avLst/>
          </a:prstGeom>
        </p:spPr>
        <p:txBody>
          <a:bodyPr vert="horz" wrap="square" lIns="0" tIns="12700" rIns="0" bIns="0" rtlCol="0">
            <a:spAutoFit/>
          </a:bodyPr>
          <a:lstStyle/>
          <a:p>
            <a:pPr marL="50800">
              <a:lnSpc>
                <a:spcPct val="100000"/>
              </a:lnSpc>
              <a:spcBef>
                <a:spcPts val="100"/>
              </a:spcBef>
              <a:tabLst>
                <a:tab pos="857885" algn="l"/>
              </a:tabLst>
            </a:pPr>
            <a:r>
              <a:rPr sz="1800" spc="35" dirty="0">
                <a:latin typeface="Cambria Math"/>
                <a:cs typeface="Cambria Math"/>
              </a:rPr>
              <a:t>2𝑞</a:t>
            </a:r>
            <a:r>
              <a:rPr sz="1950" spc="52" baseline="27777" dirty="0">
                <a:latin typeface="Cambria Math"/>
                <a:cs typeface="Cambria Math"/>
              </a:rPr>
              <a:t>2	</a:t>
            </a:r>
            <a:r>
              <a:rPr sz="1800" spc="30" dirty="0">
                <a:latin typeface="Cambria Math"/>
                <a:cs typeface="Cambria Math"/>
              </a:rPr>
              <a:t>6𝑞</a:t>
            </a:r>
            <a:r>
              <a:rPr sz="1950" spc="44" baseline="27777" dirty="0">
                <a:latin typeface="Cambria Math"/>
                <a:cs typeface="Cambria Math"/>
              </a:rPr>
              <a:t>2</a:t>
            </a:r>
            <a:endParaRPr sz="1950" baseline="27777">
              <a:latin typeface="Cambria Math"/>
              <a:cs typeface="Cambria Math"/>
            </a:endParaRPr>
          </a:p>
        </p:txBody>
      </p:sp>
      <p:sp>
        <p:nvSpPr>
          <p:cNvPr id="50" name="object 50"/>
          <p:cNvSpPr/>
          <p:nvPr/>
        </p:nvSpPr>
        <p:spPr>
          <a:xfrm>
            <a:off x="6605905" y="5094096"/>
            <a:ext cx="238125" cy="15240"/>
          </a:xfrm>
          <a:custGeom>
            <a:avLst/>
            <a:gdLst/>
            <a:ahLst/>
            <a:cxnLst/>
            <a:rect l="l" t="t" r="r" b="b"/>
            <a:pathLst>
              <a:path w="238125" h="15239">
                <a:moveTo>
                  <a:pt x="237744" y="0"/>
                </a:moveTo>
                <a:lnTo>
                  <a:pt x="0" y="0"/>
                </a:lnTo>
                <a:lnTo>
                  <a:pt x="0" y="15239"/>
                </a:lnTo>
                <a:lnTo>
                  <a:pt x="237744" y="15239"/>
                </a:lnTo>
                <a:lnTo>
                  <a:pt x="237744" y="0"/>
                </a:lnTo>
                <a:close/>
              </a:path>
            </a:pathLst>
          </a:custGeom>
          <a:solidFill>
            <a:srgbClr val="000000"/>
          </a:solidFill>
        </p:spPr>
        <p:txBody>
          <a:bodyPr wrap="square" lIns="0" tIns="0" rIns="0" bIns="0" rtlCol="0"/>
          <a:lstStyle/>
          <a:p>
            <a:endParaRPr/>
          </a:p>
        </p:txBody>
      </p:sp>
      <p:sp>
        <p:nvSpPr>
          <p:cNvPr id="51" name="object 51"/>
          <p:cNvSpPr txBox="1"/>
          <p:nvPr/>
        </p:nvSpPr>
        <p:spPr>
          <a:xfrm>
            <a:off x="6568440" y="4669663"/>
            <a:ext cx="304800" cy="299720"/>
          </a:xfrm>
          <a:prstGeom prst="rect">
            <a:avLst/>
          </a:prstGeom>
        </p:spPr>
        <p:txBody>
          <a:bodyPr vert="horz" wrap="square" lIns="0" tIns="12700" rIns="0" bIns="0" rtlCol="0">
            <a:spAutoFit/>
          </a:bodyPr>
          <a:lstStyle/>
          <a:p>
            <a:pPr marL="38100">
              <a:lnSpc>
                <a:spcPct val="100000"/>
              </a:lnSpc>
              <a:spcBef>
                <a:spcPts val="100"/>
              </a:spcBef>
            </a:pPr>
            <a:r>
              <a:rPr sz="2700" spc="75" baseline="-20061" dirty="0">
                <a:latin typeface="Cambria Math"/>
                <a:cs typeface="Cambria Math"/>
              </a:rPr>
              <a:t>𝑞</a:t>
            </a:r>
            <a:r>
              <a:rPr sz="1300" spc="50" dirty="0">
                <a:latin typeface="Cambria Math"/>
                <a:cs typeface="Cambria Math"/>
              </a:rPr>
              <a:t>2</a:t>
            </a:r>
            <a:endParaRPr sz="1300">
              <a:latin typeface="Cambria Math"/>
              <a:cs typeface="Cambria Math"/>
            </a:endParaRPr>
          </a:p>
        </p:txBody>
      </p:sp>
      <p:sp>
        <p:nvSpPr>
          <p:cNvPr id="52" name="object 52"/>
          <p:cNvSpPr txBox="1"/>
          <p:nvPr/>
        </p:nvSpPr>
        <p:spPr>
          <a:xfrm>
            <a:off x="3920997" y="4927219"/>
            <a:ext cx="3121660" cy="299720"/>
          </a:xfrm>
          <a:prstGeom prst="rect">
            <a:avLst/>
          </a:prstGeom>
        </p:spPr>
        <p:txBody>
          <a:bodyPr vert="horz" wrap="square" lIns="0" tIns="12700" rIns="0" bIns="0" rtlCol="0">
            <a:spAutoFit/>
          </a:bodyPr>
          <a:lstStyle/>
          <a:p>
            <a:pPr marL="38100">
              <a:lnSpc>
                <a:spcPct val="100000"/>
              </a:lnSpc>
              <a:spcBef>
                <a:spcPts val="100"/>
              </a:spcBef>
              <a:tabLst>
                <a:tab pos="1162685" algn="l"/>
                <a:tab pos="1982470" algn="l"/>
              </a:tabLst>
            </a:pPr>
            <a:r>
              <a:rPr sz="1800" spc="-50" dirty="0">
                <a:latin typeface="Cambria Math"/>
                <a:cs typeface="Cambria Math"/>
              </a:rPr>
              <a:t>𝐹</a:t>
            </a:r>
            <a:r>
              <a:rPr sz="1950" spc="-75" baseline="-14957" dirty="0">
                <a:latin typeface="Cambria Math"/>
                <a:cs typeface="Cambria Math"/>
              </a:rPr>
              <a:t>𝑇</a:t>
            </a:r>
            <a:r>
              <a:rPr sz="1950" spc="487" baseline="-14957" dirty="0">
                <a:latin typeface="Cambria Math"/>
                <a:cs typeface="Cambria Math"/>
              </a:rPr>
              <a:t> </a:t>
            </a:r>
            <a:r>
              <a:rPr sz="1800" dirty="0">
                <a:latin typeface="Cambria Math"/>
                <a:cs typeface="Cambria Math"/>
              </a:rPr>
              <a:t>=</a:t>
            </a:r>
            <a:r>
              <a:rPr sz="1800" spc="110" dirty="0">
                <a:latin typeface="Cambria Math"/>
                <a:cs typeface="Cambria Math"/>
              </a:rPr>
              <a:t> </a:t>
            </a:r>
            <a:r>
              <a:rPr sz="1800" dirty="0">
                <a:latin typeface="Cambria Math"/>
                <a:cs typeface="Cambria Math"/>
              </a:rPr>
              <a:t>𝑘</a:t>
            </a:r>
            <a:r>
              <a:rPr sz="1800" spc="500" dirty="0">
                <a:latin typeface="Cambria Math"/>
                <a:cs typeface="Cambria Math"/>
              </a:rPr>
              <a:t> </a:t>
            </a:r>
            <a:r>
              <a:rPr sz="2700" spc="82" baseline="-37037" dirty="0">
                <a:latin typeface="Cambria Math"/>
                <a:cs typeface="Cambria Math"/>
              </a:rPr>
              <a:t>𝑟</a:t>
            </a:r>
            <a:r>
              <a:rPr sz="1950" spc="82" baseline="-27777" dirty="0">
                <a:latin typeface="Cambria Math"/>
                <a:cs typeface="Cambria Math"/>
              </a:rPr>
              <a:t>2	</a:t>
            </a:r>
            <a:r>
              <a:rPr sz="1800" dirty="0">
                <a:latin typeface="Cambria Math"/>
                <a:cs typeface="Cambria Math"/>
              </a:rPr>
              <a:t>−</a:t>
            </a:r>
            <a:r>
              <a:rPr sz="1800" spc="-5" dirty="0">
                <a:latin typeface="Cambria Math"/>
                <a:cs typeface="Cambria Math"/>
              </a:rPr>
              <a:t> </a:t>
            </a:r>
            <a:r>
              <a:rPr sz="1800" dirty="0">
                <a:latin typeface="Cambria Math"/>
                <a:cs typeface="Cambria Math"/>
              </a:rPr>
              <a:t>𝑘</a:t>
            </a:r>
            <a:r>
              <a:rPr sz="1800" spc="509" dirty="0">
                <a:latin typeface="Cambria Math"/>
                <a:cs typeface="Cambria Math"/>
              </a:rPr>
              <a:t> </a:t>
            </a:r>
            <a:r>
              <a:rPr sz="2700" spc="82" baseline="-37037" dirty="0">
                <a:latin typeface="Cambria Math"/>
                <a:cs typeface="Cambria Math"/>
              </a:rPr>
              <a:t>𝑟</a:t>
            </a:r>
            <a:r>
              <a:rPr sz="1950" spc="82" baseline="-27777" dirty="0">
                <a:latin typeface="Cambria Math"/>
                <a:cs typeface="Cambria Math"/>
              </a:rPr>
              <a:t>2	</a:t>
            </a:r>
            <a:r>
              <a:rPr sz="1800" dirty="0">
                <a:latin typeface="Cambria Math"/>
                <a:cs typeface="Cambria Math"/>
              </a:rPr>
              <a:t>=</a:t>
            </a:r>
            <a:r>
              <a:rPr sz="1800" spc="80" dirty="0">
                <a:latin typeface="Cambria Math"/>
                <a:cs typeface="Cambria Math"/>
              </a:rPr>
              <a:t> </a:t>
            </a:r>
            <a:r>
              <a:rPr sz="1800" spc="-5" dirty="0">
                <a:latin typeface="Cambria Math"/>
                <a:cs typeface="Cambria Math"/>
              </a:rPr>
              <a:t>−4𝑘</a:t>
            </a:r>
            <a:r>
              <a:rPr sz="1800" spc="-20" dirty="0">
                <a:latin typeface="Cambria Math"/>
                <a:cs typeface="Cambria Math"/>
              </a:rPr>
              <a:t> </a:t>
            </a:r>
            <a:r>
              <a:rPr sz="2700" spc="82" baseline="-37037" dirty="0">
                <a:latin typeface="Cambria Math"/>
                <a:cs typeface="Cambria Math"/>
              </a:rPr>
              <a:t>𝑟</a:t>
            </a:r>
            <a:r>
              <a:rPr sz="1950" spc="82" baseline="-27777" dirty="0">
                <a:latin typeface="Cambria Math"/>
                <a:cs typeface="Cambria Math"/>
              </a:rPr>
              <a:t>2</a:t>
            </a:r>
            <a:r>
              <a:rPr sz="1950" spc="172" baseline="-27777" dirty="0">
                <a:latin typeface="Cambria Math"/>
                <a:cs typeface="Cambria Math"/>
              </a:rPr>
              <a:t> </a:t>
            </a:r>
            <a:r>
              <a:rPr sz="1800" spc="-900" dirty="0" smtClean="0">
                <a:latin typeface="Cambria Math"/>
                <a:cs typeface="Cambria Math"/>
              </a:rPr>
              <a:t>𝑥</a:t>
            </a:r>
            <a:endParaRPr sz="1800" dirty="0">
              <a:latin typeface="Cambria Math"/>
              <a:cs typeface="Cambria Math"/>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932838" y="1622290"/>
            <a:ext cx="303441" cy="304652"/>
          </a:xfrm>
          <a:prstGeom prst="rect">
            <a:avLst/>
          </a:prstGeom>
        </p:spPr>
      </p:pic>
      <p:pic>
        <p:nvPicPr>
          <p:cNvPr id="3" name="object 3"/>
          <p:cNvPicPr/>
          <p:nvPr/>
        </p:nvPicPr>
        <p:blipFill>
          <a:blip r:embed="rId2" cstate="print"/>
          <a:stretch>
            <a:fillRect/>
          </a:stretch>
        </p:blipFill>
        <p:spPr>
          <a:xfrm>
            <a:off x="7422078" y="1477954"/>
            <a:ext cx="529258" cy="528413"/>
          </a:xfrm>
          <a:prstGeom prst="rect">
            <a:avLst/>
          </a:prstGeom>
        </p:spPr>
      </p:pic>
      <p:sp>
        <p:nvSpPr>
          <p:cNvPr id="4" name="object 4"/>
          <p:cNvSpPr txBox="1"/>
          <p:nvPr/>
        </p:nvSpPr>
        <p:spPr>
          <a:xfrm>
            <a:off x="2971926" y="1993519"/>
            <a:ext cx="495934"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q1</a:t>
            </a:r>
            <a:r>
              <a:rPr sz="1800" dirty="0">
                <a:latin typeface="Calibri"/>
                <a:cs typeface="Calibri"/>
              </a:rPr>
              <a:t>=q</a:t>
            </a:r>
            <a:endParaRPr sz="1800">
              <a:latin typeface="Calibri"/>
              <a:cs typeface="Calibri"/>
            </a:endParaRPr>
          </a:p>
        </p:txBody>
      </p:sp>
      <p:sp>
        <p:nvSpPr>
          <p:cNvPr id="5" name="object 5"/>
          <p:cNvSpPr txBox="1"/>
          <p:nvPr/>
        </p:nvSpPr>
        <p:spPr>
          <a:xfrm>
            <a:off x="5064378" y="1987041"/>
            <a:ext cx="61150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q2</a:t>
            </a:r>
            <a:r>
              <a:rPr sz="1800" dirty="0">
                <a:latin typeface="Calibri"/>
                <a:cs typeface="Calibri"/>
              </a:rPr>
              <a:t>=2q</a:t>
            </a:r>
            <a:endParaRPr sz="1800">
              <a:latin typeface="Calibri"/>
              <a:cs typeface="Calibri"/>
            </a:endParaRPr>
          </a:p>
        </p:txBody>
      </p:sp>
      <p:grpSp>
        <p:nvGrpSpPr>
          <p:cNvPr id="6" name="object 6"/>
          <p:cNvGrpSpPr/>
          <p:nvPr/>
        </p:nvGrpSpPr>
        <p:grpSpPr>
          <a:xfrm>
            <a:off x="3192017" y="1495044"/>
            <a:ext cx="4211320" cy="375285"/>
            <a:chOff x="3192017" y="1495044"/>
            <a:chExt cx="4211320" cy="375285"/>
          </a:xfrm>
        </p:grpSpPr>
        <p:sp>
          <p:nvSpPr>
            <p:cNvPr id="7" name="object 7"/>
            <p:cNvSpPr/>
            <p:nvPr/>
          </p:nvSpPr>
          <p:spPr>
            <a:xfrm>
              <a:off x="6177533" y="1755521"/>
              <a:ext cx="1225550" cy="114300"/>
            </a:xfrm>
            <a:custGeom>
              <a:avLst/>
              <a:gdLst/>
              <a:ahLst/>
              <a:cxnLst/>
              <a:rect l="l" t="t" r="r" b="b"/>
              <a:pathLst>
                <a:path w="1225550" h="114300">
                  <a:moveTo>
                    <a:pt x="113411" y="0"/>
                  </a:moveTo>
                  <a:lnTo>
                    <a:pt x="0" y="58800"/>
                  </a:lnTo>
                  <a:lnTo>
                    <a:pt x="115188" y="114300"/>
                  </a:lnTo>
                  <a:lnTo>
                    <a:pt x="114600" y="76453"/>
                  </a:lnTo>
                  <a:lnTo>
                    <a:pt x="95503" y="76453"/>
                  </a:lnTo>
                  <a:lnTo>
                    <a:pt x="94995" y="38353"/>
                  </a:lnTo>
                  <a:lnTo>
                    <a:pt x="114003" y="38069"/>
                  </a:lnTo>
                  <a:lnTo>
                    <a:pt x="113411" y="0"/>
                  </a:lnTo>
                  <a:close/>
                </a:path>
                <a:path w="1225550" h="114300">
                  <a:moveTo>
                    <a:pt x="114003" y="38069"/>
                  </a:moveTo>
                  <a:lnTo>
                    <a:pt x="94995" y="38353"/>
                  </a:lnTo>
                  <a:lnTo>
                    <a:pt x="95503" y="76453"/>
                  </a:lnTo>
                  <a:lnTo>
                    <a:pt x="114595" y="76168"/>
                  </a:lnTo>
                  <a:lnTo>
                    <a:pt x="114003" y="38069"/>
                  </a:lnTo>
                  <a:close/>
                </a:path>
                <a:path w="1225550" h="114300">
                  <a:moveTo>
                    <a:pt x="114595" y="76168"/>
                  </a:moveTo>
                  <a:lnTo>
                    <a:pt x="95503" y="76453"/>
                  </a:lnTo>
                  <a:lnTo>
                    <a:pt x="114600" y="76453"/>
                  </a:lnTo>
                  <a:lnTo>
                    <a:pt x="114595" y="76168"/>
                  </a:lnTo>
                  <a:close/>
                </a:path>
                <a:path w="1225550" h="114300">
                  <a:moveTo>
                    <a:pt x="1224914" y="21462"/>
                  </a:moveTo>
                  <a:lnTo>
                    <a:pt x="114003" y="38069"/>
                  </a:lnTo>
                  <a:lnTo>
                    <a:pt x="114595" y="76168"/>
                  </a:lnTo>
                  <a:lnTo>
                    <a:pt x="1225549" y="59562"/>
                  </a:lnTo>
                  <a:lnTo>
                    <a:pt x="1224914" y="21462"/>
                  </a:lnTo>
                  <a:close/>
                </a:path>
              </a:pathLst>
            </a:custGeom>
            <a:solidFill>
              <a:srgbClr val="000000"/>
            </a:solidFill>
          </p:spPr>
          <p:txBody>
            <a:bodyPr wrap="square" lIns="0" tIns="0" rIns="0" bIns="0" rtlCol="0"/>
            <a:lstStyle/>
            <a:p>
              <a:endParaRPr/>
            </a:p>
          </p:txBody>
        </p:sp>
        <p:sp>
          <p:nvSpPr>
            <p:cNvPr id="8" name="object 8"/>
            <p:cNvSpPr/>
            <p:nvPr/>
          </p:nvSpPr>
          <p:spPr>
            <a:xfrm>
              <a:off x="3291839" y="1720596"/>
              <a:ext cx="4070985" cy="41910"/>
            </a:xfrm>
            <a:custGeom>
              <a:avLst/>
              <a:gdLst/>
              <a:ahLst/>
              <a:cxnLst/>
              <a:rect l="l" t="t" r="r" b="b"/>
              <a:pathLst>
                <a:path w="4070984" h="41910">
                  <a:moveTo>
                    <a:pt x="0" y="41655"/>
                  </a:moveTo>
                  <a:lnTo>
                    <a:pt x="4070604" y="0"/>
                  </a:lnTo>
                </a:path>
              </a:pathLst>
            </a:custGeom>
            <a:ln w="9143">
              <a:solidFill>
                <a:srgbClr val="000000"/>
              </a:solidFill>
              <a:prstDash val="sysDash"/>
            </a:ln>
          </p:spPr>
          <p:txBody>
            <a:bodyPr wrap="square" lIns="0" tIns="0" rIns="0" bIns="0" rtlCol="0"/>
            <a:lstStyle/>
            <a:p>
              <a:endParaRPr/>
            </a:p>
          </p:txBody>
        </p:sp>
        <p:sp>
          <p:nvSpPr>
            <p:cNvPr id="9" name="object 9"/>
            <p:cNvSpPr/>
            <p:nvPr/>
          </p:nvSpPr>
          <p:spPr>
            <a:xfrm>
              <a:off x="3192017" y="1495044"/>
              <a:ext cx="1914525" cy="86995"/>
            </a:xfrm>
            <a:custGeom>
              <a:avLst/>
              <a:gdLst/>
              <a:ahLst/>
              <a:cxnLst/>
              <a:rect l="l" t="t" r="r" b="b"/>
              <a:pathLst>
                <a:path w="1914525" h="86994">
                  <a:moveTo>
                    <a:pt x="86868" y="0"/>
                  </a:moveTo>
                  <a:lnTo>
                    <a:pt x="0" y="43433"/>
                  </a:lnTo>
                  <a:lnTo>
                    <a:pt x="86868" y="86867"/>
                  </a:lnTo>
                  <a:lnTo>
                    <a:pt x="86868" y="57911"/>
                  </a:lnTo>
                  <a:lnTo>
                    <a:pt x="72390" y="57911"/>
                  </a:lnTo>
                  <a:lnTo>
                    <a:pt x="72390" y="28955"/>
                  </a:lnTo>
                  <a:lnTo>
                    <a:pt x="86868" y="28955"/>
                  </a:lnTo>
                  <a:lnTo>
                    <a:pt x="86868" y="0"/>
                  </a:lnTo>
                  <a:close/>
                </a:path>
                <a:path w="1914525" h="86994">
                  <a:moveTo>
                    <a:pt x="1827148" y="0"/>
                  </a:moveTo>
                  <a:lnTo>
                    <a:pt x="1827148" y="86867"/>
                  </a:lnTo>
                  <a:lnTo>
                    <a:pt x="1885061" y="57911"/>
                  </a:lnTo>
                  <a:lnTo>
                    <a:pt x="1841627" y="57911"/>
                  </a:lnTo>
                  <a:lnTo>
                    <a:pt x="1841627" y="28955"/>
                  </a:lnTo>
                  <a:lnTo>
                    <a:pt x="1885060" y="28955"/>
                  </a:lnTo>
                  <a:lnTo>
                    <a:pt x="1827148" y="0"/>
                  </a:lnTo>
                  <a:close/>
                </a:path>
                <a:path w="1914525" h="86994">
                  <a:moveTo>
                    <a:pt x="86868" y="28955"/>
                  </a:moveTo>
                  <a:lnTo>
                    <a:pt x="72390" y="28955"/>
                  </a:lnTo>
                  <a:lnTo>
                    <a:pt x="72390" y="57911"/>
                  </a:lnTo>
                  <a:lnTo>
                    <a:pt x="86868" y="57911"/>
                  </a:lnTo>
                  <a:lnTo>
                    <a:pt x="86868" y="28955"/>
                  </a:lnTo>
                  <a:close/>
                </a:path>
                <a:path w="1914525" h="86994">
                  <a:moveTo>
                    <a:pt x="1827148" y="28955"/>
                  </a:moveTo>
                  <a:lnTo>
                    <a:pt x="86868" y="28955"/>
                  </a:lnTo>
                  <a:lnTo>
                    <a:pt x="86868" y="57911"/>
                  </a:lnTo>
                  <a:lnTo>
                    <a:pt x="1827148" y="57911"/>
                  </a:lnTo>
                  <a:lnTo>
                    <a:pt x="1827148" y="28955"/>
                  </a:lnTo>
                  <a:close/>
                </a:path>
                <a:path w="1914525" h="86994">
                  <a:moveTo>
                    <a:pt x="1885060" y="28955"/>
                  </a:moveTo>
                  <a:lnTo>
                    <a:pt x="1841627" y="28955"/>
                  </a:lnTo>
                  <a:lnTo>
                    <a:pt x="1841627" y="57911"/>
                  </a:lnTo>
                  <a:lnTo>
                    <a:pt x="1885061" y="57911"/>
                  </a:lnTo>
                  <a:lnTo>
                    <a:pt x="1914017" y="43433"/>
                  </a:lnTo>
                  <a:lnTo>
                    <a:pt x="1885060" y="28955"/>
                  </a:lnTo>
                  <a:close/>
                </a:path>
              </a:pathLst>
            </a:custGeom>
            <a:solidFill>
              <a:srgbClr val="000000"/>
            </a:solidFill>
          </p:spPr>
          <p:txBody>
            <a:bodyPr wrap="square" lIns="0" tIns="0" rIns="0" bIns="0" rtlCol="0"/>
            <a:lstStyle/>
            <a:p>
              <a:endParaRPr/>
            </a:p>
          </p:txBody>
        </p:sp>
      </p:grpSp>
      <p:sp>
        <p:nvSpPr>
          <p:cNvPr id="10" name="object 10"/>
          <p:cNvSpPr/>
          <p:nvPr/>
        </p:nvSpPr>
        <p:spPr>
          <a:xfrm>
            <a:off x="4263390" y="417956"/>
            <a:ext cx="501650" cy="15240"/>
          </a:xfrm>
          <a:custGeom>
            <a:avLst/>
            <a:gdLst/>
            <a:ahLst/>
            <a:cxnLst/>
            <a:rect l="l" t="t" r="r" b="b"/>
            <a:pathLst>
              <a:path w="501650" h="15240">
                <a:moveTo>
                  <a:pt x="501396" y="0"/>
                </a:moveTo>
                <a:lnTo>
                  <a:pt x="0" y="0"/>
                </a:lnTo>
                <a:lnTo>
                  <a:pt x="0" y="15239"/>
                </a:lnTo>
                <a:lnTo>
                  <a:pt x="501396" y="15239"/>
                </a:lnTo>
                <a:lnTo>
                  <a:pt x="501396" y="0"/>
                </a:lnTo>
                <a:close/>
              </a:path>
            </a:pathLst>
          </a:custGeom>
          <a:solidFill>
            <a:srgbClr val="000000"/>
          </a:solidFill>
        </p:spPr>
        <p:txBody>
          <a:bodyPr wrap="square" lIns="0" tIns="0" rIns="0" bIns="0" rtlCol="0"/>
          <a:lstStyle/>
          <a:p>
            <a:endParaRPr/>
          </a:p>
        </p:txBody>
      </p:sp>
      <p:sp>
        <p:nvSpPr>
          <p:cNvPr id="11" name="object 11"/>
          <p:cNvSpPr txBox="1"/>
          <p:nvPr/>
        </p:nvSpPr>
        <p:spPr>
          <a:xfrm>
            <a:off x="4362958" y="333883"/>
            <a:ext cx="292100" cy="299720"/>
          </a:xfrm>
          <a:prstGeom prst="rect">
            <a:avLst/>
          </a:prstGeom>
        </p:spPr>
        <p:txBody>
          <a:bodyPr vert="horz" wrap="square" lIns="0" tIns="12700" rIns="0" bIns="0" rtlCol="0">
            <a:spAutoFit/>
          </a:bodyPr>
          <a:lstStyle/>
          <a:p>
            <a:pPr marL="38100">
              <a:lnSpc>
                <a:spcPct val="100000"/>
              </a:lnSpc>
              <a:spcBef>
                <a:spcPts val="100"/>
              </a:spcBef>
            </a:pPr>
            <a:r>
              <a:rPr sz="2700" spc="82" baseline="-16975" dirty="0">
                <a:latin typeface="Cambria Math"/>
                <a:cs typeface="Cambria Math"/>
              </a:rPr>
              <a:t>𝑟</a:t>
            </a:r>
            <a:r>
              <a:rPr sz="1300" spc="55" dirty="0">
                <a:latin typeface="Cambria Math"/>
                <a:cs typeface="Cambria Math"/>
              </a:rPr>
              <a:t>2</a:t>
            </a:r>
            <a:endParaRPr sz="1300">
              <a:latin typeface="Cambria Math"/>
              <a:cs typeface="Cambria Math"/>
            </a:endParaRPr>
          </a:p>
        </p:txBody>
      </p:sp>
      <p:sp>
        <p:nvSpPr>
          <p:cNvPr id="12" name="object 12"/>
          <p:cNvSpPr txBox="1"/>
          <p:nvPr/>
        </p:nvSpPr>
        <p:spPr>
          <a:xfrm>
            <a:off x="184099" y="200355"/>
            <a:ext cx="5109210" cy="300355"/>
          </a:xfrm>
          <a:prstGeom prst="rect">
            <a:avLst/>
          </a:prstGeom>
        </p:spPr>
        <p:txBody>
          <a:bodyPr vert="horz" wrap="square" lIns="0" tIns="12700" rIns="0" bIns="0" rtlCol="0">
            <a:spAutoFit/>
          </a:bodyPr>
          <a:lstStyle/>
          <a:p>
            <a:pPr marL="38100">
              <a:lnSpc>
                <a:spcPct val="100000"/>
              </a:lnSpc>
              <a:spcBef>
                <a:spcPts val="100"/>
              </a:spcBef>
              <a:tabLst>
                <a:tab pos="3462020" algn="l"/>
              </a:tabLst>
            </a:pPr>
            <a:r>
              <a:rPr sz="1800" spc="-5" dirty="0">
                <a:solidFill>
                  <a:srgbClr val="FF0000"/>
                </a:solidFill>
                <a:latin typeface="Calibri"/>
                <a:cs typeface="Calibri"/>
              </a:rPr>
              <a:t>F</a:t>
            </a:r>
            <a:r>
              <a:rPr sz="1800" spc="-10" dirty="0">
                <a:solidFill>
                  <a:srgbClr val="FF0000"/>
                </a:solidFill>
                <a:latin typeface="Calibri"/>
                <a:cs typeface="Calibri"/>
              </a:rPr>
              <a:t>i</a:t>
            </a:r>
            <a:r>
              <a:rPr sz="1800" spc="-5" dirty="0">
                <a:solidFill>
                  <a:srgbClr val="FF0000"/>
                </a:solidFill>
                <a:latin typeface="Calibri"/>
                <a:cs typeface="Calibri"/>
              </a:rPr>
              <a:t>n</a:t>
            </a:r>
            <a:r>
              <a:rPr sz="1800" dirty="0">
                <a:solidFill>
                  <a:srgbClr val="FF0000"/>
                </a:solidFill>
                <a:latin typeface="Calibri"/>
                <a:cs typeface="Calibri"/>
              </a:rPr>
              <a:t>d</a:t>
            </a:r>
            <a:r>
              <a:rPr sz="1800" spc="10" dirty="0">
                <a:solidFill>
                  <a:srgbClr val="FF0000"/>
                </a:solidFill>
                <a:latin typeface="Calibri"/>
                <a:cs typeface="Calibri"/>
              </a:rPr>
              <a:t> </a:t>
            </a:r>
            <a:r>
              <a:rPr sz="1800" spc="-35" dirty="0">
                <a:solidFill>
                  <a:srgbClr val="FF0000"/>
                </a:solidFill>
                <a:latin typeface="Calibri"/>
                <a:cs typeface="Calibri"/>
              </a:rPr>
              <a:t>f</a:t>
            </a:r>
            <a:r>
              <a:rPr sz="1800" spc="-5" dirty="0">
                <a:solidFill>
                  <a:srgbClr val="FF0000"/>
                </a:solidFill>
                <a:latin typeface="Calibri"/>
                <a:cs typeface="Calibri"/>
              </a:rPr>
              <a:t>o</a:t>
            </a:r>
            <a:r>
              <a:rPr sz="1800" spc="-35" dirty="0">
                <a:solidFill>
                  <a:srgbClr val="FF0000"/>
                </a:solidFill>
                <a:latin typeface="Calibri"/>
                <a:cs typeface="Calibri"/>
              </a:rPr>
              <a:t>r</a:t>
            </a:r>
            <a:r>
              <a:rPr sz="1800" spc="-10" dirty="0">
                <a:solidFill>
                  <a:srgbClr val="FF0000"/>
                </a:solidFill>
                <a:latin typeface="Calibri"/>
                <a:cs typeface="Calibri"/>
              </a:rPr>
              <a:t>c</a:t>
            </a:r>
            <a:r>
              <a:rPr sz="1800" dirty="0">
                <a:solidFill>
                  <a:srgbClr val="FF0000"/>
                </a:solidFill>
                <a:latin typeface="Calibri"/>
                <a:cs typeface="Calibri"/>
              </a:rPr>
              <a:t>e F</a:t>
            </a:r>
            <a:r>
              <a:rPr sz="1800" spc="10" dirty="0">
                <a:solidFill>
                  <a:srgbClr val="FF0000"/>
                </a:solidFill>
                <a:latin typeface="Calibri"/>
                <a:cs typeface="Calibri"/>
              </a:rPr>
              <a:t> </a:t>
            </a:r>
            <a:r>
              <a:rPr sz="1800" spc="-5" dirty="0">
                <a:solidFill>
                  <a:srgbClr val="FF0000"/>
                </a:solidFill>
                <a:latin typeface="Calibri"/>
                <a:cs typeface="Calibri"/>
              </a:rPr>
              <a:t>o</a:t>
            </a:r>
            <a:r>
              <a:rPr sz="1800" dirty="0">
                <a:solidFill>
                  <a:srgbClr val="FF0000"/>
                </a:solidFill>
                <a:latin typeface="Calibri"/>
                <a:cs typeface="Calibri"/>
              </a:rPr>
              <a:t>n</a:t>
            </a:r>
            <a:r>
              <a:rPr sz="1800" spc="-5" dirty="0">
                <a:solidFill>
                  <a:srgbClr val="FF0000"/>
                </a:solidFill>
                <a:latin typeface="Calibri"/>
                <a:cs typeface="Calibri"/>
              </a:rPr>
              <a:t> q</a:t>
            </a:r>
            <a:r>
              <a:rPr sz="1800" dirty="0">
                <a:solidFill>
                  <a:srgbClr val="FF0000"/>
                </a:solidFill>
                <a:latin typeface="Calibri"/>
                <a:cs typeface="Calibri"/>
              </a:rPr>
              <a:t>3</a:t>
            </a:r>
            <a:r>
              <a:rPr sz="1800" spc="5" dirty="0">
                <a:solidFill>
                  <a:srgbClr val="FF0000"/>
                </a:solidFill>
                <a:latin typeface="Calibri"/>
                <a:cs typeface="Calibri"/>
              </a:rPr>
              <a:t> </a:t>
            </a:r>
            <a:r>
              <a:rPr sz="1800" spc="-5" dirty="0">
                <a:solidFill>
                  <a:srgbClr val="FF0000"/>
                </a:solidFill>
                <a:latin typeface="Calibri"/>
                <a:cs typeface="Calibri"/>
              </a:rPr>
              <a:t>du</a:t>
            </a:r>
            <a:r>
              <a:rPr sz="1800" dirty="0">
                <a:solidFill>
                  <a:srgbClr val="FF0000"/>
                </a:solidFill>
                <a:latin typeface="Calibri"/>
                <a:cs typeface="Calibri"/>
              </a:rPr>
              <a:t>e</a:t>
            </a:r>
            <a:r>
              <a:rPr sz="1800" spc="10" dirty="0">
                <a:solidFill>
                  <a:srgbClr val="FF0000"/>
                </a:solidFill>
                <a:latin typeface="Calibri"/>
                <a:cs typeface="Calibri"/>
              </a:rPr>
              <a:t> </a:t>
            </a:r>
            <a:r>
              <a:rPr sz="1800" spc="-20" dirty="0">
                <a:solidFill>
                  <a:srgbClr val="FF0000"/>
                </a:solidFill>
                <a:latin typeface="Calibri"/>
                <a:cs typeface="Calibri"/>
              </a:rPr>
              <a:t>t</a:t>
            </a:r>
            <a:r>
              <a:rPr sz="1800" dirty="0">
                <a:solidFill>
                  <a:srgbClr val="FF0000"/>
                </a:solidFill>
                <a:latin typeface="Calibri"/>
                <a:cs typeface="Calibri"/>
              </a:rPr>
              <a:t>o</a:t>
            </a:r>
            <a:r>
              <a:rPr sz="1800" spc="-5" dirty="0">
                <a:solidFill>
                  <a:srgbClr val="FF0000"/>
                </a:solidFill>
                <a:latin typeface="Calibri"/>
                <a:cs typeface="Calibri"/>
              </a:rPr>
              <a:t> q</a:t>
            </a:r>
            <a:r>
              <a:rPr sz="1800" dirty="0">
                <a:solidFill>
                  <a:srgbClr val="FF0000"/>
                </a:solidFill>
                <a:latin typeface="Calibri"/>
                <a:cs typeface="Calibri"/>
              </a:rPr>
              <a:t>1</a:t>
            </a:r>
            <a:r>
              <a:rPr sz="1800" spc="-5" dirty="0">
                <a:solidFill>
                  <a:srgbClr val="FF0000"/>
                </a:solidFill>
                <a:latin typeface="Calibri"/>
                <a:cs typeface="Calibri"/>
              </a:rPr>
              <a:t> </a:t>
            </a:r>
            <a:r>
              <a:rPr sz="1800" dirty="0">
                <a:solidFill>
                  <a:srgbClr val="FF0000"/>
                </a:solidFill>
                <a:latin typeface="Calibri"/>
                <a:cs typeface="Calibri"/>
              </a:rPr>
              <a:t>and</a:t>
            </a:r>
            <a:r>
              <a:rPr sz="1800" spc="10" dirty="0">
                <a:solidFill>
                  <a:srgbClr val="FF0000"/>
                </a:solidFill>
                <a:latin typeface="Calibri"/>
                <a:cs typeface="Calibri"/>
              </a:rPr>
              <a:t> </a:t>
            </a:r>
            <a:r>
              <a:rPr sz="1800" spc="-5" dirty="0">
                <a:solidFill>
                  <a:srgbClr val="FF0000"/>
                </a:solidFill>
                <a:latin typeface="Calibri"/>
                <a:cs typeface="Calibri"/>
              </a:rPr>
              <a:t>q</a:t>
            </a:r>
            <a:r>
              <a:rPr sz="1800" dirty="0">
                <a:solidFill>
                  <a:srgbClr val="FF0000"/>
                </a:solidFill>
                <a:latin typeface="Calibri"/>
                <a:cs typeface="Calibri"/>
              </a:rPr>
              <a:t>2	</a:t>
            </a:r>
            <a:r>
              <a:rPr sz="2700" baseline="-12345" dirty="0">
                <a:latin typeface="Cambria Math"/>
                <a:cs typeface="Cambria Math"/>
              </a:rPr>
              <a:t>𝐹</a:t>
            </a:r>
            <a:r>
              <a:rPr sz="2700" spc="254" baseline="-12345" dirty="0">
                <a:latin typeface="Cambria Math"/>
                <a:cs typeface="Cambria Math"/>
              </a:rPr>
              <a:t> </a:t>
            </a:r>
            <a:r>
              <a:rPr sz="2700" baseline="-12345" dirty="0">
                <a:latin typeface="Cambria Math"/>
                <a:cs typeface="Cambria Math"/>
              </a:rPr>
              <a:t>=</a:t>
            </a:r>
            <a:r>
              <a:rPr sz="2700" spc="157" baseline="-12345" dirty="0">
                <a:latin typeface="Cambria Math"/>
                <a:cs typeface="Cambria Math"/>
              </a:rPr>
              <a:t> </a:t>
            </a:r>
            <a:r>
              <a:rPr sz="2700" baseline="-12345" dirty="0">
                <a:latin typeface="Cambria Math"/>
                <a:cs typeface="Cambria Math"/>
              </a:rPr>
              <a:t>𝑘</a:t>
            </a:r>
            <a:r>
              <a:rPr sz="2700" spc="-75" baseline="-12345" dirty="0">
                <a:latin typeface="Cambria Math"/>
                <a:cs typeface="Cambria Math"/>
              </a:rPr>
              <a:t> </a:t>
            </a:r>
            <a:r>
              <a:rPr sz="2700" baseline="30864" dirty="0">
                <a:latin typeface="Cambria Math"/>
                <a:cs typeface="Cambria Math"/>
              </a:rPr>
              <a:t>𝑞</a:t>
            </a:r>
            <a:r>
              <a:rPr sz="2700" spc="-7" baseline="30864" dirty="0">
                <a:latin typeface="Cambria Math"/>
                <a:cs typeface="Cambria Math"/>
              </a:rPr>
              <a:t>1</a:t>
            </a:r>
            <a:r>
              <a:rPr sz="2700" baseline="30864" dirty="0">
                <a:latin typeface="Cambria Math"/>
                <a:cs typeface="Cambria Math"/>
              </a:rPr>
              <a:t>𝑞2</a:t>
            </a:r>
            <a:r>
              <a:rPr sz="2700" spc="-135" baseline="30864" dirty="0">
                <a:latin typeface="Cambria Math"/>
                <a:cs typeface="Cambria Math"/>
              </a:rPr>
              <a:t> </a:t>
            </a:r>
            <a:r>
              <a:rPr sz="2700" baseline="-12345" dirty="0">
                <a:latin typeface="Cambria Math"/>
                <a:cs typeface="Cambria Math"/>
              </a:rPr>
              <a:t>,</a:t>
            </a:r>
            <a:r>
              <a:rPr sz="2700" spc="-142" baseline="-12345" dirty="0">
                <a:latin typeface="Cambria Math"/>
                <a:cs typeface="Cambria Math"/>
              </a:rPr>
              <a:t> </a:t>
            </a:r>
            <a:r>
              <a:rPr sz="2700" baseline="-12345" dirty="0">
                <a:latin typeface="Cambria Math"/>
                <a:cs typeface="Cambria Math"/>
              </a:rPr>
              <a:t>𝑘</a:t>
            </a:r>
            <a:r>
              <a:rPr sz="2700" spc="217" baseline="-12345" dirty="0">
                <a:latin typeface="Cambria Math"/>
                <a:cs typeface="Cambria Math"/>
              </a:rPr>
              <a:t> </a:t>
            </a:r>
            <a:r>
              <a:rPr sz="2700" baseline="-12345" dirty="0">
                <a:latin typeface="Cambria Math"/>
                <a:cs typeface="Cambria Math"/>
              </a:rPr>
              <a:t>=</a:t>
            </a:r>
            <a:endParaRPr sz="2700" baseline="-12345">
              <a:latin typeface="Cambria Math"/>
              <a:cs typeface="Cambria Math"/>
            </a:endParaRPr>
          </a:p>
        </p:txBody>
      </p:sp>
      <p:sp>
        <p:nvSpPr>
          <p:cNvPr id="13" name="object 13"/>
          <p:cNvSpPr/>
          <p:nvPr/>
        </p:nvSpPr>
        <p:spPr>
          <a:xfrm>
            <a:off x="5319521" y="417956"/>
            <a:ext cx="478790" cy="15240"/>
          </a:xfrm>
          <a:custGeom>
            <a:avLst/>
            <a:gdLst/>
            <a:ahLst/>
            <a:cxnLst/>
            <a:rect l="l" t="t" r="r" b="b"/>
            <a:pathLst>
              <a:path w="478789" h="15240">
                <a:moveTo>
                  <a:pt x="478536" y="0"/>
                </a:moveTo>
                <a:lnTo>
                  <a:pt x="0" y="0"/>
                </a:lnTo>
                <a:lnTo>
                  <a:pt x="0" y="15239"/>
                </a:lnTo>
                <a:lnTo>
                  <a:pt x="478536" y="15239"/>
                </a:lnTo>
                <a:lnTo>
                  <a:pt x="478536" y="0"/>
                </a:lnTo>
                <a:close/>
              </a:path>
            </a:pathLst>
          </a:custGeom>
          <a:solidFill>
            <a:srgbClr val="000000"/>
          </a:solidFill>
        </p:spPr>
        <p:txBody>
          <a:bodyPr wrap="square" lIns="0" tIns="0" rIns="0" bIns="0" rtlCol="0"/>
          <a:lstStyle/>
          <a:p>
            <a:endParaRPr/>
          </a:p>
        </p:txBody>
      </p:sp>
      <p:sp>
        <p:nvSpPr>
          <p:cNvPr id="14" name="object 14"/>
          <p:cNvSpPr txBox="1"/>
          <p:nvPr/>
        </p:nvSpPr>
        <p:spPr>
          <a:xfrm>
            <a:off x="5482844" y="75640"/>
            <a:ext cx="152400" cy="300355"/>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Math"/>
                <a:cs typeface="Cambria Math"/>
              </a:rPr>
              <a:t>1</a:t>
            </a:r>
            <a:endParaRPr sz="1800">
              <a:latin typeface="Cambria Math"/>
              <a:cs typeface="Cambria Math"/>
            </a:endParaRPr>
          </a:p>
        </p:txBody>
      </p:sp>
      <p:sp>
        <p:nvSpPr>
          <p:cNvPr id="15" name="object 15"/>
          <p:cNvSpPr txBox="1"/>
          <p:nvPr/>
        </p:nvSpPr>
        <p:spPr>
          <a:xfrm>
            <a:off x="5281929" y="402463"/>
            <a:ext cx="541020" cy="299720"/>
          </a:xfrm>
          <a:prstGeom prst="rect">
            <a:avLst/>
          </a:prstGeom>
        </p:spPr>
        <p:txBody>
          <a:bodyPr vert="horz" wrap="square" lIns="0" tIns="12700" rIns="0" bIns="0" rtlCol="0">
            <a:spAutoFit/>
          </a:bodyPr>
          <a:lstStyle/>
          <a:p>
            <a:pPr marL="38100">
              <a:lnSpc>
                <a:spcPct val="100000"/>
              </a:lnSpc>
              <a:spcBef>
                <a:spcPts val="100"/>
              </a:spcBef>
            </a:pPr>
            <a:r>
              <a:rPr sz="1800" spc="15" dirty="0">
                <a:latin typeface="Cambria Math"/>
                <a:cs typeface="Cambria Math"/>
              </a:rPr>
              <a:t>4𝜋𝜀</a:t>
            </a:r>
            <a:r>
              <a:rPr sz="1950" spc="22" baseline="-14957" dirty="0">
                <a:latin typeface="Cambria Math"/>
                <a:cs typeface="Cambria Math"/>
              </a:rPr>
              <a:t>𝑜</a:t>
            </a:r>
            <a:endParaRPr sz="1950" baseline="-14957">
              <a:latin typeface="Cambria Math"/>
              <a:cs typeface="Cambria Math"/>
            </a:endParaRPr>
          </a:p>
        </p:txBody>
      </p:sp>
      <p:sp>
        <p:nvSpPr>
          <p:cNvPr id="16" name="object 16"/>
          <p:cNvSpPr txBox="1"/>
          <p:nvPr/>
        </p:nvSpPr>
        <p:spPr>
          <a:xfrm>
            <a:off x="3978909" y="1187322"/>
            <a:ext cx="10541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r</a:t>
            </a:r>
            <a:endParaRPr sz="1800">
              <a:latin typeface="Calibri"/>
              <a:cs typeface="Calibri"/>
            </a:endParaRPr>
          </a:p>
        </p:txBody>
      </p:sp>
      <p:sp>
        <p:nvSpPr>
          <p:cNvPr id="17" name="object 17"/>
          <p:cNvSpPr txBox="1"/>
          <p:nvPr/>
        </p:nvSpPr>
        <p:spPr>
          <a:xfrm>
            <a:off x="7385684" y="1995042"/>
            <a:ext cx="61150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q3</a:t>
            </a:r>
            <a:r>
              <a:rPr sz="1800" dirty="0">
                <a:latin typeface="Calibri"/>
                <a:cs typeface="Calibri"/>
              </a:rPr>
              <a:t>=3q</a:t>
            </a:r>
            <a:endParaRPr sz="1800">
              <a:latin typeface="Calibri"/>
              <a:cs typeface="Calibri"/>
            </a:endParaRPr>
          </a:p>
        </p:txBody>
      </p:sp>
      <p:grpSp>
        <p:nvGrpSpPr>
          <p:cNvPr id="18" name="object 18"/>
          <p:cNvGrpSpPr/>
          <p:nvPr/>
        </p:nvGrpSpPr>
        <p:grpSpPr>
          <a:xfrm>
            <a:off x="5105400" y="1463039"/>
            <a:ext cx="2351405" cy="556260"/>
            <a:chOff x="5105400" y="1463039"/>
            <a:chExt cx="2351405" cy="556260"/>
          </a:xfrm>
        </p:grpSpPr>
        <p:sp>
          <p:nvSpPr>
            <p:cNvPr id="19" name="object 19"/>
            <p:cNvSpPr/>
            <p:nvPr/>
          </p:nvSpPr>
          <p:spPr>
            <a:xfrm>
              <a:off x="5525262" y="1463039"/>
              <a:ext cx="1931670" cy="118110"/>
            </a:xfrm>
            <a:custGeom>
              <a:avLst/>
              <a:gdLst/>
              <a:ahLst/>
              <a:cxnLst/>
              <a:rect l="l" t="t" r="r" b="b"/>
              <a:pathLst>
                <a:path w="1931670" h="118109">
                  <a:moveTo>
                    <a:pt x="86105" y="30734"/>
                  </a:moveTo>
                  <a:lnTo>
                    <a:pt x="0" y="75692"/>
                  </a:lnTo>
                  <a:lnTo>
                    <a:pt x="87629" y="117601"/>
                  </a:lnTo>
                  <a:lnTo>
                    <a:pt x="87126" y="88900"/>
                  </a:lnTo>
                  <a:lnTo>
                    <a:pt x="72643" y="88900"/>
                  </a:lnTo>
                  <a:lnTo>
                    <a:pt x="72136" y="59944"/>
                  </a:lnTo>
                  <a:lnTo>
                    <a:pt x="86614" y="59690"/>
                  </a:lnTo>
                  <a:lnTo>
                    <a:pt x="86105" y="30734"/>
                  </a:lnTo>
                  <a:close/>
                </a:path>
                <a:path w="1931670" h="118109">
                  <a:moveTo>
                    <a:pt x="86614" y="59690"/>
                  </a:moveTo>
                  <a:lnTo>
                    <a:pt x="72136" y="59944"/>
                  </a:lnTo>
                  <a:lnTo>
                    <a:pt x="72643" y="88900"/>
                  </a:lnTo>
                  <a:lnTo>
                    <a:pt x="87122" y="88646"/>
                  </a:lnTo>
                  <a:lnTo>
                    <a:pt x="86614" y="59690"/>
                  </a:lnTo>
                  <a:close/>
                </a:path>
                <a:path w="1931670" h="118109">
                  <a:moveTo>
                    <a:pt x="87122" y="88646"/>
                  </a:moveTo>
                  <a:lnTo>
                    <a:pt x="72643" y="88900"/>
                  </a:lnTo>
                  <a:lnTo>
                    <a:pt x="87126" y="88900"/>
                  </a:lnTo>
                  <a:lnTo>
                    <a:pt x="87122" y="88646"/>
                  </a:lnTo>
                  <a:close/>
                </a:path>
                <a:path w="1931670" h="118109">
                  <a:moveTo>
                    <a:pt x="1844293" y="28955"/>
                  </a:moveTo>
                  <a:lnTo>
                    <a:pt x="86614" y="59690"/>
                  </a:lnTo>
                  <a:lnTo>
                    <a:pt x="87122" y="88646"/>
                  </a:lnTo>
                  <a:lnTo>
                    <a:pt x="1844801" y="57911"/>
                  </a:lnTo>
                  <a:lnTo>
                    <a:pt x="1844293" y="28955"/>
                  </a:lnTo>
                  <a:close/>
                </a:path>
                <a:path w="1931670" h="118109">
                  <a:moveTo>
                    <a:pt x="1903799" y="28701"/>
                  </a:moveTo>
                  <a:lnTo>
                    <a:pt x="1858771" y="28701"/>
                  </a:lnTo>
                  <a:lnTo>
                    <a:pt x="1859280" y="57658"/>
                  </a:lnTo>
                  <a:lnTo>
                    <a:pt x="1844801" y="57911"/>
                  </a:lnTo>
                  <a:lnTo>
                    <a:pt x="1845310" y="86868"/>
                  </a:lnTo>
                  <a:lnTo>
                    <a:pt x="1931415" y="41910"/>
                  </a:lnTo>
                  <a:lnTo>
                    <a:pt x="1903799" y="28701"/>
                  </a:lnTo>
                  <a:close/>
                </a:path>
                <a:path w="1931670" h="118109">
                  <a:moveTo>
                    <a:pt x="1858771" y="28701"/>
                  </a:moveTo>
                  <a:lnTo>
                    <a:pt x="1844293" y="28955"/>
                  </a:lnTo>
                  <a:lnTo>
                    <a:pt x="1844801" y="57911"/>
                  </a:lnTo>
                  <a:lnTo>
                    <a:pt x="1859280" y="57658"/>
                  </a:lnTo>
                  <a:lnTo>
                    <a:pt x="1858771" y="28701"/>
                  </a:lnTo>
                  <a:close/>
                </a:path>
                <a:path w="1931670" h="118109">
                  <a:moveTo>
                    <a:pt x="1843786" y="0"/>
                  </a:moveTo>
                  <a:lnTo>
                    <a:pt x="1844293" y="28955"/>
                  </a:lnTo>
                  <a:lnTo>
                    <a:pt x="1858771" y="28701"/>
                  </a:lnTo>
                  <a:lnTo>
                    <a:pt x="1903799" y="28701"/>
                  </a:lnTo>
                  <a:lnTo>
                    <a:pt x="1843786" y="0"/>
                  </a:lnTo>
                  <a:close/>
                </a:path>
              </a:pathLst>
            </a:custGeom>
            <a:solidFill>
              <a:srgbClr val="000000"/>
            </a:solidFill>
          </p:spPr>
          <p:txBody>
            <a:bodyPr wrap="square" lIns="0" tIns="0" rIns="0" bIns="0" rtlCol="0"/>
            <a:lstStyle/>
            <a:p>
              <a:endParaRPr/>
            </a:p>
          </p:txBody>
        </p:sp>
        <p:pic>
          <p:nvPicPr>
            <p:cNvPr id="20" name="object 20"/>
            <p:cNvPicPr/>
            <p:nvPr/>
          </p:nvPicPr>
          <p:blipFill>
            <a:blip r:embed="rId3" cstate="print"/>
            <a:stretch>
              <a:fillRect/>
            </a:stretch>
          </p:blipFill>
          <p:spPr>
            <a:xfrm>
              <a:off x="5105400" y="1536191"/>
              <a:ext cx="483108" cy="483108"/>
            </a:xfrm>
            <a:prstGeom prst="rect">
              <a:avLst/>
            </a:prstGeom>
          </p:spPr>
        </p:pic>
      </p:grpSp>
      <p:sp>
        <p:nvSpPr>
          <p:cNvPr id="21" name="object 21"/>
          <p:cNvSpPr txBox="1"/>
          <p:nvPr/>
        </p:nvSpPr>
        <p:spPr>
          <a:xfrm>
            <a:off x="6290817" y="1118996"/>
            <a:ext cx="10541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r</a:t>
            </a:r>
            <a:endParaRPr sz="1800">
              <a:latin typeface="Calibri"/>
              <a:cs typeface="Calibri"/>
            </a:endParaRPr>
          </a:p>
        </p:txBody>
      </p:sp>
      <p:sp>
        <p:nvSpPr>
          <p:cNvPr id="22" name="object 22"/>
          <p:cNvSpPr/>
          <p:nvPr/>
        </p:nvSpPr>
        <p:spPr>
          <a:xfrm>
            <a:off x="8024241" y="1734311"/>
            <a:ext cx="885190" cy="114300"/>
          </a:xfrm>
          <a:custGeom>
            <a:avLst/>
            <a:gdLst/>
            <a:ahLst/>
            <a:cxnLst/>
            <a:rect l="l" t="t" r="r" b="b"/>
            <a:pathLst>
              <a:path w="885190" h="114300">
                <a:moveTo>
                  <a:pt x="771778" y="0"/>
                </a:moveTo>
                <a:lnTo>
                  <a:pt x="771100" y="38140"/>
                </a:lnTo>
                <a:lnTo>
                  <a:pt x="790193" y="38480"/>
                </a:lnTo>
                <a:lnTo>
                  <a:pt x="789558" y="76580"/>
                </a:lnTo>
                <a:lnTo>
                  <a:pt x="770417" y="76580"/>
                </a:lnTo>
                <a:lnTo>
                  <a:pt x="769747" y="114300"/>
                </a:lnTo>
                <a:lnTo>
                  <a:pt x="848661" y="76580"/>
                </a:lnTo>
                <a:lnTo>
                  <a:pt x="789558" y="76580"/>
                </a:lnTo>
                <a:lnTo>
                  <a:pt x="770423" y="76239"/>
                </a:lnTo>
                <a:lnTo>
                  <a:pt x="849376" y="76239"/>
                </a:lnTo>
                <a:lnTo>
                  <a:pt x="885062" y="59182"/>
                </a:lnTo>
                <a:lnTo>
                  <a:pt x="771778" y="0"/>
                </a:lnTo>
                <a:close/>
              </a:path>
              <a:path w="885190" h="114300">
                <a:moveTo>
                  <a:pt x="771100" y="38140"/>
                </a:moveTo>
                <a:lnTo>
                  <a:pt x="770423" y="76239"/>
                </a:lnTo>
                <a:lnTo>
                  <a:pt x="789558" y="76580"/>
                </a:lnTo>
                <a:lnTo>
                  <a:pt x="790193" y="38480"/>
                </a:lnTo>
                <a:lnTo>
                  <a:pt x="771100" y="38140"/>
                </a:lnTo>
                <a:close/>
              </a:path>
              <a:path w="885190" h="114300">
                <a:moveTo>
                  <a:pt x="761" y="24384"/>
                </a:moveTo>
                <a:lnTo>
                  <a:pt x="0" y="62484"/>
                </a:lnTo>
                <a:lnTo>
                  <a:pt x="770423" y="76239"/>
                </a:lnTo>
                <a:lnTo>
                  <a:pt x="771100" y="38140"/>
                </a:lnTo>
                <a:lnTo>
                  <a:pt x="761" y="24384"/>
                </a:lnTo>
                <a:close/>
              </a:path>
            </a:pathLst>
          </a:custGeom>
          <a:solidFill>
            <a:srgbClr val="000000"/>
          </a:solidFill>
        </p:spPr>
        <p:txBody>
          <a:bodyPr wrap="square" lIns="0" tIns="0" rIns="0" bIns="0" rtlCol="0"/>
          <a:lstStyle/>
          <a:p>
            <a:endParaRPr/>
          </a:p>
        </p:txBody>
      </p:sp>
      <p:sp>
        <p:nvSpPr>
          <p:cNvPr id="23" name="object 23"/>
          <p:cNvSpPr/>
          <p:nvPr/>
        </p:nvSpPr>
        <p:spPr>
          <a:xfrm>
            <a:off x="9010015" y="1214755"/>
            <a:ext cx="238125" cy="15240"/>
          </a:xfrm>
          <a:custGeom>
            <a:avLst/>
            <a:gdLst/>
            <a:ahLst/>
            <a:cxnLst/>
            <a:rect l="l" t="t" r="r" b="b"/>
            <a:pathLst>
              <a:path w="238125" h="15240">
                <a:moveTo>
                  <a:pt x="237744" y="0"/>
                </a:moveTo>
                <a:lnTo>
                  <a:pt x="0" y="0"/>
                </a:lnTo>
                <a:lnTo>
                  <a:pt x="0" y="15239"/>
                </a:lnTo>
                <a:lnTo>
                  <a:pt x="237744" y="15239"/>
                </a:lnTo>
                <a:lnTo>
                  <a:pt x="237744" y="0"/>
                </a:lnTo>
                <a:close/>
              </a:path>
            </a:pathLst>
          </a:custGeom>
          <a:solidFill>
            <a:srgbClr val="000000"/>
          </a:solidFill>
        </p:spPr>
        <p:txBody>
          <a:bodyPr wrap="square" lIns="0" tIns="0" rIns="0" bIns="0" rtlCol="0"/>
          <a:lstStyle/>
          <a:p>
            <a:endParaRPr/>
          </a:p>
        </p:txBody>
      </p:sp>
      <p:sp>
        <p:nvSpPr>
          <p:cNvPr id="24" name="object 24"/>
          <p:cNvSpPr txBox="1"/>
          <p:nvPr/>
        </p:nvSpPr>
        <p:spPr>
          <a:xfrm>
            <a:off x="8191245" y="789178"/>
            <a:ext cx="1256030" cy="557530"/>
          </a:xfrm>
          <a:prstGeom prst="rect">
            <a:avLst/>
          </a:prstGeom>
        </p:spPr>
        <p:txBody>
          <a:bodyPr vert="horz" wrap="square" lIns="0" tIns="12700" rIns="0" bIns="0" rtlCol="0">
            <a:spAutoFit/>
          </a:bodyPr>
          <a:lstStyle/>
          <a:p>
            <a:pPr marL="819785">
              <a:lnSpc>
                <a:spcPts val="2095"/>
              </a:lnSpc>
              <a:spcBef>
                <a:spcPts val="100"/>
              </a:spcBef>
            </a:pPr>
            <a:r>
              <a:rPr sz="2700" spc="75" baseline="-20061" dirty="0">
                <a:latin typeface="Cambria Math"/>
                <a:cs typeface="Cambria Math"/>
              </a:rPr>
              <a:t>𝑞</a:t>
            </a:r>
            <a:r>
              <a:rPr sz="1300" spc="50" dirty="0">
                <a:latin typeface="Cambria Math"/>
                <a:cs typeface="Cambria Math"/>
              </a:rPr>
              <a:t>2</a:t>
            </a:r>
            <a:endParaRPr sz="1300" dirty="0">
              <a:latin typeface="Cambria Math"/>
              <a:cs typeface="Cambria Math"/>
            </a:endParaRPr>
          </a:p>
          <a:p>
            <a:pPr marL="38100">
              <a:lnSpc>
                <a:spcPts val="2095"/>
              </a:lnSpc>
            </a:pPr>
            <a:r>
              <a:rPr sz="1800" spc="-45" dirty="0">
                <a:latin typeface="Cambria Math"/>
                <a:cs typeface="Cambria Math"/>
              </a:rPr>
              <a:t>𝐹</a:t>
            </a:r>
            <a:r>
              <a:rPr sz="1950" spc="-67" baseline="-14957" dirty="0">
                <a:latin typeface="Cambria Math"/>
                <a:cs typeface="Cambria Math"/>
              </a:rPr>
              <a:t>13</a:t>
            </a:r>
            <a:r>
              <a:rPr sz="1950" spc="359" baseline="-14957" dirty="0">
                <a:latin typeface="Cambria Math"/>
                <a:cs typeface="Cambria Math"/>
              </a:rPr>
              <a:t> </a:t>
            </a:r>
            <a:r>
              <a:rPr sz="1800" dirty="0">
                <a:latin typeface="Cambria Math"/>
                <a:cs typeface="Cambria Math"/>
              </a:rPr>
              <a:t>=</a:t>
            </a:r>
            <a:r>
              <a:rPr sz="1800" spc="85" dirty="0">
                <a:latin typeface="Cambria Math"/>
                <a:cs typeface="Cambria Math"/>
              </a:rPr>
              <a:t> </a:t>
            </a:r>
            <a:r>
              <a:rPr sz="1800" dirty="0">
                <a:latin typeface="Cambria Math"/>
                <a:cs typeface="Cambria Math"/>
              </a:rPr>
              <a:t>𝑘</a:t>
            </a:r>
            <a:r>
              <a:rPr sz="1800" spc="-15" dirty="0">
                <a:latin typeface="Cambria Math"/>
                <a:cs typeface="Cambria Math"/>
              </a:rPr>
              <a:t> </a:t>
            </a:r>
            <a:r>
              <a:rPr sz="2700" spc="89" baseline="-37037" dirty="0">
                <a:latin typeface="Cambria Math"/>
                <a:cs typeface="Cambria Math"/>
              </a:rPr>
              <a:t>𝑟</a:t>
            </a:r>
            <a:r>
              <a:rPr sz="1950" spc="89" baseline="-27777" dirty="0">
                <a:latin typeface="Cambria Math"/>
                <a:cs typeface="Cambria Math"/>
              </a:rPr>
              <a:t>2</a:t>
            </a:r>
            <a:r>
              <a:rPr sz="1950" spc="179" baseline="-27777" dirty="0">
                <a:latin typeface="Cambria Math"/>
                <a:cs typeface="Cambria Math"/>
              </a:rPr>
              <a:t> </a:t>
            </a:r>
            <a:r>
              <a:rPr sz="1800" spc="-905" dirty="0" smtClean="0">
                <a:latin typeface="Cambria Math"/>
                <a:cs typeface="Cambria Math"/>
              </a:rPr>
              <a:t>𝑥</a:t>
            </a:r>
            <a:endParaRPr sz="1800" dirty="0">
              <a:latin typeface="Cambria Math"/>
              <a:cs typeface="Cambria Math"/>
            </a:endParaRPr>
          </a:p>
        </p:txBody>
      </p:sp>
      <p:sp>
        <p:nvSpPr>
          <p:cNvPr id="25" name="object 25"/>
          <p:cNvSpPr/>
          <p:nvPr/>
        </p:nvSpPr>
        <p:spPr>
          <a:xfrm>
            <a:off x="6891528" y="2232405"/>
            <a:ext cx="238125" cy="15240"/>
          </a:xfrm>
          <a:custGeom>
            <a:avLst/>
            <a:gdLst/>
            <a:ahLst/>
            <a:cxnLst/>
            <a:rect l="l" t="t" r="r" b="b"/>
            <a:pathLst>
              <a:path w="238125" h="15239">
                <a:moveTo>
                  <a:pt x="237744" y="0"/>
                </a:moveTo>
                <a:lnTo>
                  <a:pt x="0" y="0"/>
                </a:lnTo>
                <a:lnTo>
                  <a:pt x="0" y="15239"/>
                </a:lnTo>
                <a:lnTo>
                  <a:pt x="237744" y="15239"/>
                </a:lnTo>
                <a:lnTo>
                  <a:pt x="237744" y="0"/>
                </a:lnTo>
                <a:close/>
              </a:path>
            </a:pathLst>
          </a:custGeom>
          <a:solidFill>
            <a:srgbClr val="000000"/>
          </a:solidFill>
        </p:spPr>
        <p:txBody>
          <a:bodyPr wrap="square" lIns="0" tIns="0" rIns="0" bIns="0" rtlCol="0"/>
          <a:lstStyle/>
          <a:p>
            <a:endParaRPr/>
          </a:p>
        </p:txBody>
      </p:sp>
      <p:sp>
        <p:nvSpPr>
          <p:cNvPr id="26" name="object 26"/>
          <p:cNvSpPr txBox="1"/>
          <p:nvPr/>
        </p:nvSpPr>
        <p:spPr>
          <a:xfrm>
            <a:off x="5896990" y="1807209"/>
            <a:ext cx="1431290" cy="557530"/>
          </a:xfrm>
          <a:prstGeom prst="rect">
            <a:avLst/>
          </a:prstGeom>
        </p:spPr>
        <p:txBody>
          <a:bodyPr vert="horz" wrap="square" lIns="0" tIns="12700" rIns="0" bIns="0" rtlCol="0">
            <a:spAutoFit/>
          </a:bodyPr>
          <a:lstStyle/>
          <a:p>
            <a:pPr marR="199390" algn="r">
              <a:lnSpc>
                <a:spcPts val="2095"/>
              </a:lnSpc>
              <a:spcBef>
                <a:spcPts val="100"/>
              </a:spcBef>
            </a:pPr>
            <a:r>
              <a:rPr sz="2700" spc="75" baseline="-20061" dirty="0">
                <a:latin typeface="Cambria Math"/>
                <a:cs typeface="Cambria Math"/>
              </a:rPr>
              <a:t>𝑞</a:t>
            </a:r>
            <a:r>
              <a:rPr sz="1300" spc="50" dirty="0">
                <a:latin typeface="Cambria Math"/>
                <a:cs typeface="Cambria Math"/>
              </a:rPr>
              <a:t>2</a:t>
            </a:r>
            <a:endParaRPr sz="1300">
              <a:latin typeface="Cambria Math"/>
              <a:cs typeface="Cambria Math"/>
            </a:endParaRPr>
          </a:p>
          <a:p>
            <a:pPr marL="38100">
              <a:lnSpc>
                <a:spcPts val="2095"/>
              </a:lnSpc>
            </a:pPr>
            <a:r>
              <a:rPr sz="1800" spc="-35" dirty="0">
                <a:latin typeface="Cambria Math"/>
                <a:cs typeface="Cambria Math"/>
              </a:rPr>
              <a:t>𝐹</a:t>
            </a:r>
            <a:r>
              <a:rPr sz="1950" spc="-52" baseline="-14957" dirty="0">
                <a:latin typeface="Cambria Math"/>
                <a:cs typeface="Cambria Math"/>
              </a:rPr>
              <a:t>23</a:t>
            </a:r>
            <a:r>
              <a:rPr sz="1950" spc="359" baseline="-14957" dirty="0">
                <a:latin typeface="Cambria Math"/>
                <a:cs typeface="Cambria Math"/>
              </a:rPr>
              <a:t> </a:t>
            </a:r>
            <a:r>
              <a:rPr sz="1800" dirty="0">
                <a:latin typeface="Cambria Math"/>
                <a:cs typeface="Cambria Math"/>
              </a:rPr>
              <a:t>=</a:t>
            </a:r>
            <a:r>
              <a:rPr sz="1800" spc="80" dirty="0">
                <a:latin typeface="Cambria Math"/>
                <a:cs typeface="Cambria Math"/>
              </a:rPr>
              <a:t> </a:t>
            </a:r>
            <a:r>
              <a:rPr sz="1800" spc="5" dirty="0">
                <a:latin typeface="Cambria Math"/>
                <a:cs typeface="Cambria Math"/>
              </a:rPr>
              <a:t>−𝑘</a:t>
            </a:r>
            <a:r>
              <a:rPr sz="1800" spc="-25" dirty="0">
                <a:latin typeface="Cambria Math"/>
                <a:cs typeface="Cambria Math"/>
              </a:rPr>
              <a:t> </a:t>
            </a:r>
            <a:r>
              <a:rPr sz="2700" spc="89" baseline="-37037" dirty="0">
                <a:latin typeface="Cambria Math"/>
                <a:cs typeface="Cambria Math"/>
              </a:rPr>
              <a:t>𝑟</a:t>
            </a:r>
            <a:r>
              <a:rPr sz="1950" spc="89" baseline="-27777" dirty="0">
                <a:latin typeface="Cambria Math"/>
                <a:cs typeface="Cambria Math"/>
              </a:rPr>
              <a:t>2</a:t>
            </a:r>
            <a:r>
              <a:rPr sz="1950" spc="172" baseline="-27777" dirty="0">
                <a:latin typeface="Cambria Math"/>
                <a:cs typeface="Cambria Math"/>
              </a:rPr>
              <a:t> </a:t>
            </a:r>
            <a:r>
              <a:rPr sz="1800" spc="-900" dirty="0">
                <a:latin typeface="Cambria Math"/>
                <a:cs typeface="Cambria Math"/>
              </a:rPr>
              <a:t>𝑥ො</a:t>
            </a:r>
            <a:endParaRPr sz="1800">
              <a:latin typeface="Cambria Math"/>
              <a:cs typeface="Cambria Math"/>
            </a:endParaRPr>
          </a:p>
        </p:txBody>
      </p:sp>
      <p:sp>
        <p:nvSpPr>
          <p:cNvPr id="27" name="object 27"/>
          <p:cNvSpPr txBox="1"/>
          <p:nvPr/>
        </p:nvSpPr>
        <p:spPr>
          <a:xfrm>
            <a:off x="3814571" y="3082798"/>
            <a:ext cx="897890" cy="330835"/>
          </a:xfrm>
          <a:prstGeom prst="rect">
            <a:avLst/>
          </a:prstGeom>
        </p:spPr>
        <p:txBody>
          <a:bodyPr vert="horz" wrap="square" lIns="0" tIns="13335" rIns="0" bIns="0" rtlCol="0">
            <a:spAutoFit/>
          </a:bodyPr>
          <a:lstStyle/>
          <a:p>
            <a:pPr marL="38100">
              <a:lnSpc>
                <a:spcPct val="100000"/>
              </a:lnSpc>
              <a:spcBef>
                <a:spcPts val="105"/>
              </a:spcBef>
            </a:pPr>
            <a:r>
              <a:rPr sz="2000" spc="-60" dirty="0">
                <a:latin typeface="Cambria Math"/>
                <a:cs typeface="Cambria Math"/>
              </a:rPr>
              <a:t>𝐹</a:t>
            </a:r>
            <a:r>
              <a:rPr sz="2175" spc="-89" baseline="-15325" dirty="0">
                <a:latin typeface="Cambria Math"/>
                <a:cs typeface="Cambria Math"/>
              </a:rPr>
              <a:t>13</a:t>
            </a:r>
            <a:r>
              <a:rPr sz="2175" spc="419" baseline="-15325" dirty="0">
                <a:latin typeface="Cambria Math"/>
                <a:cs typeface="Cambria Math"/>
              </a:rPr>
              <a:t> </a:t>
            </a:r>
            <a:r>
              <a:rPr sz="2000" dirty="0">
                <a:latin typeface="Cambria Math"/>
                <a:cs typeface="Cambria Math"/>
              </a:rPr>
              <a:t>=</a:t>
            </a:r>
            <a:r>
              <a:rPr sz="2000" spc="90" dirty="0">
                <a:latin typeface="Cambria Math"/>
                <a:cs typeface="Cambria Math"/>
              </a:rPr>
              <a:t> </a:t>
            </a:r>
            <a:r>
              <a:rPr sz="2000" dirty="0">
                <a:latin typeface="Cambria Math"/>
                <a:cs typeface="Cambria Math"/>
              </a:rPr>
              <a:t>𝑘</a:t>
            </a:r>
            <a:endParaRPr sz="2000">
              <a:latin typeface="Cambria Math"/>
              <a:cs typeface="Cambria Math"/>
            </a:endParaRPr>
          </a:p>
        </p:txBody>
      </p:sp>
      <p:sp>
        <p:nvSpPr>
          <p:cNvPr id="28" name="object 28"/>
          <p:cNvSpPr/>
          <p:nvPr/>
        </p:nvSpPr>
        <p:spPr>
          <a:xfrm>
            <a:off x="4722495" y="3268344"/>
            <a:ext cx="597535" cy="297180"/>
          </a:xfrm>
          <a:custGeom>
            <a:avLst/>
            <a:gdLst/>
            <a:ahLst/>
            <a:cxnLst/>
            <a:rect l="l" t="t" r="r" b="b"/>
            <a:pathLst>
              <a:path w="597535" h="297179">
                <a:moveTo>
                  <a:pt x="100838" y="70739"/>
                </a:moveTo>
                <a:lnTo>
                  <a:pt x="97536" y="61214"/>
                </a:lnTo>
                <a:lnTo>
                  <a:pt x="80403" y="67386"/>
                </a:lnTo>
                <a:lnTo>
                  <a:pt x="65417" y="76327"/>
                </a:lnTo>
                <a:lnTo>
                  <a:pt x="33274" y="119214"/>
                </a:lnTo>
                <a:lnTo>
                  <a:pt x="23558" y="157556"/>
                </a:lnTo>
                <a:lnTo>
                  <a:pt x="22352" y="179197"/>
                </a:lnTo>
                <a:lnTo>
                  <a:pt x="23558" y="200850"/>
                </a:lnTo>
                <a:lnTo>
                  <a:pt x="33223" y="239141"/>
                </a:lnTo>
                <a:lnTo>
                  <a:pt x="65354" y="281889"/>
                </a:lnTo>
                <a:lnTo>
                  <a:pt x="97536" y="296938"/>
                </a:lnTo>
                <a:lnTo>
                  <a:pt x="100457" y="287413"/>
                </a:lnTo>
                <a:lnTo>
                  <a:pt x="87045" y="281470"/>
                </a:lnTo>
                <a:lnTo>
                  <a:pt x="75450" y="273202"/>
                </a:lnTo>
                <a:lnTo>
                  <a:pt x="51689" y="234505"/>
                </a:lnTo>
                <a:lnTo>
                  <a:pt x="43815" y="177927"/>
                </a:lnTo>
                <a:lnTo>
                  <a:pt x="44691" y="157784"/>
                </a:lnTo>
                <a:lnTo>
                  <a:pt x="57785" y="108077"/>
                </a:lnTo>
                <a:lnTo>
                  <a:pt x="87210" y="76720"/>
                </a:lnTo>
                <a:lnTo>
                  <a:pt x="100838" y="70739"/>
                </a:lnTo>
                <a:close/>
              </a:path>
              <a:path w="597535" h="297179">
                <a:moveTo>
                  <a:pt x="455041" y="179197"/>
                </a:moveTo>
                <a:lnTo>
                  <a:pt x="450176" y="137566"/>
                </a:lnTo>
                <a:lnTo>
                  <a:pt x="424840" y="88049"/>
                </a:lnTo>
                <a:lnTo>
                  <a:pt x="379857" y="61214"/>
                </a:lnTo>
                <a:lnTo>
                  <a:pt x="376555" y="70739"/>
                </a:lnTo>
                <a:lnTo>
                  <a:pt x="390169" y="76720"/>
                </a:lnTo>
                <a:lnTo>
                  <a:pt x="401891" y="84937"/>
                </a:lnTo>
                <a:lnTo>
                  <a:pt x="425691" y="122872"/>
                </a:lnTo>
                <a:lnTo>
                  <a:pt x="433578" y="177927"/>
                </a:lnTo>
                <a:lnTo>
                  <a:pt x="432689" y="198691"/>
                </a:lnTo>
                <a:lnTo>
                  <a:pt x="419608" y="249555"/>
                </a:lnTo>
                <a:lnTo>
                  <a:pt x="390309" y="281470"/>
                </a:lnTo>
                <a:lnTo>
                  <a:pt x="376936" y="287413"/>
                </a:lnTo>
                <a:lnTo>
                  <a:pt x="379857" y="296938"/>
                </a:lnTo>
                <a:lnTo>
                  <a:pt x="424942" y="270217"/>
                </a:lnTo>
                <a:lnTo>
                  <a:pt x="450189" y="220827"/>
                </a:lnTo>
                <a:lnTo>
                  <a:pt x="453821" y="200850"/>
                </a:lnTo>
                <a:lnTo>
                  <a:pt x="455041" y="179197"/>
                </a:lnTo>
                <a:close/>
              </a:path>
              <a:path w="597535" h="297179">
                <a:moveTo>
                  <a:pt x="597408" y="0"/>
                </a:moveTo>
                <a:lnTo>
                  <a:pt x="0" y="0"/>
                </a:lnTo>
                <a:lnTo>
                  <a:pt x="0" y="16764"/>
                </a:lnTo>
                <a:lnTo>
                  <a:pt x="597408" y="16764"/>
                </a:lnTo>
                <a:lnTo>
                  <a:pt x="597408" y="0"/>
                </a:lnTo>
                <a:close/>
              </a:path>
            </a:pathLst>
          </a:custGeom>
          <a:solidFill>
            <a:srgbClr val="000000"/>
          </a:solidFill>
        </p:spPr>
        <p:txBody>
          <a:bodyPr wrap="square" lIns="0" tIns="0" rIns="0" bIns="0" rtlCol="0"/>
          <a:lstStyle/>
          <a:p>
            <a:endParaRPr/>
          </a:p>
        </p:txBody>
      </p:sp>
      <p:sp>
        <p:nvSpPr>
          <p:cNvPr id="29" name="object 29"/>
          <p:cNvSpPr txBox="1"/>
          <p:nvPr/>
        </p:nvSpPr>
        <p:spPr>
          <a:xfrm>
            <a:off x="4729988" y="2890774"/>
            <a:ext cx="581660"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Cambria Math"/>
                <a:cs typeface="Cambria Math"/>
              </a:rPr>
              <a:t>𝑞</a:t>
            </a:r>
            <a:r>
              <a:rPr sz="2000" spc="-5" dirty="0">
                <a:latin typeface="Cambria Math"/>
                <a:cs typeface="Cambria Math"/>
              </a:rPr>
              <a:t>1</a:t>
            </a:r>
            <a:r>
              <a:rPr sz="2000" dirty="0">
                <a:latin typeface="Cambria Math"/>
                <a:cs typeface="Cambria Math"/>
              </a:rPr>
              <a:t>𝑞3</a:t>
            </a:r>
            <a:endParaRPr sz="2000">
              <a:latin typeface="Cambria Math"/>
              <a:cs typeface="Cambria Math"/>
            </a:endParaRPr>
          </a:p>
        </p:txBody>
      </p:sp>
      <p:sp>
        <p:nvSpPr>
          <p:cNvPr id="30" name="object 30"/>
          <p:cNvSpPr txBox="1"/>
          <p:nvPr/>
        </p:nvSpPr>
        <p:spPr>
          <a:xfrm>
            <a:off x="4815332" y="3253485"/>
            <a:ext cx="287020" cy="330835"/>
          </a:xfrm>
          <a:prstGeom prst="rect">
            <a:avLst/>
          </a:prstGeom>
        </p:spPr>
        <p:txBody>
          <a:bodyPr vert="horz" wrap="square" lIns="0" tIns="13335" rIns="0" bIns="0" rtlCol="0">
            <a:spAutoFit/>
          </a:bodyPr>
          <a:lstStyle/>
          <a:p>
            <a:pPr marL="12700">
              <a:lnSpc>
                <a:spcPct val="100000"/>
              </a:lnSpc>
              <a:spcBef>
                <a:spcPts val="105"/>
              </a:spcBef>
            </a:pPr>
            <a:r>
              <a:rPr sz="2000" spc="-10" dirty="0">
                <a:latin typeface="Cambria Math"/>
                <a:cs typeface="Cambria Math"/>
              </a:rPr>
              <a:t>2</a:t>
            </a:r>
            <a:r>
              <a:rPr sz="2000" dirty="0">
                <a:latin typeface="Cambria Math"/>
                <a:cs typeface="Cambria Math"/>
              </a:rPr>
              <a:t>𝑟</a:t>
            </a:r>
            <a:endParaRPr sz="2000">
              <a:latin typeface="Cambria Math"/>
              <a:cs typeface="Cambria Math"/>
            </a:endParaRPr>
          </a:p>
        </p:txBody>
      </p:sp>
      <p:sp>
        <p:nvSpPr>
          <p:cNvPr id="31" name="object 31"/>
          <p:cNvSpPr txBox="1"/>
          <p:nvPr/>
        </p:nvSpPr>
        <p:spPr>
          <a:xfrm>
            <a:off x="5163565" y="3082798"/>
            <a:ext cx="666750" cy="330835"/>
          </a:xfrm>
          <a:prstGeom prst="rect">
            <a:avLst/>
          </a:prstGeom>
        </p:spPr>
        <p:txBody>
          <a:bodyPr vert="horz" wrap="square" lIns="0" tIns="13335" rIns="0" bIns="0" rtlCol="0">
            <a:spAutoFit/>
          </a:bodyPr>
          <a:lstStyle/>
          <a:p>
            <a:pPr marL="38100">
              <a:lnSpc>
                <a:spcPct val="100000"/>
              </a:lnSpc>
              <a:spcBef>
                <a:spcPts val="105"/>
              </a:spcBef>
            </a:pPr>
            <a:r>
              <a:rPr sz="2175" spc="60" baseline="-28735" dirty="0">
                <a:latin typeface="Cambria Math"/>
                <a:cs typeface="Cambria Math"/>
              </a:rPr>
              <a:t>2</a:t>
            </a:r>
            <a:r>
              <a:rPr sz="2175" spc="419" baseline="-28735" dirty="0">
                <a:latin typeface="Cambria Math"/>
                <a:cs typeface="Cambria Math"/>
              </a:rPr>
              <a:t> </a:t>
            </a:r>
            <a:r>
              <a:rPr sz="2000" dirty="0">
                <a:latin typeface="Cambria Math"/>
                <a:cs typeface="Cambria Math"/>
              </a:rPr>
              <a:t>=</a:t>
            </a:r>
            <a:r>
              <a:rPr sz="2000" spc="75" dirty="0">
                <a:latin typeface="Cambria Math"/>
                <a:cs typeface="Cambria Math"/>
              </a:rPr>
              <a:t> </a:t>
            </a:r>
            <a:r>
              <a:rPr sz="2000" dirty="0">
                <a:latin typeface="Cambria Math"/>
                <a:cs typeface="Cambria Math"/>
              </a:rPr>
              <a:t>𝑘</a:t>
            </a:r>
            <a:endParaRPr sz="2000">
              <a:latin typeface="Cambria Math"/>
              <a:cs typeface="Cambria Math"/>
            </a:endParaRPr>
          </a:p>
        </p:txBody>
      </p:sp>
      <p:sp>
        <p:nvSpPr>
          <p:cNvPr id="32" name="object 32"/>
          <p:cNvSpPr/>
          <p:nvPr/>
        </p:nvSpPr>
        <p:spPr>
          <a:xfrm>
            <a:off x="5839586" y="3268345"/>
            <a:ext cx="640080" cy="17145"/>
          </a:xfrm>
          <a:custGeom>
            <a:avLst/>
            <a:gdLst/>
            <a:ahLst/>
            <a:cxnLst/>
            <a:rect l="l" t="t" r="r" b="b"/>
            <a:pathLst>
              <a:path w="640079" h="17145">
                <a:moveTo>
                  <a:pt x="640079" y="0"/>
                </a:moveTo>
                <a:lnTo>
                  <a:pt x="0" y="0"/>
                </a:lnTo>
                <a:lnTo>
                  <a:pt x="0" y="16763"/>
                </a:lnTo>
                <a:lnTo>
                  <a:pt x="640079" y="16763"/>
                </a:lnTo>
                <a:lnTo>
                  <a:pt x="640079" y="0"/>
                </a:lnTo>
                <a:close/>
              </a:path>
            </a:pathLst>
          </a:custGeom>
          <a:solidFill>
            <a:srgbClr val="000000"/>
          </a:solidFill>
        </p:spPr>
        <p:txBody>
          <a:bodyPr wrap="square" lIns="0" tIns="0" rIns="0" bIns="0" rtlCol="0"/>
          <a:lstStyle/>
          <a:p>
            <a:endParaRPr/>
          </a:p>
        </p:txBody>
      </p:sp>
      <p:sp>
        <p:nvSpPr>
          <p:cNvPr id="33" name="object 33"/>
          <p:cNvSpPr/>
          <p:nvPr/>
        </p:nvSpPr>
        <p:spPr>
          <a:xfrm>
            <a:off x="6006719" y="2966847"/>
            <a:ext cx="451484" cy="236220"/>
          </a:xfrm>
          <a:custGeom>
            <a:avLst/>
            <a:gdLst/>
            <a:ahLst/>
            <a:cxnLst/>
            <a:rect l="l" t="t" r="r" b="b"/>
            <a:pathLst>
              <a:path w="451485" h="236219">
                <a:moveTo>
                  <a:pt x="375792" y="0"/>
                </a:moveTo>
                <a:lnTo>
                  <a:pt x="372490" y="9525"/>
                </a:lnTo>
                <a:lnTo>
                  <a:pt x="386111" y="15501"/>
                </a:lnTo>
                <a:lnTo>
                  <a:pt x="397827" y="23717"/>
                </a:lnTo>
                <a:lnTo>
                  <a:pt x="421638" y="61652"/>
                </a:lnTo>
                <a:lnTo>
                  <a:pt x="429513" y="116712"/>
                </a:lnTo>
                <a:lnTo>
                  <a:pt x="428634" y="137477"/>
                </a:lnTo>
                <a:lnTo>
                  <a:pt x="415543" y="188340"/>
                </a:lnTo>
                <a:lnTo>
                  <a:pt x="386254" y="220255"/>
                </a:lnTo>
                <a:lnTo>
                  <a:pt x="372871" y="226187"/>
                </a:lnTo>
                <a:lnTo>
                  <a:pt x="375792" y="235712"/>
                </a:lnTo>
                <a:lnTo>
                  <a:pt x="420887" y="208994"/>
                </a:lnTo>
                <a:lnTo>
                  <a:pt x="446135" y="159607"/>
                </a:lnTo>
                <a:lnTo>
                  <a:pt x="450976" y="117982"/>
                </a:lnTo>
                <a:lnTo>
                  <a:pt x="449762" y="96335"/>
                </a:lnTo>
                <a:lnTo>
                  <a:pt x="440047" y="57993"/>
                </a:lnTo>
                <a:lnTo>
                  <a:pt x="407908" y="15112"/>
                </a:lnTo>
                <a:lnTo>
                  <a:pt x="392916" y="6163"/>
                </a:lnTo>
                <a:lnTo>
                  <a:pt x="375792" y="0"/>
                </a:lnTo>
                <a:close/>
              </a:path>
              <a:path w="451485" h="236219">
                <a:moveTo>
                  <a:pt x="75183" y="0"/>
                </a:moveTo>
                <a:lnTo>
                  <a:pt x="30196" y="26824"/>
                </a:lnTo>
                <a:lnTo>
                  <a:pt x="4857" y="76342"/>
                </a:lnTo>
                <a:lnTo>
                  <a:pt x="0" y="117982"/>
                </a:lnTo>
                <a:lnTo>
                  <a:pt x="1212" y="139628"/>
                </a:lnTo>
                <a:lnTo>
                  <a:pt x="10876" y="177919"/>
                </a:lnTo>
                <a:lnTo>
                  <a:pt x="43005" y="220662"/>
                </a:lnTo>
                <a:lnTo>
                  <a:pt x="75183" y="235712"/>
                </a:lnTo>
                <a:lnTo>
                  <a:pt x="78104" y="226187"/>
                </a:lnTo>
                <a:lnTo>
                  <a:pt x="64650" y="220255"/>
                </a:lnTo>
                <a:lnTo>
                  <a:pt x="53054" y="211978"/>
                </a:lnTo>
                <a:lnTo>
                  <a:pt x="29338" y="173291"/>
                </a:lnTo>
                <a:lnTo>
                  <a:pt x="21462" y="116712"/>
                </a:lnTo>
                <a:lnTo>
                  <a:pt x="22342" y="96565"/>
                </a:lnTo>
                <a:lnTo>
                  <a:pt x="35432" y="46862"/>
                </a:lnTo>
                <a:lnTo>
                  <a:pt x="64865" y="15501"/>
                </a:lnTo>
                <a:lnTo>
                  <a:pt x="78485" y="9525"/>
                </a:lnTo>
                <a:lnTo>
                  <a:pt x="75183" y="0"/>
                </a:lnTo>
                <a:close/>
              </a:path>
            </a:pathLst>
          </a:custGeom>
          <a:solidFill>
            <a:srgbClr val="000000"/>
          </a:solidFill>
        </p:spPr>
        <p:txBody>
          <a:bodyPr wrap="square" lIns="0" tIns="0" rIns="0" bIns="0" rtlCol="0"/>
          <a:lstStyle/>
          <a:p>
            <a:endParaRPr/>
          </a:p>
        </p:txBody>
      </p:sp>
      <p:sp>
        <p:nvSpPr>
          <p:cNvPr id="34" name="object 34"/>
          <p:cNvSpPr txBox="1"/>
          <p:nvPr/>
        </p:nvSpPr>
        <p:spPr>
          <a:xfrm>
            <a:off x="5827521" y="2890774"/>
            <a:ext cx="553085"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Cambria Math"/>
                <a:cs typeface="Cambria Math"/>
              </a:rPr>
              <a:t>𝑞</a:t>
            </a:r>
            <a:r>
              <a:rPr sz="2000" spc="360" dirty="0">
                <a:latin typeface="Cambria Math"/>
                <a:cs typeface="Cambria Math"/>
              </a:rPr>
              <a:t> </a:t>
            </a:r>
            <a:r>
              <a:rPr sz="2000" spc="-5" dirty="0">
                <a:latin typeface="Cambria Math"/>
                <a:cs typeface="Cambria Math"/>
              </a:rPr>
              <a:t>3𝑞</a:t>
            </a:r>
            <a:endParaRPr sz="2000">
              <a:latin typeface="Cambria Math"/>
              <a:cs typeface="Cambria Math"/>
            </a:endParaRPr>
          </a:p>
        </p:txBody>
      </p:sp>
      <p:sp>
        <p:nvSpPr>
          <p:cNvPr id="35" name="object 35"/>
          <p:cNvSpPr txBox="1"/>
          <p:nvPr/>
        </p:nvSpPr>
        <p:spPr>
          <a:xfrm>
            <a:off x="5925565" y="3253485"/>
            <a:ext cx="458470" cy="330835"/>
          </a:xfrm>
          <a:prstGeom prst="rect">
            <a:avLst/>
          </a:prstGeom>
        </p:spPr>
        <p:txBody>
          <a:bodyPr vert="horz" wrap="square" lIns="0" tIns="13335" rIns="0" bIns="0" rtlCol="0">
            <a:spAutoFit/>
          </a:bodyPr>
          <a:lstStyle/>
          <a:p>
            <a:pPr marL="38100">
              <a:lnSpc>
                <a:spcPct val="100000"/>
              </a:lnSpc>
              <a:spcBef>
                <a:spcPts val="105"/>
              </a:spcBef>
            </a:pPr>
            <a:r>
              <a:rPr sz="2000" spc="45" dirty="0">
                <a:latin typeface="Cambria Math"/>
                <a:cs typeface="Cambria Math"/>
              </a:rPr>
              <a:t>4𝑟</a:t>
            </a:r>
            <a:r>
              <a:rPr sz="2175" spc="67" baseline="22988" dirty="0">
                <a:latin typeface="Cambria Math"/>
                <a:cs typeface="Cambria Math"/>
              </a:rPr>
              <a:t>2</a:t>
            </a:r>
            <a:endParaRPr sz="2175" baseline="22988">
              <a:latin typeface="Cambria Math"/>
              <a:cs typeface="Cambria Math"/>
            </a:endParaRPr>
          </a:p>
        </p:txBody>
      </p:sp>
      <p:sp>
        <p:nvSpPr>
          <p:cNvPr id="36" name="object 36"/>
          <p:cNvSpPr/>
          <p:nvPr/>
        </p:nvSpPr>
        <p:spPr>
          <a:xfrm>
            <a:off x="7002398" y="3268345"/>
            <a:ext cx="403860" cy="17145"/>
          </a:xfrm>
          <a:custGeom>
            <a:avLst/>
            <a:gdLst/>
            <a:ahLst/>
            <a:cxnLst/>
            <a:rect l="l" t="t" r="r" b="b"/>
            <a:pathLst>
              <a:path w="403859" h="17145">
                <a:moveTo>
                  <a:pt x="403859" y="0"/>
                </a:moveTo>
                <a:lnTo>
                  <a:pt x="0" y="0"/>
                </a:lnTo>
                <a:lnTo>
                  <a:pt x="0" y="16763"/>
                </a:lnTo>
                <a:lnTo>
                  <a:pt x="403859" y="16763"/>
                </a:lnTo>
                <a:lnTo>
                  <a:pt x="403859" y="0"/>
                </a:lnTo>
                <a:close/>
              </a:path>
            </a:pathLst>
          </a:custGeom>
          <a:solidFill>
            <a:srgbClr val="000000"/>
          </a:solidFill>
        </p:spPr>
        <p:txBody>
          <a:bodyPr wrap="square" lIns="0" tIns="0" rIns="0" bIns="0" rtlCol="0"/>
          <a:lstStyle/>
          <a:p>
            <a:endParaRPr/>
          </a:p>
        </p:txBody>
      </p:sp>
      <p:sp>
        <p:nvSpPr>
          <p:cNvPr id="37" name="object 37"/>
          <p:cNvSpPr txBox="1"/>
          <p:nvPr/>
        </p:nvSpPr>
        <p:spPr>
          <a:xfrm>
            <a:off x="6513830" y="2890774"/>
            <a:ext cx="920115" cy="694055"/>
          </a:xfrm>
          <a:prstGeom prst="rect">
            <a:avLst/>
          </a:prstGeom>
        </p:spPr>
        <p:txBody>
          <a:bodyPr vert="horz" wrap="square" lIns="0" tIns="13335" rIns="0" bIns="0" rtlCol="0">
            <a:spAutoFit/>
          </a:bodyPr>
          <a:lstStyle/>
          <a:p>
            <a:pPr marL="488950">
              <a:lnSpc>
                <a:spcPts val="1955"/>
              </a:lnSpc>
              <a:spcBef>
                <a:spcPts val="105"/>
              </a:spcBef>
            </a:pPr>
            <a:r>
              <a:rPr sz="2000" spc="30" dirty="0">
                <a:latin typeface="Cambria Math"/>
                <a:cs typeface="Cambria Math"/>
              </a:rPr>
              <a:t>3𝑞</a:t>
            </a:r>
            <a:r>
              <a:rPr sz="2175" spc="44" baseline="28735" dirty="0">
                <a:latin typeface="Cambria Math"/>
                <a:cs typeface="Cambria Math"/>
              </a:rPr>
              <a:t>2</a:t>
            </a:r>
            <a:endParaRPr sz="2175" baseline="28735">
              <a:latin typeface="Cambria Math"/>
              <a:cs typeface="Cambria Math"/>
            </a:endParaRPr>
          </a:p>
          <a:p>
            <a:pPr marL="38100">
              <a:lnSpc>
                <a:spcPts val="1430"/>
              </a:lnSpc>
            </a:pPr>
            <a:r>
              <a:rPr sz="2000" dirty="0">
                <a:latin typeface="Cambria Math"/>
                <a:cs typeface="Cambria Math"/>
              </a:rPr>
              <a:t>=</a:t>
            </a:r>
            <a:r>
              <a:rPr sz="2000" spc="65" dirty="0">
                <a:latin typeface="Cambria Math"/>
                <a:cs typeface="Cambria Math"/>
              </a:rPr>
              <a:t> </a:t>
            </a:r>
            <a:r>
              <a:rPr sz="2000" dirty="0">
                <a:latin typeface="Cambria Math"/>
                <a:cs typeface="Cambria Math"/>
              </a:rPr>
              <a:t>𝑘</a:t>
            </a:r>
            <a:endParaRPr sz="2000">
              <a:latin typeface="Cambria Math"/>
              <a:cs typeface="Cambria Math"/>
            </a:endParaRPr>
          </a:p>
          <a:p>
            <a:pPr marL="493395">
              <a:lnSpc>
                <a:spcPts val="1870"/>
              </a:lnSpc>
            </a:pPr>
            <a:r>
              <a:rPr sz="2000" spc="45" dirty="0">
                <a:latin typeface="Cambria Math"/>
                <a:cs typeface="Cambria Math"/>
              </a:rPr>
              <a:t>4𝑟</a:t>
            </a:r>
            <a:r>
              <a:rPr sz="2175" spc="67" baseline="22988" dirty="0">
                <a:latin typeface="Cambria Math"/>
                <a:cs typeface="Cambria Math"/>
              </a:rPr>
              <a:t>2</a:t>
            </a:r>
            <a:endParaRPr sz="2175" baseline="22988">
              <a:latin typeface="Cambria Math"/>
              <a:cs typeface="Cambria Math"/>
            </a:endParaRPr>
          </a:p>
        </p:txBody>
      </p:sp>
      <p:sp>
        <p:nvSpPr>
          <p:cNvPr id="38" name="object 38"/>
          <p:cNvSpPr txBox="1"/>
          <p:nvPr/>
        </p:nvSpPr>
        <p:spPr>
          <a:xfrm>
            <a:off x="3561588" y="3780790"/>
            <a:ext cx="902969" cy="330835"/>
          </a:xfrm>
          <a:prstGeom prst="rect">
            <a:avLst/>
          </a:prstGeom>
        </p:spPr>
        <p:txBody>
          <a:bodyPr vert="horz" wrap="square" lIns="0" tIns="12700" rIns="0" bIns="0" rtlCol="0">
            <a:spAutoFit/>
          </a:bodyPr>
          <a:lstStyle/>
          <a:p>
            <a:pPr marL="38100">
              <a:lnSpc>
                <a:spcPct val="100000"/>
              </a:lnSpc>
              <a:spcBef>
                <a:spcPts val="100"/>
              </a:spcBef>
            </a:pPr>
            <a:r>
              <a:rPr sz="2000" spc="-45" dirty="0">
                <a:latin typeface="Cambria Math"/>
                <a:cs typeface="Cambria Math"/>
              </a:rPr>
              <a:t>𝐹</a:t>
            </a:r>
            <a:r>
              <a:rPr sz="2175" spc="-67" baseline="-15325" dirty="0">
                <a:latin typeface="Cambria Math"/>
                <a:cs typeface="Cambria Math"/>
              </a:rPr>
              <a:t>23</a:t>
            </a:r>
            <a:r>
              <a:rPr sz="2175" spc="419" baseline="-15325" dirty="0">
                <a:latin typeface="Cambria Math"/>
                <a:cs typeface="Cambria Math"/>
              </a:rPr>
              <a:t> </a:t>
            </a:r>
            <a:r>
              <a:rPr sz="2000" dirty="0">
                <a:latin typeface="Cambria Math"/>
                <a:cs typeface="Cambria Math"/>
              </a:rPr>
              <a:t>=</a:t>
            </a:r>
            <a:r>
              <a:rPr sz="2000" spc="75" dirty="0">
                <a:latin typeface="Cambria Math"/>
                <a:cs typeface="Cambria Math"/>
              </a:rPr>
              <a:t> </a:t>
            </a:r>
            <a:r>
              <a:rPr sz="2000" dirty="0">
                <a:latin typeface="Cambria Math"/>
                <a:cs typeface="Cambria Math"/>
              </a:rPr>
              <a:t>𝑘</a:t>
            </a:r>
            <a:endParaRPr sz="2000">
              <a:latin typeface="Cambria Math"/>
              <a:cs typeface="Cambria Math"/>
            </a:endParaRPr>
          </a:p>
        </p:txBody>
      </p:sp>
      <p:sp>
        <p:nvSpPr>
          <p:cNvPr id="39" name="object 39"/>
          <p:cNvSpPr/>
          <p:nvPr/>
        </p:nvSpPr>
        <p:spPr>
          <a:xfrm>
            <a:off x="4475607" y="3966336"/>
            <a:ext cx="556260" cy="297180"/>
          </a:xfrm>
          <a:custGeom>
            <a:avLst/>
            <a:gdLst/>
            <a:ahLst/>
            <a:cxnLst/>
            <a:rect l="l" t="t" r="r" b="b"/>
            <a:pathLst>
              <a:path w="556260" h="297179">
                <a:moveTo>
                  <a:pt x="151130" y="70739"/>
                </a:moveTo>
                <a:lnTo>
                  <a:pt x="147828" y="61214"/>
                </a:lnTo>
                <a:lnTo>
                  <a:pt x="130695" y="67386"/>
                </a:lnTo>
                <a:lnTo>
                  <a:pt x="115709" y="76327"/>
                </a:lnTo>
                <a:lnTo>
                  <a:pt x="83566" y="119214"/>
                </a:lnTo>
                <a:lnTo>
                  <a:pt x="73850" y="157556"/>
                </a:lnTo>
                <a:lnTo>
                  <a:pt x="72644" y="179197"/>
                </a:lnTo>
                <a:lnTo>
                  <a:pt x="73850" y="200850"/>
                </a:lnTo>
                <a:lnTo>
                  <a:pt x="83515" y="239141"/>
                </a:lnTo>
                <a:lnTo>
                  <a:pt x="115646" y="281889"/>
                </a:lnTo>
                <a:lnTo>
                  <a:pt x="147828" y="296926"/>
                </a:lnTo>
                <a:lnTo>
                  <a:pt x="150749" y="287401"/>
                </a:lnTo>
                <a:lnTo>
                  <a:pt x="137337" y="281470"/>
                </a:lnTo>
                <a:lnTo>
                  <a:pt x="125742" y="273202"/>
                </a:lnTo>
                <a:lnTo>
                  <a:pt x="101981" y="234505"/>
                </a:lnTo>
                <a:lnTo>
                  <a:pt x="94107" y="177927"/>
                </a:lnTo>
                <a:lnTo>
                  <a:pt x="94983" y="157784"/>
                </a:lnTo>
                <a:lnTo>
                  <a:pt x="108077" y="108077"/>
                </a:lnTo>
                <a:lnTo>
                  <a:pt x="137502" y="76720"/>
                </a:lnTo>
                <a:lnTo>
                  <a:pt x="151130" y="70739"/>
                </a:lnTo>
                <a:close/>
              </a:path>
              <a:path w="556260" h="297179">
                <a:moveTo>
                  <a:pt x="365125" y="179197"/>
                </a:moveTo>
                <a:lnTo>
                  <a:pt x="360260" y="137566"/>
                </a:lnTo>
                <a:lnTo>
                  <a:pt x="334924" y="88049"/>
                </a:lnTo>
                <a:lnTo>
                  <a:pt x="289941" y="61214"/>
                </a:lnTo>
                <a:lnTo>
                  <a:pt x="286639" y="70739"/>
                </a:lnTo>
                <a:lnTo>
                  <a:pt x="300253" y="76720"/>
                </a:lnTo>
                <a:lnTo>
                  <a:pt x="311975" y="84937"/>
                </a:lnTo>
                <a:lnTo>
                  <a:pt x="335775" y="122872"/>
                </a:lnTo>
                <a:lnTo>
                  <a:pt x="343662" y="177927"/>
                </a:lnTo>
                <a:lnTo>
                  <a:pt x="342773" y="198691"/>
                </a:lnTo>
                <a:lnTo>
                  <a:pt x="329692" y="249555"/>
                </a:lnTo>
                <a:lnTo>
                  <a:pt x="300393" y="281470"/>
                </a:lnTo>
                <a:lnTo>
                  <a:pt x="287020" y="287401"/>
                </a:lnTo>
                <a:lnTo>
                  <a:pt x="289941" y="296926"/>
                </a:lnTo>
                <a:lnTo>
                  <a:pt x="335026" y="270217"/>
                </a:lnTo>
                <a:lnTo>
                  <a:pt x="360273" y="220827"/>
                </a:lnTo>
                <a:lnTo>
                  <a:pt x="363905" y="200850"/>
                </a:lnTo>
                <a:lnTo>
                  <a:pt x="365125" y="179197"/>
                </a:lnTo>
                <a:close/>
              </a:path>
              <a:path w="556260" h="297179">
                <a:moveTo>
                  <a:pt x="556260" y="0"/>
                </a:moveTo>
                <a:lnTo>
                  <a:pt x="0" y="0"/>
                </a:lnTo>
                <a:lnTo>
                  <a:pt x="0" y="16764"/>
                </a:lnTo>
                <a:lnTo>
                  <a:pt x="556260" y="16764"/>
                </a:lnTo>
                <a:lnTo>
                  <a:pt x="556260" y="0"/>
                </a:lnTo>
                <a:close/>
              </a:path>
            </a:pathLst>
          </a:custGeom>
          <a:solidFill>
            <a:srgbClr val="000000"/>
          </a:solidFill>
        </p:spPr>
        <p:txBody>
          <a:bodyPr wrap="square" lIns="0" tIns="0" rIns="0" bIns="0" rtlCol="0"/>
          <a:lstStyle/>
          <a:p>
            <a:endParaRPr/>
          </a:p>
        </p:txBody>
      </p:sp>
      <p:sp>
        <p:nvSpPr>
          <p:cNvPr id="40" name="object 40"/>
          <p:cNvSpPr txBox="1"/>
          <p:nvPr/>
        </p:nvSpPr>
        <p:spPr>
          <a:xfrm>
            <a:off x="4463288" y="3588765"/>
            <a:ext cx="581025"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Cambria Math"/>
                <a:cs typeface="Cambria Math"/>
              </a:rPr>
              <a:t>𝑞</a:t>
            </a:r>
            <a:r>
              <a:rPr sz="2000" spc="-10" dirty="0">
                <a:latin typeface="Cambria Math"/>
                <a:cs typeface="Cambria Math"/>
              </a:rPr>
              <a:t>2</a:t>
            </a:r>
            <a:r>
              <a:rPr sz="2000" dirty="0">
                <a:latin typeface="Cambria Math"/>
                <a:cs typeface="Cambria Math"/>
              </a:rPr>
              <a:t>𝑞3</a:t>
            </a:r>
            <a:endParaRPr sz="2000">
              <a:latin typeface="Cambria Math"/>
              <a:cs typeface="Cambria Math"/>
            </a:endParaRPr>
          </a:p>
        </p:txBody>
      </p:sp>
      <p:sp>
        <p:nvSpPr>
          <p:cNvPr id="41" name="object 41"/>
          <p:cNvSpPr txBox="1"/>
          <p:nvPr/>
        </p:nvSpPr>
        <p:spPr>
          <a:xfrm>
            <a:off x="4618735" y="3951173"/>
            <a:ext cx="146685" cy="331470"/>
          </a:xfrm>
          <a:prstGeom prst="rect">
            <a:avLst/>
          </a:prstGeom>
        </p:spPr>
        <p:txBody>
          <a:bodyPr vert="horz" wrap="square" lIns="0" tIns="13335" rIns="0" bIns="0" rtlCol="0">
            <a:spAutoFit/>
          </a:bodyPr>
          <a:lstStyle/>
          <a:p>
            <a:pPr marL="12700">
              <a:lnSpc>
                <a:spcPct val="100000"/>
              </a:lnSpc>
              <a:spcBef>
                <a:spcPts val="105"/>
              </a:spcBef>
            </a:pPr>
            <a:r>
              <a:rPr sz="2000" spc="5" dirty="0">
                <a:latin typeface="Cambria Math"/>
                <a:cs typeface="Cambria Math"/>
              </a:rPr>
              <a:t>𝑟</a:t>
            </a:r>
            <a:endParaRPr sz="2000">
              <a:latin typeface="Cambria Math"/>
              <a:cs typeface="Cambria Math"/>
            </a:endParaRPr>
          </a:p>
        </p:txBody>
      </p:sp>
      <p:sp>
        <p:nvSpPr>
          <p:cNvPr id="42" name="object 42"/>
          <p:cNvSpPr txBox="1"/>
          <p:nvPr/>
        </p:nvSpPr>
        <p:spPr>
          <a:xfrm>
            <a:off x="4850384" y="3943857"/>
            <a:ext cx="133350" cy="248920"/>
          </a:xfrm>
          <a:prstGeom prst="rect">
            <a:avLst/>
          </a:prstGeom>
        </p:spPr>
        <p:txBody>
          <a:bodyPr vert="horz" wrap="square" lIns="0" tIns="13970" rIns="0" bIns="0" rtlCol="0">
            <a:spAutoFit/>
          </a:bodyPr>
          <a:lstStyle/>
          <a:p>
            <a:pPr marL="12700">
              <a:lnSpc>
                <a:spcPct val="100000"/>
              </a:lnSpc>
              <a:spcBef>
                <a:spcPts val="110"/>
              </a:spcBef>
            </a:pPr>
            <a:r>
              <a:rPr sz="1450" spc="40" dirty="0">
                <a:latin typeface="Cambria Math"/>
                <a:cs typeface="Cambria Math"/>
              </a:rPr>
              <a:t>2</a:t>
            </a:r>
            <a:endParaRPr sz="1450">
              <a:latin typeface="Cambria Math"/>
              <a:cs typeface="Cambria Math"/>
            </a:endParaRPr>
          </a:p>
        </p:txBody>
      </p:sp>
      <p:sp>
        <p:nvSpPr>
          <p:cNvPr id="43" name="object 43"/>
          <p:cNvSpPr txBox="1"/>
          <p:nvPr/>
        </p:nvSpPr>
        <p:spPr>
          <a:xfrm>
            <a:off x="5088382" y="3780790"/>
            <a:ext cx="427990" cy="330835"/>
          </a:xfrm>
          <a:prstGeom prst="rect">
            <a:avLst/>
          </a:prstGeom>
        </p:spPr>
        <p:txBody>
          <a:bodyPr vert="horz" wrap="square" lIns="0" tIns="12700" rIns="0" bIns="0" rtlCol="0">
            <a:spAutoFit/>
          </a:bodyPr>
          <a:lstStyle/>
          <a:p>
            <a:pPr marL="12700">
              <a:lnSpc>
                <a:spcPct val="100000"/>
              </a:lnSpc>
              <a:spcBef>
                <a:spcPts val="100"/>
              </a:spcBef>
            </a:pPr>
            <a:r>
              <a:rPr sz="2000" dirty="0">
                <a:latin typeface="Cambria Math"/>
                <a:cs typeface="Cambria Math"/>
              </a:rPr>
              <a:t>=</a:t>
            </a:r>
            <a:r>
              <a:rPr sz="2000" spc="40" dirty="0">
                <a:latin typeface="Cambria Math"/>
                <a:cs typeface="Cambria Math"/>
              </a:rPr>
              <a:t> </a:t>
            </a:r>
            <a:r>
              <a:rPr sz="2000" dirty="0">
                <a:latin typeface="Cambria Math"/>
                <a:cs typeface="Cambria Math"/>
              </a:rPr>
              <a:t>𝑘</a:t>
            </a:r>
            <a:endParaRPr sz="2000">
              <a:latin typeface="Cambria Math"/>
              <a:cs typeface="Cambria Math"/>
            </a:endParaRPr>
          </a:p>
        </p:txBody>
      </p:sp>
      <p:sp>
        <p:nvSpPr>
          <p:cNvPr id="44" name="object 44"/>
          <p:cNvSpPr/>
          <p:nvPr/>
        </p:nvSpPr>
        <p:spPr>
          <a:xfrm>
            <a:off x="5551551" y="3966336"/>
            <a:ext cx="992505" cy="17145"/>
          </a:xfrm>
          <a:custGeom>
            <a:avLst/>
            <a:gdLst/>
            <a:ahLst/>
            <a:cxnLst/>
            <a:rect l="l" t="t" r="r" b="b"/>
            <a:pathLst>
              <a:path w="992504" h="17145">
                <a:moveTo>
                  <a:pt x="992124" y="0"/>
                </a:moveTo>
                <a:lnTo>
                  <a:pt x="0" y="0"/>
                </a:lnTo>
                <a:lnTo>
                  <a:pt x="0" y="16763"/>
                </a:lnTo>
                <a:lnTo>
                  <a:pt x="992124" y="16763"/>
                </a:lnTo>
                <a:lnTo>
                  <a:pt x="992124" y="0"/>
                </a:lnTo>
                <a:close/>
              </a:path>
            </a:pathLst>
          </a:custGeom>
          <a:solidFill>
            <a:srgbClr val="000000"/>
          </a:solidFill>
        </p:spPr>
        <p:txBody>
          <a:bodyPr wrap="square" lIns="0" tIns="0" rIns="0" bIns="0" rtlCol="0"/>
          <a:lstStyle/>
          <a:p>
            <a:endParaRPr/>
          </a:p>
        </p:txBody>
      </p:sp>
      <p:sp>
        <p:nvSpPr>
          <p:cNvPr id="45" name="object 45"/>
          <p:cNvSpPr/>
          <p:nvPr/>
        </p:nvSpPr>
        <p:spPr>
          <a:xfrm>
            <a:off x="6070727" y="3664839"/>
            <a:ext cx="451484" cy="236220"/>
          </a:xfrm>
          <a:custGeom>
            <a:avLst/>
            <a:gdLst/>
            <a:ahLst/>
            <a:cxnLst/>
            <a:rect l="l" t="t" r="r" b="b"/>
            <a:pathLst>
              <a:path w="451484" h="236220">
                <a:moveTo>
                  <a:pt x="375793" y="0"/>
                </a:moveTo>
                <a:lnTo>
                  <a:pt x="372490" y="9525"/>
                </a:lnTo>
                <a:lnTo>
                  <a:pt x="386111" y="15501"/>
                </a:lnTo>
                <a:lnTo>
                  <a:pt x="397827" y="23717"/>
                </a:lnTo>
                <a:lnTo>
                  <a:pt x="421638" y="61652"/>
                </a:lnTo>
                <a:lnTo>
                  <a:pt x="429513" y="116712"/>
                </a:lnTo>
                <a:lnTo>
                  <a:pt x="428634" y="137477"/>
                </a:lnTo>
                <a:lnTo>
                  <a:pt x="415544" y="188341"/>
                </a:lnTo>
                <a:lnTo>
                  <a:pt x="386254" y="220255"/>
                </a:lnTo>
                <a:lnTo>
                  <a:pt x="372872" y="226187"/>
                </a:lnTo>
                <a:lnTo>
                  <a:pt x="375793" y="235712"/>
                </a:lnTo>
                <a:lnTo>
                  <a:pt x="420887" y="208994"/>
                </a:lnTo>
                <a:lnTo>
                  <a:pt x="446135" y="159607"/>
                </a:lnTo>
                <a:lnTo>
                  <a:pt x="450976" y="117983"/>
                </a:lnTo>
                <a:lnTo>
                  <a:pt x="449762" y="96335"/>
                </a:lnTo>
                <a:lnTo>
                  <a:pt x="440047" y="57993"/>
                </a:lnTo>
                <a:lnTo>
                  <a:pt x="407908" y="15112"/>
                </a:lnTo>
                <a:lnTo>
                  <a:pt x="392916" y="6163"/>
                </a:lnTo>
                <a:lnTo>
                  <a:pt x="375793" y="0"/>
                </a:lnTo>
                <a:close/>
              </a:path>
              <a:path w="451484" h="236220">
                <a:moveTo>
                  <a:pt x="75184" y="0"/>
                </a:moveTo>
                <a:lnTo>
                  <a:pt x="30196" y="26824"/>
                </a:lnTo>
                <a:lnTo>
                  <a:pt x="4857" y="76342"/>
                </a:lnTo>
                <a:lnTo>
                  <a:pt x="0" y="117983"/>
                </a:lnTo>
                <a:lnTo>
                  <a:pt x="1212" y="139628"/>
                </a:lnTo>
                <a:lnTo>
                  <a:pt x="10876" y="177919"/>
                </a:lnTo>
                <a:lnTo>
                  <a:pt x="43005" y="220662"/>
                </a:lnTo>
                <a:lnTo>
                  <a:pt x="75184" y="235712"/>
                </a:lnTo>
                <a:lnTo>
                  <a:pt x="78105" y="226187"/>
                </a:lnTo>
                <a:lnTo>
                  <a:pt x="64704" y="220255"/>
                </a:lnTo>
                <a:lnTo>
                  <a:pt x="53101" y="211978"/>
                </a:lnTo>
                <a:lnTo>
                  <a:pt x="29338" y="173291"/>
                </a:lnTo>
                <a:lnTo>
                  <a:pt x="21462" y="116712"/>
                </a:lnTo>
                <a:lnTo>
                  <a:pt x="22342" y="96565"/>
                </a:lnTo>
                <a:lnTo>
                  <a:pt x="35433" y="46862"/>
                </a:lnTo>
                <a:lnTo>
                  <a:pt x="64865" y="15501"/>
                </a:lnTo>
                <a:lnTo>
                  <a:pt x="78486" y="9525"/>
                </a:lnTo>
                <a:lnTo>
                  <a:pt x="75184" y="0"/>
                </a:lnTo>
                <a:close/>
              </a:path>
            </a:pathLst>
          </a:custGeom>
          <a:solidFill>
            <a:srgbClr val="000000"/>
          </a:solidFill>
        </p:spPr>
        <p:txBody>
          <a:bodyPr wrap="square" lIns="0" tIns="0" rIns="0" bIns="0" rtlCol="0"/>
          <a:lstStyle/>
          <a:p>
            <a:endParaRPr/>
          </a:p>
        </p:txBody>
      </p:sp>
      <p:sp>
        <p:nvSpPr>
          <p:cNvPr id="46" name="object 46"/>
          <p:cNvSpPr txBox="1"/>
          <p:nvPr/>
        </p:nvSpPr>
        <p:spPr>
          <a:xfrm>
            <a:off x="5539485" y="3588765"/>
            <a:ext cx="904875" cy="330835"/>
          </a:xfrm>
          <a:prstGeom prst="rect">
            <a:avLst/>
          </a:prstGeom>
        </p:spPr>
        <p:txBody>
          <a:bodyPr vert="horz" wrap="square" lIns="0" tIns="13335" rIns="0" bIns="0" rtlCol="0">
            <a:spAutoFit/>
          </a:bodyPr>
          <a:lstStyle/>
          <a:p>
            <a:pPr marL="12700">
              <a:lnSpc>
                <a:spcPct val="100000"/>
              </a:lnSpc>
              <a:spcBef>
                <a:spcPts val="105"/>
              </a:spcBef>
            </a:pPr>
            <a:r>
              <a:rPr lang="en-US" sz="3000" spc="-419" baseline="2777" dirty="0">
                <a:latin typeface="Cambria Math"/>
                <a:cs typeface="Cambria Math"/>
              </a:rPr>
              <a:t>(</a:t>
            </a:r>
            <a:r>
              <a:rPr sz="2000" spc="-280" dirty="0" smtClean="0">
                <a:latin typeface="Cambria Math"/>
                <a:cs typeface="Cambria Math"/>
              </a:rPr>
              <a:t>2</a:t>
            </a:r>
            <a:r>
              <a:rPr sz="2000" spc="-280" dirty="0">
                <a:latin typeface="Cambria Math"/>
                <a:cs typeface="Cambria Math"/>
              </a:rPr>
              <a:t>𝑞)</a:t>
            </a:r>
            <a:r>
              <a:rPr sz="2000" spc="305" dirty="0">
                <a:latin typeface="Cambria Math"/>
                <a:cs typeface="Cambria Math"/>
              </a:rPr>
              <a:t> </a:t>
            </a:r>
            <a:r>
              <a:rPr sz="2000" spc="-5" dirty="0">
                <a:latin typeface="Cambria Math"/>
                <a:cs typeface="Cambria Math"/>
              </a:rPr>
              <a:t>3𝑞</a:t>
            </a:r>
            <a:endParaRPr sz="2000" dirty="0">
              <a:latin typeface="Cambria Math"/>
              <a:cs typeface="Cambria Math"/>
            </a:endParaRPr>
          </a:p>
        </p:txBody>
      </p:sp>
      <p:sp>
        <p:nvSpPr>
          <p:cNvPr id="47" name="object 47"/>
          <p:cNvSpPr txBox="1"/>
          <p:nvPr/>
        </p:nvSpPr>
        <p:spPr>
          <a:xfrm>
            <a:off x="5884417" y="3874973"/>
            <a:ext cx="316865" cy="331470"/>
          </a:xfrm>
          <a:prstGeom prst="rect">
            <a:avLst/>
          </a:prstGeom>
        </p:spPr>
        <p:txBody>
          <a:bodyPr vert="horz" wrap="square" lIns="0" tIns="13335" rIns="0" bIns="0" rtlCol="0">
            <a:spAutoFit/>
          </a:bodyPr>
          <a:lstStyle/>
          <a:p>
            <a:pPr marL="38100">
              <a:lnSpc>
                <a:spcPct val="100000"/>
              </a:lnSpc>
              <a:spcBef>
                <a:spcPts val="105"/>
              </a:spcBef>
            </a:pPr>
            <a:r>
              <a:rPr sz="3000" spc="97" baseline="-16666" dirty="0">
                <a:latin typeface="Cambria Math"/>
                <a:cs typeface="Cambria Math"/>
              </a:rPr>
              <a:t>𝑟</a:t>
            </a:r>
            <a:r>
              <a:rPr sz="1450" spc="65" dirty="0">
                <a:latin typeface="Cambria Math"/>
                <a:cs typeface="Cambria Math"/>
              </a:rPr>
              <a:t>2</a:t>
            </a:r>
            <a:endParaRPr sz="1450">
              <a:latin typeface="Cambria Math"/>
              <a:cs typeface="Cambria Math"/>
            </a:endParaRPr>
          </a:p>
        </p:txBody>
      </p:sp>
      <p:sp>
        <p:nvSpPr>
          <p:cNvPr id="48" name="object 48"/>
          <p:cNvSpPr/>
          <p:nvPr/>
        </p:nvSpPr>
        <p:spPr>
          <a:xfrm>
            <a:off x="7255382" y="3966336"/>
            <a:ext cx="403860" cy="17145"/>
          </a:xfrm>
          <a:custGeom>
            <a:avLst/>
            <a:gdLst/>
            <a:ahLst/>
            <a:cxnLst/>
            <a:rect l="l" t="t" r="r" b="b"/>
            <a:pathLst>
              <a:path w="403859" h="17145">
                <a:moveTo>
                  <a:pt x="403859" y="0"/>
                </a:moveTo>
                <a:lnTo>
                  <a:pt x="0" y="0"/>
                </a:lnTo>
                <a:lnTo>
                  <a:pt x="0" y="16763"/>
                </a:lnTo>
                <a:lnTo>
                  <a:pt x="403859" y="16763"/>
                </a:lnTo>
                <a:lnTo>
                  <a:pt x="403859" y="0"/>
                </a:lnTo>
                <a:close/>
              </a:path>
            </a:pathLst>
          </a:custGeom>
          <a:solidFill>
            <a:srgbClr val="000000"/>
          </a:solidFill>
        </p:spPr>
        <p:txBody>
          <a:bodyPr wrap="square" lIns="0" tIns="0" rIns="0" bIns="0" rtlCol="0"/>
          <a:lstStyle/>
          <a:p>
            <a:endParaRPr/>
          </a:p>
        </p:txBody>
      </p:sp>
      <p:sp>
        <p:nvSpPr>
          <p:cNvPr id="49" name="object 49"/>
          <p:cNvSpPr txBox="1"/>
          <p:nvPr/>
        </p:nvSpPr>
        <p:spPr>
          <a:xfrm>
            <a:off x="6576314" y="3588765"/>
            <a:ext cx="1112520" cy="617855"/>
          </a:xfrm>
          <a:prstGeom prst="rect">
            <a:avLst/>
          </a:prstGeom>
        </p:spPr>
        <p:txBody>
          <a:bodyPr vert="horz" wrap="square" lIns="0" tIns="13335" rIns="0" bIns="0" rtlCol="0">
            <a:spAutoFit/>
          </a:bodyPr>
          <a:lstStyle/>
          <a:p>
            <a:pPr marL="679450">
              <a:lnSpc>
                <a:spcPts val="1955"/>
              </a:lnSpc>
              <a:spcBef>
                <a:spcPts val="105"/>
              </a:spcBef>
            </a:pPr>
            <a:r>
              <a:rPr sz="2000" spc="35" dirty="0">
                <a:latin typeface="Cambria Math"/>
                <a:cs typeface="Cambria Math"/>
              </a:rPr>
              <a:t>6𝑞</a:t>
            </a:r>
            <a:r>
              <a:rPr sz="2175" spc="52" baseline="28735" dirty="0">
                <a:latin typeface="Cambria Math"/>
                <a:cs typeface="Cambria Math"/>
              </a:rPr>
              <a:t>2</a:t>
            </a:r>
            <a:endParaRPr sz="2175" baseline="28735">
              <a:latin typeface="Cambria Math"/>
              <a:cs typeface="Cambria Math"/>
            </a:endParaRPr>
          </a:p>
          <a:p>
            <a:pPr marL="38100">
              <a:lnSpc>
                <a:spcPts val="1130"/>
              </a:lnSpc>
            </a:pPr>
            <a:r>
              <a:rPr sz="2000" dirty="0">
                <a:latin typeface="Cambria Math"/>
                <a:cs typeface="Cambria Math"/>
              </a:rPr>
              <a:t>=</a:t>
            </a:r>
            <a:r>
              <a:rPr sz="2000" spc="80" dirty="0">
                <a:latin typeface="Cambria Math"/>
                <a:cs typeface="Cambria Math"/>
              </a:rPr>
              <a:t> </a:t>
            </a:r>
            <a:r>
              <a:rPr sz="2000" dirty="0">
                <a:latin typeface="Cambria Math"/>
                <a:cs typeface="Cambria Math"/>
              </a:rPr>
              <a:t>−𝑘</a:t>
            </a:r>
            <a:endParaRPr sz="2000">
              <a:latin typeface="Cambria Math"/>
              <a:cs typeface="Cambria Math"/>
            </a:endParaRPr>
          </a:p>
          <a:p>
            <a:pPr marL="755650">
              <a:lnSpc>
                <a:spcPts val="1570"/>
              </a:lnSpc>
            </a:pPr>
            <a:r>
              <a:rPr sz="3000" spc="97" baseline="-16666" dirty="0">
                <a:latin typeface="Cambria Math"/>
                <a:cs typeface="Cambria Math"/>
              </a:rPr>
              <a:t>𝑟</a:t>
            </a:r>
            <a:r>
              <a:rPr sz="1450" spc="65" dirty="0">
                <a:latin typeface="Cambria Math"/>
                <a:cs typeface="Cambria Math"/>
              </a:rPr>
              <a:t>2</a:t>
            </a:r>
            <a:endParaRPr sz="1450">
              <a:latin typeface="Cambria Math"/>
              <a:cs typeface="Cambria Math"/>
            </a:endParaRPr>
          </a:p>
        </p:txBody>
      </p:sp>
      <p:sp>
        <p:nvSpPr>
          <p:cNvPr id="50" name="object 50"/>
          <p:cNvSpPr txBox="1"/>
          <p:nvPr/>
        </p:nvSpPr>
        <p:spPr>
          <a:xfrm>
            <a:off x="4788408" y="4247515"/>
            <a:ext cx="1672589" cy="330835"/>
          </a:xfrm>
          <a:prstGeom prst="rect">
            <a:avLst/>
          </a:prstGeom>
        </p:spPr>
        <p:txBody>
          <a:bodyPr vert="horz" wrap="square" lIns="0" tIns="12700" rIns="0" bIns="0" rtlCol="0">
            <a:spAutoFit/>
          </a:bodyPr>
          <a:lstStyle/>
          <a:p>
            <a:pPr marL="38100">
              <a:lnSpc>
                <a:spcPct val="100000"/>
              </a:lnSpc>
              <a:spcBef>
                <a:spcPts val="100"/>
              </a:spcBef>
            </a:pPr>
            <a:r>
              <a:rPr sz="2000" spc="-55" dirty="0">
                <a:latin typeface="Cambria Math"/>
                <a:cs typeface="Cambria Math"/>
              </a:rPr>
              <a:t>𝐹</a:t>
            </a:r>
            <a:r>
              <a:rPr sz="2175" spc="-82" baseline="-15325" dirty="0">
                <a:latin typeface="Cambria Math"/>
                <a:cs typeface="Cambria Math"/>
              </a:rPr>
              <a:t>𝑇</a:t>
            </a:r>
            <a:r>
              <a:rPr sz="2175" spc="509" baseline="-15325" dirty="0">
                <a:latin typeface="Cambria Math"/>
                <a:cs typeface="Cambria Math"/>
              </a:rPr>
              <a:t> </a:t>
            </a:r>
            <a:r>
              <a:rPr sz="2000" dirty="0">
                <a:latin typeface="Cambria Math"/>
                <a:cs typeface="Cambria Math"/>
              </a:rPr>
              <a:t>=</a:t>
            </a:r>
            <a:r>
              <a:rPr sz="2000" spc="95" dirty="0">
                <a:latin typeface="Cambria Math"/>
                <a:cs typeface="Cambria Math"/>
              </a:rPr>
              <a:t> </a:t>
            </a:r>
            <a:r>
              <a:rPr sz="2000" spc="-60" dirty="0">
                <a:latin typeface="Cambria Math"/>
                <a:cs typeface="Cambria Math"/>
              </a:rPr>
              <a:t>𝐹</a:t>
            </a:r>
            <a:r>
              <a:rPr sz="2175" spc="-89" baseline="-15325" dirty="0">
                <a:latin typeface="Cambria Math"/>
                <a:cs typeface="Cambria Math"/>
              </a:rPr>
              <a:t>13</a:t>
            </a:r>
            <a:r>
              <a:rPr sz="2175" spc="284" baseline="-15325" dirty="0">
                <a:latin typeface="Cambria Math"/>
                <a:cs typeface="Cambria Math"/>
              </a:rPr>
              <a:t> </a:t>
            </a:r>
            <a:r>
              <a:rPr sz="2000" dirty="0">
                <a:latin typeface="Cambria Math"/>
                <a:cs typeface="Cambria Math"/>
              </a:rPr>
              <a:t>+</a:t>
            </a:r>
            <a:r>
              <a:rPr sz="2000" spc="-5" dirty="0">
                <a:latin typeface="Cambria Math"/>
                <a:cs typeface="Cambria Math"/>
              </a:rPr>
              <a:t> </a:t>
            </a:r>
            <a:r>
              <a:rPr sz="2000" spc="-45" dirty="0">
                <a:latin typeface="Cambria Math"/>
                <a:cs typeface="Cambria Math"/>
              </a:rPr>
              <a:t>𝐹</a:t>
            </a:r>
            <a:r>
              <a:rPr sz="2175" spc="-67" baseline="-15325" dirty="0">
                <a:latin typeface="Cambria Math"/>
                <a:cs typeface="Cambria Math"/>
              </a:rPr>
              <a:t>23</a:t>
            </a:r>
            <a:endParaRPr sz="2175" baseline="-15325">
              <a:latin typeface="Cambria Math"/>
              <a:cs typeface="Cambria Math"/>
            </a:endParaRPr>
          </a:p>
        </p:txBody>
      </p:sp>
      <p:sp>
        <p:nvSpPr>
          <p:cNvPr id="51" name="object 51"/>
          <p:cNvSpPr/>
          <p:nvPr/>
        </p:nvSpPr>
        <p:spPr>
          <a:xfrm>
            <a:off x="4463415" y="4969128"/>
            <a:ext cx="403860" cy="17145"/>
          </a:xfrm>
          <a:custGeom>
            <a:avLst/>
            <a:gdLst/>
            <a:ahLst/>
            <a:cxnLst/>
            <a:rect l="l" t="t" r="r" b="b"/>
            <a:pathLst>
              <a:path w="403860" h="17145">
                <a:moveTo>
                  <a:pt x="403860" y="0"/>
                </a:moveTo>
                <a:lnTo>
                  <a:pt x="0" y="0"/>
                </a:lnTo>
                <a:lnTo>
                  <a:pt x="0" y="16764"/>
                </a:lnTo>
                <a:lnTo>
                  <a:pt x="403860" y="16764"/>
                </a:lnTo>
                <a:lnTo>
                  <a:pt x="403860" y="0"/>
                </a:lnTo>
                <a:close/>
              </a:path>
            </a:pathLst>
          </a:custGeom>
          <a:solidFill>
            <a:srgbClr val="000000"/>
          </a:solidFill>
        </p:spPr>
        <p:txBody>
          <a:bodyPr wrap="square" lIns="0" tIns="0" rIns="0" bIns="0" rtlCol="0"/>
          <a:lstStyle/>
          <a:p>
            <a:endParaRPr/>
          </a:p>
        </p:txBody>
      </p:sp>
      <p:sp>
        <p:nvSpPr>
          <p:cNvPr id="52" name="object 52"/>
          <p:cNvSpPr/>
          <p:nvPr/>
        </p:nvSpPr>
        <p:spPr>
          <a:xfrm>
            <a:off x="5361051" y="4969128"/>
            <a:ext cx="403860" cy="17145"/>
          </a:xfrm>
          <a:custGeom>
            <a:avLst/>
            <a:gdLst/>
            <a:ahLst/>
            <a:cxnLst/>
            <a:rect l="l" t="t" r="r" b="b"/>
            <a:pathLst>
              <a:path w="403860" h="17145">
                <a:moveTo>
                  <a:pt x="403860" y="0"/>
                </a:moveTo>
                <a:lnTo>
                  <a:pt x="0" y="0"/>
                </a:lnTo>
                <a:lnTo>
                  <a:pt x="0" y="16764"/>
                </a:lnTo>
                <a:lnTo>
                  <a:pt x="403860" y="16764"/>
                </a:lnTo>
                <a:lnTo>
                  <a:pt x="403860" y="0"/>
                </a:lnTo>
                <a:close/>
              </a:path>
            </a:pathLst>
          </a:custGeom>
          <a:solidFill>
            <a:srgbClr val="000000"/>
          </a:solidFill>
        </p:spPr>
        <p:txBody>
          <a:bodyPr wrap="square" lIns="0" tIns="0" rIns="0" bIns="0" rtlCol="0"/>
          <a:lstStyle/>
          <a:p>
            <a:endParaRPr/>
          </a:p>
        </p:txBody>
      </p:sp>
      <p:sp>
        <p:nvSpPr>
          <p:cNvPr id="53" name="object 53"/>
          <p:cNvSpPr txBox="1"/>
          <p:nvPr/>
        </p:nvSpPr>
        <p:spPr>
          <a:xfrm>
            <a:off x="3612388" y="4591939"/>
            <a:ext cx="2713990" cy="523240"/>
          </a:xfrm>
          <a:prstGeom prst="rect">
            <a:avLst/>
          </a:prstGeom>
        </p:spPr>
        <p:txBody>
          <a:bodyPr vert="horz" wrap="square" lIns="0" tIns="12700" rIns="0" bIns="0" rtlCol="0">
            <a:spAutoFit/>
          </a:bodyPr>
          <a:lstStyle/>
          <a:p>
            <a:pPr marL="850900">
              <a:lnSpc>
                <a:spcPts val="1955"/>
              </a:lnSpc>
              <a:spcBef>
                <a:spcPts val="100"/>
              </a:spcBef>
              <a:tabLst>
                <a:tab pos="1748789" algn="l"/>
              </a:tabLst>
            </a:pPr>
            <a:r>
              <a:rPr sz="2000" spc="35" dirty="0">
                <a:latin typeface="Cambria Math"/>
                <a:cs typeface="Cambria Math"/>
              </a:rPr>
              <a:t>3𝑞</a:t>
            </a:r>
            <a:r>
              <a:rPr sz="2175" spc="52" baseline="28735" dirty="0">
                <a:latin typeface="Cambria Math"/>
                <a:cs typeface="Cambria Math"/>
              </a:rPr>
              <a:t>2	</a:t>
            </a:r>
            <a:r>
              <a:rPr sz="2000" spc="35" dirty="0">
                <a:latin typeface="Cambria Math"/>
                <a:cs typeface="Cambria Math"/>
              </a:rPr>
              <a:t>6𝑞</a:t>
            </a:r>
            <a:r>
              <a:rPr sz="2175" spc="52" baseline="28735" dirty="0">
                <a:latin typeface="Cambria Math"/>
                <a:cs typeface="Cambria Math"/>
              </a:rPr>
              <a:t>2</a:t>
            </a:r>
            <a:endParaRPr sz="2175" baseline="28735">
              <a:latin typeface="Cambria Math"/>
              <a:cs typeface="Cambria Math"/>
            </a:endParaRPr>
          </a:p>
          <a:p>
            <a:pPr marL="63500">
              <a:lnSpc>
                <a:spcPts val="1955"/>
              </a:lnSpc>
              <a:tabLst>
                <a:tab pos="2223135" algn="l"/>
              </a:tabLst>
            </a:pPr>
            <a:r>
              <a:rPr sz="2000" spc="-55" dirty="0">
                <a:latin typeface="Cambria Math"/>
                <a:cs typeface="Cambria Math"/>
              </a:rPr>
              <a:t>𝐹</a:t>
            </a:r>
            <a:r>
              <a:rPr sz="2175" spc="-82" baseline="-15325" dirty="0">
                <a:latin typeface="Cambria Math"/>
                <a:cs typeface="Cambria Math"/>
              </a:rPr>
              <a:t>𝑇</a:t>
            </a:r>
            <a:r>
              <a:rPr sz="2175" spc="547" baseline="-15325" dirty="0">
                <a:latin typeface="Cambria Math"/>
                <a:cs typeface="Cambria Math"/>
              </a:rPr>
              <a:t> </a:t>
            </a:r>
            <a:r>
              <a:rPr sz="2000" dirty="0">
                <a:latin typeface="Cambria Math"/>
                <a:cs typeface="Cambria Math"/>
              </a:rPr>
              <a:t>=</a:t>
            </a:r>
            <a:r>
              <a:rPr sz="2000" spc="114" dirty="0">
                <a:latin typeface="Cambria Math"/>
                <a:cs typeface="Cambria Math"/>
              </a:rPr>
              <a:t> </a:t>
            </a:r>
            <a:r>
              <a:rPr sz="2000" dirty="0">
                <a:latin typeface="Cambria Math"/>
                <a:cs typeface="Cambria Math"/>
              </a:rPr>
              <a:t>𝑘</a:t>
            </a:r>
            <a:r>
              <a:rPr sz="2000" spc="-25" dirty="0">
                <a:latin typeface="Cambria Math"/>
                <a:cs typeface="Cambria Math"/>
              </a:rPr>
              <a:t> </a:t>
            </a:r>
            <a:r>
              <a:rPr sz="3000" spc="75" baseline="-37500" dirty="0">
                <a:latin typeface="Cambria Math"/>
                <a:cs typeface="Cambria Math"/>
              </a:rPr>
              <a:t>4𝑟</a:t>
            </a:r>
            <a:r>
              <a:rPr sz="2175" spc="75" baseline="-28735" dirty="0">
                <a:latin typeface="Cambria Math"/>
                <a:cs typeface="Cambria Math"/>
              </a:rPr>
              <a:t>2</a:t>
            </a:r>
            <a:r>
              <a:rPr sz="2175" spc="390" baseline="-28735" dirty="0">
                <a:latin typeface="Cambria Math"/>
                <a:cs typeface="Cambria Math"/>
              </a:rPr>
              <a:t> </a:t>
            </a:r>
            <a:r>
              <a:rPr sz="2000" dirty="0">
                <a:latin typeface="Cambria Math"/>
                <a:cs typeface="Cambria Math"/>
              </a:rPr>
              <a:t>−</a:t>
            </a:r>
            <a:r>
              <a:rPr sz="2000" spc="10" dirty="0">
                <a:latin typeface="Cambria Math"/>
                <a:cs typeface="Cambria Math"/>
              </a:rPr>
              <a:t> </a:t>
            </a:r>
            <a:r>
              <a:rPr sz="2000" dirty="0">
                <a:latin typeface="Cambria Math"/>
                <a:cs typeface="Cambria Math"/>
              </a:rPr>
              <a:t>𝑘</a:t>
            </a:r>
            <a:r>
              <a:rPr sz="2000" spc="545" dirty="0">
                <a:latin typeface="Cambria Math"/>
                <a:cs typeface="Cambria Math"/>
              </a:rPr>
              <a:t> </a:t>
            </a:r>
            <a:r>
              <a:rPr sz="3000" spc="97" baseline="-37500" dirty="0">
                <a:latin typeface="Cambria Math"/>
                <a:cs typeface="Cambria Math"/>
              </a:rPr>
              <a:t>𝑟</a:t>
            </a:r>
            <a:r>
              <a:rPr sz="2175" spc="97" baseline="-28735" dirty="0">
                <a:latin typeface="Cambria Math"/>
                <a:cs typeface="Cambria Math"/>
              </a:rPr>
              <a:t>2	</a:t>
            </a:r>
            <a:r>
              <a:rPr sz="2000" dirty="0">
                <a:latin typeface="Cambria Math"/>
                <a:cs typeface="Cambria Math"/>
              </a:rPr>
              <a:t>=</a:t>
            </a:r>
            <a:r>
              <a:rPr sz="2000" spc="65" dirty="0">
                <a:latin typeface="Cambria Math"/>
                <a:cs typeface="Cambria Math"/>
              </a:rPr>
              <a:t> </a:t>
            </a:r>
            <a:r>
              <a:rPr sz="2000" dirty="0">
                <a:latin typeface="Cambria Math"/>
                <a:cs typeface="Cambria Math"/>
              </a:rPr>
              <a:t>−</a:t>
            </a:r>
            <a:endParaRPr sz="2000">
              <a:latin typeface="Cambria Math"/>
              <a:cs typeface="Cambria Math"/>
            </a:endParaRPr>
          </a:p>
        </p:txBody>
      </p:sp>
      <p:sp>
        <p:nvSpPr>
          <p:cNvPr id="54" name="object 54"/>
          <p:cNvSpPr/>
          <p:nvPr/>
        </p:nvSpPr>
        <p:spPr>
          <a:xfrm>
            <a:off x="6349619" y="4652645"/>
            <a:ext cx="532765" cy="648970"/>
          </a:xfrm>
          <a:custGeom>
            <a:avLst/>
            <a:gdLst/>
            <a:ahLst/>
            <a:cxnLst/>
            <a:rect l="l" t="t" r="r" b="b"/>
            <a:pathLst>
              <a:path w="532765" h="648970">
                <a:moveTo>
                  <a:pt x="116967" y="9271"/>
                </a:moveTo>
                <a:lnTo>
                  <a:pt x="65303" y="54457"/>
                </a:lnTo>
                <a:lnTo>
                  <a:pt x="46329" y="89763"/>
                </a:lnTo>
                <a:lnTo>
                  <a:pt x="29972" y="130429"/>
                </a:lnTo>
                <a:lnTo>
                  <a:pt x="16865" y="175056"/>
                </a:lnTo>
                <a:lnTo>
                  <a:pt x="7505" y="222224"/>
                </a:lnTo>
                <a:lnTo>
                  <a:pt x="1866" y="271919"/>
                </a:lnTo>
                <a:lnTo>
                  <a:pt x="0" y="324231"/>
                </a:lnTo>
                <a:lnTo>
                  <a:pt x="1866" y="375640"/>
                </a:lnTo>
                <a:lnTo>
                  <a:pt x="7505" y="425043"/>
                </a:lnTo>
                <a:lnTo>
                  <a:pt x="16865" y="472313"/>
                </a:lnTo>
                <a:lnTo>
                  <a:pt x="29972" y="517398"/>
                </a:lnTo>
                <a:lnTo>
                  <a:pt x="46329" y="558622"/>
                </a:lnTo>
                <a:lnTo>
                  <a:pt x="65303" y="594283"/>
                </a:lnTo>
                <a:lnTo>
                  <a:pt x="111125" y="648970"/>
                </a:lnTo>
                <a:lnTo>
                  <a:pt x="116967" y="639699"/>
                </a:lnTo>
                <a:lnTo>
                  <a:pt x="96139" y="614794"/>
                </a:lnTo>
                <a:lnTo>
                  <a:pt x="77876" y="584860"/>
                </a:lnTo>
                <a:lnTo>
                  <a:pt x="62128" y="549884"/>
                </a:lnTo>
                <a:lnTo>
                  <a:pt x="48895" y="509905"/>
                </a:lnTo>
                <a:lnTo>
                  <a:pt x="38481" y="466382"/>
                </a:lnTo>
                <a:lnTo>
                  <a:pt x="31064" y="420928"/>
                </a:lnTo>
                <a:lnTo>
                  <a:pt x="26619" y="373557"/>
                </a:lnTo>
                <a:lnTo>
                  <a:pt x="25146" y="324104"/>
                </a:lnTo>
                <a:lnTo>
                  <a:pt x="26619" y="273926"/>
                </a:lnTo>
                <a:lnTo>
                  <a:pt x="31076" y="226047"/>
                </a:lnTo>
                <a:lnTo>
                  <a:pt x="38531" y="180632"/>
                </a:lnTo>
                <a:lnTo>
                  <a:pt x="49022" y="137668"/>
                </a:lnTo>
                <a:lnTo>
                  <a:pt x="62255" y="98361"/>
                </a:lnTo>
                <a:lnTo>
                  <a:pt x="96215" y="34163"/>
                </a:lnTo>
                <a:lnTo>
                  <a:pt x="116967" y="9271"/>
                </a:lnTo>
                <a:close/>
              </a:path>
              <a:path w="532765" h="648970">
                <a:moveTo>
                  <a:pt x="407416" y="316484"/>
                </a:moveTo>
                <a:lnTo>
                  <a:pt x="125476" y="316484"/>
                </a:lnTo>
                <a:lnTo>
                  <a:pt x="125476" y="333248"/>
                </a:lnTo>
                <a:lnTo>
                  <a:pt x="407416" y="333248"/>
                </a:lnTo>
                <a:lnTo>
                  <a:pt x="407416" y="316484"/>
                </a:lnTo>
                <a:close/>
              </a:path>
              <a:path w="532765" h="648970">
                <a:moveTo>
                  <a:pt x="532511" y="324104"/>
                </a:moveTo>
                <a:lnTo>
                  <a:pt x="530631" y="271919"/>
                </a:lnTo>
                <a:lnTo>
                  <a:pt x="524992" y="222224"/>
                </a:lnTo>
                <a:lnTo>
                  <a:pt x="515632" y="175056"/>
                </a:lnTo>
                <a:lnTo>
                  <a:pt x="502539" y="130429"/>
                </a:lnTo>
                <a:lnTo>
                  <a:pt x="486168" y="89763"/>
                </a:lnTo>
                <a:lnTo>
                  <a:pt x="467194" y="54457"/>
                </a:lnTo>
                <a:lnTo>
                  <a:pt x="421386" y="0"/>
                </a:lnTo>
                <a:lnTo>
                  <a:pt x="415544" y="9271"/>
                </a:lnTo>
                <a:lnTo>
                  <a:pt x="436219" y="34163"/>
                </a:lnTo>
                <a:lnTo>
                  <a:pt x="454444" y="63855"/>
                </a:lnTo>
                <a:lnTo>
                  <a:pt x="483362" y="137668"/>
                </a:lnTo>
                <a:lnTo>
                  <a:pt x="493852" y="180632"/>
                </a:lnTo>
                <a:lnTo>
                  <a:pt x="501357" y="226047"/>
                </a:lnTo>
                <a:lnTo>
                  <a:pt x="505853" y="273926"/>
                </a:lnTo>
                <a:lnTo>
                  <a:pt x="507365" y="324231"/>
                </a:lnTo>
                <a:lnTo>
                  <a:pt x="505879" y="373557"/>
                </a:lnTo>
                <a:lnTo>
                  <a:pt x="501421" y="420928"/>
                </a:lnTo>
                <a:lnTo>
                  <a:pt x="493966" y="466382"/>
                </a:lnTo>
                <a:lnTo>
                  <a:pt x="483489" y="509905"/>
                </a:lnTo>
                <a:lnTo>
                  <a:pt x="470306" y="549884"/>
                </a:lnTo>
                <a:lnTo>
                  <a:pt x="454609" y="584860"/>
                </a:lnTo>
                <a:lnTo>
                  <a:pt x="415544" y="639699"/>
                </a:lnTo>
                <a:lnTo>
                  <a:pt x="421386" y="648970"/>
                </a:lnTo>
                <a:lnTo>
                  <a:pt x="467194" y="594283"/>
                </a:lnTo>
                <a:lnTo>
                  <a:pt x="486168" y="558622"/>
                </a:lnTo>
                <a:lnTo>
                  <a:pt x="502539" y="517398"/>
                </a:lnTo>
                <a:lnTo>
                  <a:pt x="515632" y="472313"/>
                </a:lnTo>
                <a:lnTo>
                  <a:pt x="524992" y="425043"/>
                </a:lnTo>
                <a:lnTo>
                  <a:pt x="530631" y="375640"/>
                </a:lnTo>
                <a:lnTo>
                  <a:pt x="532511" y="324104"/>
                </a:lnTo>
                <a:close/>
              </a:path>
            </a:pathLst>
          </a:custGeom>
          <a:solidFill>
            <a:srgbClr val="000000"/>
          </a:solidFill>
        </p:spPr>
        <p:txBody>
          <a:bodyPr wrap="square" lIns="0" tIns="0" rIns="0" bIns="0" rtlCol="0"/>
          <a:lstStyle/>
          <a:p>
            <a:endParaRPr/>
          </a:p>
        </p:txBody>
      </p:sp>
      <p:sp>
        <p:nvSpPr>
          <p:cNvPr id="55" name="object 55"/>
          <p:cNvSpPr txBox="1"/>
          <p:nvPr/>
        </p:nvSpPr>
        <p:spPr>
          <a:xfrm>
            <a:off x="6463029" y="4591939"/>
            <a:ext cx="306705" cy="330835"/>
          </a:xfrm>
          <a:prstGeom prst="rect">
            <a:avLst/>
          </a:prstGeom>
        </p:spPr>
        <p:txBody>
          <a:bodyPr vert="horz" wrap="square" lIns="0" tIns="12700" rIns="0" bIns="0" rtlCol="0">
            <a:spAutoFit/>
          </a:bodyPr>
          <a:lstStyle/>
          <a:p>
            <a:pPr marL="12700">
              <a:lnSpc>
                <a:spcPct val="100000"/>
              </a:lnSpc>
              <a:spcBef>
                <a:spcPts val="100"/>
              </a:spcBef>
            </a:pPr>
            <a:r>
              <a:rPr sz="2000" spc="-10" dirty="0">
                <a:latin typeface="Cambria Math"/>
                <a:cs typeface="Cambria Math"/>
              </a:rPr>
              <a:t>2</a:t>
            </a:r>
            <a:r>
              <a:rPr sz="2000" dirty="0">
                <a:latin typeface="Cambria Math"/>
                <a:cs typeface="Cambria Math"/>
              </a:rPr>
              <a:t>1</a:t>
            </a:r>
            <a:endParaRPr sz="2000">
              <a:latin typeface="Cambria Math"/>
              <a:cs typeface="Cambria Math"/>
            </a:endParaRPr>
          </a:p>
        </p:txBody>
      </p:sp>
      <p:sp>
        <p:nvSpPr>
          <p:cNvPr id="56" name="object 56"/>
          <p:cNvSpPr txBox="1"/>
          <p:nvPr/>
        </p:nvSpPr>
        <p:spPr>
          <a:xfrm>
            <a:off x="6533133" y="4954651"/>
            <a:ext cx="166370" cy="330835"/>
          </a:xfrm>
          <a:prstGeom prst="rect">
            <a:avLst/>
          </a:prstGeom>
        </p:spPr>
        <p:txBody>
          <a:bodyPr vert="horz" wrap="square" lIns="0" tIns="12700" rIns="0" bIns="0" rtlCol="0">
            <a:spAutoFit/>
          </a:bodyPr>
          <a:lstStyle/>
          <a:p>
            <a:pPr marL="12700">
              <a:lnSpc>
                <a:spcPct val="100000"/>
              </a:lnSpc>
              <a:spcBef>
                <a:spcPts val="100"/>
              </a:spcBef>
            </a:pPr>
            <a:r>
              <a:rPr sz="2000" dirty="0">
                <a:latin typeface="Cambria Math"/>
                <a:cs typeface="Cambria Math"/>
              </a:rPr>
              <a:t>4</a:t>
            </a:r>
            <a:endParaRPr sz="2000">
              <a:latin typeface="Cambria Math"/>
              <a:cs typeface="Cambria Math"/>
            </a:endParaRPr>
          </a:p>
        </p:txBody>
      </p:sp>
      <p:sp>
        <p:nvSpPr>
          <p:cNvPr id="57" name="object 57"/>
          <p:cNvSpPr/>
          <p:nvPr/>
        </p:nvSpPr>
        <p:spPr>
          <a:xfrm>
            <a:off x="7134986" y="4969128"/>
            <a:ext cx="262255" cy="17145"/>
          </a:xfrm>
          <a:custGeom>
            <a:avLst/>
            <a:gdLst/>
            <a:ahLst/>
            <a:cxnLst/>
            <a:rect l="l" t="t" r="r" b="b"/>
            <a:pathLst>
              <a:path w="262254" h="17145">
                <a:moveTo>
                  <a:pt x="262127" y="0"/>
                </a:moveTo>
                <a:lnTo>
                  <a:pt x="0" y="0"/>
                </a:lnTo>
                <a:lnTo>
                  <a:pt x="0" y="16764"/>
                </a:lnTo>
                <a:lnTo>
                  <a:pt x="262127" y="16764"/>
                </a:lnTo>
                <a:lnTo>
                  <a:pt x="262127" y="0"/>
                </a:lnTo>
                <a:close/>
              </a:path>
            </a:pathLst>
          </a:custGeom>
          <a:solidFill>
            <a:srgbClr val="000000"/>
          </a:solidFill>
        </p:spPr>
        <p:txBody>
          <a:bodyPr wrap="square" lIns="0" tIns="0" rIns="0" bIns="0" rtlCol="0"/>
          <a:lstStyle/>
          <a:p>
            <a:endParaRPr/>
          </a:p>
        </p:txBody>
      </p:sp>
      <p:sp>
        <p:nvSpPr>
          <p:cNvPr id="58" name="object 58"/>
          <p:cNvSpPr txBox="1"/>
          <p:nvPr/>
        </p:nvSpPr>
        <p:spPr>
          <a:xfrm>
            <a:off x="6908545" y="4498975"/>
            <a:ext cx="704215" cy="710565"/>
          </a:xfrm>
          <a:prstGeom prst="rect">
            <a:avLst/>
          </a:prstGeom>
        </p:spPr>
        <p:txBody>
          <a:bodyPr vert="horz" wrap="square" lIns="0" tIns="12700" rIns="0" bIns="0" rtlCol="0">
            <a:spAutoFit/>
          </a:bodyPr>
          <a:lstStyle/>
          <a:p>
            <a:pPr marL="2540" algn="ctr">
              <a:lnSpc>
                <a:spcPts val="2320"/>
              </a:lnSpc>
              <a:spcBef>
                <a:spcPts val="100"/>
              </a:spcBef>
            </a:pPr>
            <a:r>
              <a:rPr sz="3000" spc="75" baseline="-20833" dirty="0">
                <a:latin typeface="Cambria Math"/>
                <a:cs typeface="Cambria Math"/>
              </a:rPr>
              <a:t>𝑞</a:t>
            </a:r>
            <a:r>
              <a:rPr sz="1450" spc="50" dirty="0">
                <a:latin typeface="Cambria Math"/>
                <a:cs typeface="Cambria Math"/>
              </a:rPr>
              <a:t>2</a:t>
            </a:r>
            <a:endParaRPr sz="1450" dirty="0">
              <a:latin typeface="Cambria Math"/>
              <a:cs typeface="Cambria Math"/>
            </a:endParaRPr>
          </a:p>
          <a:p>
            <a:pPr algn="ctr">
              <a:lnSpc>
                <a:spcPts val="1495"/>
              </a:lnSpc>
              <a:tabLst>
                <a:tab pos="493395" algn="l"/>
              </a:tabLst>
            </a:pPr>
            <a:r>
              <a:rPr sz="2000" dirty="0">
                <a:latin typeface="Cambria Math"/>
                <a:cs typeface="Cambria Math"/>
              </a:rPr>
              <a:t>𝑘	</a:t>
            </a:r>
            <a:r>
              <a:rPr sz="2000" spc="-1010" dirty="0" smtClean="0">
                <a:latin typeface="Cambria Math"/>
                <a:cs typeface="Cambria Math"/>
              </a:rPr>
              <a:t>𝑥</a:t>
            </a:r>
            <a:endParaRPr sz="2000" dirty="0">
              <a:latin typeface="Cambria Math"/>
              <a:cs typeface="Cambria Math"/>
            </a:endParaRPr>
          </a:p>
          <a:p>
            <a:pPr marL="2540" algn="ctr">
              <a:lnSpc>
                <a:spcPts val="1570"/>
              </a:lnSpc>
            </a:pPr>
            <a:r>
              <a:rPr sz="3000" spc="97" baseline="-16666" dirty="0">
                <a:latin typeface="Cambria Math"/>
                <a:cs typeface="Cambria Math"/>
              </a:rPr>
              <a:t>𝑟</a:t>
            </a:r>
            <a:r>
              <a:rPr sz="1450" spc="65" dirty="0">
                <a:latin typeface="Cambria Math"/>
                <a:cs typeface="Cambria Math"/>
              </a:rPr>
              <a:t>2</a:t>
            </a:r>
            <a:endParaRPr sz="1450" dirty="0">
              <a:latin typeface="Cambria Math"/>
              <a:cs typeface="Cambria Math"/>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932838" y="1622290"/>
            <a:ext cx="303441" cy="304652"/>
          </a:xfrm>
          <a:prstGeom prst="rect">
            <a:avLst/>
          </a:prstGeom>
        </p:spPr>
      </p:pic>
      <p:pic>
        <p:nvPicPr>
          <p:cNvPr id="3" name="object 3"/>
          <p:cNvPicPr/>
          <p:nvPr/>
        </p:nvPicPr>
        <p:blipFill>
          <a:blip r:embed="rId2" cstate="print"/>
          <a:stretch>
            <a:fillRect/>
          </a:stretch>
        </p:blipFill>
        <p:spPr>
          <a:xfrm>
            <a:off x="7422078" y="1477954"/>
            <a:ext cx="529258" cy="528413"/>
          </a:xfrm>
          <a:prstGeom prst="rect">
            <a:avLst/>
          </a:prstGeom>
        </p:spPr>
      </p:pic>
      <p:sp>
        <p:nvSpPr>
          <p:cNvPr id="4" name="object 4"/>
          <p:cNvSpPr txBox="1"/>
          <p:nvPr/>
        </p:nvSpPr>
        <p:spPr>
          <a:xfrm>
            <a:off x="2971926" y="1993519"/>
            <a:ext cx="495934"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q1</a:t>
            </a:r>
            <a:r>
              <a:rPr sz="1800" dirty="0">
                <a:latin typeface="Calibri"/>
                <a:cs typeface="Calibri"/>
              </a:rPr>
              <a:t>=q</a:t>
            </a:r>
            <a:endParaRPr sz="1800">
              <a:latin typeface="Calibri"/>
              <a:cs typeface="Calibri"/>
            </a:endParaRPr>
          </a:p>
        </p:txBody>
      </p:sp>
      <p:sp>
        <p:nvSpPr>
          <p:cNvPr id="5" name="object 5"/>
          <p:cNvSpPr txBox="1"/>
          <p:nvPr/>
        </p:nvSpPr>
        <p:spPr>
          <a:xfrm>
            <a:off x="5064378" y="1987041"/>
            <a:ext cx="61150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q2</a:t>
            </a:r>
            <a:r>
              <a:rPr sz="1800" dirty="0">
                <a:latin typeface="Calibri"/>
                <a:cs typeface="Calibri"/>
              </a:rPr>
              <a:t>=2q</a:t>
            </a:r>
            <a:endParaRPr sz="1800">
              <a:latin typeface="Calibri"/>
              <a:cs typeface="Calibri"/>
            </a:endParaRPr>
          </a:p>
        </p:txBody>
      </p:sp>
      <p:grpSp>
        <p:nvGrpSpPr>
          <p:cNvPr id="6" name="object 6"/>
          <p:cNvGrpSpPr/>
          <p:nvPr/>
        </p:nvGrpSpPr>
        <p:grpSpPr>
          <a:xfrm>
            <a:off x="3192017" y="1495044"/>
            <a:ext cx="4175760" cy="272415"/>
            <a:chOff x="3192017" y="1495044"/>
            <a:chExt cx="4175760" cy="272415"/>
          </a:xfrm>
        </p:grpSpPr>
        <p:sp>
          <p:nvSpPr>
            <p:cNvPr id="7" name="object 7"/>
            <p:cNvSpPr/>
            <p:nvPr/>
          </p:nvSpPr>
          <p:spPr>
            <a:xfrm>
              <a:off x="3291839" y="1720596"/>
              <a:ext cx="4070985" cy="41910"/>
            </a:xfrm>
            <a:custGeom>
              <a:avLst/>
              <a:gdLst/>
              <a:ahLst/>
              <a:cxnLst/>
              <a:rect l="l" t="t" r="r" b="b"/>
              <a:pathLst>
                <a:path w="4070984" h="41910">
                  <a:moveTo>
                    <a:pt x="0" y="41655"/>
                  </a:moveTo>
                  <a:lnTo>
                    <a:pt x="4070604" y="0"/>
                  </a:lnTo>
                </a:path>
              </a:pathLst>
            </a:custGeom>
            <a:ln w="9143">
              <a:solidFill>
                <a:srgbClr val="000000"/>
              </a:solidFill>
              <a:prstDash val="sysDash"/>
            </a:ln>
          </p:spPr>
          <p:txBody>
            <a:bodyPr wrap="square" lIns="0" tIns="0" rIns="0" bIns="0" rtlCol="0"/>
            <a:lstStyle/>
            <a:p>
              <a:endParaRPr/>
            </a:p>
          </p:txBody>
        </p:sp>
        <p:sp>
          <p:nvSpPr>
            <p:cNvPr id="8" name="object 8"/>
            <p:cNvSpPr/>
            <p:nvPr/>
          </p:nvSpPr>
          <p:spPr>
            <a:xfrm>
              <a:off x="3192017" y="1495044"/>
              <a:ext cx="1914525" cy="86995"/>
            </a:xfrm>
            <a:custGeom>
              <a:avLst/>
              <a:gdLst/>
              <a:ahLst/>
              <a:cxnLst/>
              <a:rect l="l" t="t" r="r" b="b"/>
              <a:pathLst>
                <a:path w="1914525" h="86994">
                  <a:moveTo>
                    <a:pt x="86868" y="0"/>
                  </a:moveTo>
                  <a:lnTo>
                    <a:pt x="0" y="43433"/>
                  </a:lnTo>
                  <a:lnTo>
                    <a:pt x="86868" y="86867"/>
                  </a:lnTo>
                  <a:lnTo>
                    <a:pt x="86868" y="57911"/>
                  </a:lnTo>
                  <a:lnTo>
                    <a:pt x="72390" y="57911"/>
                  </a:lnTo>
                  <a:lnTo>
                    <a:pt x="72390" y="28955"/>
                  </a:lnTo>
                  <a:lnTo>
                    <a:pt x="86868" y="28955"/>
                  </a:lnTo>
                  <a:lnTo>
                    <a:pt x="86868" y="0"/>
                  </a:lnTo>
                  <a:close/>
                </a:path>
                <a:path w="1914525" h="86994">
                  <a:moveTo>
                    <a:pt x="1827148" y="0"/>
                  </a:moveTo>
                  <a:lnTo>
                    <a:pt x="1827148" y="86867"/>
                  </a:lnTo>
                  <a:lnTo>
                    <a:pt x="1885061" y="57911"/>
                  </a:lnTo>
                  <a:lnTo>
                    <a:pt x="1841627" y="57911"/>
                  </a:lnTo>
                  <a:lnTo>
                    <a:pt x="1841627" y="28955"/>
                  </a:lnTo>
                  <a:lnTo>
                    <a:pt x="1885060" y="28955"/>
                  </a:lnTo>
                  <a:lnTo>
                    <a:pt x="1827148" y="0"/>
                  </a:lnTo>
                  <a:close/>
                </a:path>
                <a:path w="1914525" h="86994">
                  <a:moveTo>
                    <a:pt x="86868" y="28955"/>
                  </a:moveTo>
                  <a:lnTo>
                    <a:pt x="72390" y="28955"/>
                  </a:lnTo>
                  <a:lnTo>
                    <a:pt x="72390" y="57911"/>
                  </a:lnTo>
                  <a:lnTo>
                    <a:pt x="86868" y="57911"/>
                  </a:lnTo>
                  <a:lnTo>
                    <a:pt x="86868" y="28955"/>
                  </a:lnTo>
                  <a:close/>
                </a:path>
                <a:path w="1914525" h="86994">
                  <a:moveTo>
                    <a:pt x="1827148" y="28955"/>
                  </a:moveTo>
                  <a:lnTo>
                    <a:pt x="86868" y="28955"/>
                  </a:lnTo>
                  <a:lnTo>
                    <a:pt x="86868" y="57911"/>
                  </a:lnTo>
                  <a:lnTo>
                    <a:pt x="1827148" y="57911"/>
                  </a:lnTo>
                  <a:lnTo>
                    <a:pt x="1827148" y="28955"/>
                  </a:lnTo>
                  <a:close/>
                </a:path>
                <a:path w="1914525" h="86994">
                  <a:moveTo>
                    <a:pt x="1885060" y="28955"/>
                  </a:moveTo>
                  <a:lnTo>
                    <a:pt x="1841627" y="28955"/>
                  </a:lnTo>
                  <a:lnTo>
                    <a:pt x="1841627" y="57911"/>
                  </a:lnTo>
                  <a:lnTo>
                    <a:pt x="1885061" y="57911"/>
                  </a:lnTo>
                  <a:lnTo>
                    <a:pt x="1914017" y="43433"/>
                  </a:lnTo>
                  <a:lnTo>
                    <a:pt x="1885060" y="28955"/>
                  </a:lnTo>
                  <a:close/>
                </a:path>
              </a:pathLst>
            </a:custGeom>
            <a:solidFill>
              <a:srgbClr val="000000"/>
            </a:solidFill>
          </p:spPr>
          <p:txBody>
            <a:bodyPr wrap="square" lIns="0" tIns="0" rIns="0" bIns="0" rtlCol="0"/>
            <a:lstStyle/>
            <a:p>
              <a:endParaRPr/>
            </a:p>
          </p:txBody>
        </p:sp>
      </p:grpSp>
      <p:sp>
        <p:nvSpPr>
          <p:cNvPr id="9" name="object 9"/>
          <p:cNvSpPr/>
          <p:nvPr/>
        </p:nvSpPr>
        <p:spPr>
          <a:xfrm>
            <a:off x="4263390" y="417956"/>
            <a:ext cx="501650" cy="15240"/>
          </a:xfrm>
          <a:custGeom>
            <a:avLst/>
            <a:gdLst/>
            <a:ahLst/>
            <a:cxnLst/>
            <a:rect l="l" t="t" r="r" b="b"/>
            <a:pathLst>
              <a:path w="501650" h="15240">
                <a:moveTo>
                  <a:pt x="501396" y="0"/>
                </a:moveTo>
                <a:lnTo>
                  <a:pt x="0" y="0"/>
                </a:lnTo>
                <a:lnTo>
                  <a:pt x="0" y="15239"/>
                </a:lnTo>
                <a:lnTo>
                  <a:pt x="501396" y="15239"/>
                </a:lnTo>
                <a:lnTo>
                  <a:pt x="501396" y="0"/>
                </a:lnTo>
                <a:close/>
              </a:path>
            </a:pathLst>
          </a:custGeom>
          <a:solidFill>
            <a:srgbClr val="000000"/>
          </a:solidFill>
        </p:spPr>
        <p:txBody>
          <a:bodyPr wrap="square" lIns="0" tIns="0" rIns="0" bIns="0" rtlCol="0"/>
          <a:lstStyle/>
          <a:p>
            <a:endParaRPr/>
          </a:p>
        </p:txBody>
      </p:sp>
      <p:sp>
        <p:nvSpPr>
          <p:cNvPr id="10" name="object 10"/>
          <p:cNvSpPr txBox="1"/>
          <p:nvPr/>
        </p:nvSpPr>
        <p:spPr>
          <a:xfrm>
            <a:off x="4362958" y="333883"/>
            <a:ext cx="292100" cy="299720"/>
          </a:xfrm>
          <a:prstGeom prst="rect">
            <a:avLst/>
          </a:prstGeom>
        </p:spPr>
        <p:txBody>
          <a:bodyPr vert="horz" wrap="square" lIns="0" tIns="12700" rIns="0" bIns="0" rtlCol="0">
            <a:spAutoFit/>
          </a:bodyPr>
          <a:lstStyle/>
          <a:p>
            <a:pPr marL="38100">
              <a:lnSpc>
                <a:spcPct val="100000"/>
              </a:lnSpc>
              <a:spcBef>
                <a:spcPts val="100"/>
              </a:spcBef>
            </a:pPr>
            <a:r>
              <a:rPr sz="2700" spc="82" baseline="-16975" dirty="0">
                <a:latin typeface="Cambria Math"/>
                <a:cs typeface="Cambria Math"/>
              </a:rPr>
              <a:t>𝑟</a:t>
            </a:r>
            <a:r>
              <a:rPr sz="1300" spc="55" dirty="0">
                <a:latin typeface="Cambria Math"/>
                <a:cs typeface="Cambria Math"/>
              </a:rPr>
              <a:t>2</a:t>
            </a:r>
            <a:endParaRPr sz="1300">
              <a:latin typeface="Cambria Math"/>
              <a:cs typeface="Cambria Math"/>
            </a:endParaRPr>
          </a:p>
        </p:txBody>
      </p:sp>
      <p:sp>
        <p:nvSpPr>
          <p:cNvPr id="11" name="object 11"/>
          <p:cNvSpPr txBox="1"/>
          <p:nvPr/>
        </p:nvSpPr>
        <p:spPr>
          <a:xfrm>
            <a:off x="184099" y="200355"/>
            <a:ext cx="5109210" cy="300355"/>
          </a:xfrm>
          <a:prstGeom prst="rect">
            <a:avLst/>
          </a:prstGeom>
        </p:spPr>
        <p:txBody>
          <a:bodyPr vert="horz" wrap="square" lIns="0" tIns="12700" rIns="0" bIns="0" rtlCol="0">
            <a:spAutoFit/>
          </a:bodyPr>
          <a:lstStyle/>
          <a:p>
            <a:pPr marL="38100">
              <a:lnSpc>
                <a:spcPct val="100000"/>
              </a:lnSpc>
              <a:spcBef>
                <a:spcPts val="100"/>
              </a:spcBef>
              <a:tabLst>
                <a:tab pos="3462020" algn="l"/>
              </a:tabLst>
            </a:pPr>
            <a:r>
              <a:rPr sz="1800" spc="-5" dirty="0">
                <a:solidFill>
                  <a:srgbClr val="FF0000"/>
                </a:solidFill>
                <a:latin typeface="Calibri"/>
                <a:cs typeface="Calibri"/>
              </a:rPr>
              <a:t>F</a:t>
            </a:r>
            <a:r>
              <a:rPr sz="1800" spc="-10" dirty="0">
                <a:solidFill>
                  <a:srgbClr val="FF0000"/>
                </a:solidFill>
                <a:latin typeface="Calibri"/>
                <a:cs typeface="Calibri"/>
              </a:rPr>
              <a:t>i</a:t>
            </a:r>
            <a:r>
              <a:rPr sz="1800" spc="-5" dirty="0">
                <a:solidFill>
                  <a:srgbClr val="FF0000"/>
                </a:solidFill>
                <a:latin typeface="Calibri"/>
                <a:cs typeface="Calibri"/>
              </a:rPr>
              <a:t>n</a:t>
            </a:r>
            <a:r>
              <a:rPr sz="1800" dirty="0">
                <a:solidFill>
                  <a:srgbClr val="FF0000"/>
                </a:solidFill>
                <a:latin typeface="Calibri"/>
                <a:cs typeface="Calibri"/>
              </a:rPr>
              <a:t>d</a:t>
            </a:r>
            <a:r>
              <a:rPr sz="1800" spc="10" dirty="0">
                <a:solidFill>
                  <a:srgbClr val="FF0000"/>
                </a:solidFill>
                <a:latin typeface="Calibri"/>
                <a:cs typeface="Calibri"/>
              </a:rPr>
              <a:t> </a:t>
            </a:r>
            <a:r>
              <a:rPr sz="1800" spc="-35" dirty="0">
                <a:solidFill>
                  <a:srgbClr val="FF0000"/>
                </a:solidFill>
                <a:latin typeface="Calibri"/>
                <a:cs typeface="Calibri"/>
              </a:rPr>
              <a:t>f</a:t>
            </a:r>
            <a:r>
              <a:rPr sz="1800" spc="-5" dirty="0">
                <a:solidFill>
                  <a:srgbClr val="FF0000"/>
                </a:solidFill>
                <a:latin typeface="Calibri"/>
                <a:cs typeface="Calibri"/>
              </a:rPr>
              <a:t>o</a:t>
            </a:r>
            <a:r>
              <a:rPr sz="1800" spc="-35" dirty="0">
                <a:solidFill>
                  <a:srgbClr val="FF0000"/>
                </a:solidFill>
                <a:latin typeface="Calibri"/>
                <a:cs typeface="Calibri"/>
              </a:rPr>
              <a:t>r</a:t>
            </a:r>
            <a:r>
              <a:rPr sz="1800" spc="-10" dirty="0">
                <a:solidFill>
                  <a:srgbClr val="FF0000"/>
                </a:solidFill>
                <a:latin typeface="Calibri"/>
                <a:cs typeface="Calibri"/>
              </a:rPr>
              <a:t>c</a:t>
            </a:r>
            <a:r>
              <a:rPr sz="1800" dirty="0">
                <a:solidFill>
                  <a:srgbClr val="FF0000"/>
                </a:solidFill>
                <a:latin typeface="Calibri"/>
                <a:cs typeface="Calibri"/>
              </a:rPr>
              <a:t>e F</a:t>
            </a:r>
            <a:r>
              <a:rPr sz="1800" spc="10" dirty="0">
                <a:solidFill>
                  <a:srgbClr val="FF0000"/>
                </a:solidFill>
                <a:latin typeface="Calibri"/>
                <a:cs typeface="Calibri"/>
              </a:rPr>
              <a:t> </a:t>
            </a:r>
            <a:r>
              <a:rPr sz="1800" spc="-5" dirty="0">
                <a:solidFill>
                  <a:srgbClr val="FF0000"/>
                </a:solidFill>
                <a:latin typeface="Calibri"/>
                <a:cs typeface="Calibri"/>
              </a:rPr>
              <a:t>o</a:t>
            </a:r>
            <a:r>
              <a:rPr sz="1800" dirty="0">
                <a:solidFill>
                  <a:srgbClr val="FF0000"/>
                </a:solidFill>
                <a:latin typeface="Calibri"/>
                <a:cs typeface="Calibri"/>
              </a:rPr>
              <a:t>n</a:t>
            </a:r>
            <a:r>
              <a:rPr sz="1800" spc="-5" dirty="0">
                <a:solidFill>
                  <a:srgbClr val="FF0000"/>
                </a:solidFill>
                <a:latin typeface="Calibri"/>
                <a:cs typeface="Calibri"/>
              </a:rPr>
              <a:t> q</a:t>
            </a:r>
            <a:r>
              <a:rPr sz="1800" dirty="0">
                <a:solidFill>
                  <a:srgbClr val="FF0000"/>
                </a:solidFill>
                <a:latin typeface="Calibri"/>
                <a:cs typeface="Calibri"/>
              </a:rPr>
              <a:t>2</a:t>
            </a:r>
            <a:r>
              <a:rPr sz="1800" spc="5" dirty="0">
                <a:solidFill>
                  <a:srgbClr val="FF0000"/>
                </a:solidFill>
                <a:latin typeface="Calibri"/>
                <a:cs typeface="Calibri"/>
              </a:rPr>
              <a:t> </a:t>
            </a:r>
            <a:r>
              <a:rPr sz="1800" spc="-5" dirty="0">
                <a:solidFill>
                  <a:srgbClr val="FF0000"/>
                </a:solidFill>
                <a:latin typeface="Calibri"/>
                <a:cs typeface="Calibri"/>
              </a:rPr>
              <a:t>du</a:t>
            </a:r>
            <a:r>
              <a:rPr sz="1800" dirty="0">
                <a:solidFill>
                  <a:srgbClr val="FF0000"/>
                </a:solidFill>
                <a:latin typeface="Calibri"/>
                <a:cs typeface="Calibri"/>
              </a:rPr>
              <a:t>e</a:t>
            </a:r>
            <a:r>
              <a:rPr sz="1800" spc="10" dirty="0">
                <a:solidFill>
                  <a:srgbClr val="FF0000"/>
                </a:solidFill>
                <a:latin typeface="Calibri"/>
                <a:cs typeface="Calibri"/>
              </a:rPr>
              <a:t> </a:t>
            </a:r>
            <a:r>
              <a:rPr sz="1800" spc="-20" dirty="0">
                <a:solidFill>
                  <a:srgbClr val="FF0000"/>
                </a:solidFill>
                <a:latin typeface="Calibri"/>
                <a:cs typeface="Calibri"/>
              </a:rPr>
              <a:t>t</a:t>
            </a:r>
            <a:r>
              <a:rPr sz="1800" dirty="0">
                <a:solidFill>
                  <a:srgbClr val="FF0000"/>
                </a:solidFill>
                <a:latin typeface="Calibri"/>
                <a:cs typeface="Calibri"/>
              </a:rPr>
              <a:t>o</a:t>
            </a:r>
            <a:r>
              <a:rPr sz="1800" spc="-5" dirty="0">
                <a:solidFill>
                  <a:srgbClr val="FF0000"/>
                </a:solidFill>
                <a:latin typeface="Calibri"/>
                <a:cs typeface="Calibri"/>
              </a:rPr>
              <a:t> q</a:t>
            </a:r>
            <a:r>
              <a:rPr sz="1800" dirty="0">
                <a:solidFill>
                  <a:srgbClr val="FF0000"/>
                </a:solidFill>
                <a:latin typeface="Calibri"/>
                <a:cs typeface="Calibri"/>
              </a:rPr>
              <a:t>1</a:t>
            </a:r>
            <a:r>
              <a:rPr sz="1800" spc="-5" dirty="0">
                <a:solidFill>
                  <a:srgbClr val="FF0000"/>
                </a:solidFill>
                <a:latin typeface="Calibri"/>
                <a:cs typeface="Calibri"/>
              </a:rPr>
              <a:t> </a:t>
            </a:r>
            <a:r>
              <a:rPr sz="1800" dirty="0">
                <a:solidFill>
                  <a:srgbClr val="FF0000"/>
                </a:solidFill>
                <a:latin typeface="Calibri"/>
                <a:cs typeface="Calibri"/>
              </a:rPr>
              <a:t>and</a:t>
            </a:r>
            <a:r>
              <a:rPr sz="1800" spc="10" dirty="0">
                <a:solidFill>
                  <a:srgbClr val="FF0000"/>
                </a:solidFill>
                <a:latin typeface="Calibri"/>
                <a:cs typeface="Calibri"/>
              </a:rPr>
              <a:t> </a:t>
            </a:r>
            <a:r>
              <a:rPr sz="1800" spc="-5" dirty="0">
                <a:solidFill>
                  <a:srgbClr val="FF0000"/>
                </a:solidFill>
                <a:latin typeface="Calibri"/>
                <a:cs typeface="Calibri"/>
              </a:rPr>
              <a:t>q</a:t>
            </a:r>
            <a:r>
              <a:rPr sz="1800" dirty="0">
                <a:solidFill>
                  <a:srgbClr val="FF0000"/>
                </a:solidFill>
                <a:latin typeface="Calibri"/>
                <a:cs typeface="Calibri"/>
              </a:rPr>
              <a:t>3	</a:t>
            </a:r>
            <a:r>
              <a:rPr sz="2700" baseline="-12345" dirty="0">
                <a:latin typeface="Cambria Math"/>
                <a:cs typeface="Cambria Math"/>
              </a:rPr>
              <a:t>𝐹</a:t>
            </a:r>
            <a:r>
              <a:rPr sz="2700" spc="254" baseline="-12345" dirty="0">
                <a:latin typeface="Cambria Math"/>
                <a:cs typeface="Cambria Math"/>
              </a:rPr>
              <a:t> </a:t>
            </a:r>
            <a:r>
              <a:rPr sz="2700" baseline="-12345" dirty="0">
                <a:latin typeface="Cambria Math"/>
                <a:cs typeface="Cambria Math"/>
              </a:rPr>
              <a:t>=</a:t>
            </a:r>
            <a:r>
              <a:rPr sz="2700" spc="157" baseline="-12345" dirty="0">
                <a:latin typeface="Cambria Math"/>
                <a:cs typeface="Cambria Math"/>
              </a:rPr>
              <a:t> </a:t>
            </a:r>
            <a:r>
              <a:rPr sz="2700" baseline="-12345" dirty="0">
                <a:latin typeface="Cambria Math"/>
                <a:cs typeface="Cambria Math"/>
              </a:rPr>
              <a:t>𝑘</a:t>
            </a:r>
            <a:r>
              <a:rPr sz="2700" spc="-75" baseline="-12345" dirty="0">
                <a:latin typeface="Cambria Math"/>
                <a:cs typeface="Cambria Math"/>
              </a:rPr>
              <a:t> </a:t>
            </a:r>
            <a:r>
              <a:rPr sz="2700" baseline="30864" dirty="0">
                <a:latin typeface="Cambria Math"/>
                <a:cs typeface="Cambria Math"/>
              </a:rPr>
              <a:t>𝑞</a:t>
            </a:r>
            <a:r>
              <a:rPr sz="2700" spc="-7" baseline="30864" dirty="0">
                <a:latin typeface="Cambria Math"/>
                <a:cs typeface="Cambria Math"/>
              </a:rPr>
              <a:t>1</a:t>
            </a:r>
            <a:r>
              <a:rPr sz="2700" baseline="30864" dirty="0">
                <a:latin typeface="Cambria Math"/>
                <a:cs typeface="Cambria Math"/>
              </a:rPr>
              <a:t>𝑞2</a:t>
            </a:r>
            <a:r>
              <a:rPr sz="2700" spc="-135" baseline="30864" dirty="0">
                <a:latin typeface="Cambria Math"/>
                <a:cs typeface="Cambria Math"/>
              </a:rPr>
              <a:t> </a:t>
            </a:r>
            <a:r>
              <a:rPr sz="2700" baseline="-12345" dirty="0">
                <a:latin typeface="Cambria Math"/>
                <a:cs typeface="Cambria Math"/>
              </a:rPr>
              <a:t>,</a:t>
            </a:r>
            <a:r>
              <a:rPr sz="2700" spc="-142" baseline="-12345" dirty="0">
                <a:latin typeface="Cambria Math"/>
                <a:cs typeface="Cambria Math"/>
              </a:rPr>
              <a:t> </a:t>
            </a:r>
            <a:r>
              <a:rPr sz="2700" baseline="-12345" dirty="0">
                <a:latin typeface="Cambria Math"/>
                <a:cs typeface="Cambria Math"/>
              </a:rPr>
              <a:t>𝑘</a:t>
            </a:r>
            <a:r>
              <a:rPr sz="2700" spc="217" baseline="-12345" dirty="0">
                <a:latin typeface="Cambria Math"/>
                <a:cs typeface="Cambria Math"/>
              </a:rPr>
              <a:t> </a:t>
            </a:r>
            <a:r>
              <a:rPr sz="2700" baseline="-12345" dirty="0">
                <a:latin typeface="Cambria Math"/>
                <a:cs typeface="Cambria Math"/>
              </a:rPr>
              <a:t>=</a:t>
            </a:r>
            <a:endParaRPr sz="2700" baseline="-12345">
              <a:latin typeface="Cambria Math"/>
              <a:cs typeface="Cambria Math"/>
            </a:endParaRPr>
          </a:p>
        </p:txBody>
      </p:sp>
      <p:sp>
        <p:nvSpPr>
          <p:cNvPr id="12" name="object 12"/>
          <p:cNvSpPr/>
          <p:nvPr/>
        </p:nvSpPr>
        <p:spPr>
          <a:xfrm>
            <a:off x="5319521" y="417956"/>
            <a:ext cx="478790" cy="15240"/>
          </a:xfrm>
          <a:custGeom>
            <a:avLst/>
            <a:gdLst/>
            <a:ahLst/>
            <a:cxnLst/>
            <a:rect l="l" t="t" r="r" b="b"/>
            <a:pathLst>
              <a:path w="478789" h="15240">
                <a:moveTo>
                  <a:pt x="478536" y="0"/>
                </a:moveTo>
                <a:lnTo>
                  <a:pt x="0" y="0"/>
                </a:lnTo>
                <a:lnTo>
                  <a:pt x="0" y="15239"/>
                </a:lnTo>
                <a:lnTo>
                  <a:pt x="478536" y="15239"/>
                </a:lnTo>
                <a:lnTo>
                  <a:pt x="478536" y="0"/>
                </a:lnTo>
                <a:close/>
              </a:path>
            </a:pathLst>
          </a:custGeom>
          <a:solidFill>
            <a:srgbClr val="000000"/>
          </a:solidFill>
        </p:spPr>
        <p:txBody>
          <a:bodyPr wrap="square" lIns="0" tIns="0" rIns="0" bIns="0" rtlCol="0"/>
          <a:lstStyle/>
          <a:p>
            <a:endParaRPr/>
          </a:p>
        </p:txBody>
      </p:sp>
      <p:sp>
        <p:nvSpPr>
          <p:cNvPr id="13" name="object 13"/>
          <p:cNvSpPr txBox="1"/>
          <p:nvPr/>
        </p:nvSpPr>
        <p:spPr>
          <a:xfrm>
            <a:off x="5482844" y="75640"/>
            <a:ext cx="152400" cy="300355"/>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Math"/>
                <a:cs typeface="Cambria Math"/>
              </a:rPr>
              <a:t>1</a:t>
            </a:r>
            <a:endParaRPr sz="1800">
              <a:latin typeface="Cambria Math"/>
              <a:cs typeface="Cambria Math"/>
            </a:endParaRPr>
          </a:p>
        </p:txBody>
      </p:sp>
      <p:sp>
        <p:nvSpPr>
          <p:cNvPr id="14" name="object 14"/>
          <p:cNvSpPr txBox="1"/>
          <p:nvPr/>
        </p:nvSpPr>
        <p:spPr>
          <a:xfrm>
            <a:off x="5281929" y="402463"/>
            <a:ext cx="541020" cy="299720"/>
          </a:xfrm>
          <a:prstGeom prst="rect">
            <a:avLst/>
          </a:prstGeom>
        </p:spPr>
        <p:txBody>
          <a:bodyPr vert="horz" wrap="square" lIns="0" tIns="12700" rIns="0" bIns="0" rtlCol="0">
            <a:spAutoFit/>
          </a:bodyPr>
          <a:lstStyle/>
          <a:p>
            <a:pPr marL="38100">
              <a:lnSpc>
                <a:spcPct val="100000"/>
              </a:lnSpc>
              <a:spcBef>
                <a:spcPts val="100"/>
              </a:spcBef>
            </a:pPr>
            <a:r>
              <a:rPr sz="1800" spc="15" dirty="0">
                <a:latin typeface="Cambria Math"/>
                <a:cs typeface="Cambria Math"/>
              </a:rPr>
              <a:t>4𝜋𝜀</a:t>
            </a:r>
            <a:r>
              <a:rPr sz="1950" spc="22" baseline="-14957" dirty="0">
                <a:latin typeface="Cambria Math"/>
                <a:cs typeface="Cambria Math"/>
              </a:rPr>
              <a:t>𝑜</a:t>
            </a:r>
            <a:endParaRPr sz="1950" baseline="-14957">
              <a:latin typeface="Cambria Math"/>
              <a:cs typeface="Cambria Math"/>
            </a:endParaRPr>
          </a:p>
        </p:txBody>
      </p:sp>
      <p:sp>
        <p:nvSpPr>
          <p:cNvPr id="15" name="object 15"/>
          <p:cNvSpPr txBox="1"/>
          <p:nvPr/>
        </p:nvSpPr>
        <p:spPr>
          <a:xfrm>
            <a:off x="3978909" y="1187322"/>
            <a:ext cx="10541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r</a:t>
            </a:r>
            <a:endParaRPr sz="1800">
              <a:latin typeface="Calibri"/>
              <a:cs typeface="Calibri"/>
            </a:endParaRPr>
          </a:p>
        </p:txBody>
      </p:sp>
      <p:sp>
        <p:nvSpPr>
          <p:cNvPr id="16" name="object 16"/>
          <p:cNvSpPr txBox="1"/>
          <p:nvPr/>
        </p:nvSpPr>
        <p:spPr>
          <a:xfrm>
            <a:off x="7385684" y="1995042"/>
            <a:ext cx="61150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q3</a:t>
            </a:r>
            <a:r>
              <a:rPr sz="1800" dirty="0">
                <a:latin typeface="Calibri"/>
                <a:cs typeface="Calibri"/>
              </a:rPr>
              <a:t>=3q</a:t>
            </a:r>
            <a:endParaRPr sz="1800">
              <a:latin typeface="Calibri"/>
              <a:cs typeface="Calibri"/>
            </a:endParaRPr>
          </a:p>
        </p:txBody>
      </p:sp>
      <p:grpSp>
        <p:nvGrpSpPr>
          <p:cNvPr id="17" name="object 17"/>
          <p:cNvGrpSpPr/>
          <p:nvPr/>
        </p:nvGrpSpPr>
        <p:grpSpPr>
          <a:xfrm>
            <a:off x="5105400" y="1463039"/>
            <a:ext cx="2351405" cy="556260"/>
            <a:chOff x="5105400" y="1463039"/>
            <a:chExt cx="2351405" cy="556260"/>
          </a:xfrm>
        </p:grpSpPr>
        <p:sp>
          <p:nvSpPr>
            <p:cNvPr id="18" name="object 18"/>
            <p:cNvSpPr/>
            <p:nvPr/>
          </p:nvSpPr>
          <p:spPr>
            <a:xfrm>
              <a:off x="5525262" y="1463039"/>
              <a:ext cx="1931670" cy="118110"/>
            </a:xfrm>
            <a:custGeom>
              <a:avLst/>
              <a:gdLst/>
              <a:ahLst/>
              <a:cxnLst/>
              <a:rect l="l" t="t" r="r" b="b"/>
              <a:pathLst>
                <a:path w="1931670" h="118109">
                  <a:moveTo>
                    <a:pt x="86105" y="30734"/>
                  </a:moveTo>
                  <a:lnTo>
                    <a:pt x="0" y="75692"/>
                  </a:lnTo>
                  <a:lnTo>
                    <a:pt x="87629" y="117601"/>
                  </a:lnTo>
                  <a:lnTo>
                    <a:pt x="87126" y="88900"/>
                  </a:lnTo>
                  <a:lnTo>
                    <a:pt x="72643" y="88900"/>
                  </a:lnTo>
                  <a:lnTo>
                    <a:pt x="72136" y="59944"/>
                  </a:lnTo>
                  <a:lnTo>
                    <a:pt x="86614" y="59690"/>
                  </a:lnTo>
                  <a:lnTo>
                    <a:pt x="86105" y="30734"/>
                  </a:lnTo>
                  <a:close/>
                </a:path>
                <a:path w="1931670" h="118109">
                  <a:moveTo>
                    <a:pt x="86614" y="59690"/>
                  </a:moveTo>
                  <a:lnTo>
                    <a:pt x="72136" y="59944"/>
                  </a:lnTo>
                  <a:lnTo>
                    <a:pt x="72643" y="88900"/>
                  </a:lnTo>
                  <a:lnTo>
                    <a:pt x="87122" y="88646"/>
                  </a:lnTo>
                  <a:lnTo>
                    <a:pt x="86614" y="59690"/>
                  </a:lnTo>
                  <a:close/>
                </a:path>
                <a:path w="1931670" h="118109">
                  <a:moveTo>
                    <a:pt x="87122" y="88646"/>
                  </a:moveTo>
                  <a:lnTo>
                    <a:pt x="72643" y="88900"/>
                  </a:lnTo>
                  <a:lnTo>
                    <a:pt x="87126" y="88900"/>
                  </a:lnTo>
                  <a:lnTo>
                    <a:pt x="87122" y="88646"/>
                  </a:lnTo>
                  <a:close/>
                </a:path>
                <a:path w="1931670" h="118109">
                  <a:moveTo>
                    <a:pt x="1844293" y="28955"/>
                  </a:moveTo>
                  <a:lnTo>
                    <a:pt x="86614" y="59690"/>
                  </a:lnTo>
                  <a:lnTo>
                    <a:pt x="87122" y="88646"/>
                  </a:lnTo>
                  <a:lnTo>
                    <a:pt x="1844801" y="57911"/>
                  </a:lnTo>
                  <a:lnTo>
                    <a:pt x="1844293" y="28955"/>
                  </a:lnTo>
                  <a:close/>
                </a:path>
                <a:path w="1931670" h="118109">
                  <a:moveTo>
                    <a:pt x="1903799" y="28701"/>
                  </a:moveTo>
                  <a:lnTo>
                    <a:pt x="1858771" y="28701"/>
                  </a:lnTo>
                  <a:lnTo>
                    <a:pt x="1859280" y="57658"/>
                  </a:lnTo>
                  <a:lnTo>
                    <a:pt x="1844801" y="57911"/>
                  </a:lnTo>
                  <a:lnTo>
                    <a:pt x="1845310" y="86868"/>
                  </a:lnTo>
                  <a:lnTo>
                    <a:pt x="1931415" y="41910"/>
                  </a:lnTo>
                  <a:lnTo>
                    <a:pt x="1903799" y="28701"/>
                  </a:lnTo>
                  <a:close/>
                </a:path>
                <a:path w="1931670" h="118109">
                  <a:moveTo>
                    <a:pt x="1858771" y="28701"/>
                  </a:moveTo>
                  <a:lnTo>
                    <a:pt x="1844293" y="28955"/>
                  </a:lnTo>
                  <a:lnTo>
                    <a:pt x="1844801" y="57911"/>
                  </a:lnTo>
                  <a:lnTo>
                    <a:pt x="1859280" y="57658"/>
                  </a:lnTo>
                  <a:lnTo>
                    <a:pt x="1858771" y="28701"/>
                  </a:lnTo>
                  <a:close/>
                </a:path>
                <a:path w="1931670" h="118109">
                  <a:moveTo>
                    <a:pt x="1843786" y="0"/>
                  </a:moveTo>
                  <a:lnTo>
                    <a:pt x="1844293" y="28955"/>
                  </a:lnTo>
                  <a:lnTo>
                    <a:pt x="1858771" y="28701"/>
                  </a:lnTo>
                  <a:lnTo>
                    <a:pt x="1903799" y="28701"/>
                  </a:lnTo>
                  <a:lnTo>
                    <a:pt x="1843786" y="0"/>
                  </a:lnTo>
                  <a:close/>
                </a:path>
              </a:pathLst>
            </a:custGeom>
            <a:solidFill>
              <a:srgbClr val="000000"/>
            </a:solidFill>
          </p:spPr>
          <p:txBody>
            <a:bodyPr wrap="square" lIns="0" tIns="0" rIns="0" bIns="0" rtlCol="0"/>
            <a:lstStyle/>
            <a:p>
              <a:endParaRPr/>
            </a:p>
          </p:txBody>
        </p:sp>
        <p:pic>
          <p:nvPicPr>
            <p:cNvPr id="19" name="object 19"/>
            <p:cNvPicPr/>
            <p:nvPr/>
          </p:nvPicPr>
          <p:blipFill>
            <a:blip r:embed="rId3" cstate="print"/>
            <a:stretch>
              <a:fillRect/>
            </a:stretch>
          </p:blipFill>
          <p:spPr>
            <a:xfrm>
              <a:off x="5105400" y="1536191"/>
              <a:ext cx="483108" cy="483108"/>
            </a:xfrm>
            <a:prstGeom prst="rect">
              <a:avLst/>
            </a:prstGeom>
          </p:spPr>
        </p:pic>
      </p:grpSp>
      <p:sp>
        <p:nvSpPr>
          <p:cNvPr id="20" name="object 20"/>
          <p:cNvSpPr txBox="1"/>
          <p:nvPr/>
        </p:nvSpPr>
        <p:spPr>
          <a:xfrm>
            <a:off x="6290817" y="1118996"/>
            <a:ext cx="10541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r</a:t>
            </a:r>
            <a:endParaRPr sz="1800">
              <a:latin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62883" y="2533650"/>
            <a:ext cx="5161915" cy="2129155"/>
          </a:xfrm>
          <a:prstGeom prst="rect">
            <a:avLst/>
          </a:prstGeom>
        </p:spPr>
        <p:txBody>
          <a:bodyPr vert="horz" wrap="square" lIns="0" tIns="12700" rIns="0" bIns="0" rtlCol="0">
            <a:spAutoFit/>
          </a:bodyPr>
          <a:lstStyle/>
          <a:p>
            <a:pPr marL="12700">
              <a:lnSpc>
                <a:spcPct val="100000"/>
              </a:lnSpc>
              <a:spcBef>
                <a:spcPts val="100"/>
              </a:spcBef>
            </a:pPr>
            <a:r>
              <a:rPr sz="13800" spc="-30" dirty="0">
                <a:solidFill>
                  <a:srgbClr val="FF0000"/>
                </a:solidFill>
              </a:rPr>
              <a:t>Thanks</a:t>
            </a:r>
            <a:endParaRPr sz="138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TotalTime>
  <Words>888</Words>
  <Application>Microsoft Office PowerPoint</Application>
  <PresentationFormat>Widescreen</PresentationFormat>
  <Paragraphs>198</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MS Gothic</vt:lpstr>
      <vt:lpstr>Arial</vt:lpstr>
      <vt:lpstr>Arial MT</vt:lpstr>
      <vt:lpstr>Calibri</vt:lpstr>
      <vt:lpstr>Calibri Light</vt:lpstr>
      <vt:lpstr>Cambria Math</vt:lpstr>
      <vt:lpstr>Office Theme</vt:lpstr>
      <vt:lpstr>Coulomb’s Law Week-06</vt:lpstr>
      <vt:lpstr>Coulomb’s Law Coulomb’s law describes the electrostatic force (or electric force) between two charged  particles. If the particles have charges q1 and q2, are separated by distance r, and are at rest  (or moving only slowly) relative to each other, then the magnitude of the force acting on  each due to the other is given by</vt:lpstr>
      <vt:lpstr>Coulomb's Law</vt:lpstr>
      <vt:lpstr>PowerPoint Presentation</vt:lpstr>
      <vt:lpstr>Coulomb’s Law</vt:lpstr>
      <vt:lpstr>PowerPoint Presentation</vt:lpstr>
      <vt:lpstr>Problem_02: Two-point charges, q1 = +9 μC and q2 = 4 μC, are separated by a distance r = 12 cm.</vt:lpstr>
      <vt:lpstr>Fnet=0</vt:lpstr>
      <vt:lpstr>Coulomb’s Law</vt:lpstr>
      <vt:lpstr>PowerPoint Presentation</vt:lpstr>
      <vt:lpstr>PowerPoint Presentation</vt:lpstr>
      <vt:lpstr>Find force F on q2 due to q1 and q3 𝐹 = 𝑘 𝑞1𝑞2 , 𝑘 =</vt:lpstr>
      <vt:lpstr>PowerPoint Presentation</vt:lpstr>
      <vt:lpstr>PowerPoint Presentation</vt:lpstr>
      <vt:lpstr>Thanks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Coulomb’s Law</dc:title>
  <dc:creator>ghulam abbas Lashari</dc:creator>
  <cp:lastModifiedBy>Engr Asif Ali</cp:lastModifiedBy>
  <cp:revision>17</cp:revision>
  <dcterms:created xsi:type="dcterms:W3CDTF">2024-02-27T19:44:25Z</dcterms:created>
  <dcterms:modified xsi:type="dcterms:W3CDTF">2024-02-28T05:18:41Z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2024-02-14T00:00:00Z</vt:filetime>
  </property>
  <property fmtid="{D5CDD505-2E9C-101B-9397-08002B2CF9AE}" pid="3" name="Creator">
    <vt:lpwstr>Microsoft® PowerPoint® 2016</vt:lpwstr>
  </property>
  <property fmtid="{D5CDD505-2E9C-101B-9397-08002B2CF9AE}" pid="4" name="LastSaved">
    <vt:filetime>2024-02-27T00:00:00Z</vt:filetime>
  </property>
</Properties>
</file>
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9" r:id="rId12"/>
    <p:sldId id="270" r:id="rId13"/>
    <p:sldId id="266" r:id="rId14"/>
    <p:sldId id="267" r:id="rId15"/>
    <p:sldId id="268" r:id="rId16"/>
  </p:sldIdLst>
  <p:sldSz cx="18288000" cy="10287000"/>
  <p:notesSz cx="6858000" cy="9144000"/>
  <p:embeddedFontLst>
    <p:embeddedFont>
      <p:font typeface="Yeseva One" panose="020B0604020202020204" charset="0"/>
      <p:regular r:id="rId17"/>
    </p:embeddedFont>
    <p:embeddedFont>
      <p:font typeface="Canva Sans" panose="020B0604020202020204" charset="0"/>
      <p:regular r:id="rId18"/>
    </p:embeddedFont>
    <p:embeddedFont>
      <p:font typeface="Calibri" panose="020F0502020204030204" pitchFamily="34" charset="0"/>
      <p:regular r:id="rId19"/>
      <p:bold r:id="rId20"/>
      <p:italic r:id="rId21"/>
      <p:boldItalic r:id="rId22"/>
    </p:embeddedFont>
    <p:embeddedFont>
      <p:font typeface="Libre Baskerville" panose="020B0604020202020204" charset="0"/>
      <p:regular r:id="rId23"/>
    </p:embeddedFont>
    <p:embeddedFont>
      <p:font typeface="Canva Sans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19" autoAdjust="0"/>
    <p:restoredTop sz="94622" autoAdjust="0"/>
  </p:normalViewPr>
  <p:slideViewPr>
    <p:cSldViewPr>
      <p:cViewPr varScale="1">
        <p:scale>
          <a:sx n="73" d="100"/>
          <a:sy n="73" d="100"/>
        </p:scale>
        <p:origin x="1068"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3283182" y="3632200"/>
            <a:ext cx="11721636" cy="1670051"/>
          </a:xfrm>
          <a:prstGeom prst="rect">
            <a:avLst/>
          </a:prstGeom>
        </p:spPr>
        <p:txBody>
          <a:bodyPr lIns="0" tIns="0" rIns="0" bIns="0" rtlCol="0" anchor="t">
            <a:spAutoFit/>
          </a:bodyPr>
          <a:lstStyle/>
          <a:p>
            <a:pPr algn="ctr">
              <a:lnSpc>
                <a:spcPts val="12500"/>
              </a:lnSpc>
            </a:pPr>
            <a:endParaRPr/>
          </a:p>
        </p:txBody>
      </p:sp>
      <p:sp>
        <p:nvSpPr>
          <p:cNvPr id="8" name="TextBox 8"/>
          <p:cNvSpPr txBox="1"/>
          <p:nvPr/>
        </p:nvSpPr>
        <p:spPr>
          <a:xfrm>
            <a:off x="0" y="4257675"/>
            <a:ext cx="17254363" cy="1962150"/>
          </a:xfrm>
          <a:prstGeom prst="rect">
            <a:avLst/>
          </a:prstGeom>
        </p:spPr>
        <p:txBody>
          <a:bodyPr lIns="0" tIns="0" rIns="0" bIns="0" rtlCol="0" anchor="t">
            <a:spAutoFit/>
          </a:bodyPr>
          <a:lstStyle/>
          <a:p>
            <a:pPr algn="ctr">
              <a:lnSpc>
                <a:spcPts val="7500"/>
              </a:lnSpc>
              <a:spcBef>
                <a:spcPct val="0"/>
              </a:spcBef>
            </a:pPr>
            <a:r>
              <a:rPr lang="en-US" sz="7500">
                <a:solidFill>
                  <a:srgbClr val="000000"/>
                </a:solidFill>
                <a:latin typeface="Libre Baskerville"/>
              </a:rPr>
              <a:t>Faraday’s Laws of Electromagnetic Induction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0" y="1284495"/>
            <a:ext cx="10061982" cy="1056422"/>
          </a:xfrm>
          <a:prstGeom prst="rect">
            <a:avLst/>
          </a:prstGeom>
        </p:spPr>
        <p:txBody>
          <a:bodyPr lIns="0" tIns="0" rIns="0" bIns="0" rtlCol="0" anchor="t">
            <a:spAutoFit/>
          </a:bodyPr>
          <a:lstStyle/>
          <a:p>
            <a:pPr algn="ctr">
              <a:lnSpc>
                <a:spcPts val="7895"/>
              </a:lnSpc>
            </a:pPr>
            <a:r>
              <a:rPr lang="en-US" sz="7895">
                <a:solidFill>
                  <a:srgbClr val="000000"/>
                </a:solidFill>
                <a:latin typeface="Yeseva One"/>
              </a:rPr>
              <a:t>Table of Contents</a:t>
            </a:r>
          </a:p>
        </p:txBody>
      </p:sp>
      <p:sp>
        <p:nvSpPr>
          <p:cNvPr id="5" name="TextBox 5"/>
          <p:cNvSpPr txBox="1"/>
          <p:nvPr/>
        </p:nvSpPr>
        <p:spPr>
          <a:xfrm>
            <a:off x="1350265" y="3268017"/>
            <a:ext cx="5499928"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Electromagnetic Induction</a:t>
            </a:r>
          </a:p>
        </p:txBody>
      </p:sp>
      <p:sp>
        <p:nvSpPr>
          <p:cNvPr id="6" name="TextBox 6"/>
          <p:cNvSpPr txBox="1"/>
          <p:nvPr/>
        </p:nvSpPr>
        <p:spPr>
          <a:xfrm>
            <a:off x="1350265" y="4526661"/>
            <a:ext cx="8965711"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Farday’s Law of Electromagnetic  Induction</a:t>
            </a:r>
          </a:p>
        </p:txBody>
      </p:sp>
      <p:sp>
        <p:nvSpPr>
          <p:cNvPr id="7" name="TextBox 7"/>
          <p:cNvSpPr txBox="1"/>
          <p:nvPr/>
        </p:nvSpPr>
        <p:spPr>
          <a:xfrm>
            <a:off x="479707" y="3198167"/>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01</a:t>
            </a:r>
          </a:p>
        </p:txBody>
      </p:sp>
      <p:sp>
        <p:nvSpPr>
          <p:cNvPr id="8" name="TextBox 8"/>
          <p:cNvSpPr txBox="1"/>
          <p:nvPr/>
        </p:nvSpPr>
        <p:spPr>
          <a:xfrm>
            <a:off x="479707" y="4456811"/>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02</a:t>
            </a:r>
          </a:p>
        </p:txBody>
      </p:sp>
      <p:sp>
        <p:nvSpPr>
          <p:cNvPr id="9" name="TextBox 9"/>
          <p:cNvSpPr txBox="1"/>
          <p:nvPr/>
        </p:nvSpPr>
        <p:spPr>
          <a:xfrm>
            <a:off x="1350265" y="6029617"/>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B</a:t>
            </a:r>
          </a:p>
        </p:txBody>
      </p:sp>
      <p:sp>
        <p:nvSpPr>
          <p:cNvPr id="10" name="TextBox 10"/>
          <p:cNvSpPr txBox="1"/>
          <p:nvPr/>
        </p:nvSpPr>
        <p:spPr>
          <a:xfrm>
            <a:off x="1350265" y="5277142"/>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A</a:t>
            </a:r>
          </a:p>
        </p:txBody>
      </p:sp>
      <p:sp>
        <p:nvSpPr>
          <p:cNvPr id="11" name="TextBox 11"/>
          <p:cNvSpPr txBox="1"/>
          <p:nvPr/>
        </p:nvSpPr>
        <p:spPr>
          <a:xfrm>
            <a:off x="2198723" y="5277142"/>
            <a:ext cx="9974738"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Farday’s First Law of Electromagnetic  Induction</a:t>
            </a:r>
          </a:p>
        </p:txBody>
      </p:sp>
      <p:sp>
        <p:nvSpPr>
          <p:cNvPr id="12" name="TextBox 12"/>
          <p:cNvSpPr txBox="1"/>
          <p:nvPr/>
        </p:nvSpPr>
        <p:spPr>
          <a:xfrm>
            <a:off x="2265217" y="6064542"/>
            <a:ext cx="10343894"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Farday’s Second Law of Electromagnetic  Induction</a:t>
            </a:r>
          </a:p>
        </p:txBody>
      </p:sp>
      <p:sp>
        <p:nvSpPr>
          <p:cNvPr id="13" name="TextBox 13"/>
          <p:cNvSpPr txBox="1"/>
          <p:nvPr/>
        </p:nvSpPr>
        <p:spPr>
          <a:xfrm>
            <a:off x="1350265" y="7223417"/>
            <a:ext cx="8965711"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Lenz’s Law</a:t>
            </a:r>
          </a:p>
        </p:txBody>
      </p:sp>
      <p:sp>
        <p:nvSpPr>
          <p:cNvPr id="14" name="TextBox 14"/>
          <p:cNvSpPr txBox="1"/>
          <p:nvPr/>
        </p:nvSpPr>
        <p:spPr>
          <a:xfrm>
            <a:off x="479707" y="7153567"/>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03</a:t>
            </a:r>
          </a:p>
        </p:txBody>
      </p:sp>
      <p:sp>
        <p:nvSpPr>
          <p:cNvPr id="15" name="TextBox 15"/>
          <p:cNvSpPr txBox="1"/>
          <p:nvPr/>
        </p:nvSpPr>
        <p:spPr>
          <a:xfrm>
            <a:off x="1350265" y="8207667"/>
            <a:ext cx="8965711"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Application’s of Farday’s Law</a:t>
            </a:r>
          </a:p>
        </p:txBody>
      </p:sp>
      <p:sp>
        <p:nvSpPr>
          <p:cNvPr id="16" name="TextBox 16"/>
          <p:cNvSpPr txBox="1"/>
          <p:nvPr/>
        </p:nvSpPr>
        <p:spPr>
          <a:xfrm>
            <a:off x="479707" y="8172742"/>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04</a:t>
            </a:r>
          </a:p>
        </p:txBody>
      </p:sp>
      <p:sp>
        <p:nvSpPr>
          <p:cNvPr id="17" name="TextBox 17"/>
          <p:cNvSpPr txBox="1"/>
          <p:nvPr/>
        </p:nvSpPr>
        <p:spPr>
          <a:xfrm>
            <a:off x="1522538" y="9220492"/>
            <a:ext cx="8965711" cy="400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Conclusion</a:t>
            </a:r>
          </a:p>
        </p:txBody>
      </p:sp>
      <p:sp>
        <p:nvSpPr>
          <p:cNvPr id="18" name="TextBox 18"/>
          <p:cNvSpPr txBox="1"/>
          <p:nvPr/>
        </p:nvSpPr>
        <p:spPr>
          <a:xfrm>
            <a:off x="501808" y="9274467"/>
            <a:ext cx="848458" cy="469900"/>
          </a:xfrm>
          <a:prstGeom prst="rect">
            <a:avLst/>
          </a:prstGeom>
        </p:spPr>
        <p:txBody>
          <a:bodyPr lIns="0" tIns="0" rIns="0" bIns="0" rtlCol="0" anchor="t">
            <a:spAutoFit/>
          </a:bodyPr>
          <a:lstStyle/>
          <a:p>
            <a:pPr algn="ctr">
              <a:lnSpc>
                <a:spcPts val="3500"/>
              </a:lnSpc>
            </a:pPr>
            <a:r>
              <a:rPr lang="en-US" sz="3500">
                <a:solidFill>
                  <a:srgbClr val="000000"/>
                </a:solidFill>
                <a:latin typeface="Yeseva One"/>
              </a:rPr>
              <a:t>05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4" name="TextBox 4"/>
          <p:cNvSpPr txBox="1"/>
          <p:nvPr/>
        </p:nvSpPr>
        <p:spPr>
          <a:xfrm>
            <a:off x="-151434" y="348615"/>
            <a:ext cx="13633229" cy="1226820"/>
          </a:xfrm>
          <a:prstGeom prst="rect">
            <a:avLst/>
          </a:prstGeom>
        </p:spPr>
        <p:txBody>
          <a:bodyPr lIns="0" tIns="0" rIns="0" bIns="0" rtlCol="0" anchor="t">
            <a:spAutoFit/>
          </a:bodyPr>
          <a:lstStyle/>
          <a:p>
            <a:pPr algn="ctr">
              <a:lnSpc>
                <a:spcPts val="10080"/>
              </a:lnSpc>
            </a:pPr>
            <a:r>
              <a:rPr lang="en-US" sz="7200">
                <a:solidFill>
                  <a:srgbClr val="000000"/>
                </a:solidFill>
                <a:latin typeface="Canva Sans Bold"/>
              </a:rPr>
              <a:t> Electromagnetic Induction</a:t>
            </a:r>
          </a:p>
        </p:txBody>
      </p:sp>
      <p:sp>
        <p:nvSpPr>
          <p:cNvPr id="5" name="TextBox 5"/>
          <p:cNvSpPr txBox="1"/>
          <p:nvPr/>
        </p:nvSpPr>
        <p:spPr>
          <a:xfrm>
            <a:off x="0" y="1745660"/>
            <a:ext cx="13633229" cy="5996195"/>
          </a:xfrm>
          <a:prstGeom prst="rect">
            <a:avLst/>
          </a:prstGeom>
        </p:spPr>
        <p:txBody>
          <a:bodyPr lIns="0" tIns="0" rIns="0" bIns="0" rtlCol="0" anchor="t">
            <a:spAutoFit/>
          </a:bodyPr>
          <a:lstStyle/>
          <a:p>
            <a:pPr algn="ctr">
              <a:lnSpc>
                <a:spcPts val="5977"/>
              </a:lnSpc>
            </a:pPr>
            <a:r>
              <a:rPr lang="en-US" sz="4269">
                <a:solidFill>
                  <a:srgbClr val="000000"/>
                </a:solidFill>
                <a:latin typeface="Canva Sans"/>
              </a:rPr>
              <a:t>Electromagnetic Induction is the process of using magnetic fields to produce voltage, and in a complete circuit, a current. Michael Faraday first discovered it, using some of the works of Hans Christian Oersted. His work started at first using different combinations of wires and magnetic strengths and currents, but it wasn't until he tried moving the wires that he got any success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3" name="TextBox 3"/>
          <p:cNvSpPr txBox="1"/>
          <p:nvPr/>
        </p:nvSpPr>
        <p:spPr>
          <a:xfrm>
            <a:off x="-151434" y="348615"/>
            <a:ext cx="13633229" cy="3779520"/>
          </a:xfrm>
          <a:prstGeom prst="rect">
            <a:avLst/>
          </a:prstGeom>
        </p:spPr>
        <p:txBody>
          <a:bodyPr lIns="0" tIns="0" rIns="0" bIns="0" rtlCol="0" anchor="t">
            <a:spAutoFit/>
          </a:bodyPr>
          <a:lstStyle/>
          <a:p>
            <a:pPr algn="ctr">
              <a:lnSpc>
                <a:spcPts val="10080"/>
              </a:lnSpc>
            </a:pPr>
            <a:r>
              <a:rPr lang="en-US" sz="7200">
                <a:solidFill>
                  <a:srgbClr val="000000"/>
                </a:solidFill>
                <a:latin typeface="Canva Sans Bold"/>
              </a:rPr>
              <a:t> Faraday’s Laws of Electromagnetic Induction</a:t>
            </a:r>
          </a:p>
          <a:p>
            <a:pPr algn="ctr">
              <a:lnSpc>
                <a:spcPts val="10080"/>
              </a:lnSpc>
            </a:pPr>
            <a:endParaRPr lang="en-US" sz="7200">
              <a:solidFill>
                <a:srgbClr val="000000"/>
              </a:solidFill>
              <a:latin typeface="Canva Sans Bold"/>
            </a:endParaRPr>
          </a:p>
        </p:txBody>
      </p:sp>
      <p:sp>
        <p:nvSpPr>
          <p:cNvPr id="4" name="TextBox 4"/>
          <p:cNvSpPr txBox="1"/>
          <p:nvPr/>
        </p:nvSpPr>
        <p:spPr>
          <a:xfrm>
            <a:off x="0" y="3262105"/>
            <a:ext cx="13633229" cy="2981974"/>
          </a:xfrm>
          <a:prstGeom prst="rect">
            <a:avLst/>
          </a:prstGeom>
        </p:spPr>
        <p:txBody>
          <a:bodyPr lIns="0" tIns="0" rIns="0" bIns="0" rtlCol="0" anchor="t">
            <a:spAutoFit/>
          </a:bodyPr>
          <a:lstStyle/>
          <a:p>
            <a:pPr algn="ctr">
              <a:lnSpc>
                <a:spcPts val="5977"/>
              </a:lnSpc>
            </a:pPr>
            <a:r>
              <a:rPr lang="en-US" sz="4269">
                <a:solidFill>
                  <a:srgbClr val="000000"/>
                </a:solidFill>
                <a:latin typeface="Canva Sans"/>
              </a:rPr>
              <a:t>Faraday’s Laws of Electromagnetic Induction consists of two laws. The first law describes the induction of emf in a conductor and the second law quantifies the emf produced in the conductor.  </a:t>
            </a:r>
          </a:p>
        </p:txBody>
      </p:sp>
      <p:sp>
        <p:nvSpPr>
          <p:cNvPr id="5" name="TextBox 5"/>
          <p:cNvSpPr txBox="1"/>
          <p:nvPr/>
        </p:nvSpPr>
        <p:spPr>
          <a:xfrm>
            <a:off x="2030340" y="6569580"/>
            <a:ext cx="5580448" cy="781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Faraday’s First Law of Electromagnetic  Induction</a:t>
            </a:r>
          </a:p>
        </p:txBody>
      </p:sp>
      <p:sp>
        <p:nvSpPr>
          <p:cNvPr id="6" name="TextBox 6"/>
          <p:cNvSpPr txBox="1"/>
          <p:nvPr/>
        </p:nvSpPr>
        <p:spPr>
          <a:xfrm>
            <a:off x="2030340" y="7906266"/>
            <a:ext cx="6434269" cy="781050"/>
          </a:xfrm>
          <a:prstGeom prst="rect">
            <a:avLst/>
          </a:prstGeom>
        </p:spPr>
        <p:txBody>
          <a:bodyPr lIns="0" tIns="0" rIns="0" bIns="0" rtlCol="0" anchor="t">
            <a:spAutoFit/>
          </a:bodyPr>
          <a:lstStyle/>
          <a:p>
            <a:pPr>
              <a:lnSpc>
                <a:spcPts val="3000"/>
              </a:lnSpc>
            </a:pPr>
            <a:r>
              <a:rPr lang="en-US" sz="3000">
                <a:solidFill>
                  <a:srgbClr val="000000"/>
                </a:solidFill>
                <a:latin typeface="Libre Baskerville"/>
              </a:rPr>
              <a:t>Faraday’s Second Law of Electromagnetic  Induction</a:t>
            </a:r>
          </a:p>
        </p:txBody>
      </p:sp>
      <p:sp>
        <p:nvSpPr>
          <p:cNvPr id="7" name="AutoShape 7"/>
          <p:cNvSpPr/>
          <p:nvPr/>
        </p:nvSpPr>
        <p:spPr>
          <a:xfrm>
            <a:off x="-151434" y="6734874"/>
            <a:ext cx="1794413" cy="92018"/>
          </a:xfrm>
          <a:prstGeom prst="line">
            <a:avLst/>
          </a:prstGeom>
          <a:ln w="133350" cap="flat">
            <a:solidFill>
              <a:srgbClr val="000000"/>
            </a:solidFill>
            <a:prstDash val="solid"/>
            <a:headEnd type="none" w="sm" len="sm"/>
            <a:tailEnd type="arrow" w="med" len="sm"/>
          </a:ln>
        </p:spPr>
      </p:sp>
      <p:sp>
        <p:nvSpPr>
          <p:cNvPr id="8" name="AutoShape 8"/>
          <p:cNvSpPr/>
          <p:nvPr/>
        </p:nvSpPr>
        <p:spPr>
          <a:xfrm>
            <a:off x="-146068" y="8071560"/>
            <a:ext cx="1794413" cy="92018"/>
          </a:xfrm>
          <a:prstGeom prst="line">
            <a:avLst/>
          </a:prstGeom>
          <a:ln w="133350" cap="flat">
            <a:solidFill>
              <a:srgbClr val="000000"/>
            </a:solidFill>
            <a:prstDash val="solid"/>
            <a:headEnd type="none" w="sm" len="sm"/>
            <a:tailEnd type="arrow" w="med" len="sm"/>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151434" y="367665"/>
            <a:ext cx="11877272" cy="3290844"/>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 Faraday’s First Laws of Electromagnetic Induction</a:t>
            </a:r>
          </a:p>
          <a:p>
            <a:pPr algn="ctr">
              <a:lnSpc>
                <a:spcPts val="8781"/>
              </a:lnSpc>
            </a:pPr>
            <a:endParaRPr lang="en-US" sz="6272">
              <a:solidFill>
                <a:srgbClr val="000000"/>
              </a:solidFill>
              <a:latin typeface="Canva Sans Bold"/>
            </a:endParaRPr>
          </a:p>
        </p:txBody>
      </p:sp>
      <p:sp>
        <p:nvSpPr>
          <p:cNvPr id="3" name="TextBox 3"/>
          <p:cNvSpPr txBox="1"/>
          <p:nvPr/>
        </p:nvSpPr>
        <p:spPr>
          <a:xfrm>
            <a:off x="743152" y="2444806"/>
            <a:ext cx="11395252" cy="4607688"/>
          </a:xfrm>
          <a:prstGeom prst="rect">
            <a:avLst/>
          </a:prstGeom>
        </p:spPr>
        <p:txBody>
          <a:bodyPr lIns="0" tIns="0" rIns="0" bIns="0" rtlCol="0" anchor="t">
            <a:spAutoFit/>
          </a:bodyPr>
          <a:lstStyle/>
          <a:p>
            <a:pPr algn="ctr">
              <a:lnSpc>
                <a:spcPts val="5231"/>
              </a:lnSpc>
            </a:pPr>
            <a:r>
              <a:rPr lang="en-US" sz="3737">
                <a:solidFill>
                  <a:srgbClr val="000000"/>
                </a:solidFill>
                <a:latin typeface="Canva Sans"/>
              </a:rPr>
              <a:t> Faraday’s first law of electromagnetic induction states the following:</a:t>
            </a:r>
          </a:p>
          <a:p>
            <a:pPr algn="ctr">
              <a:lnSpc>
                <a:spcPts val="5231"/>
              </a:lnSpc>
            </a:pPr>
            <a:r>
              <a:rPr lang="en-US" sz="3737">
                <a:solidFill>
                  <a:srgbClr val="000000"/>
                </a:solidFill>
                <a:latin typeface="Canva Sans"/>
              </a:rPr>
              <a:t>Whenever a conductor is placed in a varying magnetic field, an electromotive force is induced. If the conductor circuit is closed, a current is induced, which is called induced current.</a:t>
            </a:r>
          </a:p>
          <a:p>
            <a:pPr algn="ctr">
              <a:lnSpc>
                <a:spcPts val="5231"/>
              </a:lnSpc>
            </a:pPr>
            <a:endParaRPr lang="en-US" sz="3737">
              <a:solidFill>
                <a:srgbClr val="000000"/>
              </a:solidFill>
              <a:latin typeface="Canva Sans"/>
            </a:endParaRPr>
          </a:p>
        </p:txBody>
      </p:sp>
      <p:sp>
        <p:nvSpPr>
          <p:cNvPr id="4" name="Freeform 4"/>
          <p:cNvSpPr/>
          <p:nvPr/>
        </p:nvSpPr>
        <p:spPr>
          <a:xfrm>
            <a:off x="1028700" y="6354785"/>
            <a:ext cx="12604529" cy="3639558"/>
          </a:xfrm>
          <a:custGeom>
            <a:avLst/>
            <a:gdLst/>
            <a:ahLst/>
            <a:cxnLst/>
            <a:rect l="l" t="t" r="r" b="b"/>
            <a:pathLst>
              <a:path w="12604529" h="3639558">
                <a:moveTo>
                  <a:pt x="0" y="0"/>
                </a:moveTo>
                <a:lnTo>
                  <a:pt x="12604529" y="0"/>
                </a:lnTo>
                <a:lnTo>
                  <a:pt x="12604529" y="3639558"/>
                </a:lnTo>
                <a:lnTo>
                  <a:pt x="0" y="3639558"/>
                </a:lnTo>
                <a:lnTo>
                  <a:pt x="0" y="0"/>
                </a:lnTo>
                <a:close/>
              </a:path>
            </a:pathLst>
          </a:custGeom>
          <a:blipFill>
            <a:blip r:embed="rId2"/>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151434" y="367665"/>
            <a:ext cx="11877272" cy="3290844"/>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 Faraday’s Second Laws of Electromagnetic Induction</a:t>
            </a:r>
          </a:p>
          <a:p>
            <a:pPr algn="ctr">
              <a:lnSpc>
                <a:spcPts val="8781"/>
              </a:lnSpc>
            </a:pPr>
            <a:endParaRPr lang="en-US" sz="6272">
              <a:solidFill>
                <a:srgbClr val="000000"/>
              </a:solidFill>
              <a:latin typeface="Canva Sans Bold"/>
            </a:endParaRPr>
          </a:p>
        </p:txBody>
      </p:sp>
      <p:sp>
        <p:nvSpPr>
          <p:cNvPr id="3" name="TextBox 3"/>
          <p:cNvSpPr txBox="1"/>
          <p:nvPr/>
        </p:nvSpPr>
        <p:spPr>
          <a:xfrm>
            <a:off x="0" y="2834575"/>
            <a:ext cx="12383283" cy="6423725"/>
          </a:xfrm>
          <a:prstGeom prst="rect">
            <a:avLst/>
          </a:prstGeom>
        </p:spPr>
        <p:txBody>
          <a:bodyPr lIns="0" tIns="0" rIns="0" bIns="0" rtlCol="0" anchor="t">
            <a:spAutoFit/>
          </a:bodyPr>
          <a:lstStyle/>
          <a:p>
            <a:pPr algn="ctr">
              <a:lnSpc>
                <a:spcPts val="5685"/>
              </a:lnSpc>
            </a:pPr>
            <a:r>
              <a:rPr lang="en-US" sz="4061">
                <a:solidFill>
                  <a:srgbClr val="000000"/>
                </a:solidFill>
                <a:latin typeface="Canva Sans"/>
              </a:rPr>
              <a:t>Faraday’s second law of electromagnetic induction states that</a:t>
            </a:r>
          </a:p>
          <a:p>
            <a:pPr algn="ctr">
              <a:lnSpc>
                <a:spcPts val="5685"/>
              </a:lnSpc>
            </a:pPr>
            <a:r>
              <a:rPr lang="en-US" sz="4061">
                <a:solidFill>
                  <a:srgbClr val="000000"/>
                </a:solidFill>
                <a:latin typeface="Canva Sans"/>
              </a:rPr>
              <a:t>The induced emf in a coil is equal to the rate of change of flux linkage.</a:t>
            </a:r>
          </a:p>
          <a:p>
            <a:pPr algn="ctr">
              <a:lnSpc>
                <a:spcPts val="5685"/>
              </a:lnSpc>
            </a:pPr>
            <a:r>
              <a:rPr lang="en-US" sz="4061">
                <a:solidFill>
                  <a:srgbClr val="000000"/>
                </a:solidFill>
                <a:latin typeface="Canva Sans"/>
              </a:rPr>
              <a:t>The flux linkage is the product of the number of turns in the coil and the flux associated with the coil. The formula of Faraday’s law is given below:</a:t>
            </a:r>
          </a:p>
          <a:p>
            <a:pPr algn="ctr">
              <a:lnSpc>
                <a:spcPts val="5685"/>
              </a:lnSpc>
            </a:pPr>
            <a:endParaRPr lang="en-US" sz="4061">
              <a:solidFill>
                <a:srgbClr val="000000"/>
              </a:solidFill>
              <a:latin typeface="Canva Sans"/>
            </a:endParaRPr>
          </a:p>
          <a:p>
            <a:pPr algn="ctr">
              <a:lnSpc>
                <a:spcPts val="5685"/>
              </a:lnSpc>
            </a:pPr>
            <a:endParaRPr lang="en-US" sz="4061">
              <a:solidFill>
                <a:srgbClr val="000000"/>
              </a:solidFill>
              <a:latin typeface="Canv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grpSp>
        <p:nvGrpSpPr>
          <p:cNvPr id="4" name="Group 4"/>
          <p:cNvGrpSpPr/>
          <p:nvPr/>
        </p:nvGrpSpPr>
        <p:grpSpPr>
          <a:xfrm>
            <a:off x="810019" y="2408604"/>
            <a:ext cx="11046107" cy="1987528"/>
            <a:chOff x="0" y="0"/>
            <a:chExt cx="2909263" cy="523464"/>
          </a:xfrm>
        </p:grpSpPr>
        <p:sp>
          <p:nvSpPr>
            <p:cNvPr id="5" name="Freeform 5"/>
            <p:cNvSpPr/>
            <p:nvPr/>
          </p:nvSpPr>
          <p:spPr>
            <a:xfrm>
              <a:off x="0" y="0"/>
              <a:ext cx="2909263" cy="523464"/>
            </a:xfrm>
            <a:custGeom>
              <a:avLst/>
              <a:gdLst/>
              <a:ahLst/>
              <a:cxnLst/>
              <a:rect l="l" t="t" r="r" b="b"/>
              <a:pathLst>
                <a:path w="2909263" h="523464">
                  <a:moveTo>
                    <a:pt x="35745" y="0"/>
                  </a:moveTo>
                  <a:lnTo>
                    <a:pt x="2873518" y="0"/>
                  </a:lnTo>
                  <a:cubicBezTo>
                    <a:pt x="2893260" y="0"/>
                    <a:pt x="2909263" y="16003"/>
                    <a:pt x="2909263" y="35745"/>
                  </a:cubicBezTo>
                  <a:lnTo>
                    <a:pt x="2909263" y="487720"/>
                  </a:lnTo>
                  <a:cubicBezTo>
                    <a:pt x="2909263" y="507461"/>
                    <a:pt x="2893260" y="523464"/>
                    <a:pt x="2873518" y="523464"/>
                  </a:cubicBezTo>
                  <a:lnTo>
                    <a:pt x="35745" y="523464"/>
                  </a:lnTo>
                  <a:cubicBezTo>
                    <a:pt x="26264" y="523464"/>
                    <a:pt x="17173" y="519698"/>
                    <a:pt x="10469" y="512995"/>
                  </a:cubicBezTo>
                  <a:cubicBezTo>
                    <a:pt x="3766" y="506291"/>
                    <a:pt x="0" y="497200"/>
                    <a:pt x="0" y="487720"/>
                  </a:cubicBezTo>
                  <a:lnTo>
                    <a:pt x="0" y="35745"/>
                  </a:lnTo>
                  <a:cubicBezTo>
                    <a:pt x="0" y="16003"/>
                    <a:pt x="16003" y="0"/>
                    <a:pt x="35745" y="0"/>
                  </a:cubicBezTo>
                  <a:close/>
                </a:path>
              </a:pathLst>
            </a:custGeom>
            <a:solidFill>
              <a:srgbClr val="B6B2AF">
                <a:alpha val="50980"/>
              </a:srgbClr>
            </a:solidFill>
            <a:ln w="114300" cap="rnd">
              <a:solidFill>
                <a:srgbClr val="000000">
                  <a:alpha val="50980"/>
                </a:srgbClr>
              </a:solidFill>
              <a:prstDash val="solid"/>
              <a:round/>
            </a:ln>
          </p:spPr>
        </p:sp>
        <p:sp>
          <p:nvSpPr>
            <p:cNvPr id="6" name="TextBox 6"/>
            <p:cNvSpPr txBox="1"/>
            <p:nvPr/>
          </p:nvSpPr>
          <p:spPr>
            <a:xfrm>
              <a:off x="0" y="-38100"/>
              <a:ext cx="2909263" cy="561564"/>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004669" y="5558182"/>
            <a:ext cx="258488" cy="25848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559259" y="229716"/>
            <a:ext cx="13784663" cy="2178888"/>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Electromagnetic Induction Formula</a:t>
            </a:r>
          </a:p>
        </p:txBody>
      </p:sp>
      <p:sp>
        <p:nvSpPr>
          <p:cNvPr id="11" name="TextBox 11"/>
          <p:cNvSpPr txBox="1"/>
          <p:nvPr/>
        </p:nvSpPr>
        <p:spPr>
          <a:xfrm>
            <a:off x="2165695" y="5579772"/>
            <a:ext cx="9974738" cy="414655"/>
          </a:xfrm>
          <a:prstGeom prst="rect">
            <a:avLst/>
          </a:prstGeom>
        </p:spPr>
        <p:txBody>
          <a:bodyPr lIns="0" tIns="0" rIns="0" bIns="0" rtlCol="0" anchor="t">
            <a:spAutoFit/>
          </a:bodyPr>
          <a:lstStyle/>
          <a:p>
            <a:pPr>
              <a:lnSpc>
                <a:spcPts val="3199"/>
              </a:lnSpc>
            </a:pPr>
            <a:r>
              <a:rPr lang="en-US" sz="3199" spc="211">
                <a:solidFill>
                  <a:srgbClr val="000000"/>
                </a:solidFill>
                <a:latin typeface="Libre Baskerville"/>
              </a:rPr>
              <a:t> is the induced voltage / induced emf</a:t>
            </a:r>
          </a:p>
        </p:txBody>
      </p:sp>
      <p:sp>
        <p:nvSpPr>
          <p:cNvPr id="12" name="TextBox 12"/>
          <p:cNvSpPr txBox="1"/>
          <p:nvPr/>
        </p:nvSpPr>
        <p:spPr>
          <a:xfrm>
            <a:off x="1724971" y="5281957"/>
            <a:ext cx="312301" cy="712470"/>
          </a:xfrm>
          <a:prstGeom prst="rect">
            <a:avLst/>
          </a:prstGeom>
        </p:spPr>
        <p:txBody>
          <a:bodyPr lIns="0" tIns="0" rIns="0" bIns="0" rtlCol="0" anchor="t">
            <a:spAutoFit/>
          </a:bodyPr>
          <a:lstStyle/>
          <a:p>
            <a:pPr algn="ctr">
              <a:lnSpc>
                <a:spcPts val="5880"/>
              </a:lnSpc>
            </a:pPr>
            <a:r>
              <a:rPr lang="en-US" sz="4200">
                <a:solidFill>
                  <a:srgbClr val="000000"/>
                </a:solidFill>
                <a:latin typeface="Canva Sans Bold"/>
              </a:rPr>
              <a:t>e</a:t>
            </a:r>
          </a:p>
        </p:txBody>
      </p:sp>
      <p:sp>
        <p:nvSpPr>
          <p:cNvPr id="13" name="TextBox 13"/>
          <p:cNvSpPr txBox="1"/>
          <p:nvPr/>
        </p:nvSpPr>
        <p:spPr>
          <a:xfrm>
            <a:off x="2359561" y="6176672"/>
            <a:ext cx="9974738" cy="414655"/>
          </a:xfrm>
          <a:prstGeom prst="rect">
            <a:avLst/>
          </a:prstGeom>
        </p:spPr>
        <p:txBody>
          <a:bodyPr lIns="0" tIns="0" rIns="0" bIns="0" rtlCol="0" anchor="t">
            <a:spAutoFit/>
          </a:bodyPr>
          <a:lstStyle/>
          <a:p>
            <a:pPr>
              <a:lnSpc>
                <a:spcPts val="3199"/>
              </a:lnSpc>
            </a:pPr>
            <a:r>
              <a:rPr lang="en-US" sz="3199" spc="211">
                <a:solidFill>
                  <a:srgbClr val="000000"/>
                </a:solidFill>
                <a:latin typeface="Libre Baskerville"/>
              </a:rPr>
              <a:t>is the number of turns in coil</a:t>
            </a:r>
          </a:p>
        </p:txBody>
      </p:sp>
      <p:sp>
        <p:nvSpPr>
          <p:cNvPr id="14" name="TextBox 14"/>
          <p:cNvSpPr txBox="1"/>
          <p:nvPr/>
        </p:nvSpPr>
        <p:spPr>
          <a:xfrm>
            <a:off x="1736557" y="5956327"/>
            <a:ext cx="417552" cy="712470"/>
          </a:xfrm>
          <a:prstGeom prst="rect">
            <a:avLst/>
          </a:prstGeom>
        </p:spPr>
        <p:txBody>
          <a:bodyPr lIns="0" tIns="0" rIns="0" bIns="0" rtlCol="0" anchor="t">
            <a:spAutoFit/>
          </a:bodyPr>
          <a:lstStyle/>
          <a:p>
            <a:pPr algn="ctr">
              <a:lnSpc>
                <a:spcPts val="5880"/>
              </a:lnSpc>
            </a:pPr>
            <a:r>
              <a:rPr lang="en-US" sz="4200">
                <a:solidFill>
                  <a:srgbClr val="000000"/>
                </a:solidFill>
                <a:latin typeface="Canva Sans Bold"/>
              </a:rPr>
              <a:t>N</a:t>
            </a:r>
          </a:p>
        </p:txBody>
      </p:sp>
      <p:sp>
        <p:nvSpPr>
          <p:cNvPr id="15" name="TextBox 15"/>
          <p:cNvSpPr txBox="1"/>
          <p:nvPr/>
        </p:nvSpPr>
        <p:spPr>
          <a:xfrm>
            <a:off x="2359561" y="6773572"/>
            <a:ext cx="12301127" cy="814705"/>
          </a:xfrm>
          <a:prstGeom prst="rect">
            <a:avLst/>
          </a:prstGeom>
        </p:spPr>
        <p:txBody>
          <a:bodyPr lIns="0" tIns="0" rIns="0" bIns="0" rtlCol="0" anchor="t">
            <a:spAutoFit/>
          </a:bodyPr>
          <a:lstStyle/>
          <a:p>
            <a:pPr>
              <a:lnSpc>
                <a:spcPts val="3199"/>
              </a:lnSpc>
            </a:pPr>
            <a:r>
              <a:rPr lang="en-US" sz="3199" spc="211">
                <a:solidFill>
                  <a:srgbClr val="000000"/>
                </a:solidFill>
                <a:latin typeface="Libre Baskerville"/>
              </a:rPr>
              <a:t>is the magnetic flux - the amount of magnetic field at a surface (in Webbers)</a:t>
            </a:r>
          </a:p>
        </p:txBody>
      </p:sp>
      <p:sp>
        <p:nvSpPr>
          <p:cNvPr id="16" name="TextBox 16"/>
          <p:cNvSpPr txBox="1"/>
          <p:nvPr/>
        </p:nvSpPr>
        <p:spPr>
          <a:xfrm>
            <a:off x="1714672" y="6739917"/>
            <a:ext cx="332899" cy="712470"/>
          </a:xfrm>
          <a:prstGeom prst="rect">
            <a:avLst/>
          </a:prstGeom>
        </p:spPr>
        <p:txBody>
          <a:bodyPr lIns="0" tIns="0" rIns="0" bIns="0" rtlCol="0" anchor="t">
            <a:spAutoFit/>
          </a:bodyPr>
          <a:lstStyle/>
          <a:p>
            <a:pPr algn="ctr">
              <a:lnSpc>
                <a:spcPts val="5880"/>
              </a:lnSpc>
            </a:pPr>
            <a:r>
              <a:rPr lang="en-US" sz="4200">
                <a:solidFill>
                  <a:srgbClr val="000000"/>
                </a:solidFill>
                <a:latin typeface="Canva Sans Bold"/>
              </a:rPr>
              <a:t>φ</a:t>
            </a:r>
          </a:p>
        </p:txBody>
      </p:sp>
      <p:grpSp>
        <p:nvGrpSpPr>
          <p:cNvPr id="17" name="Group 17"/>
          <p:cNvGrpSpPr/>
          <p:nvPr/>
        </p:nvGrpSpPr>
        <p:grpSpPr>
          <a:xfrm>
            <a:off x="1004669" y="6221418"/>
            <a:ext cx="258488" cy="25848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028700" y="7005008"/>
            <a:ext cx="258488" cy="258488"/>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028700" y="7997852"/>
            <a:ext cx="258488" cy="258488"/>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6" name="TextBox 26"/>
          <p:cNvSpPr txBox="1"/>
          <p:nvPr/>
        </p:nvSpPr>
        <p:spPr>
          <a:xfrm>
            <a:off x="2165695" y="7841684"/>
            <a:ext cx="9974738" cy="414655"/>
          </a:xfrm>
          <a:prstGeom prst="rect">
            <a:avLst/>
          </a:prstGeom>
        </p:spPr>
        <p:txBody>
          <a:bodyPr lIns="0" tIns="0" rIns="0" bIns="0" rtlCol="0" anchor="t">
            <a:spAutoFit/>
          </a:bodyPr>
          <a:lstStyle/>
          <a:p>
            <a:pPr>
              <a:lnSpc>
                <a:spcPts val="3199"/>
              </a:lnSpc>
            </a:pPr>
            <a:r>
              <a:rPr lang="en-US" sz="3199" spc="211">
                <a:solidFill>
                  <a:srgbClr val="000000"/>
                </a:solidFill>
                <a:latin typeface="Libre Baskerville"/>
              </a:rPr>
              <a:t> is the time in seconds </a:t>
            </a:r>
          </a:p>
        </p:txBody>
      </p:sp>
      <p:sp>
        <p:nvSpPr>
          <p:cNvPr id="27" name="TextBox 27"/>
          <p:cNvSpPr txBox="1"/>
          <p:nvPr/>
        </p:nvSpPr>
        <p:spPr>
          <a:xfrm>
            <a:off x="1769500" y="7603517"/>
            <a:ext cx="223242" cy="712470"/>
          </a:xfrm>
          <a:prstGeom prst="rect">
            <a:avLst/>
          </a:prstGeom>
        </p:spPr>
        <p:txBody>
          <a:bodyPr lIns="0" tIns="0" rIns="0" bIns="0" rtlCol="0" anchor="t">
            <a:spAutoFit/>
          </a:bodyPr>
          <a:lstStyle/>
          <a:p>
            <a:pPr algn="ctr">
              <a:lnSpc>
                <a:spcPts val="5880"/>
              </a:lnSpc>
            </a:pPr>
            <a:r>
              <a:rPr lang="en-US" sz="4200">
                <a:solidFill>
                  <a:srgbClr val="000000"/>
                </a:solidFill>
                <a:latin typeface="Canva Sans Bold"/>
              </a:rPr>
              <a:t>t</a:t>
            </a:r>
          </a:p>
        </p:txBody>
      </p:sp>
      <p:sp>
        <p:nvSpPr>
          <p:cNvPr id="28" name="TextBox 28"/>
          <p:cNvSpPr txBox="1"/>
          <p:nvPr/>
        </p:nvSpPr>
        <p:spPr>
          <a:xfrm>
            <a:off x="810019" y="2956587"/>
            <a:ext cx="11046107" cy="1811020"/>
          </a:xfrm>
          <a:prstGeom prst="rect">
            <a:avLst/>
          </a:prstGeom>
        </p:spPr>
        <p:txBody>
          <a:bodyPr lIns="0" tIns="0" rIns="0" bIns="0" rtlCol="0" anchor="t">
            <a:spAutoFit/>
          </a:bodyPr>
          <a:lstStyle/>
          <a:p>
            <a:pPr algn="ctr">
              <a:lnSpc>
                <a:spcPts val="7279"/>
              </a:lnSpc>
            </a:pPr>
            <a:r>
              <a:rPr lang="en-US" sz="5199">
                <a:solidFill>
                  <a:srgbClr val="000000"/>
                </a:solidFill>
                <a:latin typeface="Canva Sans Bold"/>
              </a:rPr>
              <a:t>e = -N dφ/dt</a:t>
            </a:r>
          </a:p>
          <a:p>
            <a:pPr algn="ctr">
              <a:lnSpc>
                <a:spcPts val="7279"/>
              </a:lnSpc>
            </a:pPr>
            <a:r>
              <a:rPr lang="en-US" sz="5199">
                <a:solidFill>
                  <a:srgbClr val="000000"/>
                </a:solidFill>
                <a:latin typeface="Canva Sans Bold"/>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151434" y="367665"/>
            <a:ext cx="11877272" cy="2178888"/>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Lenz’s Law</a:t>
            </a:r>
          </a:p>
          <a:p>
            <a:pPr algn="ctr">
              <a:lnSpc>
                <a:spcPts val="8781"/>
              </a:lnSpc>
            </a:pPr>
            <a:endParaRPr lang="en-US" sz="6272">
              <a:solidFill>
                <a:srgbClr val="000000"/>
              </a:solidFill>
              <a:latin typeface="Canva Sans Bold"/>
            </a:endParaRPr>
          </a:p>
        </p:txBody>
      </p:sp>
      <p:sp>
        <p:nvSpPr>
          <p:cNvPr id="3" name="TextBox 3"/>
          <p:cNvSpPr txBox="1"/>
          <p:nvPr/>
        </p:nvSpPr>
        <p:spPr>
          <a:xfrm>
            <a:off x="0" y="1438059"/>
            <a:ext cx="12383283" cy="9290692"/>
          </a:xfrm>
          <a:prstGeom prst="rect">
            <a:avLst/>
          </a:prstGeom>
        </p:spPr>
        <p:txBody>
          <a:bodyPr lIns="0" tIns="0" rIns="0" bIns="0" rtlCol="0" anchor="t">
            <a:spAutoFit/>
          </a:bodyPr>
          <a:lstStyle/>
          <a:p>
            <a:pPr algn="ctr">
              <a:lnSpc>
                <a:spcPts val="5685"/>
              </a:lnSpc>
            </a:pPr>
            <a:r>
              <a:rPr lang="en-US" sz="4061">
                <a:solidFill>
                  <a:srgbClr val="000000"/>
                </a:solidFill>
                <a:latin typeface="Canva Sans"/>
              </a:rPr>
              <a:t>The German physicist Heinrich Friedrich Lenz deduced a rule known as Lenz’s law that describes the polarity of the induced emf.</a:t>
            </a:r>
          </a:p>
          <a:p>
            <a:pPr algn="ctr">
              <a:lnSpc>
                <a:spcPts val="5685"/>
              </a:lnSpc>
            </a:pPr>
            <a:r>
              <a:rPr lang="en-US" sz="4061">
                <a:solidFill>
                  <a:srgbClr val="000000"/>
                </a:solidFill>
                <a:latin typeface="Canva Sans"/>
              </a:rPr>
              <a:t>Lenz’s law states that “The polarity of induced emf is such that it tends to produce a current which opposes the change in magnetic flux that produced it.”</a:t>
            </a:r>
          </a:p>
          <a:p>
            <a:pPr algn="ctr">
              <a:lnSpc>
                <a:spcPts val="5685"/>
              </a:lnSpc>
            </a:pPr>
            <a:r>
              <a:rPr lang="en-US" sz="4061">
                <a:solidFill>
                  <a:srgbClr val="000000"/>
                </a:solidFill>
                <a:latin typeface="Canva Sans"/>
              </a:rPr>
              <a:t>The negative sign in the formula represents this effect. Thus, the negative sign indicates that the direction of the induced emf and the change in the direction of magnetic fields have opposite signs.</a:t>
            </a:r>
          </a:p>
          <a:p>
            <a:pPr algn="ctr">
              <a:lnSpc>
                <a:spcPts val="5685"/>
              </a:lnSpc>
            </a:pPr>
            <a:endParaRPr lang="en-US" sz="4061">
              <a:solidFill>
                <a:srgbClr val="000000"/>
              </a:solidFill>
              <a:latin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4" name="TextBox 4"/>
          <p:cNvSpPr txBox="1"/>
          <p:nvPr/>
        </p:nvSpPr>
        <p:spPr>
          <a:xfrm>
            <a:off x="260733" y="-117894"/>
            <a:ext cx="13784663" cy="2178888"/>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Factors that will increase the induced e.m.f are:</a:t>
            </a:r>
          </a:p>
        </p:txBody>
      </p:sp>
      <p:sp>
        <p:nvSpPr>
          <p:cNvPr id="5" name="TextBox 5"/>
          <p:cNvSpPr txBox="1"/>
          <p:nvPr/>
        </p:nvSpPr>
        <p:spPr>
          <a:xfrm>
            <a:off x="684154" y="2562088"/>
            <a:ext cx="14822990" cy="1047114"/>
          </a:xfrm>
          <a:prstGeom prst="rect">
            <a:avLst/>
          </a:prstGeom>
        </p:spPr>
        <p:txBody>
          <a:bodyPr lIns="0" tIns="0" rIns="0" bIns="0" rtlCol="0" anchor="t">
            <a:spAutoFit/>
          </a:bodyPr>
          <a:lstStyle/>
          <a:p>
            <a:pPr marL="885184" lvl="1" indent="-442592">
              <a:lnSpc>
                <a:spcPts val="4099"/>
              </a:lnSpc>
              <a:buFont typeface="Arial"/>
              <a:buChar char="•"/>
            </a:pPr>
            <a:r>
              <a:rPr lang="en-US" sz="4099" spc="270">
                <a:solidFill>
                  <a:srgbClr val="000000"/>
                </a:solidFill>
                <a:latin typeface="Libre Baskerville"/>
              </a:rPr>
              <a:t>Moving the magnet faster through the coil</a:t>
            </a:r>
          </a:p>
          <a:p>
            <a:pPr>
              <a:lnSpc>
                <a:spcPts val="4099"/>
              </a:lnSpc>
            </a:pPr>
            <a:endParaRPr lang="en-US" sz="4099" spc="270">
              <a:solidFill>
                <a:srgbClr val="000000"/>
              </a:solidFill>
              <a:latin typeface="Libre Baskerville"/>
            </a:endParaRPr>
          </a:p>
        </p:txBody>
      </p:sp>
      <p:sp>
        <p:nvSpPr>
          <p:cNvPr id="6" name="TextBox 6"/>
          <p:cNvSpPr txBox="1"/>
          <p:nvPr/>
        </p:nvSpPr>
        <p:spPr>
          <a:xfrm>
            <a:off x="684154" y="2880994"/>
            <a:ext cx="12406201" cy="2262506"/>
          </a:xfrm>
          <a:prstGeom prst="rect">
            <a:avLst/>
          </a:prstGeom>
        </p:spPr>
        <p:txBody>
          <a:bodyPr lIns="0" tIns="0" rIns="0" bIns="0" rtlCol="0" anchor="t">
            <a:spAutoFit/>
          </a:bodyPr>
          <a:lstStyle/>
          <a:p>
            <a:pPr algn="ctr">
              <a:lnSpc>
                <a:spcPts val="6019"/>
              </a:lnSpc>
            </a:pPr>
            <a:endParaRPr/>
          </a:p>
          <a:p>
            <a:pPr marL="928365" lvl="1" indent="-464182" algn="ctr">
              <a:lnSpc>
                <a:spcPts val="6019"/>
              </a:lnSpc>
              <a:buFont typeface="Arial"/>
              <a:buChar char="•"/>
            </a:pPr>
            <a:r>
              <a:rPr lang="en-US" sz="4299">
                <a:solidFill>
                  <a:srgbClr val="000000"/>
                </a:solidFill>
                <a:latin typeface="Canva Sans"/>
              </a:rPr>
              <a:t>Increasing the strength of the bar magnet</a:t>
            </a:r>
          </a:p>
          <a:p>
            <a:pPr algn="ctr">
              <a:lnSpc>
                <a:spcPts val="6019"/>
              </a:lnSpc>
            </a:pPr>
            <a:endParaRPr lang="en-US" sz="4299">
              <a:solidFill>
                <a:srgbClr val="000000"/>
              </a:solidFill>
              <a:latin typeface="Canva Sans"/>
            </a:endParaRPr>
          </a:p>
        </p:txBody>
      </p:sp>
      <p:sp>
        <p:nvSpPr>
          <p:cNvPr id="7" name="TextBox 7"/>
          <p:cNvSpPr txBox="1"/>
          <p:nvPr/>
        </p:nvSpPr>
        <p:spPr>
          <a:xfrm>
            <a:off x="684154" y="4765066"/>
            <a:ext cx="8611434" cy="1500506"/>
          </a:xfrm>
          <a:prstGeom prst="rect">
            <a:avLst/>
          </a:prstGeom>
        </p:spPr>
        <p:txBody>
          <a:bodyPr lIns="0" tIns="0" rIns="0" bIns="0" rtlCol="0" anchor="t">
            <a:spAutoFit/>
          </a:bodyPr>
          <a:lstStyle/>
          <a:p>
            <a:pPr marL="928365" lvl="1" indent="-464182" algn="ctr">
              <a:lnSpc>
                <a:spcPts val="6019"/>
              </a:lnSpc>
              <a:buFont typeface="Arial"/>
              <a:buChar char="•"/>
            </a:pPr>
            <a:r>
              <a:rPr lang="en-US" sz="4299">
                <a:solidFill>
                  <a:srgbClr val="000000"/>
                </a:solidFill>
                <a:latin typeface="Canva Sans"/>
              </a:rPr>
              <a:t>Adding more turns to the coil</a:t>
            </a:r>
          </a:p>
          <a:p>
            <a:pPr algn="ctr">
              <a:lnSpc>
                <a:spcPts val="6019"/>
              </a:lnSpc>
            </a:pPr>
            <a:endParaRPr lang="en-US" sz="4299">
              <a:solidFill>
                <a:srgbClr val="000000"/>
              </a:solidFill>
              <a:latin typeface="Canv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4" name="Freeform 4"/>
          <p:cNvSpPr/>
          <p:nvPr/>
        </p:nvSpPr>
        <p:spPr>
          <a:xfrm>
            <a:off x="473926" y="5711393"/>
            <a:ext cx="14233149" cy="1252846"/>
          </a:xfrm>
          <a:custGeom>
            <a:avLst/>
            <a:gdLst/>
            <a:ahLst/>
            <a:cxnLst/>
            <a:rect l="l" t="t" r="r" b="b"/>
            <a:pathLst>
              <a:path w="14233149" h="1252846">
                <a:moveTo>
                  <a:pt x="0" y="0"/>
                </a:moveTo>
                <a:lnTo>
                  <a:pt x="14233149" y="0"/>
                </a:lnTo>
                <a:lnTo>
                  <a:pt x="14233149" y="1252846"/>
                </a:lnTo>
                <a:lnTo>
                  <a:pt x="0" y="1252846"/>
                </a:lnTo>
                <a:lnTo>
                  <a:pt x="0" y="0"/>
                </a:lnTo>
                <a:close/>
              </a:path>
            </a:pathLst>
          </a:custGeom>
          <a:blipFill>
            <a:blip r:embed="rId2"/>
            <a:stretch>
              <a:fillRect/>
            </a:stretch>
          </a:blipFill>
        </p:spPr>
      </p:sp>
      <p:sp>
        <p:nvSpPr>
          <p:cNvPr id="5" name="TextBox 5"/>
          <p:cNvSpPr txBox="1"/>
          <p:nvPr/>
        </p:nvSpPr>
        <p:spPr>
          <a:xfrm>
            <a:off x="506010" y="170782"/>
            <a:ext cx="11877272" cy="1066931"/>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Numerical Question </a:t>
            </a:r>
          </a:p>
        </p:txBody>
      </p:sp>
      <p:sp>
        <p:nvSpPr>
          <p:cNvPr id="6" name="TextBox 6"/>
          <p:cNvSpPr txBox="1"/>
          <p:nvPr/>
        </p:nvSpPr>
        <p:spPr>
          <a:xfrm>
            <a:off x="1004637" y="2857500"/>
            <a:ext cx="9678640" cy="2371418"/>
          </a:xfrm>
          <a:prstGeom prst="rect">
            <a:avLst/>
          </a:prstGeom>
        </p:spPr>
        <p:txBody>
          <a:bodyPr lIns="0" tIns="0" rIns="0" bIns="0" rtlCol="0" anchor="t">
            <a:spAutoFit/>
          </a:bodyPr>
          <a:lstStyle/>
          <a:p>
            <a:pPr algn="ctr">
              <a:lnSpc>
                <a:spcPts val="4702"/>
              </a:lnSpc>
            </a:pPr>
            <a:r>
              <a:rPr lang="en-US" sz="3358" dirty="0">
                <a:solidFill>
                  <a:srgbClr val="000000"/>
                </a:solidFill>
                <a:latin typeface="Canva Sans"/>
              </a:rPr>
              <a:t>A coil with 200 turns and an area of 0.02 m² is placed in a uniform magnetic field that decreases at a rate of 0.5 T/s. Calculate the induced EMF in the coil.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8904" y="483328"/>
            <a:ext cx="16158753" cy="9048631"/>
          </a:xfrm>
          <a:prstGeom prst="rect">
            <a:avLst/>
          </a:prstGeom>
          <a:noFill/>
        </p:spPr>
        <p:txBody>
          <a:bodyPr wrap="square" rtlCol="0">
            <a:spAutoFit/>
          </a:bodyPr>
          <a:lstStyle/>
          <a:p>
            <a:pPr algn="ctr"/>
            <a:r>
              <a:rPr lang="en-US" sz="4200" b="1" dirty="0"/>
              <a:t>Solved Numericals</a:t>
            </a:r>
            <a:endParaRPr lang="en-US" sz="2700" b="1" dirty="0"/>
          </a:p>
          <a:p>
            <a:endParaRPr lang="en-US" sz="2700" dirty="0"/>
          </a:p>
          <a:p>
            <a:endParaRPr lang="en-US" sz="2700" dirty="0"/>
          </a:p>
          <a:p>
            <a:r>
              <a:rPr lang="en-US" sz="2700" b="1" dirty="0"/>
              <a:t>1.  The magnetic flux linked with a coil 4 turns is changed from 2Wb to 0.2Wb in 0.5 seconds. Calculate the induced EMF.</a:t>
            </a:r>
          </a:p>
          <a:p>
            <a:endParaRPr lang="en-US" sz="2700" b="1" dirty="0"/>
          </a:p>
          <a:p>
            <a:r>
              <a:rPr lang="en-US" sz="2700" b="1" dirty="0"/>
              <a:t>Solution:</a:t>
            </a:r>
          </a:p>
          <a:p>
            <a:endParaRPr lang="en-US" sz="2700" dirty="0"/>
          </a:p>
          <a:p>
            <a:r>
              <a:rPr lang="en-US" sz="2700" dirty="0"/>
              <a:t>Δⲫ = 2-0.2 = 1.8wb</a:t>
            </a:r>
          </a:p>
          <a:p>
            <a:endParaRPr lang="en-US" sz="2700" dirty="0"/>
          </a:p>
          <a:p>
            <a:r>
              <a:rPr lang="en-US" sz="2700" dirty="0" err="1"/>
              <a:t>Δt</a:t>
            </a:r>
            <a:r>
              <a:rPr lang="en-US" sz="2700" dirty="0"/>
              <a:t> = 0.5 sec</a:t>
            </a:r>
          </a:p>
          <a:p>
            <a:endParaRPr lang="en-US" sz="2700" dirty="0"/>
          </a:p>
          <a:p>
            <a:r>
              <a:rPr lang="en-US" sz="2700" dirty="0"/>
              <a:t>E = -N(Δⲫ/</a:t>
            </a:r>
            <a:r>
              <a:rPr lang="en-US" sz="2700" dirty="0" err="1"/>
              <a:t>Δt</a:t>
            </a:r>
            <a:r>
              <a:rPr lang="en-US" sz="2700" dirty="0"/>
              <a:t>)</a:t>
            </a:r>
          </a:p>
          <a:p>
            <a:endParaRPr lang="en-US" sz="2700" dirty="0"/>
          </a:p>
          <a:p>
            <a:r>
              <a:rPr lang="en-US" sz="2700" dirty="0"/>
              <a:t>E= -4(1.8/0.5) volts</a:t>
            </a:r>
          </a:p>
          <a:p>
            <a:endParaRPr lang="en-US" sz="2700" dirty="0"/>
          </a:p>
          <a:p>
            <a:r>
              <a:rPr lang="en-US" sz="2700" dirty="0"/>
              <a:t>E= 4x3.6= -14.4 volts</a:t>
            </a:r>
          </a:p>
          <a:p>
            <a:endParaRPr lang="en-US" sz="2700" dirty="0"/>
          </a:p>
          <a:p>
            <a:r>
              <a:rPr lang="en-US" sz="2700" dirty="0"/>
              <a:t>Therefore, induced </a:t>
            </a:r>
            <a:r>
              <a:rPr lang="en-US" sz="2700" dirty="0" err="1"/>
              <a:t>emf</a:t>
            </a:r>
            <a:r>
              <a:rPr lang="en-US" sz="2700" dirty="0"/>
              <a:t> will be -14.4 volts.</a:t>
            </a:r>
          </a:p>
          <a:p>
            <a:endParaRPr lang="en-US" sz="2700" dirty="0"/>
          </a:p>
          <a:p>
            <a:endParaRPr lang="en-US" sz="2700" dirty="0"/>
          </a:p>
        </p:txBody>
      </p:sp>
    </p:spTree>
    <p:extLst>
      <p:ext uri="{BB962C8B-B14F-4D97-AF65-F5344CB8AC3E}">
        <p14:creationId xmlns:p14="http://schemas.microsoft.com/office/powerpoint/2010/main" val="37101732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8093" y="1306286"/>
            <a:ext cx="16380822" cy="7571303"/>
          </a:xfrm>
          <a:prstGeom prst="rect">
            <a:avLst/>
          </a:prstGeom>
          <a:noFill/>
        </p:spPr>
        <p:txBody>
          <a:bodyPr wrap="square" rtlCol="0">
            <a:spAutoFit/>
          </a:bodyPr>
          <a:lstStyle/>
          <a:p>
            <a:r>
              <a:rPr lang="en-US" sz="2700" b="1" dirty="0"/>
              <a:t>2.  Calculate the EMF induced in the wire. When a small piece of metal wire with 2 turns is dragged across the gap between the pole pieces of a magnet in 0.5sec. The magnetic flux between the pole pieces is known to be 9×10^-4 </a:t>
            </a:r>
            <a:r>
              <a:rPr lang="en-US" sz="2700" b="1" dirty="0" err="1"/>
              <a:t>Wb</a:t>
            </a:r>
            <a:r>
              <a:rPr lang="en-US" sz="2700" b="1" dirty="0"/>
              <a:t>.</a:t>
            </a:r>
          </a:p>
          <a:p>
            <a:endParaRPr lang="en-US" sz="2700" b="1" dirty="0"/>
          </a:p>
          <a:p>
            <a:r>
              <a:rPr lang="en-US" sz="2700" b="1" dirty="0"/>
              <a:t>Solution:</a:t>
            </a:r>
          </a:p>
          <a:p>
            <a:endParaRPr lang="en-US" sz="2700" dirty="0"/>
          </a:p>
          <a:p>
            <a:r>
              <a:rPr lang="en-US" sz="2700" dirty="0" err="1"/>
              <a:t>dt</a:t>
            </a:r>
            <a:r>
              <a:rPr lang="en-US" sz="2700" dirty="0"/>
              <a:t> = 0.5 s</a:t>
            </a:r>
          </a:p>
          <a:p>
            <a:endParaRPr lang="en-US" sz="2700" dirty="0"/>
          </a:p>
          <a:p>
            <a:r>
              <a:rPr lang="en-US" sz="2700" dirty="0"/>
              <a:t>dⲫ = 9×10^-4 = 9×10^-4 </a:t>
            </a:r>
            <a:r>
              <a:rPr lang="en-US" sz="2700" dirty="0" err="1"/>
              <a:t>Wb</a:t>
            </a:r>
            <a:endParaRPr lang="en-US" sz="2700" dirty="0"/>
          </a:p>
          <a:p>
            <a:endParaRPr lang="en-US" sz="2700" dirty="0"/>
          </a:p>
          <a:p>
            <a:r>
              <a:rPr lang="en-US" sz="2700" dirty="0"/>
              <a:t>E = -N(dⲫ/</a:t>
            </a:r>
            <a:r>
              <a:rPr lang="en-US" sz="2700" dirty="0" err="1"/>
              <a:t>dt</a:t>
            </a:r>
            <a:r>
              <a:rPr lang="en-US" sz="2700" dirty="0"/>
              <a:t>)</a:t>
            </a:r>
          </a:p>
          <a:p>
            <a:endParaRPr lang="en-US" sz="2700" dirty="0"/>
          </a:p>
          <a:p>
            <a:r>
              <a:rPr lang="en-US" sz="2700" dirty="0"/>
              <a:t>E= -2(9×10^-4/0.5)</a:t>
            </a:r>
          </a:p>
          <a:p>
            <a:endParaRPr lang="en-US" sz="2700" dirty="0"/>
          </a:p>
          <a:p>
            <a:r>
              <a:rPr lang="en-US" sz="2700" dirty="0"/>
              <a:t>E= -0.0036 V</a:t>
            </a:r>
          </a:p>
          <a:p>
            <a:endParaRPr lang="en-US" sz="2700" dirty="0"/>
          </a:p>
          <a:p>
            <a:r>
              <a:rPr lang="en-US" sz="2700" dirty="0"/>
              <a:t>Therefore, the induced </a:t>
            </a:r>
            <a:r>
              <a:rPr lang="en-US" sz="2700" dirty="0" err="1"/>
              <a:t>emf</a:t>
            </a:r>
            <a:r>
              <a:rPr lang="en-US" sz="2700" dirty="0"/>
              <a:t> -0.0036V</a:t>
            </a:r>
          </a:p>
          <a:p>
            <a:endParaRPr lang="en-US" sz="2700" dirty="0"/>
          </a:p>
        </p:txBody>
      </p:sp>
    </p:spTree>
    <p:extLst>
      <p:ext uri="{BB962C8B-B14F-4D97-AF65-F5344CB8AC3E}">
        <p14:creationId xmlns:p14="http://schemas.microsoft.com/office/powerpoint/2010/main" val="33074158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506010" y="170782"/>
            <a:ext cx="11877272" cy="1066931"/>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Applications of Faraday’s Law</a:t>
            </a:r>
          </a:p>
        </p:txBody>
      </p:sp>
      <p:sp>
        <p:nvSpPr>
          <p:cNvPr id="3" name="TextBox 3"/>
          <p:cNvSpPr txBox="1"/>
          <p:nvPr/>
        </p:nvSpPr>
        <p:spPr>
          <a:xfrm>
            <a:off x="506010" y="1619247"/>
            <a:ext cx="13058413" cy="7820720"/>
          </a:xfrm>
          <a:prstGeom prst="rect">
            <a:avLst/>
          </a:prstGeom>
        </p:spPr>
        <p:txBody>
          <a:bodyPr lIns="0" tIns="0" rIns="0" bIns="0" rtlCol="0" anchor="t">
            <a:spAutoFit/>
          </a:bodyPr>
          <a:lstStyle/>
          <a:p>
            <a:pPr marL="738718" lvl="1" indent="-369359" algn="ctr">
              <a:lnSpc>
                <a:spcPts val="4790"/>
              </a:lnSpc>
              <a:buAutoNum type="arabicPeriod"/>
            </a:pPr>
            <a:r>
              <a:rPr lang="en-US" sz="3421">
                <a:solidFill>
                  <a:srgbClr val="000000"/>
                </a:solidFill>
                <a:latin typeface="Canva Sans"/>
              </a:rPr>
              <a:t>Electrical equipment like transformers works on the basis of Faraday’s law.</a:t>
            </a:r>
          </a:p>
          <a:p>
            <a:pPr marL="738718" lvl="1" indent="-369359" algn="ctr">
              <a:lnSpc>
                <a:spcPts val="4790"/>
              </a:lnSpc>
              <a:buAutoNum type="arabicPeriod"/>
            </a:pPr>
            <a:r>
              <a:rPr lang="en-US" sz="3421">
                <a:solidFill>
                  <a:srgbClr val="000000"/>
                </a:solidFill>
                <a:latin typeface="Canva Sans"/>
              </a:rPr>
              <a:t>Induction cooker works on the basis of mutual induction, which is based on the principle of Faraday’s law.</a:t>
            </a:r>
          </a:p>
          <a:p>
            <a:pPr marL="738718" lvl="1" indent="-369359" algn="ctr">
              <a:lnSpc>
                <a:spcPts val="4790"/>
              </a:lnSpc>
              <a:buAutoNum type="arabicPeriod"/>
            </a:pPr>
            <a:r>
              <a:rPr lang="en-US" sz="3421">
                <a:solidFill>
                  <a:srgbClr val="000000"/>
                </a:solidFill>
                <a:latin typeface="Canva Sans"/>
              </a:rPr>
              <a:t>By inducing an electromotive force into an electromagnetic flowmeter, the velocity of the fluids is recorded.</a:t>
            </a:r>
          </a:p>
          <a:p>
            <a:pPr marL="738718" lvl="1" indent="-369359" algn="ctr">
              <a:lnSpc>
                <a:spcPts val="4790"/>
              </a:lnSpc>
              <a:buAutoNum type="arabicPeriod"/>
            </a:pPr>
            <a:r>
              <a:rPr lang="en-US" sz="3421">
                <a:solidFill>
                  <a:srgbClr val="000000"/>
                </a:solidFill>
                <a:latin typeface="Canva Sans"/>
              </a:rPr>
              <a:t>Electric guitar and electric violin are musical instruments that find an application of Faraday’s law.</a:t>
            </a:r>
          </a:p>
          <a:p>
            <a:pPr marL="738718" lvl="1" indent="-369359" algn="ctr">
              <a:lnSpc>
                <a:spcPts val="4790"/>
              </a:lnSpc>
              <a:buAutoNum type="arabicPeriod"/>
            </a:pPr>
            <a:r>
              <a:rPr lang="en-US" sz="3421">
                <a:solidFill>
                  <a:srgbClr val="000000"/>
                </a:solidFill>
                <a:latin typeface="Canva Sans"/>
              </a:rPr>
              <a:t>Maxwell’s equation is based on the converse of Faraday’s laws which states that a change in the magnetic field brings a change in the electric field.</a:t>
            </a:r>
          </a:p>
          <a:p>
            <a:pPr algn="ctr">
              <a:lnSpc>
                <a:spcPts val="4790"/>
              </a:lnSpc>
            </a:pPr>
            <a:endParaRPr lang="en-US" sz="3421">
              <a:solidFill>
                <a:srgbClr val="000000"/>
              </a:solidFill>
              <a:latin typeface="Canv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extBox 2"/>
          <p:cNvSpPr txBox="1"/>
          <p:nvPr/>
        </p:nvSpPr>
        <p:spPr>
          <a:xfrm>
            <a:off x="776725" y="490717"/>
            <a:ext cx="11877272" cy="2178888"/>
          </a:xfrm>
          <a:prstGeom prst="rect">
            <a:avLst/>
          </a:prstGeom>
        </p:spPr>
        <p:txBody>
          <a:bodyPr lIns="0" tIns="0" rIns="0" bIns="0" rtlCol="0" anchor="t">
            <a:spAutoFit/>
          </a:bodyPr>
          <a:lstStyle/>
          <a:p>
            <a:pPr algn="ctr">
              <a:lnSpc>
                <a:spcPts val="8781"/>
              </a:lnSpc>
            </a:pPr>
            <a:r>
              <a:rPr lang="en-US" sz="6272">
                <a:solidFill>
                  <a:srgbClr val="000000"/>
                </a:solidFill>
                <a:latin typeface="Canva Sans Bold"/>
              </a:rPr>
              <a:t>Conclusion</a:t>
            </a:r>
          </a:p>
          <a:p>
            <a:pPr algn="ctr">
              <a:lnSpc>
                <a:spcPts val="8781"/>
              </a:lnSpc>
            </a:pPr>
            <a:endParaRPr lang="en-US" sz="6272">
              <a:solidFill>
                <a:srgbClr val="000000"/>
              </a:solidFill>
              <a:latin typeface="Canva Sans Bold"/>
            </a:endParaRPr>
          </a:p>
        </p:txBody>
      </p:sp>
      <p:sp>
        <p:nvSpPr>
          <p:cNvPr id="3" name="TextBox 3"/>
          <p:cNvSpPr txBox="1"/>
          <p:nvPr/>
        </p:nvSpPr>
        <p:spPr>
          <a:xfrm>
            <a:off x="0" y="1808448"/>
            <a:ext cx="13058413" cy="6612954"/>
          </a:xfrm>
          <a:prstGeom prst="rect">
            <a:avLst/>
          </a:prstGeom>
        </p:spPr>
        <p:txBody>
          <a:bodyPr lIns="0" tIns="0" rIns="0" bIns="0" rtlCol="0" anchor="t">
            <a:spAutoFit/>
          </a:bodyPr>
          <a:lstStyle/>
          <a:p>
            <a:pPr marL="738718" lvl="1" indent="-369359" algn="ctr">
              <a:lnSpc>
                <a:spcPts val="4790"/>
              </a:lnSpc>
              <a:buAutoNum type="arabicPeriod"/>
            </a:pPr>
            <a:r>
              <a:rPr lang="en-US" sz="3421">
                <a:solidFill>
                  <a:srgbClr val="000000"/>
                </a:solidFill>
                <a:latin typeface="Canva Sans"/>
              </a:rPr>
              <a:t>After conducting all the experiments, Faraday finally concluded that if relative motion existed between a conductor and a magnetic field, the flux linkage with a coil changed and this change in flux produced a voltage across a coil.</a:t>
            </a:r>
          </a:p>
          <a:p>
            <a:pPr marL="738718" lvl="1" indent="-369359" algn="ctr">
              <a:lnSpc>
                <a:spcPts val="4790"/>
              </a:lnSpc>
              <a:buAutoNum type="arabicPeriod"/>
            </a:pPr>
            <a:r>
              <a:rPr lang="en-US" sz="3421">
                <a:solidFill>
                  <a:srgbClr val="000000"/>
                </a:solidFill>
                <a:latin typeface="Canva Sans"/>
              </a:rPr>
              <a:t>Faraday law basically states, “when the magnetic flux or the magnetic field changes with time, the electromotive force is produced”. Additionally, Michael Faraday also formulated two laws on the basis of the above experiments.</a:t>
            </a:r>
          </a:p>
          <a:p>
            <a:pPr algn="ctr">
              <a:lnSpc>
                <a:spcPts val="4790"/>
              </a:lnSpc>
            </a:pPr>
            <a:endParaRPr lang="en-US" sz="3421">
              <a:solidFill>
                <a:srgbClr val="000000"/>
              </a:solidFill>
              <a:latin typeface="Canv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017" b="-11427"/>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823</Words>
  <Application>Microsoft Office PowerPoint</Application>
  <PresentationFormat>Custom</PresentationFormat>
  <Paragraphs>93</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Yeseva One</vt:lpstr>
      <vt:lpstr>Canva Sans</vt:lpstr>
      <vt:lpstr>Calibri</vt:lpstr>
      <vt:lpstr>Libre Baskerville</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Faraday’s Laws of Electromagnetic Induction</dc:title>
  <cp:lastModifiedBy>Engr Asif Ali</cp:lastModifiedBy>
  <cp:revision>5</cp:revision>
  <dcterms:created xsi:type="dcterms:W3CDTF">2006-08-16T00:00:00Z</dcterms:created>
  <dcterms:modified xsi:type="dcterms:W3CDTF">2024-05-15T06:01:50Z</dcterms:modified>
  <dc:identifier>DAGDbhQClmc</dc:identifier>
</cp:coreProperties>
</file>
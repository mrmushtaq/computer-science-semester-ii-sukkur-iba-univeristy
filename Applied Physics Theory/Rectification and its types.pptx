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11" r:id="rId2"/>
    <p:sldId id="312" r:id="rId3"/>
    <p:sldId id="316" r:id="rId4"/>
    <p:sldId id="318" r:id="rId5"/>
    <p:sldId id="259" r:id="rId6"/>
    <p:sldId id="267" r:id="rId7"/>
    <p:sldId id="273" r:id="rId8"/>
    <p:sldId id="295" r:id="rId9"/>
    <p:sldId id="274" r:id="rId10"/>
    <p:sldId id="294" r:id="rId11"/>
    <p:sldId id="301" r:id="rId12"/>
    <p:sldId id="319" r:id="rId13"/>
    <p:sldId id="270" r:id="rId14"/>
    <p:sldId id="276" r:id="rId15"/>
    <p:sldId id="278" r:id="rId16"/>
    <p:sldId id="307" r:id="rId17"/>
    <p:sldId id="308" r:id="rId18"/>
    <p:sldId id="317" r:id="rId19"/>
    <p:sldId id="320" r:id="rId20"/>
    <p:sldId id="306" r:id="rId21"/>
    <p:sldId id="309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9C120-23CE-45A2-B8E5-163CA8752762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7E340-3197-4F4F-AED0-5CCFE01F0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34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8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5"/>
          <p:cNvSpPr txBox="1">
            <a:spLocks/>
          </p:cNvSpPr>
          <p:nvPr userDrawn="1"/>
        </p:nvSpPr>
        <p:spPr>
          <a:xfrm>
            <a:off x="1801504" y="375373"/>
            <a:ext cx="9962865" cy="446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14"/>
          <p:cNvSpPr txBox="1">
            <a:spLocks/>
          </p:cNvSpPr>
          <p:nvPr userDrawn="1"/>
        </p:nvSpPr>
        <p:spPr>
          <a:xfrm>
            <a:off x="6972869" y="638013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i="1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15"/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3F66FA-1D38-4225-99EF-DA3E159AA04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549" y="0"/>
            <a:ext cx="1660501" cy="1196990"/>
          </a:xfrm>
          <a:prstGeom prst="rect">
            <a:avLst/>
          </a:prstGeom>
        </p:spPr>
      </p:pic>
      <p:pic>
        <p:nvPicPr>
          <p:cNvPr id="15" name="Picture 14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3" y="0"/>
            <a:ext cx="1660501" cy="1196990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14"/>
          <p:cNvSpPr txBox="1">
            <a:spLocks/>
          </p:cNvSpPr>
          <p:nvPr userDrawn="1"/>
        </p:nvSpPr>
        <p:spPr>
          <a:xfrm>
            <a:off x="4253470" y="6410941"/>
            <a:ext cx="29870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: Engr. Asif Ali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oter Placeholder 14"/>
          <p:cNvSpPr txBox="1">
            <a:spLocks/>
          </p:cNvSpPr>
          <p:nvPr userDrawn="1"/>
        </p:nvSpPr>
        <p:spPr>
          <a:xfrm>
            <a:off x="120009" y="6410941"/>
            <a:ext cx="14204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i="1" dirty="0" smtClean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1</a:t>
            </a:r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38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60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93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0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6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0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0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9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7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29FD3-C7B9-4337-90A4-7E4D5D5843F3}" type="datetimeFigureOut">
              <a:rPr lang="en-US" smtClean="0"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6CF41-FE29-47DC-999A-01E36EF22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>
            <a:spLocks noGrp="1"/>
          </p:cNvSpPr>
          <p:nvPr>
            <p:ph type="title" idx="4294967295"/>
          </p:nvPr>
        </p:nvSpPr>
        <p:spPr>
          <a:xfrm>
            <a:off x="1801504" y="375373"/>
            <a:ext cx="9962865" cy="44624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6380139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6972869" y="6380139"/>
            <a:ext cx="4114800" cy="365125"/>
          </a:xfrm>
        </p:spPr>
        <p:txBody>
          <a:bodyPr/>
          <a:lstStyle/>
          <a:p>
            <a:pPr algn="r"/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</p:txBody>
      </p:sp>
      <p:sp>
        <p:nvSpPr>
          <p:cNvPr id="7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13F66FA-1D38-4225-99EF-DA3E159AA041}" type="slidenum">
              <a:rPr lang="en-US" smtClean="0"/>
              <a:t>1</a:t>
            </a:fld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549" y="0"/>
            <a:ext cx="1660501" cy="119699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46655" y="1586011"/>
            <a:ext cx="6048470" cy="1825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 and its applications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Wave Rectifier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Wave Rectifier</a:t>
            </a:r>
            <a:endParaRPr lang="en-US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515316" y="4307970"/>
            <a:ext cx="9128394" cy="18865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By:     Mushtaque Ali </a:t>
            </a:r>
          </a:p>
          <a:p>
            <a:pPr marL="0" indent="0" algn="ctr">
              <a:buNone/>
            </a:pP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marL="0" indent="0" algn="ctr">
              <a:buNone/>
            </a:pP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Saqib Hussain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  <p:pic>
        <p:nvPicPr>
          <p:cNvPr id="12" name="Pictur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3" y="0"/>
            <a:ext cx="1660501" cy="119699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flipV="1">
            <a:off x="0" y="1196990"/>
            <a:ext cx="12192000" cy="13648"/>
          </a:xfrm>
          <a:prstGeom prst="line">
            <a:avLst/>
          </a:prstGeom>
          <a:ln w="76200" cmpd="thickThin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 txBox="1">
            <a:spLocks/>
          </p:cNvSpPr>
          <p:nvPr/>
        </p:nvSpPr>
        <p:spPr>
          <a:xfrm>
            <a:off x="120009" y="6410941"/>
            <a:ext cx="14204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6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97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1161967"/>
            <a:ext cx="10515600" cy="1325563"/>
          </a:xfrm>
        </p:spPr>
        <p:txBody>
          <a:bodyPr/>
          <a:lstStyle/>
          <a:p>
            <a:r>
              <a:rPr lang="en-US" b="1" dirty="0" smtClean="0"/>
              <a:t>What is a Diode 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46760" y="2291585"/>
            <a:ext cx="4582886" cy="4287792"/>
          </a:xfrm>
        </p:spPr>
        <p:txBody>
          <a:bodyPr>
            <a:normAutofit/>
          </a:bodyPr>
          <a:lstStyle/>
          <a:p>
            <a:r>
              <a:rPr lang="en-US" dirty="0"/>
              <a:t>A diode is an electrical component with two terminals that conducts electricity </a:t>
            </a:r>
            <a:r>
              <a:rPr lang="en-US" dirty="0" smtClean="0"/>
              <a:t>only </a:t>
            </a:r>
            <a:r>
              <a:rPr lang="en-US" dirty="0"/>
              <a:t>in one direction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On one end, it has a high resistance and low resistance on the other end.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9" t="8299" r="2189" b="2742"/>
          <a:stretch/>
        </p:blipFill>
        <p:spPr>
          <a:xfrm>
            <a:off x="5749833" y="1690688"/>
            <a:ext cx="5603967" cy="381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45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81890" y="208372"/>
            <a:ext cx="10515600" cy="1325563"/>
          </a:xfrm>
        </p:spPr>
        <p:txBody>
          <a:bodyPr/>
          <a:lstStyle/>
          <a:p>
            <a:r>
              <a:rPr lang="en-US" b="1" dirty="0" smtClean="0"/>
              <a:t>		Applications of the Diode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2139134"/>
            <a:ext cx="10515600" cy="2733312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Diodes </a:t>
            </a:r>
            <a:r>
              <a:rPr lang="en-US" dirty="0"/>
              <a:t>in </a:t>
            </a:r>
            <a:r>
              <a:rPr lang="en-US" dirty="0" smtClean="0"/>
              <a:t>Rectification</a:t>
            </a:r>
            <a:endParaRPr lang="en-US" dirty="0"/>
          </a:p>
          <a:p>
            <a:r>
              <a:rPr lang="en-US" dirty="0" smtClean="0"/>
              <a:t>Diodes </a:t>
            </a:r>
            <a:r>
              <a:rPr lang="en-US" dirty="0"/>
              <a:t>in logical </a:t>
            </a:r>
            <a:r>
              <a:rPr lang="en-US" dirty="0" smtClean="0"/>
              <a:t>gates</a:t>
            </a:r>
          </a:p>
          <a:p>
            <a:r>
              <a:rPr lang="en-US" dirty="0" smtClean="0"/>
              <a:t>Diodes in clamping circuits</a:t>
            </a:r>
            <a:endParaRPr lang="en-US" dirty="0"/>
          </a:p>
          <a:p>
            <a:r>
              <a:rPr lang="en-US" dirty="0"/>
              <a:t>Diodes in the clipping </a:t>
            </a:r>
            <a:r>
              <a:rPr lang="en-US" dirty="0" smtClean="0"/>
              <a:t>circuits.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532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27811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 smtClean="0"/>
              <a:t>Things to remember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12074" y="1577431"/>
            <a:ext cx="10515600" cy="4351338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A diode is a two-terminal electronic component that conducts electricity in one direction. </a:t>
            </a:r>
          </a:p>
          <a:p>
            <a:r>
              <a:rPr lang="en-US" sz="2400" dirty="0" smtClean="0"/>
              <a:t>It has high resistance on one end and low resistance on the other end. </a:t>
            </a:r>
          </a:p>
          <a:p>
            <a:r>
              <a:rPr lang="en-US" sz="2400" dirty="0" smtClean="0"/>
              <a:t>In the symbol of a diode, the arrowhead represents the anode and the vertical bar represents the cathode. </a:t>
            </a:r>
          </a:p>
          <a:p>
            <a:r>
              <a:rPr lang="en-US" sz="2400" dirty="0" smtClean="0"/>
              <a:t>The anode represents the conventional current flow direction in the forward-biased condition toward the cathode.</a:t>
            </a:r>
          </a:p>
          <a:p>
            <a:r>
              <a:rPr lang="en-US" sz="2400" dirty="0" smtClean="0"/>
              <a:t>Diodes are commonly made up of only two semiconductor materials, Silicon and Germanium.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0448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838200" y="1318714"/>
            <a:ext cx="10515600" cy="1325563"/>
          </a:xfrm>
        </p:spPr>
        <p:txBody>
          <a:bodyPr/>
          <a:lstStyle/>
          <a:p>
            <a:pPr algn="ctr"/>
            <a:r>
              <a:rPr lang="en-US" sz="4800" b="1" dirty="0" smtClean="0">
                <a:solidFill>
                  <a:schemeClr val="accent1">
                    <a:lumMod val="50000"/>
                  </a:schemeClr>
                </a:solidFill>
              </a:rPr>
              <a:t>Rectifier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838200" y="2753088"/>
            <a:ext cx="10515600" cy="2458992"/>
          </a:xfrm>
        </p:spPr>
        <p:txBody>
          <a:bodyPr>
            <a:normAutofit/>
          </a:bodyPr>
          <a:lstStyle/>
          <a:p>
            <a:r>
              <a:rPr lang="en-US" dirty="0" smtClean="0"/>
              <a:t>A rectifier is an electronic device used to convert alternating current (AC) into direct current (DC).</a:t>
            </a:r>
          </a:p>
          <a:p>
            <a:r>
              <a:rPr lang="en-US" dirty="0" smtClean="0"/>
              <a:t>This process is known as rectification.</a:t>
            </a:r>
            <a:endParaRPr lang="en-US" dirty="0"/>
          </a:p>
          <a:p>
            <a:r>
              <a:rPr lang="en-US" dirty="0"/>
              <a:t>A rectifier, </a:t>
            </a:r>
            <a:r>
              <a:rPr lang="en-US" dirty="0" smtClean="0"/>
              <a:t>consists </a:t>
            </a:r>
            <a:r>
              <a:rPr lang="en-US" dirty="0"/>
              <a:t>of a transformer, a diode, and a filter circuit. All of these collectively convert AC to </a:t>
            </a:r>
            <a:r>
              <a:rPr lang="en-US" dirty="0" smtClean="0"/>
              <a:t>DC.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</p:spTree>
    <p:extLst>
      <p:ext uri="{BB962C8B-B14F-4D97-AF65-F5344CB8AC3E}">
        <p14:creationId xmlns:p14="http://schemas.microsoft.com/office/powerpoint/2010/main" val="1650546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2-diode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4" y="1254034"/>
            <a:ext cx="10332720" cy="493776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</p:spTree>
    <p:extLst>
      <p:ext uri="{BB962C8B-B14F-4D97-AF65-F5344CB8AC3E}">
        <p14:creationId xmlns:p14="http://schemas.microsoft.com/office/powerpoint/2010/main" val="3608958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1096650"/>
            <a:ext cx="10515600" cy="1228544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Half-wave rectifier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2504894"/>
            <a:ext cx="10515600" cy="435133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Half-wave rectifier:</a:t>
            </a:r>
            <a:r>
              <a:rPr lang="en-US" dirty="0"/>
              <a:t> A rectifier that converts alternating current (AC) into direct current (DC) by allowing current flow in only one direction during half of the AC cycle, using a single diode.</a:t>
            </a:r>
          </a:p>
          <a:p>
            <a:r>
              <a:rPr lang="en-US" dirty="0" smtClean="0"/>
              <a:t>In Half wave rectification, the rectifier conducts current during positive half cycle of input AC signal only.</a:t>
            </a:r>
          </a:p>
          <a:p>
            <a:r>
              <a:rPr lang="en-US" dirty="0" smtClean="0"/>
              <a:t>Negative half cycle is suppressed.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</p:spTree>
    <p:extLst>
      <p:ext uri="{BB962C8B-B14F-4D97-AF65-F5344CB8AC3E}">
        <p14:creationId xmlns:p14="http://schemas.microsoft.com/office/powerpoint/2010/main" val="2432762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1314994" y="1451036"/>
            <a:ext cx="8782594" cy="47352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Circuit details and working mechanism: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algn="just">
              <a:defRPr/>
            </a:pPr>
            <a:r>
              <a:rPr lang="en-US" dirty="0" smtClean="0"/>
              <a:t>The output across the load is pulsating </a:t>
            </a:r>
            <a:r>
              <a:rPr lang="en-US" dirty="0" err="1" smtClean="0"/>
              <a:t>d.c.</a:t>
            </a: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8290560" y="7633790"/>
            <a:ext cx="763704" cy="30253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2DF89BCA-1904-4351-B211-0A792029E1F1}" type="slidenum">
              <a:rPr lang="en-US" altLang="en-US" smtClean="0">
                <a:solidFill>
                  <a:srgbClr val="4A566A"/>
                </a:solidFill>
              </a:rPr>
              <a:pPr/>
              <a:t>8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679" y="2002973"/>
            <a:ext cx="8416653" cy="2455760"/>
          </a:xfrm>
          <a:prstGeom prst="rect">
            <a:avLst/>
          </a:prstGeom>
          <a:ln w="38100" cap="sq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712720" y="311272"/>
            <a:ext cx="6731726" cy="6945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 smtClean="0"/>
              <a:t>Half-wave rectifier: (cont.) </a:t>
            </a:r>
          </a:p>
        </p:txBody>
      </p:sp>
    </p:spTree>
    <p:extLst>
      <p:ext uri="{BB962C8B-B14F-4D97-AF65-F5344CB8AC3E}">
        <p14:creationId xmlns:p14="http://schemas.microsoft.com/office/powerpoint/2010/main" val="2329429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06-half-wave-rectifier-full-wave-rectifier-with-their-description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229" y="1410789"/>
            <a:ext cx="9183188" cy="484632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</p:spTree>
    <p:extLst>
      <p:ext uri="{BB962C8B-B14F-4D97-AF65-F5344CB8AC3E}">
        <p14:creationId xmlns:p14="http://schemas.microsoft.com/office/powerpoint/2010/main" val="1289323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28948" y="418011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smtClean="0"/>
              <a:t>Output frequency of half-wave rectifier: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090748" y="1561011"/>
            <a:ext cx="4419600" cy="42563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3200" dirty="0" smtClean="0"/>
              <a:t>The output frequency of half-wave rectifier is equal to the input frequency (50 Hz).</a:t>
            </a:r>
          </a:p>
          <a:p>
            <a:pPr algn="just"/>
            <a:endParaRPr lang="en-US" altLang="en-US" sz="3200" dirty="0" smtClean="0"/>
          </a:p>
          <a:p>
            <a:pPr algn="just"/>
            <a:endParaRPr lang="en-US" alt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9701348" y="6774361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5E2E0DF4-0D4B-40A7-A013-3424799ACFBF}" type="slidenum">
              <a:rPr lang="en-US" altLang="en-US" smtClean="0">
                <a:solidFill>
                  <a:srgbClr val="4A566A"/>
                </a:solidFill>
              </a:rPr>
              <a:pPr/>
              <a:t>10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773" y="1293222"/>
            <a:ext cx="3711575" cy="4791892"/>
          </a:xfrm>
          <a:prstGeom prst="rect">
            <a:avLst/>
          </a:prstGeom>
          <a:ln w="38100" cap="sq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142" y="4391297"/>
            <a:ext cx="2590800" cy="858838"/>
          </a:xfrm>
          <a:prstGeom prst="rect">
            <a:avLst/>
          </a:prstGeom>
          <a:ln w="38100" cap="sq">
            <a:solidFill>
              <a:schemeClr val="accent1">
                <a:lumMod val="5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5336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072643" y="78378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 smtClean="0"/>
              <a:t>		Applications: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016040" y="1828799"/>
            <a:ext cx="8763000" cy="41953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defRPr/>
            </a:pPr>
            <a:r>
              <a:rPr lang="en-US" sz="3000" dirty="0" smtClean="0">
                <a:solidFill>
                  <a:schemeClr val="accent1">
                    <a:lumMod val="75000"/>
                  </a:schemeClr>
                </a:solidFill>
              </a:rPr>
              <a:t>Half wave rectifier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defRPr/>
            </a:pPr>
            <a:r>
              <a:rPr lang="en-US" dirty="0" smtClean="0"/>
              <a:t>Used </a:t>
            </a:r>
            <a:r>
              <a:rPr lang="en-US" dirty="0"/>
              <a:t>in Pulse Generator </a:t>
            </a:r>
            <a:r>
              <a:rPr lang="en-US" dirty="0" smtClean="0"/>
              <a:t>Circuits for conversion from AC to DC. </a:t>
            </a:r>
          </a:p>
          <a:p>
            <a:pPr>
              <a:defRPr/>
            </a:pPr>
            <a:r>
              <a:rPr lang="en-US" dirty="0" smtClean="0"/>
              <a:t>Low-power </a:t>
            </a:r>
            <a:r>
              <a:rPr lang="en-US" dirty="0"/>
              <a:t>DC supplies for small devices like smartphones or toys.</a:t>
            </a:r>
          </a:p>
          <a:p>
            <a:pPr>
              <a:defRPr/>
            </a:pPr>
            <a:r>
              <a:rPr lang="en-US" dirty="0"/>
              <a:t>Demodulation of amplitude-modulated (AM) signals in communication systems.</a:t>
            </a:r>
          </a:p>
          <a:p>
            <a:pPr>
              <a:defRPr/>
            </a:pPr>
            <a:r>
              <a:rPr lang="en-US" dirty="0"/>
              <a:t>Control of brightness in lighting applications, such as dimmer switches for incandescent </a:t>
            </a:r>
            <a:r>
              <a:rPr lang="en-US" dirty="0" smtClean="0"/>
              <a:t>bulbs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9845043" y="6434728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5E65A8A5-91DE-4900-98F6-DEBAF42FC243}" type="slidenum">
              <a:rPr lang="en-US" altLang="en-US" smtClean="0">
                <a:solidFill>
                  <a:srgbClr val="4A566A"/>
                </a:solidFill>
              </a:rPr>
              <a:pPr/>
              <a:t>11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9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38200" y="1319346"/>
            <a:ext cx="10683240" cy="4990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    Full-wave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rectifier:</a:t>
            </a:r>
            <a:r>
              <a:rPr lang="en-US" sz="2000" dirty="0"/>
              <a:t> A rectifier that converts alternating current (AC) into direct current (DC) by allowing current </a:t>
            </a:r>
            <a:r>
              <a:rPr lang="en-US" sz="2000" dirty="0" smtClean="0"/>
              <a:t>flow through load </a:t>
            </a:r>
            <a:r>
              <a:rPr lang="en-US" sz="2000" dirty="0"/>
              <a:t>in only one direction during both halves of the AC </a:t>
            </a:r>
            <a:r>
              <a:rPr lang="en-US" sz="2000" dirty="0" smtClean="0"/>
              <a:t>cycle.</a:t>
            </a:r>
          </a:p>
          <a:p>
            <a:r>
              <a:rPr lang="en-US" sz="2000" dirty="0" smtClean="0"/>
              <a:t>It </a:t>
            </a:r>
            <a:r>
              <a:rPr lang="en-US" sz="2000" dirty="0"/>
              <a:t>can be </a:t>
            </a:r>
            <a:r>
              <a:rPr lang="en-US" sz="2000" dirty="0" smtClean="0"/>
              <a:t>achieved with two diodes working alternatively, </a:t>
            </a:r>
            <a:r>
              <a:rPr lang="en-US" sz="2000" dirty="0"/>
              <a:t>or a bridge rectifier, which uses four diodes arranged in a bridge configuration</a:t>
            </a:r>
            <a:r>
              <a:rPr lang="en-US" sz="2000" dirty="0" smtClean="0"/>
              <a:t>.</a:t>
            </a:r>
          </a:p>
          <a:p>
            <a:pPr algn="just">
              <a:defRPr/>
            </a:pPr>
            <a:r>
              <a:rPr lang="en-US" sz="2000" dirty="0"/>
              <a:t>In full-wave rectifier, current flow towards load in the same direction for the both half cycles of input </a:t>
            </a:r>
            <a:r>
              <a:rPr lang="en-US" sz="2000" dirty="0" err="1"/>
              <a:t>a.c</a:t>
            </a:r>
            <a:r>
              <a:rPr lang="en-US" sz="2000" dirty="0"/>
              <a:t>. </a:t>
            </a:r>
            <a:r>
              <a:rPr lang="en-US" sz="2000" dirty="0" smtClean="0"/>
              <a:t>voltage</a:t>
            </a:r>
            <a:endParaRPr lang="en-US" sz="2000" dirty="0"/>
          </a:p>
          <a:p>
            <a:pPr algn="just">
              <a:defRPr/>
            </a:pPr>
            <a:r>
              <a:rPr lang="en-US" sz="2000" dirty="0"/>
              <a:t>For positive half-cycle, one diode supplies current to load, for negative half cycle, second diode supplies current to load</a:t>
            </a:r>
            <a:r>
              <a:rPr lang="en-US" sz="2000" dirty="0" smtClean="0"/>
              <a:t>.</a:t>
            </a:r>
          </a:p>
          <a:p>
            <a:pPr algn="just">
              <a:defRPr/>
            </a:pPr>
            <a:endParaRPr lang="en-US" sz="2000" dirty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33697" y="0"/>
            <a:ext cx="10515600" cy="1254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mtClean="0">
                <a:solidFill>
                  <a:schemeClr val="accent1">
                    <a:lumMod val="50000"/>
                  </a:schemeClr>
                </a:solidFill>
              </a:rPr>
              <a:t>Full-wave rectifier</a:t>
            </a:r>
            <a:endParaRPr lang="en-US" dirty="0"/>
          </a:p>
        </p:txBody>
      </p:sp>
      <p:pic>
        <p:nvPicPr>
          <p:cNvPr id="4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88606" y="4252503"/>
            <a:ext cx="69723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77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157997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Two Diodes Full-wave rectifier (OR)</a:t>
            </a:r>
            <a:b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Center-Tap Full-Wave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Rectifier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4294967295"/>
          </p:nvPr>
        </p:nvSpPr>
        <p:spPr>
          <a:xfrm>
            <a:off x="838200" y="3040471"/>
            <a:ext cx="10515600" cy="4351338"/>
          </a:xfrm>
        </p:spPr>
        <p:txBody>
          <a:bodyPr/>
          <a:lstStyle/>
          <a:p>
            <a:r>
              <a:rPr lang="en-US" dirty="0" smtClean="0"/>
              <a:t>Circuit has two diodes D1, D2 and a center tap transformer.</a:t>
            </a:r>
          </a:p>
          <a:p>
            <a:r>
              <a:rPr lang="en-US" dirty="0" smtClean="0"/>
              <a:t>During positive half cycle, diode D1 conducts and during negative half cycle, diode D2 conducts current.</a:t>
            </a:r>
          </a:p>
          <a:p>
            <a:r>
              <a:rPr lang="en-US" dirty="0" smtClean="0"/>
              <a:t>It can be seen that current through load RL is in the same direction for the both cycles.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</p:spTree>
    <p:extLst>
      <p:ext uri="{BB962C8B-B14F-4D97-AF65-F5344CB8AC3E}">
        <p14:creationId xmlns:p14="http://schemas.microsoft.com/office/powerpoint/2010/main" val="3015415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12011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Two Diodes Full-wave </a:t>
            </a: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</a:rPr>
              <a:t>rectifier Working Mechanism</a:t>
            </a:r>
            <a:endParaRPr lang="en-US" sz="36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847509" y="223210"/>
            <a:ext cx="6489031" cy="7505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Physics</a:t>
            </a:r>
          </a:p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(Computer Science Department)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51" y="2526711"/>
            <a:ext cx="7853363" cy="2817813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3267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4-half-wave-rectifier-full-wave-rectifier-with-their-description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6" y="1267097"/>
            <a:ext cx="9353005" cy="500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84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4286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Bridge Diode Full-wave rectifier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53143" y="1368424"/>
            <a:ext cx="10700657" cy="56576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In Bridge rectifier, four diodes are arranged in the form of a bridge.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 The main advantage of this bridge circuit is that it does not require a special center tapped transformer.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The single secondary winding is connected to one side of the diode bridge network and the load to the other side.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configuration provides same polarity output with either polarity</a:t>
            </a:r>
            <a:r>
              <a:rPr lang="en-US" dirty="0" smtClean="0"/>
              <a:t>.</a:t>
            </a:r>
            <a:endParaRPr lang="en-US" dirty="0"/>
          </a:p>
          <a:p>
            <a:pPr algn="just">
              <a:buFont typeface="Wingdings" panose="05000000000000000000" pitchFamily="2" charset="2"/>
              <a:buChar char="Ø"/>
              <a:defRPr/>
            </a:pPr>
            <a:r>
              <a:rPr lang="en-US" dirty="0"/>
              <a:t>The output is twice that of the center tap circuit for the same secondary voltage</a:t>
            </a:r>
            <a:r>
              <a:rPr lang="en-US" dirty="0" smtClean="0"/>
              <a:t>.</a:t>
            </a:r>
            <a:endParaRPr lang="en-US" dirty="0"/>
          </a:p>
          <a:p>
            <a:pPr algn="just">
              <a:buFont typeface="Wingdings" panose="05000000000000000000" pitchFamily="2" charset="2"/>
              <a:buChar char="Ø"/>
              <a:defRPr/>
            </a:pPr>
            <a:r>
              <a:rPr lang="en-US" dirty="0"/>
              <a:t>The PIV is one half that of the center-tap circuit.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181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108358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Bridge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Diode Full-wave rectifier</a:t>
            </a:r>
            <a:endParaRPr lang="en-US" dirty="0"/>
          </a:p>
        </p:txBody>
      </p:sp>
      <p:pic>
        <p:nvPicPr>
          <p:cNvPr id="6" name="Content Placeholder 5" descr="13-half-wave-rectifier-full-wave-rectifier-with-their-descriptions-13-638.jpg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88123" y="2116183"/>
            <a:ext cx="8335107" cy="382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30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072643" y="78378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 smtClean="0"/>
              <a:t>		Applications: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016040" y="1828799"/>
            <a:ext cx="8763000" cy="41953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defRPr/>
            </a:pPr>
            <a:r>
              <a:rPr lang="en-US" sz="3000" dirty="0" smtClean="0">
                <a:solidFill>
                  <a:schemeClr val="accent1">
                    <a:lumMod val="75000"/>
                  </a:schemeClr>
                </a:solidFill>
              </a:rPr>
              <a:t>Full wave rectifier</a:t>
            </a:r>
          </a:p>
          <a:p>
            <a:pPr algn="just">
              <a:defRPr/>
            </a:pPr>
            <a:r>
              <a:rPr lang="en-US" sz="2400" dirty="0" smtClean="0"/>
              <a:t>Power supplies for electronic devices like computers,</a:t>
            </a:r>
            <a:r>
              <a:rPr lang="en-US" dirty="0" smtClean="0"/>
              <a:t> </a:t>
            </a:r>
            <a:r>
              <a:rPr lang="en-US" sz="2400" dirty="0" smtClean="0"/>
              <a:t>televisions, and industrial equipment.</a:t>
            </a:r>
          </a:p>
          <a:p>
            <a:pPr algn="just">
              <a:defRPr/>
            </a:pPr>
            <a:r>
              <a:rPr lang="en-US" sz="2400" dirty="0" smtClean="0"/>
              <a:t>Battery </a:t>
            </a:r>
            <a:r>
              <a:rPr lang="en-US" sz="2400" dirty="0"/>
              <a:t>chargers for automotive batteries, UPS, and renewable energy systems</a:t>
            </a:r>
            <a:r>
              <a:rPr lang="en-US" sz="2400" dirty="0" smtClean="0"/>
              <a:t>.</a:t>
            </a:r>
          </a:p>
          <a:p>
            <a:pPr algn="just">
              <a:defRPr/>
            </a:pPr>
            <a:r>
              <a:rPr lang="en-US" sz="2400" dirty="0" smtClean="0"/>
              <a:t>DC </a:t>
            </a:r>
            <a:r>
              <a:rPr lang="en-US" sz="2400" dirty="0"/>
              <a:t>motor drives for industrial and automotive systems</a:t>
            </a:r>
            <a:r>
              <a:rPr lang="en-US" sz="2400" dirty="0" smtClean="0"/>
              <a:t>.</a:t>
            </a:r>
          </a:p>
          <a:p>
            <a:pPr algn="just">
              <a:defRPr/>
            </a:pPr>
            <a:r>
              <a:rPr lang="en-US" sz="2400" dirty="0" smtClean="0"/>
              <a:t>Welding </a:t>
            </a:r>
            <a:r>
              <a:rPr lang="en-US" sz="2400" dirty="0"/>
              <a:t>power supplies for stable and controllable power output in welding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9845043" y="6434728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5E65A8A5-91DE-4900-98F6-DEBAF42FC243}" type="slidenum">
              <a:rPr lang="en-US" altLang="en-US" smtClean="0">
                <a:solidFill>
                  <a:srgbClr val="4A566A"/>
                </a:solidFill>
              </a:rPr>
              <a:pPr/>
              <a:t>18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65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822960" y="838200"/>
            <a:ext cx="10195563" cy="5486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defRPr/>
            </a:pPr>
            <a:endParaRPr lang="en-US" altLang="en-US" sz="40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defRPr/>
            </a:pPr>
            <a:r>
              <a:rPr lang="en-US" altLang="en-US" sz="3200" b="1" dirty="0" smtClean="0">
                <a:solidFill>
                  <a:schemeClr val="accent1">
                    <a:lumMod val="75000"/>
                  </a:schemeClr>
                </a:solidFill>
              </a:rPr>
              <a:t>Ripple Factor</a:t>
            </a:r>
          </a:p>
          <a:p>
            <a:pPr marL="914400" lvl="2" indent="0" algn="just">
              <a:buNone/>
              <a:defRPr/>
            </a:pPr>
            <a:r>
              <a:rPr lang="en-US" altLang="en-US" sz="2400" b="1" dirty="0" smtClean="0"/>
              <a:t>The output current contains both AC and DC components . The ripple factor measures the percentage of AC component in the rectified output.</a:t>
            </a:r>
          </a:p>
          <a:p>
            <a:pPr marL="914400" lvl="2" indent="0" algn="just">
              <a:buNone/>
              <a:defRPr/>
            </a:pPr>
            <a:endParaRPr lang="en-US" altLang="en-US" sz="2400" b="1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b="1" i="1" dirty="0" smtClean="0"/>
              <a:t>“</a:t>
            </a:r>
            <a:r>
              <a:rPr lang="en-US" i="1" dirty="0" smtClean="0"/>
              <a:t>The ratio of </a:t>
            </a:r>
            <a:r>
              <a:rPr lang="en-US" i="1" dirty="0" err="1" smtClean="0"/>
              <a:t>r.m.s</a:t>
            </a:r>
            <a:r>
              <a:rPr lang="en-US" i="1" dirty="0" smtClean="0"/>
              <a:t>. value of </a:t>
            </a:r>
            <a:r>
              <a:rPr lang="en-US" i="1" dirty="0" err="1" smtClean="0"/>
              <a:t>a.c</a:t>
            </a:r>
            <a:r>
              <a:rPr lang="en-US" i="1" dirty="0" smtClean="0"/>
              <a:t>. component to the </a:t>
            </a:r>
            <a:r>
              <a:rPr lang="en-US" i="1" dirty="0" err="1" smtClean="0"/>
              <a:t>d.c.</a:t>
            </a:r>
            <a:r>
              <a:rPr lang="en-US" i="1" dirty="0" smtClean="0"/>
              <a:t> component in the rectifier output is known as the ripple factor</a:t>
            </a:r>
            <a:r>
              <a:rPr lang="en-US" b="1" i="1" dirty="0" smtClean="0"/>
              <a:t>.”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027923" y="6356350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A3B2044E-2823-443A-BE1E-075713BFB3D9}" type="slidenum">
              <a:rPr lang="en-US" altLang="en-US" smtClean="0">
                <a:solidFill>
                  <a:srgbClr val="4A566A"/>
                </a:solidFill>
              </a:rPr>
              <a:pPr/>
              <a:t>19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604" y="4664851"/>
            <a:ext cx="7772400" cy="1228725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333898" y="261260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          Ripple Factor</a:t>
            </a:r>
          </a:p>
        </p:txBody>
      </p:sp>
    </p:spTree>
    <p:extLst>
      <p:ext uri="{BB962C8B-B14F-4D97-AF65-F5344CB8AC3E}">
        <p14:creationId xmlns:p14="http://schemas.microsoft.com/office/powerpoint/2010/main" val="2854418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333898" y="261260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Font typeface="Wingdings 2" panose="05020102010507070707" pitchFamily="18" charset="2"/>
              <a:buNone/>
            </a:pPr>
            <a:r>
              <a:rPr lang="en-US" altLang="en-US" b="1" smtClean="0"/>
              <a:t>Ripple Factor: (cont.)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18011" y="1099460"/>
            <a:ext cx="10678887" cy="50400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dirty="0" smtClean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dirty="0" smtClean="0"/>
              <a:t>Mathematical analysis: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dirty="0" smtClean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dirty="0" smtClean="0"/>
              <a:t>For Half wave rectification: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dirty="0" smtClean="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dirty="0" smtClean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dirty="0" smtClean="0"/>
              <a:t>For Full wave rectification: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106298" y="6617610"/>
            <a:ext cx="7620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FE3097BE-DBB0-4601-9332-3FBA73C25274}" type="slidenum">
              <a:rPr lang="en-US" altLang="en-US" smtClean="0">
                <a:solidFill>
                  <a:srgbClr val="4A566A"/>
                </a:solidFill>
              </a:rPr>
              <a:pPr/>
              <a:t>20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666" y="3384006"/>
            <a:ext cx="4538663" cy="102552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098" y="5107444"/>
            <a:ext cx="4495800" cy="110172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0286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77" y="2114003"/>
            <a:ext cx="8077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072640" y="300445"/>
            <a:ext cx="8763000" cy="838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</a:rPr>
              <a:t>Comparison of rectifiers</a:t>
            </a:r>
          </a:p>
        </p:txBody>
      </p:sp>
    </p:spTree>
    <p:extLst>
      <p:ext uri="{BB962C8B-B14F-4D97-AF65-F5344CB8AC3E}">
        <p14:creationId xmlns:p14="http://schemas.microsoft.com/office/powerpoint/2010/main" val="2218859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4-halfwave-and-full-wave-rectificaton-14-638.jpg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t="21037"/>
          <a:stretch/>
        </p:blipFill>
        <p:spPr>
          <a:xfrm>
            <a:off x="7274116" y="2541220"/>
            <a:ext cx="4917884" cy="3324003"/>
          </a:xfrm>
          <a:prstGeom prst="rect">
            <a:avLst/>
          </a:prstGeom>
        </p:spPr>
      </p:pic>
      <p:pic>
        <p:nvPicPr>
          <p:cNvPr id="6" name="Picture 5" descr="17-half-wave-rectifier-full-wave-rectifier-with-their-descriptions-17-6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"/>
            <a:ext cx="6594231" cy="4885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7101" y="1402247"/>
            <a:ext cx="5052647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6600" b="1" dirty="0" smtClean="0"/>
              <a:t>Any Question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3348827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831</Words>
  <Application>Microsoft Office PowerPoint</Application>
  <PresentationFormat>Widescreen</PresentationFormat>
  <Paragraphs>119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Georgia</vt:lpstr>
      <vt:lpstr>Times New Roman</vt:lpstr>
      <vt:lpstr>Wingdings</vt:lpstr>
      <vt:lpstr>Wingdings 2</vt:lpstr>
      <vt:lpstr>Office Theme</vt:lpstr>
      <vt:lpstr> </vt:lpstr>
      <vt:lpstr>What is a Diode ?</vt:lpstr>
      <vt:lpstr>  Applications of the Diode </vt:lpstr>
      <vt:lpstr>Things to remember</vt:lpstr>
      <vt:lpstr>Rectifier</vt:lpstr>
      <vt:lpstr>PowerPoint Presentation</vt:lpstr>
      <vt:lpstr>Half-wave rectifier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Diodes Full-wave rectifier (OR) Center-Tap Full-Wave Rectifier </vt:lpstr>
      <vt:lpstr>Two Diodes Full-wave rectifier Working Mechanism</vt:lpstr>
      <vt:lpstr>PowerPoint Presentation</vt:lpstr>
      <vt:lpstr>Bridge Diode Full-wave rectifier</vt:lpstr>
      <vt:lpstr>Bridge Diode Full-wave rectifier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Mushtaque Ali</dc:creator>
  <cp:lastModifiedBy>Mushtaque Ali</cp:lastModifiedBy>
  <cp:revision>147</cp:revision>
  <dcterms:created xsi:type="dcterms:W3CDTF">2024-03-29T15:23:40Z</dcterms:created>
  <dcterms:modified xsi:type="dcterms:W3CDTF">2024-04-21T04:53:18Z</dcterms:modified>
</cp:coreProperties>
</file>
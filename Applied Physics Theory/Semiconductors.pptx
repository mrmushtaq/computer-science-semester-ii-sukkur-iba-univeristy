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3"/>
    <p:sldId id="257" r:id="rId4"/>
    <p:sldId id="258" r:id="rId5"/>
    <p:sldId id="259" r:id="rId6"/>
    <p:sldId id="299" r:id="rId7"/>
    <p:sldId id="300" r:id="rId9"/>
    <p:sldId id="301" r:id="rId10"/>
    <p:sldId id="281" r:id="rId11"/>
    <p:sldId id="270" r:id="rId12"/>
    <p:sldId id="282" r:id="rId13"/>
    <p:sldId id="271" r:id="rId14"/>
    <p:sldId id="264" r:id="rId15"/>
    <p:sldId id="266" r:id="rId16"/>
    <p:sldId id="265" r:id="rId17"/>
    <p:sldId id="283" r:id="rId18"/>
    <p:sldId id="268" r:id="rId19"/>
    <p:sldId id="269" r:id="rId20"/>
    <p:sldId id="272" r:id="rId21"/>
    <p:sldId id="273" r:id="rId22"/>
    <p:sldId id="274" r:id="rId23"/>
    <p:sldId id="276" r:id="rId24"/>
    <p:sldId id="275" r:id="rId25"/>
    <p:sldId id="277" r:id="rId26"/>
    <p:sldId id="278" r:id="rId27"/>
    <p:sldId id="284"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5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1" autoAdjust="0"/>
    <p:restoredTop sz="94660"/>
  </p:normalViewPr>
  <p:slideViewPr>
    <p:cSldViewPr showGuides="1">
      <p:cViewPr varScale="1">
        <p:scale>
          <a:sx n="65" d="100"/>
          <a:sy n="65" d="100"/>
        </p:scale>
        <p:origin x="156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C2C09C-155D-472D-960E-E97DDB51BE3D}"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DAA91-6D34-4C5B-B66F-7F07FC3AE93D}"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F4D1CD0-B6EC-4FCC-A098-B065C4933AD6}"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7DAA91-6D34-4C5B-B66F-7F07FC3AE93D}"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DB4FCACA-0E62-4E9D-8E12-CE1D8B7C18F9}" type="slidenum">
              <a:rPr lang="en-US" smtClean="0"/>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w="9525">
                <a:solidFill>
                  <a:srgbClr val="000000"/>
                </a:solidFill>
                <a:rou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w="9525">
                <a:solidFill>
                  <a:srgbClr val="000000"/>
                </a:solidFill>
                <a:round/>
              </a14:hiddenLine>
            </a:ext>
          </a:extLst>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DB4FCACA-0E62-4E9D-8E12-CE1D8B7C18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DB4FCACA-0E62-4E9D-8E12-CE1D8B7C18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FAD8368-7041-4FED-B7BC-C0080194428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EFAD8368-7041-4FED-B7BC-C0080194428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AD8368-7041-4FED-B7BC-C0080194428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AD8368-7041-4FED-B7BC-C0080194428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FAD8368-7041-4FED-B7BC-C0080194428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FAD8368-7041-4FED-B7BC-C0080194428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FAD8368-7041-4FED-B7BC-C0080194428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FAD8368-7041-4FED-B7BC-C0080194428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4FCACA-0E62-4E9D-8E12-CE1D8B7C18F9}"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5" name="Date Placeholder 4"/>
          <p:cNvSpPr>
            <a:spLocks noGrp="1"/>
          </p:cNvSpPr>
          <p:nvPr>
            <p:ph type="dt" sz="half" idx="10"/>
          </p:nvPr>
        </p:nvSpPr>
        <p:spPr/>
        <p:txBody>
          <a:bodyPr/>
          <a:lstStyle/>
          <a:p>
            <a:fld id="{EFAD8368-7041-4FED-B7BC-C0080194428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4FCACA-0E62-4E9D-8E12-CE1D8B7C18F9}" type="slidenum">
              <a:rPr lang="en-US" smtClean="0"/>
            </a:fld>
            <a:endParaRPr lang="en-US"/>
          </a:p>
        </p:txBody>
      </p:sp>
      <p:sp>
        <p:nvSpPr>
          <p:cNvPr id="9" name="Content Placeholder 8"/>
          <p:cNvSpPr>
            <a:spLocks noGrp="1"/>
          </p:cNvSpPr>
          <p:nvPr>
            <p:ph sz="quarter" idx="13"/>
          </p:nvPr>
        </p:nvSpPr>
        <p:spPr>
          <a:xfrm>
            <a:off x="1298448" y="2121407"/>
            <a:ext cx="3200400" cy="360273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FAD8368-7041-4FED-B7BC-C00801944286}" type="datetimeFigureOut">
              <a:rPr lang="en-US" smtClean="0"/>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B4FCACA-0E62-4E9D-8E12-CE1D8B7C18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1905000"/>
            <a:ext cx="7772399" cy="2133600"/>
          </a:xfrm>
        </p:spPr>
        <p:txBody>
          <a:bodyPr>
            <a:normAutofit/>
          </a:bodyPr>
          <a:lstStyle/>
          <a:p>
            <a:pPr algn="l"/>
            <a:r>
              <a:rPr lang="en-GB" sz="4800" b="1" dirty="0">
                <a:latin typeface="Times New Roman" panose="02020603050405020304" pitchFamily="18" charset="0"/>
                <a:cs typeface="Times New Roman" panose="02020603050405020304" pitchFamily="18" charset="0"/>
              </a:rPr>
              <a:t> Semiconductor </a:t>
            </a:r>
            <a:br>
              <a:rPr lang="en-GB" sz="4800" b="1" dirty="0">
                <a:latin typeface="Times New Roman" panose="02020603050405020304" pitchFamily="18" charset="0"/>
                <a:cs typeface="Times New Roman" panose="02020603050405020304" pitchFamily="18" charset="0"/>
              </a:rPr>
            </a:br>
            <a:r>
              <a:rPr lang="en-GB" sz="4800" b="1" dirty="0">
                <a:latin typeface="Times New Roman" panose="02020603050405020304" pitchFamily="18" charset="0"/>
                <a:cs typeface="Times New Roman" panose="02020603050405020304" pitchFamily="18" charset="0"/>
              </a:rPr>
              <a:t> P-N Junction  </a:t>
            </a:r>
            <a:endParaRPr lang="en-US" sz="48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257110" y="4724400"/>
            <a:ext cx="5762563" cy="1447799"/>
          </a:xfrm>
        </p:spPr>
        <p:txBody>
          <a:bodyPr>
            <a:normAutofit lnSpcReduction="10000"/>
          </a:bodyPr>
          <a:lstStyle/>
          <a:p>
            <a:endParaRPr lang="en-GB" sz="2400" b="1" dirty="0">
              <a:solidFill>
                <a:schemeClr val="accent1"/>
              </a:solidFill>
              <a:latin typeface="Times New Roman" panose="02020603050405020304" pitchFamily="18" charset="0"/>
              <a:cs typeface="Times New Roman" panose="02020603050405020304" pitchFamily="18" charset="0"/>
            </a:endParaRPr>
          </a:p>
          <a:p>
            <a:r>
              <a:rPr lang="en-GB" sz="2400" b="1" dirty="0">
                <a:solidFill>
                  <a:schemeClr val="accent1"/>
                </a:solidFill>
                <a:latin typeface="Times New Roman" panose="02020603050405020304" pitchFamily="18" charset="0"/>
                <a:cs typeface="Times New Roman" panose="02020603050405020304" pitchFamily="18" charset="0"/>
              </a:rPr>
              <a:t>     </a:t>
            </a:r>
            <a:endParaRPr lang="en-GB" sz="2400" b="1" dirty="0">
              <a:solidFill>
                <a:schemeClr val="accent1"/>
              </a:solidFill>
              <a:latin typeface="Times New Roman" panose="02020603050405020304" pitchFamily="18" charset="0"/>
              <a:cs typeface="Times New Roman" panose="02020603050405020304" pitchFamily="18" charset="0"/>
            </a:endParaRPr>
          </a:p>
          <a:p>
            <a:r>
              <a:rPr lang="en-GB" sz="2400" b="1" dirty="0">
                <a:solidFill>
                  <a:schemeClr val="accent1"/>
                </a:solidFill>
                <a:latin typeface="Times New Roman" panose="02020603050405020304" pitchFamily="18" charset="0"/>
                <a:cs typeface="Times New Roman" panose="02020603050405020304" pitchFamily="18" charset="0"/>
              </a:rPr>
              <a:t>  Kashish Goindani &amp; Geeta Khatri</a:t>
            </a:r>
            <a:endParaRPr lang="en-US" sz="2400" b="1" dirty="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339389" y="234315"/>
            <a:ext cx="4652210" cy="984885"/>
          </a:xfrm>
          <a:prstGeom prst="rect">
            <a:avLst/>
          </a:prstGeom>
          <a:noFill/>
        </p:spPr>
        <p:txBody>
          <a:bodyPr wrap="square">
            <a:spAutoFit/>
          </a:bodyPr>
          <a:lstStyle/>
          <a:p>
            <a:pPr algn="ctr"/>
            <a:r>
              <a:rPr lang="en-US" sz="4000" b="1" dirty="0">
                <a:solidFill>
                  <a:schemeClr val="accent1"/>
                </a:solidFill>
                <a:latin typeface="Times New Roman" panose="02020603050405020304" pitchFamily="18" charset="0"/>
                <a:cs typeface="Times New Roman" panose="02020603050405020304" pitchFamily="18" charset="0"/>
              </a:rPr>
              <a:t>Applied Physics</a:t>
            </a:r>
            <a:endParaRPr lang="en-US" sz="4000" b="1" dirty="0">
              <a:solidFill>
                <a:schemeClr val="accent1"/>
              </a:solidFill>
              <a:latin typeface="Times New Roman" panose="02020603050405020304" pitchFamily="18" charset="0"/>
              <a:cs typeface="Times New Roman" panose="02020603050405020304" pitchFamily="18" charset="0"/>
            </a:endParaRPr>
          </a:p>
          <a:p>
            <a:pPr algn="ctr"/>
            <a:r>
              <a:rPr lang="en-US" sz="1800" b="1" dirty="0">
                <a:solidFill>
                  <a:schemeClr val="accent1"/>
                </a:solidFill>
                <a:latin typeface="Times New Roman" panose="02020603050405020304" pitchFamily="18" charset="0"/>
                <a:cs typeface="Times New Roman" panose="02020603050405020304" pitchFamily="18" charset="0"/>
              </a:rPr>
              <a:t>(Computer Science Department)</a:t>
            </a:r>
            <a:endParaRPr lang="en-US" sz="18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82133" y="457201"/>
            <a:ext cx="7704667" cy="1142999"/>
          </a:xfrm>
        </p:spPr>
        <p:txBody>
          <a:bodyPr/>
          <a:lstStyle/>
          <a:p>
            <a:r>
              <a:rPr lang="en-US" sz="6000" b="1" dirty="0">
                <a:latin typeface="Times New Roman" panose="02020603050405020304" pitchFamily="18" charset="0"/>
                <a:cs typeface="Times New Roman" panose="02020603050405020304" pitchFamily="18" charset="0"/>
              </a:rPr>
              <a:t>Conductor</a:t>
            </a:r>
            <a:endParaRPr lang="en-US"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sz="quarter" idx="13"/>
          </p:nvPr>
        </p:nvSpPr>
        <p:spPr>
          <a:xfrm>
            <a:off x="996063" y="1828800"/>
            <a:ext cx="3652137" cy="4419600"/>
          </a:xfrm>
        </p:spPr>
        <p:txBody>
          <a:bodyPr>
            <a:normAutofit/>
          </a:bodyPr>
          <a:lstStyle/>
          <a:p>
            <a:r>
              <a:rPr lang="en-US" sz="2000" b="1" dirty="0">
                <a:latin typeface="Times New Roman" panose="02020603050405020304" pitchFamily="18" charset="0"/>
                <a:cs typeface="Times New Roman" panose="02020603050405020304" pitchFamily="18" charset="0"/>
              </a:rPr>
              <a:t>Conductors are the materials or substances which allow electricity to flow through them. </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They conduct electricity because they allow electrons to flow easily inside them from atom to atom.</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 Copper, Brass, Steel, Gold, and Aluminium </a:t>
            </a:r>
            <a:endParaRPr lang="en-US" sz="2000" b="1" dirty="0">
              <a:latin typeface="Times New Roman" panose="02020603050405020304" pitchFamily="18" charset="0"/>
              <a:cs typeface="Times New Roman" panose="02020603050405020304" pitchFamily="18" charset="0"/>
            </a:endParaRPr>
          </a:p>
          <a:p>
            <a:endParaRPr lang="en-US" sz="900" b="1" dirty="0"/>
          </a:p>
          <a:p>
            <a:endParaRPr lang="en-US" sz="1200" b="1" dirty="0"/>
          </a:p>
        </p:txBody>
      </p:sp>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05400" y="1905000"/>
            <a:ext cx="327660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228601"/>
            <a:ext cx="7704667" cy="1295400"/>
          </a:xfrm>
        </p:spPr>
        <p:txBody>
          <a:bodyPr>
            <a:normAutofit/>
          </a:bodyPr>
          <a:lstStyle/>
          <a:p>
            <a:r>
              <a:rPr lang="en-US" sz="6000" b="1" dirty="0">
                <a:latin typeface="Times New Roman" panose="02020603050405020304" pitchFamily="18" charset="0"/>
                <a:cs typeface="Times New Roman" panose="02020603050405020304" pitchFamily="18" charset="0"/>
              </a:rPr>
              <a:t>Insulator</a:t>
            </a:r>
            <a:endParaRPr lang="en-US" sz="6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a:xfrm>
            <a:off x="1295400" y="2133600"/>
            <a:ext cx="3200400" cy="4419600"/>
          </a:xfrm>
        </p:spPr>
        <p:txBody>
          <a:bodyPr>
            <a:noAutofit/>
          </a:bodyPr>
          <a:lstStyle/>
          <a:p>
            <a:r>
              <a:rPr lang="en-US" sz="2800" b="1" dirty="0">
                <a:latin typeface="Times New Roman" panose="02020603050405020304" pitchFamily="18" charset="0"/>
                <a:cs typeface="Times New Roman" panose="02020603050405020304" pitchFamily="18" charset="0"/>
              </a:rPr>
              <a:t>Insulator materials that do not allow electricity to pass through them.</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Ex : glass, air, wood, plastic and rubber</a:t>
            </a:r>
            <a:r>
              <a:rPr lang="en-US"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endParaRPr lang="en-US" sz="2000" b="1" dirty="0"/>
          </a:p>
          <a:p>
            <a:endParaRPr lang="en-US" sz="2000" b="1" dirty="0"/>
          </a:p>
        </p:txBody>
      </p:sp>
      <p:pic>
        <p:nvPicPr>
          <p:cNvPr id="7" name="Picture 2"/>
          <p:cNvPicPr>
            <a:picLocks noGrp="1" noChangeAspect="1" noChangeArrowheads="1"/>
          </p:cNvPicPr>
          <p:nvPr>
            <p:ph sz="quarter" idx="14"/>
          </p:nvPr>
        </p:nvPicPr>
        <p:blipFill rotWithShape="1">
          <a:blip r:embed="rId1">
            <a:extLst>
              <a:ext uri="{28A0092B-C50C-407E-A947-70E740481C1C}">
                <a14:useLocalDpi xmlns:a14="http://schemas.microsoft.com/office/drawing/2010/main" val="0"/>
              </a:ext>
            </a:extLst>
          </a:blip>
          <a:srcRect t="8232"/>
          <a:stretch>
            <a:fillRect/>
          </a:stretch>
        </p:blipFill>
        <p:spPr bwMode="auto">
          <a:xfrm>
            <a:off x="4800600" y="2057400"/>
            <a:ext cx="3001962"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447799"/>
          </a:xfrm>
        </p:spPr>
        <p:txBody>
          <a:bodyPr>
            <a:normAutofit/>
          </a:bodyPr>
          <a:lstStyle/>
          <a:p>
            <a:r>
              <a:rPr lang="en-US" sz="6000" b="1" dirty="0">
                <a:latin typeface="Times New Roman" panose="02020603050405020304" pitchFamily="18" charset="0"/>
                <a:cs typeface="Times New Roman" panose="02020603050405020304" pitchFamily="18" charset="0"/>
              </a:rPr>
              <a:t>Semiconductor</a:t>
            </a:r>
            <a:endParaRPr lang="en-US" sz="6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3"/>
          </p:nvPr>
        </p:nvSpPr>
        <p:spPr>
          <a:xfrm>
            <a:off x="982133" y="1371600"/>
            <a:ext cx="3516715" cy="5029199"/>
          </a:xfrm>
        </p:spPr>
        <p:txBody>
          <a:bodyPr>
            <a:normAutofit/>
          </a:bodyPr>
          <a:lstStyle/>
          <a:p>
            <a:r>
              <a:rPr lang="en-US" sz="2000" b="1" dirty="0">
                <a:latin typeface="Times New Roman" panose="02020603050405020304" pitchFamily="18" charset="0"/>
                <a:cs typeface="Times New Roman" panose="02020603050405020304" pitchFamily="18" charset="0"/>
              </a:rPr>
              <a:t>Semiconductors are materials which have a conductivity between conductors (generally metals) and nonconductors or insulators (such as most ceramics).</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 : silicon, germanium</a:t>
            </a:r>
            <a:endParaRPr lang="en-US" sz="2000" b="1" dirty="0">
              <a:latin typeface="Times New Roman" panose="02020603050405020304" pitchFamily="18" charset="0"/>
              <a:cs typeface="Times New Roman" panose="02020603050405020304" pitchFamily="18" charset="0"/>
            </a:endParaRPr>
          </a:p>
          <a:p>
            <a:endParaRPr lang="en-US" sz="1600"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30724" y="2119313"/>
            <a:ext cx="3124200" cy="35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12142" y="1138780"/>
            <a:ext cx="6419053" cy="334683"/>
          </a:xfrm>
        </p:spPr>
        <p:txBody>
          <a:bodyPr>
            <a:noAutofit/>
          </a:bodyPr>
          <a:lstStyle/>
          <a:p>
            <a:r>
              <a:rPr lang="en-US" sz="1800" dirty="0"/>
              <a:t>Comparison of a Semiconductor Atom to a Conductor Atom</a:t>
            </a:r>
            <a:endParaRPr lang="en-US" sz="1800" dirty="0"/>
          </a:p>
        </p:txBody>
      </p:sp>
      <p:sp>
        <p:nvSpPr>
          <p:cNvPr id="15" name="Footer Placeholder 14"/>
          <p:cNvSpPr>
            <a:spLocks noGrp="1"/>
          </p:cNvSpPr>
          <p:nvPr>
            <p:ph type="ftr" sz="quarter" idx="11"/>
          </p:nvPr>
        </p:nvSpPr>
        <p:spPr>
          <a:xfrm>
            <a:off x="5229652" y="5642354"/>
            <a:ext cx="3086100" cy="273844"/>
          </a:xfrm>
        </p:spPr>
        <p:txBody>
          <a:bodyPr/>
          <a:lstStyle/>
          <a:p>
            <a:pPr algn="r"/>
            <a:r>
              <a:rPr lang="en-US" sz="1200" i="1" dirty="0">
                <a:solidFill>
                  <a:schemeClr val="accent1">
                    <a:lumMod val="50000"/>
                  </a:schemeClr>
                </a:solidFill>
                <a:latin typeface="Times New Roman" panose="02020603050405020304" pitchFamily="18" charset="0"/>
                <a:cs typeface="Times New Roman" panose="02020603050405020304" pitchFamily="18" charset="0"/>
              </a:rPr>
              <a:t>Applied Physics</a:t>
            </a:r>
            <a:endParaRPr lang="en-US" sz="12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flipV="1">
            <a:off x="0" y="1754993"/>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363" y="5641394"/>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5" name="TextBox 174"/>
          <p:cNvSpPr txBox="1"/>
          <p:nvPr/>
        </p:nvSpPr>
        <p:spPr>
          <a:xfrm>
            <a:off x="142874" y="1771874"/>
            <a:ext cx="8822531" cy="1814830"/>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solidFill>
                  <a:srgbClr val="282625"/>
                </a:solidFill>
                <a:latin typeface="+mj-lt"/>
              </a:rPr>
              <a:t>Silicon is a semiconductor and copper is a conductor.</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Bohr diagrams of the silicon atom and the copper atom are shown in Figure.</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Notice that the core of the silicon atom has a net charge of +4 (14 protons – 10 electrons) and the core of the copper atom has a net charge of +1 (29 protons – 28 electrons). </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Recall that the core includes everything except the valence electrons.</a:t>
            </a:r>
            <a:endParaRPr lang="en-US" sz="1400" dirty="0">
              <a:solidFill>
                <a:srgbClr val="282625"/>
              </a:solidFill>
              <a:latin typeface="+mj-lt"/>
            </a:endParaRPr>
          </a:p>
        </p:txBody>
      </p:sp>
      <p:pic>
        <p:nvPicPr>
          <p:cNvPr id="3" name="Picture 2"/>
          <p:cNvPicPr>
            <a:picLocks noChangeAspect="1"/>
          </p:cNvPicPr>
          <p:nvPr/>
        </p:nvPicPr>
        <p:blipFill>
          <a:blip r:embed="rId1"/>
          <a:stretch>
            <a:fillRect/>
          </a:stretch>
        </p:blipFill>
        <p:spPr>
          <a:xfrm>
            <a:off x="5321318" y="3290676"/>
            <a:ext cx="3755340" cy="2069269"/>
          </a:xfrm>
          <a:prstGeom prst="rect">
            <a:avLst/>
          </a:prstGeom>
        </p:spPr>
      </p:pic>
      <p:sp>
        <p:nvSpPr>
          <p:cNvPr id="4" name="TextBox 3"/>
          <p:cNvSpPr txBox="1"/>
          <p:nvPr/>
        </p:nvSpPr>
        <p:spPr>
          <a:xfrm>
            <a:off x="142875" y="3503117"/>
            <a:ext cx="5086778" cy="1938020"/>
          </a:xfrm>
          <a:prstGeom prst="rect">
            <a:avLst/>
          </a:prstGeom>
          <a:noFill/>
        </p:spPr>
        <p:txBody>
          <a:bodyPr wrap="square" rtlCol="0">
            <a:spAutoFit/>
          </a:bodyPr>
          <a:lstStyle/>
          <a:p>
            <a:pPr marL="285750" indent="-285750" algn="just">
              <a:buFont typeface="Arial" panose="020B0604020202020204" pitchFamily="34" charset="0"/>
              <a:buChar char="•"/>
            </a:pPr>
            <a:r>
              <a:rPr lang="en-US" sz="1200" dirty="0">
                <a:solidFill>
                  <a:srgbClr val="282625"/>
                </a:solidFill>
                <a:latin typeface="+mj-lt"/>
              </a:rPr>
              <a:t>The valence electron in the copper atom “feels” an attractive force of +1 compared to a valence electron in the silicon atom which “feels” an attractive force of +4.</a:t>
            </a:r>
            <a:endParaRPr lang="en-US" sz="1200" dirty="0">
              <a:solidFill>
                <a:srgbClr val="282625"/>
              </a:solidFill>
              <a:latin typeface="+mj-lt"/>
            </a:endParaRPr>
          </a:p>
          <a:p>
            <a:pPr marL="285750" indent="-285750" algn="just">
              <a:buFont typeface="Arial" panose="020B0604020202020204" pitchFamily="34" charset="0"/>
              <a:buChar char="•"/>
            </a:pPr>
            <a:endParaRPr lang="en-US" sz="1200" dirty="0">
              <a:solidFill>
                <a:srgbClr val="282625"/>
              </a:solidFill>
              <a:latin typeface="+mj-lt"/>
            </a:endParaRPr>
          </a:p>
          <a:p>
            <a:pPr marL="285750" indent="-285750" algn="just">
              <a:buFont typeface="Arial" panose="020B0604020202020204" pitchFamily="34" charset="0"/>
              <a:buChar char="•"/>
            </a:pPr>
            <a:r>
              <a:rPr lang="en-US" sz="1200" dirty="0">
                <a:solidFill>
                  <a:srgbClr val="282625"/>
                </a:solidFill>
                <a:latin typeface="+mj-lt"/>
              </a:rPr>
              <a:t>Therefore, there is more force trying to hold a valence electron to the atom in silicon than in copper.</a:t>
            </a:r>
            <a:endParaRPr lang="en-US" sz="1200" dirty="0">
              <a:solidFill>
                <a:srgbClr val="282625"/>
              </a:solidFill>
              <a:latin typeface="+mj-lt"/>
            </a:endParaRPr>
          </a:p>
          <a:p>
            <a:pPr marL="285750" indent="-285750" algn="just">
              <a:buFont typeface="Arial" panose="020B0604020202020204" pitchFamily="34" charset="0"/>
              <a:buChar char="•"/>
            </a:pPr>
            <a:endParaRPr lang="en-US" sz="1200" dirty="0">
              <a:solidFill>
                <a:srgbClr val="282625"/>
              </a:solidFill>
              <a:latin typeface="+mj-lt"/>
            </a:endParaRPr>
          </a:p>
          <a:p>
            <a:pPr marL="285750" indent="-285750" algn="just">
              <a:buFont typeface="Arial" panose="020B0604020202020204" pitchFamily="34" charset="0"/>
              <a:buChar char="•"/>
            </a:pPr>
            <a:r>
              <a:rPr lang="en-US" sz="1200" dirty="0">
                <a:solidFill>
                  <a:srgbClr val="282625"/>
                </a:solidFill>
                <a:latin typeface="+mj-lt"/>
              </a:rPr>
              <a:t>This means that it is easier for valence electrons in copper to acquire enough additional energy to escape from their atoms and become free electrons than it is in silicon</a:t>
            </a:r>
            <a:endParaRPr lang="en-US" sz="1200" dirty="0">
              <a:solidFill>
                <a:srgbClr val="282625"/>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animEffect transition="in" filter="fade">
                                      <p:cBhvr>
                                        <p:cTn id="7" dur="1000"/>
                                        <p:tgtEl>
                                          <p:spTgt spid="175">
                                            <p:txEl>
                                              <p:pRg st="0" end="0"/>
                                            </p:txEl>
                                          </p:spTgt>
                                        </p:tgtEl>
                                      </p:cBhvr>
                                    </p:animEffect>
                                    <p:anim calcmode="lin" valueType="num">
                                      <p:cBhvr>
                                        <p:cTn id="8" dur="1000" fill="hold"/>
                                        <p:tgtEl>
                                          <p:spTgt spid="1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5">
                                            <p:txEl>
                                              <p:pRg st="2" end="2"/>
                                            </p:txEl>
                                          </p:spTgt>
                                        </p:tgtEl>
                                        <p:attrNameLst>
                                          <p:attrName>style.visibility</p:attrName>
                                        </p:attrNameLst>
                                      </p:cBhvr>
                                      <p:to>
                                        <p:strVal val="visible"/>
                                      </p:to>
                                    </p:set>
                                    <p:animEffect transition="in" filter="fade">
                                      <p:cBhvr>
                                        <p:cTn id="14" dur="1000"/>
                                        <p:tgtEl>
                                          <p:spTgt spid="175">
                                            <p:txEl>
                                              <p:pRg st="2" end="2"/>
                                            </p:txEl>
                                          </p:spTgt>
                                        </p:tgtEl>
                                      </p:cBhvr>
                                    </p:animEffect>
                                    <p:anim calcmode="lin" valueType="num">
                                      <p:cBhvr>
                                        <p:cTn id="15" dur="1000" fill="hold"/>
                                        <p:tgtEl>
                                          <p:spTgt spid="17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5">
                                            <p:txEl>
                                              <p:pRg st="4" end="4"/>
                                            </p:txEl>
                                          </p:spTgt>
                                        </p:tgtEl>
                                        <p:attrNameLst>
                                          <p:attrName>style.visibility</p:attrName>
                                        </p:attrNameLst>
                                      </p:cBhvr>
                                      <p:to>
                                        <p:strVal val="visible"/>
                                      </p:to>
                                    </p:set>
                                    <p:animEffect transition="in" filter="fade">
                                      <p:cBhvr>
                                        <p:cTn id="21" dur="1000"/>
                                        <p:tgtEl>
                                          <p:spTgt spid="175">
                                            <p:txEl>
                                              <p:pRg st="4" end="4"/>
                                            </p:txEl>
                                          </p:spTgt>
                                        </p:tgtEl>
                                      </p:cBhvr>
                                    </p:animEffect>
                                    <p:anim calcmode="lin" valueType="num">
                                      <p:cBhvr>
                                        <p:cTn id="22" dur="1000" fill="hold"/>
                                        <p:tgtEl>
                                          <p:spTgt spid="17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5">
                                            <p:txEl>
                                              <p:pRg st="6" end="6"/>
                                            </p:txEl>
                                          </p:spTgt>
                                        </p:tgtEl>
                                        <p:attrNameLst>
                                          <p:attrName>style.visibility</p:attrName>
                                        </p:attrNameLst>
                                      </p:cBhvr>
                                      <p:to>
                                        <p:strVal val="visible"/>
                                      </p:to>
                                    </p:set>
                                    <p:animEffect transition="in" filter="fade">
                                      <p:cBhvr>
                                        <p:cTn id="28" dur="1000"/>
                                        <p:tgtEl>
                                          <p:spTgt spid="175">
                                            <p:txEl>
                                              <p:pRg st="6" end="6"/>
                                            </p:txEl>
                                          </p:spTgt>
                                        </p:tgtEl>
                                      </p:cBhvr>
                                    </p:animEffect>
                                    <p:anim calcmode="lin" valueType="num">
                                      <p:cBhvr>
                                        <p:cTn id="29" dur="1000" fill="hold"/>
                                        <p:tgtEl>
                                          <p:spTgt spid="17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7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animEffect transition="in" filter="fade">
                                      <p:cBhvr>
                                        <p:cTn id="35" dur="1000"/>
                                        <p:tgtEl>
                                          <p:spTgt spid="4">
                                            <p:txEl>
                                              <p:pRg st="0" end="0"/>
                                            </p:txEl>
                                          </p:spTgt>
                                        </p:tgtEl>
                                      </p:cBhvr>
                                    </p:animEffect>
                                    <p:anim calcmode="lin" valueType="num">
                                      <p:cBhvr>
                                        <p:cTn id="36"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2" end="2"/>
                                            </p:txEl>
                                          </p:spTgt>
                                        </p:tgtEl>
                                        <p:attrNameLst>
                                          <p:attrName>style.visibility</p:attrName>
                                        </p:attrNameLst>
                                      </p:cBhvr>
                                      <p:to>
                                        <p:strVal val="visible"/>
                                      </p:to>
                                    </p:set>
                                    <p:animEffect transition="in" filter="fade">
                                      <p:cBhvr>
                                        <p:cTn id="42" dur="1000"/>
                                        <p:tgtEl>
                                          <p:spTgt spid="4">
                                            <p:txEl>
                                              <p:pRg st="2" end="2"/>
                                            </p:txEl>
                                          </p:spTgt>
                                        </p:tgtEl>
                                      </p:cBhvr>
                                    </p:animEffect>
                                    <p:anim calcmode="lin" valueType="num">
                                      <p:cBhvr>
                                        <p:cTn id="4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Effect transition="in" filter="fade">
                                      <p:cBhvr>
                                        <p:cTn id="49" dur="1000"/>
                                        <p:tgtEl>
                                          <p:spTgt spid="4">
                                            <p:txEl>
                                              <p:pRg st="4" end="4"/>
                                            </p:txEl>
                                          </p:spTgt>
                                        </p:tgtEl>
                                      </p:cBhvr>
                                    </p:animEffect>
                                    <p:anim calcmode="lin" valueType="num">
                                      <p:cBhvr>
                                        <p:cTn id="5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12142" y="1138780"/>
            <a:ext cx="6419053" cy="334683"/>
          </a:xfrm>
        </p:spPr>
        <p:txBody>
          <a:bodyPr>
            <a:noAutofit/>
          </a:bodyPr>
          <a:lstStyle/>
          <a:p>
            <a:r>
              <a:rPr lang="en-US" sz="1800" dirty="0"/>
              <a:t>Silicon and Germanium</a:t>
            </a:r>
            <a:endParaRPr lang="en-US" sz="1800" dirty="0"/>
          </a:p>
        </p:txBody>
      </p:sp>
      <p:sp>
        <p:nvSpPr>
          <p:cNvPr id="15" name="Footer Placeholder 14"/>
          <p:cNvSpPr>
            <a:spLocks noGrp="1"/>
          </p:cNvSpPr>
          <p:nvPr>
            <p:ph type="ftr" sz="quarter" idx="11"/>
          </p:nvPr>
        </p:nvSpPr>
        <p:spPr>
          <a:xfrm>
            <a:off x="5229652" y="5642354"/>
            <a:ext cx="3086100" cy="273844"/>
          </a:xfrm>
        </p:spPr>
        <p:txBody>
          <a:bodyPr/>
          <a:lstStyle/>
          <a:p>
            <a:pPr algn="r"/>
            <a:r>
              <a:rPr lang="en-US" sz="1200" i="1" dirty="0">
                <a:solidFill>
                  <a:schemeClr val="accent1">
                    <a:lumMod val="50000"/>
                  </a:schemeClr>
                </a:solidFill>
                <a:latin typeface="Times New Roman" panose="02020603050405020304" pitchFamily="18" charset="0"/>
                <a:cs typeface="Times New Roman" panose="02020603050405020304" pitchFamily="18" charset="0"/>
              </a:rPr>
              <a:t>Applied Physics</a:t>
            </a:r>
            <a:endParaRPr lang="en-US" sz="12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flipV="1">
            <a:off x="0" y="1754993"/>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363" y="5641394"/>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5" name="TextBox 174"/>
          <p:cNvSpPr txBox="1"/>
          <p:nvPr/>
        </p:nvSpPr>
        <p:spPr>
          <a:xfrm>
            <a:off x="142874" y="1771874"/>
            <a:ext cx="8822531" cy="1168400"/>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solidFill>
                  <a:srgbClr val="282625"/>
                </a:solidFill>
                <a:latin typeface="+mj-lt"/>
              </a:rPr>
              <a:t>The atomic structures of silicon and germanium are compared in Figure.</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Silicon is used in diodes, transistors, integrated circuits, and other semiconductor devices.</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Notice that both silicon and germanium have the characteristic four valence electrons.</a:t>
            </a:r>
            <a:endParaRPr lang="en-US" sz="1400" dirty="0">
              <a:solidFill>
                <a:srgbClr val="282625"/>
              </a:solidFill>
              <a:latin typeface="+mj-lt"/>
            </a:endParaRPr>
          </a:p>
        </p:txBody>
      </p:sp>
      <p:sp>
        <p:nvSpPr>
          <p:cNvPr id="4" name="TextBox 3"/>
          <p:cNvSpPr txBox="1"/>
          <p:nvPr/>
        </p:nvSpPr>
        <p:spPr>
          <a:xfrm>
            <a:off x="142875" y="2939384"/>
            <a:ext cx="5086778" cy="2461260"/>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solidFill>
                  <a:srgbClr val="282625"/>
                </a:solidFill>
                <a:latin typeface="+mj-lt"/>
              </a:rPr>
              <a:t>The valence electrons in germanium are in the fourth shell while those in silicon are in the third shell, closer to the nucleus.</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Germanium require a smaller amount of additional energy to escape from the atom as compare to silicon.</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This property makes germanium more unstable at high temperatures and results in excessive reverse current.</a:t>
            </a:r>
            <a:endParaRPr lang="en-US" sz="1400" dirty="0">
              <a:solidFill>
                <a:srgbClr val="282625"/>
              </a:solidFill>
              <a:latin typeface="+mj-lt"/>
            </a:endParaRPr>
          </a:p>
          <a:p>
            <a:pPr marL="285750" indent="-285750" algn="just">
              <a:buFont typeface="Arial" panose="020B0604020202020204" pitchFamily="34" charset="0"/>
              <a:buChar char="•"/>
            </a:pPr>
            <a:endParaRPr lang="en-US" sz="1400" dirty="0">
              <a:solidFill>
                <a:srgbClr val="282625"/>
              </a:solidFill>
              <a:latin typeface="+mj-lt"/>
            </a:endParaRPr>
          </a:p>
          <a:p>
            <a:pPr marL="285750" indent="-285750" algn="just">
              <a:buFont typeface="Arial" panose="020B0604020202020204" pitchFamily="34" charset="0"/>
              <a:buChar char="•"/>
            </a:pPr>
            <a:r>
              <a:rPr lang="en-US" sz="1400" dirty="0">
                <a:solidFill>
                  <a:srgbClr val="282625"/>
                </a:solidFill>
                <a:latin typeface="+mj-lt"/>
              </a:rPr>
              <a:t>This is why silicon is a </a:t>
            </a:r>
            <a:r>
              <a:rPr lang="en-US" sz="1400" dirty="0" err="1">
                <a:solidFill>
                  <a:srgbClr val="282625"/>
                </a:solidFill>
                <a:latin typeface="+mj-lt"/>
              </a:rPr>
              <a:t>morewidely</a:t>
            </a:r>
            <a:r>
              <a:rPr lang="en-US" sz="1400" dirty="0">
                <a:solidFill>
                  <a:srgbClr val="282625"/>
                </a:solidFill>
                <a:latin typeface="+mj-lt"/>
              </a:rPr>
              <a:t> used semiconductive material.</a:t>
            </a:r>
            <a:endParaRPr lang="en-US" sz="1400" dirty="0">
              <a:solidFill>
                <a:srgbClr val="282625"/>
              </a:solidFill>
              <a:latin typeface="+mj-lt"/>
            </a:endParaRPr>
          </a:p>
        </p:txBody>
      </p:sp>
      <p:pic>
        <p:nvPicPr>
          <p:cNvPr id="5" name="Picture 4"/>
          <p:cNvPicPr>
            <a:picLocks noChangeAspect="1"/>
          </p:cNvPicPr>
          <p:nvPr/>
        </p:nvPicPr>
        <p:blipFill>
          <a:blip r:embed="rId1"/>
          <a:stretch>
            <a:fillRect/>
          </a:stretch>
        </p:blipFill>
        <p:spPr>
          <a:xfrm>
            <a:off x="5275105" y="3204706"/>
            <a:ext cx="3726020" cy="19750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animEffect transition="in" filter="fade">
                                      <p:cBhvr>
                                        <p:cTn id="7" dur="1000"/>
                                        <p:tgtEl>
                                          <p:spTgt spid="175">
                                            <p:txEl>
                                              <p:pRg st="0" end="0"/>
                                            </p:txEl>
                                          </p:spTgt>
                                        </p:tgtEl>
                                      </p:cBhvr>
                                    </p:animEffect>
                                    <p:anim calcmode="lin" valueType="num">
                                      <p:cBhvr>
                                        <p:cTn id="8" dur="1000" fill="hold"/>
                                        <p:tgtEl>
                                          <p:spTgt spid="1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5">
                                            <p:txEl>
                                              <p:pRg st="2" end="2"/>
                                            </p:txEl>
                                          </p:spTgt>
                                        </p:tgtEl>
                                        <p:attrNameLst>
                                          <p:attrName>style.visibility</p:attrName>
                                        </p:attrNameLst>
                                      </p:cBhvr>
                                      <p:to>
                                        <p:strVal val="visible"/>
                                      </p:to>
                                    </p:set>
                                    <p:animEffect transition="in" filter="fade">
                                      <p:cBhvr>
                                        <p:cTn id="14" dur="1000"/>
                                        <p:tgtEl>
                                          <p:spTgt spid="175">
                                            <p:txEl>
                                              <p:pRg st="2" end="2"/>
                                            </p:txEl>
                                          </p:spTgt>
                                        </p:tgtEl>
                                      </p:cBhvr>
                                    </p:animEffect>
                                    <p:anim calcmode="lin" valueType="num">
                                      <p:cBhvr>
                                        <p:cTn id="15" dur="1000" fill="hold"/>
                                        <p:tgtEl>
                                          <p:spTgt spid="17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5">
                                            <p:txEl>
                                              <p:pRg st="4" end="4"/>
                                            </p:txEl>
                                          </p:spTgt>
                                        </p:tgtEl>
                                        <p:attrNameLst>
                                          <p:attrName>style.visibility</p:attrName>
                                        </p:attrNameLst>
                                      </p:cBhvr>
                                      <p:to>
                                        <p:strVal val="visible"/>
                                      </p:to>
                                    </p:set>
                                    <p:animEffect transition="in" filter="fade">
                                      <p:cBhvr>
                                        <p:cTn id="21" dur="1000"/>
                                        <p:tgtEl>
                                          <p:spTgt spid="175">
                                            <p:txEl>
                                              <p:pRg st="4" end="4"/>
                                            </p:txEl>
                                          </p:spTgt>
                                        </p:tgtEl>
                                      </p:cBhvr>
                                    </p:animEffect>
                                    <p:anim calcmode="lin" valueType="num">
                                      <p:cBhvr>
                                        <p:cTn id="22" dur="1000" fill="hold"/>
                                        <p:tgtEl>
                                          <p:spTgt spid="17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0" end="0"/>
                                            </p:txEl>
                                          </p:spTgt>
                                        </p:tgtEl>
                                        <p:attrNameLst>
                                          <p:attrName>style.visibility</p:attrName>
                                        </p:attrNameLst>
                                      </p:cBhvr>
                                      <p:to>
                                        <p:strVal val="visible"/>
                                      </p:to>
                                    </p:set>
                                    <p:animEffect transition="in" filter="fade">
                                      <p:cBhvr>
                                        <p:cTn id="28" dur="1000"/>
                                        <p:tgtEl>
                                          <p:spTgt spid="4">
                                            <p:txEl>
                                              <p:pRg st="0" end="0"/>
                                            </p:txEl>
                                          </p:spTgt>
                                        </p:tgtEl>
                                      </p:cBhvr>
                                    </p:animEffect>
                                    <p:anim calcmode="lin" valueType="num">
                                      <p:cBhvr>
                                        <p:cTn id="29"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animEffect transition="in" filter="fade">
                                      <p:cBhvr>
                                        <p:cTn id="35" dur="1000"/>
                                        <p:tgtEl>
                                          <p:spTgt spid="4">
                                            <p:txEl>
                                              <p:pRg st="2" end="2"/>
                                            </p:txEl>
                                          </p:spTgt>
                                        </p:tgtEl>
                                      </p:cBhvr>
                                    </p:animEffect>
                                    <p:anim calcmode="lin" valueType="num">
                                      <p:cBhvr>
                                        <p:cTn id="36"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4" end="4"/>
                                            </p:txEl>
                                          </p:spTgt>
                                        </p:tgtEl>
                                        <p:attrNameLst>
                                          <p:attrName>style.visibility</p:attrName>
                                        </p:attrNameLst>
                                      </p:cBhvr>
                                      <p:to>
                                        <p:strVal val="visible"/>
                                      </p:to>
                                    </p:set>
                                    <p:animEffect transition="in" filter="fade">
                                      <p:cBhvr>
                                        <p:cTn id="42" dur="1000"/>
                                        <p:tgtEl>
                                          <p:spTgt spid="4">
                                            <p:txEl>
                                              <p:pRg st="4" end="4"/>
                                            </p:txEl>
                                          </p:spTgt>
                                        </p:tgtEl>
                                      </p:cBhvr>
                                    </p:animEffect>
                                    <p:anim calcmode="lin" valueType="num">
                                      <p:cBhvr>
                                        <p:cTn id="4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12142" y="1138780"/>
            <a:ext cx="6419053" cy="334683"/>
          </a:xfrm>
        </p:spPr>
        <p:txBody>
          <a:bodyPr>
            <a:noAutofit/>
          </a:bodyPr>
          <a:lstStyle/>
          <a:p>
            <a:r>
              <a:rPr lang="en-US" sz="1800" dirty="0"/>
              <a:t>Current in Semiconductors</a:t>
            </a:r>
            <a:endParaRPr lang="en-US" sz="1800" dirty="0"/>
          </a:p>
        </p:txBody>
      </p:sp>
      <p:sp>
        <p:nvSpPr>
          <p:cNvPr id="15" name="Footer Placeholder 14"/>
          <p:cNvSpPr>
            <a:spLocks noGrp="1"/>
          </p:cNvSpPr>
          <p:nvPr>
            <p:ph type="ftr" sz="quarter" idx="11"/>
          </p:nvPr>
        </p:nvSpPr>
        <p:spPr>
          <a:xfrm>
            <a:off x="5229652" y="5642354"/>
            <a:ext cx="3086100" cy="273844"/>
          </a:xfrm>
        </p:spPr>
        <p:txBody>
          <a:bodyPr/>
          <a:lstStyle/>
          <a:p>
            <a:pPr algn="r"/>
            <a:r>
              <a:rPr lang="en-US" sz="1200" i="1" dirty="0">
                <a:solidFill>
                  <a:schemeClr val="accent1">
                    <a:lumMod val="50000"/>
                  </a:schemeClr>
                </a:solidFill>
                <a:latin typeface="Times New Roman" panose="02020603050405020304" pitchFamily="18" charset="0"/>
                <a:cs typeface="Times New Roman" panose="02020603050405020304" pitchFamily="18" charset="0"/>
              </a:rPr>
              <a:t>Applied Physics</a:t>
            </a:r>
            <a:endParaRPr lang="en-US" sz="1200" i="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10" name="Straight Connector 9"/>
          <p:cNvCxnSpPr/>
          <p:nvPr/>
        </p:nvCxnSpPr>
        <p:spPr>
          <a:xfrm flipV="1">
            <a:off x="0" y="1754993"/>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363" y="5641394"/>
            <a:ext cx="9144000" cy="10236"/>
          </a:xfrm>
          <a:prstGeom prst="line">
            <a:avLst/>
          </a:prstGeom>
          <a:ln w="76200" cmpd="thickThi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5" name="TextBox 174"/>
          <p:cNvSpPr txBox="1"/>
          <p:nvPr/>
        </p:nvSpPr>
        <p:spPr>
          <a:xfrm>
            <a:off x="142875" y="1771874"/>
            <a:ext cx="6154017" cy="1568450"/>
          </a:xfrm>
          <a:prstGeom prst="rect">
            <a:avLst/>
          </a:prstGeom>
          <a:noFill/>
        </p:spPr>
        <p:txBody>
          <a:bodyPr wrap="square" rtlCol="0">
            <a:spAutoFit/>
          </a:bodyPr>
          <a:lstStyle/>
          <a:p>
            <a:pPr marL="285750" indent="-285750" algn="just">
              <a:buFont typeface="Arial" panose="020B0604020202020204" pitchFamily="34" charset="0"/>
              <a:buChar char="•"/>
            </a:pPr>
            <a:r>
              <a:rPr lang="en-US" sz="1350" dirty="0">
                <a:solidFill>
                  <a:srgbClr val="282625"/>
                </a:solidFill>
                <a:latin typeface="+mj-lt"/>
              </a:rPr>
              <a:t>Figure shows the energy band diagram for the atoms in a pure silicon crystal at its lowest energy level.</a:t>
            </a:r>
            <a:endParaRPr lang="en-US" sz="1350" dirty="0">
              <a:solidFill>
                <a:srgbClr val="282625"/>
              </a:solidFill>
              <a:latin typeface="+mj-lt"/>
            </a:endParaRPr>
          </a:p>
          <a:p>
            <a:pPr marL="285750" indent="-285750" algn="just">
              <a:buFont typeface="Arial" panose="020B0604020202020204" pitchFamily="34" charset="0"/>
              <a:buChar char="•"/>
            </a:pPr>
            <a:endParaRPr lang="en-US" sz="1350" dirty="0">
              <a:solidFill>
                <a:srgbClr val="282625"/>
              </a:solidFill>
              <a:latin typeface="+mj-lt"/>
            </a:endParaRPr>
          </a:p>
          <a:p>
            <a:pPr marL="285750" indent="-285750" algn="just">
              <a:buFont typeface="Arial" panose="020B0604020202020204" pitchFamily="34" charset="0"/>
              <a:buChar char="•"/>
            </a:pPr>
            <a:r>
              <a:rPr lang="en-US" sz="1350" dirty="0">
                <a:solidFill>
                  <a:srgbClr val="282625"/>
                </a:solidFill>
                <a:latin typeface="+mj-lt"/>
              </a:rPr>
              <a:t>There are no electrons shown in the conduction band, a condition that occurs only at a temperature of absolute 0 Kelvin</a:t>
            </a:r>
            <a:endParaRPr lang="en-US" sz="1350" dirty="0">
              <a:solidFill>
                <a:srgbClr val="282625"/>
              </a:solidFill>
              <a:latin typeface="+mj-lt"/>
            </a:endParaRPr>
          </a:p>
          <a:p>
            <a:pPr marL="285750" indent="-285750" algn="just">
              <a:buFont typeface="Arial" panose="020B0604020202020204" pitchFamily="34" charset="0"/>
              <a:buChar char="•"/>
            </a:pPr>
            <a:endParaRPr lang="en-US" sz="1350" dirty="0">
              <a:solidFill>
                <a:srgbClr val="282625"/>
              </a:solidFill>
              <a:latin typeface="+mj-lt"/>
            </a:endParaRPr>
          </a:p>
          <a:p>
            <a:pPr marL="285750" indent="-285750" algn="just">
              <a:buFont typeface="Arial" panose="020B0604020202020204" pitchFamily="34" charset="0"/>
              <a:buChar char="•"/>
            </a:pPr>
            <a:r>
              <a:rPr lang="en-US" sz="1500" b="1" u="sng" dirty="0">
                <a:solidFill>
                  <a:srgbClr val="282625"/>
                </a:solidFill>
                <a:latin typeface="+mj-lt"/>
              </a:rPr>
              <a:t>Conduction Electrons and Holes</a:t>
            </a:r>
            <a:endParaRPr lang="en-US" sz="1500" b="1" u="sng" dirty="0">
              <a:solidFill>
                <a:srgbClr val="282625"/>
              </a:solidFill>
              <a:latin typeface="+mj-lt"/>
            </a:endParaRPr>
          </a:p>
        </p:txBody>
      </p:sp>
      <p:sp>
        <p:nvSpPr>
          <p:cNvPr id="4" name="TextBox 3"/>
          <p:cNvSpPr txBox="1"/>
          <p:nvPr/>
        </p:nvSpPr>
        <p:spPr>
          <a:xfrm>
            <a:off x="142875" y="3295277"/>
            <a:ext cx="3847234" cy="1960880"/>
          </a:xfrm>
          <a:prstGeom prst="rect">
            <a:avLst/>
          </a:prstGeom>
          <a:noFill/>
        </p:spPr>
        <p:txBody>
          <a:bodyPr wrap="square" rtlCol="0">
            <a:spAutoFit/>
          </a:bodyPr>
          <a:lstStyle/>
          <a:p>
            <a:pPr marL="285750" indent="-285750" algn="just">
              <a:buFont typeface="Arial" panose="020B0604020202020204" pitchFamily="34" charset="0"/>
              <a:buChar char="•"/>
            </a:pPr>
            <a:endParaRPr lang="en-US" sz="1350" dirty="0">
              <a:solidFill>
                <a:srgbClr val="282625"/>
              </a:solidFill>
              <a:latin typeface="+mj-lt"/>
            </a:endParaRPr>
          </a:p>
          <a:p>
            <a:pPr marL="285750" indent="-285750" algn="just">
              <a:buFont typeface="Arial" panose="020B0604020202020204" pitchFamily="34" charset="0"/>
              <a:buChar char="•"/>
            </a:pPr>
            <a:r>
              <a:rPr lang="en-US" sz="1350" dirty="0">
                <a:solidFill>
                  <a:srgbClr val="282625"/>
                </a:solidFill>
                <a:latin typeface="+mj-lt"/>
              </a:rPr>
              <a:t>An intrinsic (pure) silicon crystal at room temperature has sufficient heat (thermal) energy for some valence electrons to jump the gap from the valence band into the conduction band, becoming free electrons.</a:t>
            </a:r>
            <a:endParaRPr lang="en-US" sz="1350" dirty="0">
              <a:solidFill>
                <a:srgbClr val="282625"/>
              </a:solidFill>
              <a:latin typeface="+mj-lt"/>
            </a:endParaRPr>
          </a:p>
          <a:p>
            <a:pPr marL="285750" indent="-285750" algn="just">
              <a:buFont typeface="Arial" panose="020B0604020202020204" pitchFamily="34" charset="0"/>
              <a:buChar char="•"/>
            </a:pPr>
            <a:endParaRPr lang="en-US" sz="1350" dirty="0">
              <a:solidFill>
                <a:srgbClr val="282625"/>
              </a:solidFill>
              <a:latin typeface="+mj-lt"/>
            </a:endParaRPr>
          </a:p>
          <a:p>
            <a:pPr marL="285750" indent="-285750" algn="just">
              <a:buFont typeface="Arial" panose="020B0604020202020204" pitchFamily="34" charset="0"/>
              <a:buChar char="•"/>
            </a:pPr>
            <a:r>
              <a:rPr lang="en-US" sz="1350" dirty="0">
                <a:solidFill>
                  <a:srgbClr val="282625"/>
                </a:solidFill>
                <a:latin typeface="+mj-lt"/>
              </a:rPr>
              <a:t>Free electrons are also called conduction electrons.</a:t>
            </a:r>
            <a:endParaRPr lang="en-US" sz="1350" dirty="0">
              <a:solidFill>
                <a:srgbClr val="282625"/>
              </a:solidFill>
              <a:latin typeface="+mj-lt"/>
            </a:endParaRPr>
          </a:p>
        </p:txBody>
      </p:sp>
      <p:pic>
        <p:nvPicPr>
          <p:cNvPr id="3" name="Picture 2"/>
          <p:cNvPicPr>
            <a:picLocks noChangeAspect="1"/>
          </p:cNvPicPr>
          <p:nvPr/>
        </p:nvPicPr>
        <p:blipFill>
          <a:blip r:embed="rId1"/>
          <a:stretch>
            <a:fillRect/>
          </a:stretch>
        </p:blipFill>
        <p:spPr>
          <a:xfrm>
            <a:off x="4129960" y="3228037"/>
            <a:ext cx="1914464" cy="1858089"/>
          </a:xfrm>
          <a:prstGeom prst="rect">
            <a:avLst/>
          </a:prstGeom>
        </p:spPr>
      </p:pic>
      <p:pic>
        <p:nvPicPr>
          <p:cNvPr id="11" name="Picture 10"/>
          <p:cNvPicPr>
            <a:picLocks noChangeAspect="1"/>
          </p:cNvPicPr>
          <p:nvPr/>
        </p:nvPicPr>
        <p:blipFill>
          <a:blip r:embed="rId2"/>
          <a:stretch>
            <a:fillRect/>
          </a:stretch>
        </p:blipFill>
        <p:spPr>
          <a:xfrm>
            <a:off x="6184274" y="2371205"/>
            <a:ext cx="2816851" cy="31289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5">
                                            <p:txEl>
                                              <p:pRg st="0" end="0"/>
                                            </p:txEl>
                                          </p:spTgt>
                                        </p:tgtEl>
                                        <p:attrNameLst>
                                          <p:attrName>style.visibility</p:attrName>
                                        </p:attrNameLst>
                                      </p:cBhvr>
                                      <p:to>
                                        <p:strVal val="visible"/>
                                      </p:to>
                                    </p:set>
                                    <p:animEffect transition="in" filter="fade">
                                      <p:cBhvr>
                                        <p:cTn id="7" dur="1000"/>
                                        <p:tgtEl>
                                          <p:spTgt spid="175">
                                            <p:txEl>
                                              <p:pRg st="0" end="0"/>
                                            </p:txEl>
                                          </p:spTgt>
                                        </p:tgtEl>
                                      </p:cBhvr>
                                    </p:animEffect>
                                    <p:anim calcmode="lin" valueType="num">
                                      <p:cBhvr>
                                        <p:cTn id="8" dur="1000" fill="hold"/>
                                        <p:tgtEl>
                                          <p:spTgt spid="17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5">
                                            <p:txEl>
                                              <p:pRg st="2" end="2"/>
                                            </p:txEl>
                                          </p:spTgt>
                                        </p:tgtEl>
                                        <p:attrNameLst>
                                          <p:attrName>style.visibility</p:attrName>
                                        </p:attrNameLst>
                                      </p:cBhvr>
                                      <p:to>
                                        <p:strVal val="visible"/>
                                      </p:to>
                                    </p:set>
                                    <p:animEffect transition="in" filter="fade">
                                      <p:cBhvr>
                                        <p:cTn id="14" dur="1000"/>
                                        <p:tgtEl>
                                          <p:spTgt spid="175">
                                            <p:txEl>
                                              <p:pRg st="2" end="2"/>
                                            </p:txEl>
                                          </p:spTgt>
                                        </p:tgtEl>
                                      </p:cBhvr>
                                    </p:animEffect>
                                    <p:anim calcmode="lin" valueType="num">
                                      <p:cBhvr>
                                        <p:cTn id="15" dur="1000" fill="hold"/>
                                        <p:tgtEl>
                                          <p:spTgt spid="17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7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5">
                                            <p:txEl>
                                              <p:pRg st="4" end="4"/>
                                            </p:txEl>
                                          </p:spTgt>
                                        </p:tgtEl>
                                        <p:attrNameLst>
                                          <p:attrName>style.visibility</p:attrName>
                                        </p:attrNameLst>
                                      </p:cBhvr>
                                      <p:to>
                                        <p:strVal val="visible"/>
                                      </p:to>
                                    </p:set>
                                    <p:animEffect transition="in" filter="fade">
                                      <p:cBhvr>
                                        <p:cTn id="21" dur="1000"/>
                                        <p:tgtEl>
                                          <p:spTgt spid="175">
                                            <p:txEl>
                                              <p:pRg st="4" end="4"/>
                                            </p:txEl>
                                          </p:spTgt>
                                        </p:tgtEl>
                                      </p:cBhvr>
                                    </p:animEffect>
                                    <p:anim calcmode="lin" valueType="num">
                                      <p:cBhvr>
                                        <p:cTn id="22" dur="1000" fill="hold"/>
                                        <p:tgtEl>
                                          <p:spTgt spid="17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7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fade">
                                      <p:cBhvr>
                                        <p:cTn id="28" dur="1000"/>
                                        <p:tgtEl>
                                          <p:spTgt spid="4">
                                            <p:txEl>
                                              <p:pRg st="1" end="1"/>
                                            </p:txEl>
                                          </p:spTgt>
                                        </p:tgtEl>
                                      </p:cBhvr>
                                    </p:animEffect>
                                    <p:anim calcmode="lin" valueType="num">
                                      <p:cBhvr>
                                        <p:cTn id="29"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1000"/>
                                        <p:tgtEl>
                                          <p:spTgt spid="4">
                                            <p:txEl>
                                              <p:pRg st="3" end="3"/>
                                            </p:txEl>
                                          </p:spTgt>
                                        </p:tgtEl>
                                      </p:cBhvr>
                                    </p:animEffect>
                                    <p:anim calcmode="lin" valueType="num">
                                      <p:cBhvr>
                                        <p:cTn id="3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1340428" y="1600200"/>
            <a:ext cx="6781799" cy="3818381"/>
          </a:xfrm>
          <a:prstGeom prst="rect">
            <a:avLst/>
          </a:prstGeom>
        </p:spPr>
      </p:pic>
      <p:sp>
        <p:nvSpPr>
          <p:cNvPr id="7" name="Title 5"/>
          <p:cNvSpPr>
            <a:spLocks noGrp="1"/>
          </p:cNvSpPr>
          <p:nvPr>
            <p:ph type="title"/>
          </p:nvPr>
        </p:nvSpPr>
        <p:spPr>
          <a:xfrm>
            <a:off x="1447800" y="457201"/>
            <a:ext cx="6553200" cy="1143000"/>
          </a:xfrm>
        </p:spPr>
        <p:txBody>
          <a:bodyPr>
            <a:noAutofit/>
          </a:bodyPr>
          <a:lstStyle/>
          <a:p>
            <a:r>
              <a:rPr lang="en-US" sz="3200" b="1" dirty="0">
                <a:latin typeface="Times New Roman" panose="02020603050405020304" pitchFamily="18" charset="0"/>
                <a:cs typeface="Times New Roman" panose="02020603050405020304" pitchFamily="18" charset="0"/>
              </a:rPr>
              <a:t>Comparison</a:t>
            </a:r>
            <a:endParaRPr lang="en-US" sz="3200" b="1" dirty="0">
              <a:latin typeface="Times New Roman" panose="02020603050405020304" pitchFamily="18" charset="0"/>
              <a:cs typeface="Times New Roman" panose="02020603050405020304" pitchFamily="18" charset="0"/>
            </a:endParaRPr>
          </a:p>
        </p:txBody>
      </p:sp>
      <p:sp>
        <p:nvSpPr>
          <p:cNvPr id="8" name="Text Placeholder 7"/>
          <p:cNvSpPr>
            <a:spLocks noGrp="1"/>
          </p:cNvSpPr>
          <p:nvPr>
            <p:ph type="body" idx="1"/>
          </p:nvPr>
        </p:nvSpPr>
        <p:spPr>
          <a:xfrm>
            <a:off x="1676400" y="5562600"/>
            <a:ext cx="2667000" cy="448819"/>
          </a:xfrm>
        </p:spPr>
        <p:txBody>
          <a:bodyPr/>
          <a:lstStyle/>
          <a:p>
            <a:r>
              <a:rPr lang="en-US" sz="2000" dirty="0">
                <a:latin typeface="Times New Roman" panose="02020603050405020304" pitchFamily="18" charset="0"/>
                <a:cs typeface="Times New Roman" panose="02020603050405020304" pitchFamily="18" charset="0"/>
              </a:rPr>
              <a:t>Semiconductor Atom</a:t>
            </a:r>
            <a:endParaRPr lang="en-US" sz="2000" dirty="0">
              <a:latin typeface="Times New Roman" panose="02020603050405020304" pitchFamily="18" charset="0"/>
              <a:cs typeface="Times New Roman" panose="02020603050405020304" pitchFamily="18" charset="0"/>
            </a:endParaRPr>
          </a:p>
        </p:txBody>
      </p:sp>
      <p:sp>
        <p:nvSpPr>
          <p:cNvPr id="10" name="Text Placeholder 9"/>
          <p:cNvSpPr>
            <a:spLocks noGrp="1"/>
          </p:cNvSpPr>
          <p:nvPr>
            <p:ph type="body" sz="quarter" idx="3"/>
          </p:nvPr>
        </p:nvSpPr>
        <p:spPr>
          <a:xfrm>
            <a:off x="5919354" y="5715000"/>
            <a:ext cx="2209800" cy="381000"/>
          </a:xfrm>
        </p:spPr>
        <p:txBody>
          <a:bodyPr/>
          <a:lstStyle/>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Conductor Atom</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82133" y="457201"/>
            <a:ext cx="7704667" cy="1371599"/>
          </a:xfrm>
        </p:spPr>
        <p:txBody>
          <a:bodyPr>
            <a:normAutofit/>
          </a:bodyPr>
          <a:lstStyle/>
          <a:p>
            <a:r>
              <a:rPr lang="en-US" sz="4800" b="1" dirty="0">
                <a:latin typeface="Times New Roman" panose="02020603050405020304" pitchFamily="18" charset="0"/>
                <a:cs typeface="Times New Roman" panose="02020603050405020304" pitchFamily="18" charset="0"/>
              </a:rPr>
              <a:t>Structure of Semiconductor</a:t>
            </a:r>
            <a:endParaRPr lang="en-US" sz="4800" b="1" dirty="0">
              <a:latin typeface="Times New Roman" panose="02020603050405020304" pitchFamily="18" charset="0"/>
              <a:cs typeface="Times New Roman" panose="02020603050405020304" pitchFamily="18" charset="0"/>
            </a:endParaRPr>
          </a:p>
        </p:txBody>
      </p:sp>
      <p:sp>
        <p:nvSpPr>
          <p:cNvPr id="6" name="Content Placeholder 5"/>
          <p:cNvSpPr>
            <a:spLocks noGrp="1"/>
          </p:cNvSpPr>
          <p:nvPr>
            <p:ph sz="quarter" idx="13"/>
          </p:nvPr>
        </p:nvSpPr>
        <p:spPr>
          <a:xfrm>
            <a:off x="1219200" y="1828800"/>
            <a:ext cx="3279648" cy="4038600"/>
          </a:xfrm>
        </p:spPr>
        <p:txBody>
          <a:bodyPr>
            <a:noAutofit/>
          </a:bodyPr>
          <a:lstStyle/>
          <a:p>
            <a:r>
              <a:rPr lang="en-US" sz="1800" b="1" dirty="0">
                <a:latin typeface="Times New Roman" panose="02020603050405020304" pitchFamily="18" charset="0"/>
                <a:cs typeface="Times New Roman" panose="02020603050405020304" pitchFamily="18" charset="0"/>
              </a:rPr>
              <a:t>Semiconductors, such as Silicon  are made up of individual atoms bonded together in a regular, periodic structure.</a:t>
            </a:r>
            <a:endParaRPr lang="en-US" sz="1800" b="1"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Each atom forms 4 covalent bonds with the 4 surrounding atoms to form an arrangement whereby each atom is surrounded by 8 electrons.  </a:t>
            </a:r>
            <a:endParaRPr lang="en-US" sz="1800" b="1" dirty="0">
              <a:latin typeface="Times New Roman" panose="02020603050405020304" pitchFamily="18" charset="0"/>
              <a:cs typeface="Times New Roman" panose="02020603050405020304" pitchFamily="18" charset="0"/>
            </a:endParaRPr>
          </a:p>
        </p:txBody>
      </p:sp>
      <p:pic>
        <p:nvPicPr>
          <p:cNvPr id="6146" name="Picture 2"/>
          <p:cNvPicPr>
            <a:picLocks noGrp="1" noChangeAspect="1" noChangeArrowheads="1"/>
          </p:cNvPicPr>
          <p:nvPr>
            <p:ph sz="quarter" idx="14"/>
          </p:nvPr>
        </p:nvPicPr>
        <p:blipFill>
          <a:blip r:embed="rId1">
            <a:extLst>
              <a:ext uri="{28A0092B-C50C-407E-A947-70E740481C1C}">
                <a14:useLocalDpi xmlns:a14="http://schemas.microsoft.com/office/drawing/2010/main" val="0"/>
              </a:ext>
            </a:extLst>
          </a:blip>
          <a:srcRect/>
          <a:stretch>
            <a:fillRect/>
          </a:stretch>
        </p:blipFill>
        <p:spPr bwMode="auto">
          <a:xfrm>
            <a:off x="4834466" y="1981200"/>
            <a:ext cx="3200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b="7582"/>
          <a:stretch>
            <a:fillRect/>
          </a:stretch>
        </p:blipFill>
        <p:spPr bwMode="auto">
          <a:xfrm>
            <a:off x="1143001" y="1828800"/>
            <a:ext cx="6857999" cy="40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5"/>
          <p:cNvSpPr txBox="1"/>
          <p:nvPr/>
        </p:nvSpPr>
        <p:spPr>
          <a:xfrm>
            <a:off x="1295401" y="609600"/>
            <a:ext cx="6553200" cy="838200"/>
          </a:xfrm>
          <a:prstGeom prst="rect">
            <a:avLst/>
          </a:prstGeom>
        </p:spPr>
        <p:txBody>
          <a:bodyP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Silicon and Germanium</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Characteristics of Semiconductor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3" y="2133600"/>
            <a:ext cx="7704667" cy="4038600"/>
          </a:xfrm>
        </p:spPr>
        <p:txBody>
          <a:bodyPr>
            <a:normAutofit/>
          </a:bodyPr>
          <a:lstStyle/>
          <a:p>
            <a:r>
              <a:rPr lang="en-US" sz="2800" b="1" dirty="0">
                <a:latin typeface="Times New Roman" panose="02020603050405020304" pitchFamily="18" charset="0"/>
                <a:cs typeface="Times New Roman" panose="02020603050405020304" pitchFamily="18" charset="0"/>
              </a:rPr>
              <a:t>A semiconductor is a material that has a very low electrical resistance. </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It is very pure chemically and has only one defining characteristic conduction.</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 When exposed to an electric field, electrons in this material will move at a very high speed. The same applies to holes.</a:t>
            </a:r>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p:cNvCxnSpPr>
            <a:stCxn id="4" idx="2"/>
          </p:cNvCxnSpPr>
          <p:nvPr/>
        </p:nvCxnSpPr>
        <p:spPr>
          <a:xfrm>
            <a:off x="4572000" y="2296403"/>
            <a:ext cx="0" cy="619648"/>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flipH="1" flipV="1">
            <a:off x="5121785" y="4722676"/>
            <a:ext cx="2985380" cy="17327"/>
          </a:xfrm>
          <a:prstGeom prst="line">
            <a:avLst/>
          </a:prstGeom>
        </p:spPr>
        <p:style>
          <a:lnRef idx="3">
            <a:schemeClr val="dk1"/>
          </a:lnRef>
          <a:fillRef idx="0">
            <a:schemeClr val="dk1"/>
          </a:fillRef>
          <a:effectRef idx="2">
            <a:schemeClr val="dk1"/>
          </a:effectRef>
          <a:fontRef idx="minor">
            <a:schemeClr val="tx1"/>
          </a:fontRef>
        </p:style>
      </p:cxnSp>
      <p:grpSp>
        <p:nvGrpSpPr>
          <p:cNvPr id="46" name="Group 45"/>
          <p:cNvGrpSpPr/>
          <p:nvPr/>
        </p:nvGrpSpPr>
        <p:grpSpPr>
          <a:xfrm>
            <a:off x="914400" y="1289446"/>
            <a:ext cx="8095247" cy="4650454"/>
            <a:chOff x="990600" y="652322"/>
            <a:chExt cx="8095247" cy="4042010"/>
          </a:xfrm>
        </p:grpSpPr>
        <p:sp>
          <p:nvSpPr>
            <p:cNvPr id="4" name="Rectangle 3"/>
            <p:cNvSpPr/>
            <p:nvPr/>
          </p:nvSpPr>
          <p:spPr>
            <a:xfrm>
              <a:off x="2019300" y="652322"/>
              <a:ext cx="5257800" cy="875211"/>
            </a:xfrm>
            <a:prstGeom prst="rect">
              <a:avLst/>
            </a:prstGeom>
            <a:solidFill>
              <a:schemeClr val="accent1"/>
            </a:solidFill>
            <a:ln w="38100">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effectLst>
              <a:glow rad="63500">
                <a:schemeClr val="accent2">
                  <a:satMod val="175000"/>
                  <a:alpha val="40000"/>
                </a:schemeClr>
              </a:glow>
            </a:effectLst>
          </p:spPr>
          <p:style>
            <a:lnRef idx="3">
              <a:schemeClr val="lt1"/>
            </a:lnRef>
            <a:fillRef idx="1">
              <a:schemeClr val="accent6"/>
            </a:fillRef>
            <a:effectRef idx="1">
              <a:schemeClr val="accent6"/>
            </a:effectRef>
            <a:fontRef idx="minor">
              <a:schemeClr val="lt1"/>
            </a:fontRef>
          </p:style>
          <p:txBody>
            <a:bodyPr rtlCol="0" anchor="ctr"/>
            <a:lstStyle/>
            <a:p>
              <a:pPr algn="ctr"/>
              <a:r>
                <a:rPr lang="en-US" sz="2800" b="1" dirty="0">
                  <a:latin typeface="Times New Roman" panose="02020603050405020304" pitchFamily="18" charset="0"/>
                  <a:cs typeface="Times New Roman" panose="02020603050405020304" pitchFamily="18" charset="0"/>
                </a:rPr>
                <a:t>Types of Semiconductor</a:t>
              </a:r>
              <a:endParaRPr lang="en-US" sz="2800" b="1" dirty="0">
                <a:latin typeface="Times New Roman" panose="02020603050405020304" pitchFamily="18" charset="0"/>
                <a:cs typeface="Times New Roman" panose="02020603050405020304" pitchFamily="18" charset="0"/>
              </a:endParaRPr>
            </a:p>
          </p:txBody>
        </p:sp>
        <p:cxnSp>
          <p:nvCxnSpPr>
            <p:cNvPr id="8" name="Straight Connector 7"/>
            <p:cNvCxnSpPr/>
            <p:nvPr/>
          </p:nvCxnSpPr>
          <p:spPr>
            <a:xfrm flipH="1">
              <a:off x="2114550" y="2066109"/>
              <a:ext cx="2293075" cy="0"/>
            </a:xfrm>
            <a:prstGeom prst="line">
              <a:avLst/>
            </a:prstGeom>
          </p:spPr>
          <p:style>
            <a:lnRef idx="3">
              <a:schemeClr val="dk1"/>
            </a:lnRef>
            <a:fillRef idx="0">
              <a:schemeClr val="dk1"/>
            </a:fillRef>
            <a:effectRef idx="2">
              <a:schemeClr val="dk1"/>
            </a:effectRef>
            <a:fontRef idx="minor">
              <a:schemeClr val="tx1"/>
            </a:fontRef>
          </p:style>
        </p:cxnSp>
        <p:cxnSp>
          <p:nvCxnSpPr>
            <p:cNvPr id="9" name="Straight Connector 8"/>
            <p:cNvCxnSpPr/>
            <p:nvPr/>
          </p:nvCxnSpPr>
          <p:spPr>
            <a:xfrm flipH="1">
              <a:off x="4401094" y="2066109"/>
              <a:ext cx="2787831" cy="0"/>
            </a:xfrm>
            <a:prstGeom prst="line">
              <a:avLst/>
            </a:prstGeom>
          </p:spPr>
          <p:style>
            <a:lnRef idx="3">
              <a:schemeClr val="dk1"/>
            </a:lnRef>
            <a:fillRef idx="0">
              <a:schemeClr val="dk1"/>
            </a:fillRef>
            <a:effectRef idx="2">
              <a:schemeClr val="dk1"/>
            </a:effectRef>
            <a:fontRef idx="minor">
              <a:schemeClr val="tx1"/>
            </a:fontRef>
          </p:style>
        </p:cxnSp>
        <p:sp>
          <p:nvSpPr>
            <p:cNvPr id="10" name="Rectangle 9"/>
            <p:cNvSpPr/>
            <p:nvPr/>
          </p:nvSpPr>
          <p:spPr>
            <a:xfrm>
              <a:off x="990600" y="2593511"/>
              <a:ext cx="2247900" cy="659676"/>
            </a:xfrm>
            <a:prstGeom prst="rect">
              <a:avLst/>
            </a:prstGeom>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Intrinsic</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2" name="Rectangle 11"/>
            <p:cNvSpPr/>
            <p:nvPr/>
          </p:nvSpPr>
          <p:spPr>
            <a:xfrm>
              <a:off x="6045925" y="2593511"/>
              <a:ext cx="2286000" cy="659676"/>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Extrinsic</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14" name="Straight Connector 13"/>
            <p:cNvCxnSpPr>
              <a:endCxn id="10" idx="0"/>
            </p:cNvCxnSpPr>
            <p:nvPr/>
          </p:nvCxnSpPr>
          <p:spPr>
            <a:xfrm>
              <a:off x="2114550" y="2066109"/>
              <a:ext cx="0" cy="527402"/>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p:cNvCxnSpPr>
              <a:endCxn id="12" idx="0"/>
            </p:cNvCxnSpPr>
            <p:nvPr/>
          </p:nvCxnSpPr>
          <p:spPr>
            <a:xfrm>
              <a:off x="7188925" y="2066109"/>
              <a:ext cx="0" cy="527402"/>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p:cNvCxnSpPr>
              <a:stCxn id="12" idx="2"/>
            </p:cNvCxnSpPr>
            <p:nvPr/>
          </p:nvCxnSpPr>
          <p:spPr>
            <a:xfrm>
              <a:off x="7188925" y="3253187"/>
              <a:ext cx="0" cy="383176"/>
            </a:xfrm>
            <a:prstGeom prst="line">
              <a:avLst/>
            </a:prstGeom>
          </p:spPr>
          <p:style>
            <a:lnRef idx="3">
              <a:schemeClr val="dk1"/>
            </a:lnRef>
            <a:fillRef idx="0">
              <a:schemeClr val="dk1"/>
            </a:fillRef>
            <a:effectRef idx="2">
              <a:schemeClr val="dk1"/>
            </a:effectRef>
            <a:fontRef idx="minor">
              <a:schemeClr val="tx1"/>
            </a:fontRef>
          </p:style>
        </p:cxnSp>
        <p:sp>
          <p:nvSpPr>
            <p:cNvPr id="22" name="Rectangle 21"/>
            <p:cNvSpPr/>
            <p:nvPr/>
          </p:nvSpPr>
          <p:spPr>
            <a:xfrm>
              <a:off x="7257047" y="4048809"/>
              <a:ext cx="1828800" cy="645523"/>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r>
                <a:rPr lang="en-US" sz="2400" b="1" dirty="0">
                  <a:latin typeface="Times New Roman" panose="02020603050405020304" pitchFamily="18" charset="0"/>
                  <a:cs typeface="Times New Roman" panose="02020603050405020304" pitchFamily="18" charset="0"/>
                </a:rPr>
                <a:t>P-type</a:t>
              </a:r>
              <a:r>
                <a:rPr lang="en-US" dirty="0"/>
                <a:t> </a:t>
              </a:r>
              <a:endParaRPr lang="en-US" dirty="0"/>
            </a:p>
          </p:txBody>
        </p:sp>
        <p:sp>
          <p:nvSpPr>
            <p:cNvPr id="23" name="Rectangle 22"/>
            <p:cNvSpPr/>
            <p:nvPr/>
          </p:nvSpPr>
          <p:spPr>
            <a:xfrm>
              <a:off x="4273731" y="4018474"/>
              <a:ext cx="1772194" cy="647700"/>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N-type</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27" name="Straight Connector 26"/>
            <p:cNvCxnSpPr/>
            <p:nvPr/>
          </p:nvCxnSpPr>
          <p:spPr>
            <a:xfrm>
              <a:off x="5197985" y="3656159"/>
              <a:ext cx="0" cy="347254"/>
            </a:xfrm>
            <a:prstGeom prst="line">
              <a:avLst/>
            </a:prstGeom>
          </p:spPr>
          <p:style>
            <a:lnRef idx="3">
              <a:schemeClr val="dk1"/>
            </a:lnRef>
            <a:fillRef idx="0">
              <a:schemeClr val="dk1"/>
            </a:fillRef>
            <a:effectRef idx="2">
              <a:schemeClr val="dk1"/>
            </a:effectRef>
            <a:fontRef idx="minor">
              <a:schemeClr val="tx1"/>
            </a:fontRef>
          </p:style>
        </p:cxnSp>
      </p:grpSp>
      <p:cxnSp>
        <p:nvCxnSpPr>
          <p:cNvPr id="29" name="Straight Connector 28"/>
          <p:cNvCxnSpPr>
            <a:endCxn id="22" idx="0"/>
          </p:cNvCxnSpPr>
          <p:nvPr/>
        </p:nvCxnSpPr>
        <p:spPr>
          <a:xfrm flipH="1">
            <a:off x="8095247" y="4762109"/>
            <a:ext cx="11918" cy="435098"/>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85801"/>
            <a:ext cx="4123267" cy="1523999"/>
          </a:xfrm>
        </p:spPr>
        <p:txBody>
          <a:bodyPr>
            <a:normAutofit/>
          </a:bodyPr>
          <a:lstStyle/>
          <a:p>
            <a:r>
              <a:rPr lang="en-US" sz="3200" b="1" dirty="0">
                <a:latin typeface="Times New Roman" panose="02020603050405020304" pitchFamily="18" charset="0"/>
                <a:cs typeface="Times New Roman" panose="02020603050405020304" pitchFamily="18" charset="0"/>
              </a:rPr>
              <a:t>Extrinsic</a:t>
            </a:r>
            <a:r>
              <a:rPr lang="en-US" sz="4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Semiconductors</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normAutofit fontScale="55000" lnSpcReduction="20000"/>
          </a:bodyPr>
          <a:lstStyle/>
          <a:p>
            <a:r>
              <a:rPr lang="en-US" sz="3600" b="1" dirty="0">
                <a:latin typeface="Times New Roman" panose="02020603050405020304" pitchFamily="18" charset="0"/>
                <a:cs typeface="Times New Roman" panose="02020603050405020304" pitchFamily="18" charset="0"/>
              </a:rPr>
              <a:t>Extrinsic semiconductors are semiconductors that are doped with specific impurities.</a:t>
            </a:r>
            <a:endParaRPr lang="en-US" sz="3600" b="1"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 The impurity modifies the electrical properties of the semiconductor and makes it more suitable for electronic devices such as diodes and transistors.</a:t>
            </a:r>
            <a:endParaRPr lang="en-US" sz="3600" b="1"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They exhibit poor electrical conductivity.</a:t>
            </a:r>
            <a:endParaRPr lang="en-US" sz="3600" b="1" dirty="0">
              <a:latin typeface="Times New Roman" panose="02020603050405020304" pitchFamily="18" charset="0"/>
              <a:cs typeface="Times New Roman" panose="02020603050405020304" pitchFamily="18" charset="0"/>
            </a:endParaRPr>
          </a:p>
          <a:p>
            <a:endParaRPr lang="en-US" dirty="0"/>
          </a:p>
        </p:txBody>
      </p:sp>
      <p:sp>
        <p:nvSpPr>
          <p:cNvPr id="4" name="Content Placeholder 3"/>
          <p:cNvSpPr>
            <a:spLocks noGrp="1"/>
          </p:cNvSpPr>
          <p:nvPr>
            <p:ph sz="half" idx="2"/>
          </p:nvPr>
        </p:nvSpPr>
        <p:spPr>
          <a:xfrm>
            <a:off x="4946904" y="2424547"/>
            <a:ext cx="3739896" cy="3589277"/>
          </a:xfrm>
        </p:spPr>
        <p:txBody>
          <a:bodyPr>
            <a:normAutofit fontScale="55000" lnSpcReduction="20000"/>
          </a:bodyPr>
          <a:lstStyle/>
          <a:p>
            <a:r>
              <a:rPr lang="en-US" sz="3800" b="1" dirty="0">
                <a:latin typeface="Times New Roman" panose="02020603050405020304" pitchFamily="18" charset="0"/>
                <a:cs typeface="Times New Roman" panose="02020603050405020304" pitchFamily="18" charset="0"/>
              </a:rPr>
              <a:t>The number of excited electrons is equal to the number of holes (n = p).</a:t>
            </a:r>
            <a:r>
              <a:rPr lang="en-US" sz="3800" dirty="0">
                <a:latin typeface="Times New Roman" panose="02020603050405020304" pitchFamily="18" charset="0"/>
                <a:cs typeface="Times New Roman" panose="02020603050405020304" pitchFamily="18" charset="0"/>
              </a:rPr>
              <a:t> </a:t>
            </a:r>
            <a:endParaRPr lang="en-US" sz="3800" b="1" dirty="0">
              <a:latin typeface="Times New Roman" panose="02020603050405020304" pitchFamily="18" charset="0"/>
              <a:cs typeface="Times New Roman" panose="02020603050405020304" pitchFamily="18" charset="0"/>
            </a:endParaRPr>
          </a:p>
          <a:p>
            <a:r>
              <a:rPr lang="en-US" sz="3800" b="1" dirty="0">
                <a:latin typeface="Times New Roman" panose="02020603050405020304" pitchFamily="18" charset="0"/>
                <a:cs typeface="Times New Roman" panose="02020603050405020304" pitchFamily="18" charset="0"/>
              </a:rPr>
              <a:t>pure semiconductor, undoped semiconductor , or  </a:t>
            </a:r>
            <a:r>
              <a:rPr lang="en-US" sz="3800" b="1" dirty="0" err="1">
                <a:latin typeface="Times New Roman" panose="02020603050405020304" pitchFamily="18" charset="0"/>
                <a:cs typeface="Times New Roman" panose="02020603050405020304" pitchFamily="18" charset="0"/>
              </a:rPr>
              <a:t>i</a:t>
            </a:r>
            <a:r>
              <a:rPr lang="en-US" sz="3800" b="1" dirty="0">
                <a:latin typeface="Times New Roman" panose="02020603050405020304" pitchFamily="18" charset="0"/>
                <a:cs typeface="Times New Roman" panose="02020603050405020304" pitchFamily="18" charset="0"/>
              </a:rPr>
              <a:t>-type semiconductor.</a:t>
            </a:r>
            <a:endParaRPr lang="en-US" sz="3800" b="1" dirty="0">
              <a:latin typeface="Times New Roman" panose="02020603050405020304" pitchFamily="18" charset="0"/>
              <a:cs typeface="Times New Roman" panose="02020603050405020304" pitchFamily="18" charset="0"/>
            </a:endParaRPr>
          </a:p>
          <a:p>
            <a:r>
              <a:rPr lang="en-US" sz="3800" b="1" dirty="0">
                <a:latin typeface="Times New Roman" panose="02020603050405020304" pitchFamily="18" charset="0"/>
                <a:cs typeface="Times New Roman" panose="02020603050405020304" pitchFamily="18" charset="0"/>
              </a:rPr>
              <a:t>A semiconductor without any significant amount of impurity. </a:t>
            </a:r>
            <a:endParaRPr lang="en-US" sz="3800" b="1" dirty="0">
              <a:latin typeface="Times New Roman" panose="02020603050405020304" pitchFamily="18" charset="0"/>
              <a:cs typeface="Times New Roman" panose="02020603050405020304" pitchFamily="18" charset="0"/>
            </a:endParaRPr>
          </a:p>
          <a:p>
            <a:endParaRPr lang="en-US" dirty="0"/>
          </a:p>
        </p:txBody>
      </p:sp>
      <p:sp>
        <p:nvSpPr>
          <p:cNvPr id="5" name="Title 1"/>
          <p:cNvSpPr txBox="1"/>
          <p:nvPr/>
        </p:nvSpPr>
        <p:spPr>
          <a:xfrm>
            <a:off x="4800600" y="443347"/>
            <a:ext cx="4114800" cy="1981200"/>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Intrinsic</a:t>
            </a:r>
            <a:r>
              <a:rPr lang="en-US" sz="4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Semiconductor</a:t>
            </a:r>
            <a:endParaRPr lang="en-US" sz="4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47800" y="762000"/>
            <a:ext cx="6858000" cy="4999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1066800"/>
            <a:ext cx="6372368" cy="4520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P-type Semiconductor</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3" y="2286000"/>
            <a:ext cx="7704667" cy="3713816"/>
          </a:xfrm>
        </p:spPr>
        <p:txBody>
          <a:bodyPr>
            <a:normAutofit lnSpcReduction="10000"/>
          </a:bodyPr>
          <a:lstStyle/>
          <a:p>
            <a:r>
              <a:rPr lang="en-US" sz="2000" b="1" dirty="0">
                <a:latin typeface="Times New Roman" panose="02020603050405020304" pitchFamily="18" charset="0"/>
                <a:cs typeface="Times New Roman" panose="02020603050405020304" pitchFamily="18" charset="0"/>
              </a:rPr>
              <a:t>P-type semiconductor is formed due to the dopping of III group elements </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i.e. Boron, Aluminium, Thallium</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These are also known as Trivalent semi conductors</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P-type semiconductors is positive type semiconductor it means it deficiency of 1 electron is required</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In P-type semiconductor majority charge carries are holes and minority charge carries are electrons.</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 hole indicates a missing electron. In this no. of holes is more than the no. of electrons.</a:t>
            </a: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Times New Roman" panose="02020603050405020304" pitchFamily="18" charset="0"/>
                <a:cs typeface="Times New Roman" panose="02020603050405020304" pitchFamily="18" charset="0"/>
              </a:rPr>
              <a:t>N-type Semiconductor</a:t>
            </a:r>
            <a:endParaRPr lang="en-US"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3" y="2209800"/>
            <a:ext cx="7704667" cy="3790016"/>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N-type semi conductor is formed due to dopping of Nitrogen, </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Phosphorus, Arsenic, Antimony, Bismuth</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These are also known pentavalent semiconductor</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N-type semiconductor is negative type semi-conductor it means excess of 1 electron is required</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 N-type semiconductor majority charge carries are electrons and minority charge carries are hole.</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 N-type semiconductor the no. of holes is less than the no. of free electron</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5400" b="1" dirty="0">
                <a:latin typeface="Times New Roman" panose="02020603050405020304" pitchFamily="18" charset="0"/>
                <a:cs typeface="Times New Roman" panose="02020603050405020304" pitchFamily="18" charset="0"/>
              </a:rPr>
              <a:t>P-N Junction Diode:</a:t>
            </a:r>
            <a:endParaRPr lang="en-US" sz="5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3" y="2209800"/>
            <a:ext cx="7704667" cy="3790016"/>
          </a:xfrm>
        </p:spPr>
        <p:txBody>
          <a:bodyPr>
            <a:normAutofit/>
          </a:bodyPr>
          <a:lstStyle/>
          <a:p>
            <a:r>
              <a:rPr lang="en-GB" sz="3200" b="1" dirty="0">
                <a:solidFill>
                  <a:srgbClr val="040C28"/>
                </a:solidFill>
                <a:latin typeface="Times New Roman" panose="02020603050405020304" pitchFamily="18" charset="0"/>
                <a:cs typeface="Times New Roman" panose="02020603050405020304" pitchFamily="18" charset="0"/>
              </a:rPr>
              <a:t>Is </a:t>
            </a:r>
            <a:r>
              <a:rPr lang="en-GB" sz="3200" b="1" dirty="0" err="1">
                <a:solidFill>
                  <a:srgbClr val="040C28"/>
                </a:solidFill>
                <a:latin typeface="Times New Roman" panose="02020603050405020304" pitchFamily="18" charset="0"/>
                <a:cs typeface="Times New Roman" panose="02020603050405020304" pitchFamily="18" charset="0"/>
              </a:rPr>
              <a:t>is</a:t>
            </a:r>
            <a:r>
              <a:rPr lang="en-GB" sz="3200" b="1" dirty="0">
                <a:solidFill>
                  <a:srgbClr val="040C28"/>
                </a:solidFill>
                <a:latin typeface="Times New Roman" panose="02020603050405020304" pitchFamily="18" charset="0"/>
                <a:cs typeface="Times New Roman" panose="02020603050405020304" pitchFamily="18" charset="0"/>
              </a:rPr>
              <a:t> a</a:t>
            </a:r>
            <a:r>
              <a:rPr lang="en-GB" sz="3200" b="1" i="0" dirty="0">
                <a:solidFill>
                  <a:srgbClr val="040C28"/>
                </a:solidFill>
                <a:effectLst/>
                <a:latin typeface="Times New Roman" panose="02020603050405020304" pitchFamily="18" charset="0"/>
                <a:cs typeface="Times New Roman" panose="02020603050405020304" pitchFamily="18" charset="0"/>
              </a:rPr>
              <a:t> semiconductor with n and p type materials that are chemically combined, forms a junction that allows conduction in one direction only</a:t>
            </a:r>
            <a:r>
              <a:rPr lang="en-GB" sz="3200" b="1" i="0" dirty="0">
                <a:solidFill>
                  <a:srgbClr val="474747"/>
                </a:solidFill>
                <a:effectLst/>
                <a:latin typeface="Times New Roman" panose="02020603050405020304" pitchFamily="18" charset="0"/>
                <a:cs typeface="Times New Roman" panose="02020603050405020304" pitchFamily="18" charset="0"/>
              </a:rPr>
              <a:t>.</a:t>
            </a:r>
            <a:endParaRPr lang="en-US"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1"/>
          <a:stretch>
            <a:fillRect/>
          </a:stretch>
        </p:blipFill>
        <p:spPr>
          <a:xfrm>
            <a:off x="1564612" y="990600"/>
            <a:ext cx="7045987" cy="5008563"/>
          </a:xfrm>
          <a:prstGeom prst="rect">
            <a:avLst/>
          </a:prstGeom>
          <a:solidFill>
            <a:srgbClr val="C00000"/>
          </a:solidFill>
          <a:ln w="76200">
            <a:solidFill>
              <a:schemeClr val="accent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1066800"/>
            <a:ext cx="7704667" cy="2723215"/>
          </a:xfrm>
        </p:spPr>
        <p:txBody>
          <a:bodyPr>
            <a:normAutofit/>
          </a:bodyPr>
          <a:lstStyle/>
          <a:p>
            <a:r>
              <a:rPr lang="en-US" sz="4800" b="1" dirty="0">
                <a:latin typeface="Times New Roman" panose="02020603050405020304" pitchFamily="18" charset="0"/>
                <a:cs typeface="Times New Roman" panose="02020603050405020304" pitchFamily="18" charset="0"/>
              </a:rPr>
              <a:t>Characteristics</a:t>
            </a:r>
            <a:r>
              <a:rPr lang="en-US" sz="5400" b="1" dirty="0">
                <a:latin typeface="Times New Roman" panose="02020603050405020304" pitchFamily="18" charset="0"/>
                <a:cs typeface="Times New Roman" panose="02020603050405020304" pitchFamily="18" charset="0"/>
              </a:rPr>
              <a:t> of a Diode:</a:t>
            </a:r>
            <a:br>
              <a:rPr lang="en-US" sz="5400" b="1" dirty="0">
                <a:latin typeface="Times New Roman" panose="02020603050405020304" pitchFamily="18" charset="0"/>
                <a:cs typeface="Times New Roman" panose="02020603050405020304" pitchFamily="18" charset="0"/>
              </a:rPr>
            </a:br>
            <a:endParaRPr lang="en-US" sz="5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3" y="1066800"/>
            <a:ext cx="7704667" cy="5334000"/>
          </a:xfrm>
        </p:spPr>
        <p:txBody>
          <a:bodyPr>
            <a:normAutofit/>
          </a:bodyPr>
          <a:lstStyle/>
          <a:p>
            <a:pPr marL="0" indent="0">
              <a:buNone/>
            </a:pPr>
            <a:r>
              <a:rPr lang="en-US" sz="4000" b="1" dirty="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4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4000" b="1" dirty="0">
                <a:latin typeface="Times New Roman" panose="02020603050405020304" pitchFamily="18" charset="0"/>
                <a:cs typeface="Times New Roman" panose="02020603050405020304" pitchFamily="18" charset="0"/>
              </a:rPr>
              <a:t>   Forward biased diode</a:t>
            </a:r>
            <a:endParaRPr lang="en-US" sz="4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4000" b="1" dirty="0">
                <a:latin typeface="Times New Roman" panose="02020603050405020304" pitchFamily="18" charset="0"/>
                <a:cs typeface="Times New Roman" panose="02020603050405020304" pitchFamily="18" charset="0"/>
              </a:rPr>
              <a:t>   Reverse biased diode</a:t>
            </a:r>
            <a:endParaRPr lang="en-US" sz="4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4000" b="1" dirty="0">
                <a:latin typeface="Times New Roman" panose="02020603050405020304" pitchFamily="18" charset="0"/>
                <a:cs typeface="Times New Roman" panose="02020603050405020304" pitchFamily="18" charset="0"/>
              </a:rPr>
              <a:t>   Zero biased diode</a:t>
            </a:r>
            <a:endParaRPr lang="en-US" sz="4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solidFill>
                  <a:schemeClr val="accent1">
                    <a:lumMod val="50000"/>
                  </a:schemeClr>
                </a:solidFill>
                <a:latin typeface="Times New Roman" panose="02020603050405020304" pitchFamily="18" charset="0"/>
                <a:cs typeface="Times New Roman" panose="02020603050405020304" pitchFamily="18" charset="0"/>
              </a:rPr>
              <a:t> Forward Biased Diode:</a:t>
            </a:r>
            <a:endParaRPr lang="en-US" sz="5400" dirty="0"/>
          </a:p>
        </p:txBody>
      </p:sp>
      <p:sp>
        <p:nvSpPr>
          <p:cNvPr id="3" name="Content Placeholder 2"/>
          <p:cNvSpPr>
            <a:spLocks noGrp="1"/>
          </p:cNvSpPr>
          <p:nvPr>
            <p:ph idx="1"/>
          </p:nvPr>
        </p:nvSpPr>
        <p:spPr>
          <a:xfrm>
            <a:off x="982133" y="2057400"/>
            <a:ext cx="7704667" cy="3942416"/>
          </a:xfrm>
        </p:spPr>
        <p:txBody>
          <a:bodyPr>
            <a:normAutofit/>
          </a:bodyPr>
          <a:lstStyle/>
          <a:p>
            <a:pPr marL="0" indent="0">
              <a:buNone/>
            </a:pPr>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When the diode is forward-biased and the current is flowing, there is a minor voltage drop across it. The potential energy across the p-type material is positive, while the potential energy across the n-type material is negative.</a:t>
            </a:r>
            <a:endParaRPr lang="en-US"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solidFill>
                  <a:schemeClr val="accent1">
                    <a:lumMod val="50000"/>
                  </a:schemeClr>
                </a:solidFill>
                <a:latin typeface="Times New Roman" panose="02020603050405020304" pitchFamily="18" charset="0"/>
                <a:cs typeface="Times New Roman" panose="02020603050405020304" pitchFamily="18" charset="0"/>
              </a:rPr>
              <a:t> Forward Biased Diode</a:t>
            </a:r>
            <a:endParaRPr lang="en-US" dirty="0">
              <a:latin typeface="Times New Roman" panose="02020603050405020304" pitchFamily="18" charset="0"/>
              <a:cs typeface="Times New Roman" panose="02020603050405020304" pitchFamily="18" charset="0"/>
            </a:endParaRPr>
          </a:p>
        </p:txBody>
      </p:sp>
      <p:pic>
        <p:nvPicPr>
          <p:cNvPr id="1026" name="Picture 2" descr="PN Junction Diode and Diode Characteristics"/>
          <p:cNvPicPr>
            <a:picLocks noGrp="1" noChangeAspect="1" noChangeArrowheads="1"/>
          </p:cNvPicPr>
          <p:nvPr>
            <p:ph idx="1"/>
          </p:nvPr>
        </p:nvPicPr>
        <p:blipFill rotWithShape="1">
          <a:blip r:embed="rId1">
            <a:extLst>
              <a:ext uri="{28A0092B-C50C-407E-A947-70E740481C1C}">
                <a14:useLocalDpi xmlns:a14="http://schemas.microsoft.com/office/drawing/2010/main" val="0"/>
              </a:ext>
            </a:extLst>
          </a:blip>
          <a:srcRect r="45172"/>
          <a:stretch>
            <a:fillRect/>
          </a:stretch>
        </p:blipFill>
        <p:spPr bwMode="auto">
          <a:xfrm>
            <a:off x="1752600" y="2438401"/>
            <a:ext cx="7018867"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4800" b="1" dirty="0">
                <a:solidFill>
                  <a:schemeClr val="accent1">
                    <a:lumMod val="50000"/>
                  </a:schemeClr>
                </a:solidFill>
                <a:latin typeface="Times New Roman" panose="02020603050405020304" pitchFamily="18" charset="0"/>
                <a:cs typeface="Times New Roman" panose="02020603050405020304" pitchFamily="18" charset="0"/>
              </a:rPr>
              <a:t>  Reverse Biased Diode:</a:t>
            </a:r>
            <a:endParaRPr lang="en-US" sz="4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A diode is said to be reverse-biased when the battery voltage is totally depleted (battery has been completely discharged and current does not flow). The potential energy across the p-type material is negative, while the potential energy across the n-type material is positive.</a:t>
            </a:r>
            <a:endParaRPr lang="en-US" sz="2800" b="1"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n junction reverse bias"/>
          <p:cNvPicPr>
            <a:picLocks noGrp="1" noChangeAspect="1" noChangeArrowheads="1"/>
          </p:cNvPicPr>
          <p:nvPr>
            <p:ph idx="1"/>
          </p:nvPr>
        </p:nvPicPr>
        <p:blipFill rotWithShape="1">
          <a:blip r:embed="rId1">
            <a:extLst>
              <a:ext uri="{28A0092B-C50C-407E-A947-70E740481C1C}">
                <a14:useLocalDpi xmlns:a14="http://schemas.microsoft.com/office/drawing/2010/main" val="0"/>
              </a:ext>
            </a:extLst>
          </a:blip>
          <a:srcRect r="45794"/>
          <a:stretch>
            <a:fillRect/>
          </a:stretch>
        </p:blipFill>
        <p:spPr bwMode="auto">
          <a:xfrm>
            <a:off x="1219200" y="1066800"/>
            <a:ext cx="7315200" cy="49776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0"/>
            <a:ext cx="7704667" cy="5867399"/>
          </a:xfrm>
        </p:spPr>
        <p:txBody>
          <a:bodyPr>
            <a:normAutofit/>
          </a:bodyPr>
          <a:lstStyle/>
          <a:p>
            <a:r>
              <a:rPr lang="en-GB" sz="6600" b="1" dirty="0"/>
              <a:t>Thankyou…</a:t>
            </a:r>
            <a:endParaRPr lang="en-US" sz="66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0</TotalTime>
  <Words>5756</Words>
  <Application>WPS Presentation</Application>
  <PresentationFormat>On-screen Show (4:3)</PresentationFormat>
  <Paragraphs>165</Paragraphs>
  <Slides>25</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25</vt:i4>
      </vt:variant>
    </vt:vector>
  </HeadingPairs>
  <TitlesOfParts>
    <vt:vector size="35" baseType="lpstr">
      <vt:lpstr>Arial</vt:lpstr>
      <vt:lpstr>SimSun</vt:lpstr>
      <vt:lpstr>Wingdings</vt:lpstr>
      <vt:lpstr>Arial</vt:lpstr>
      <vt:lpstr>Times New Roman</vt:lpstr>
      <vt:lpstr>Microsoft YaHei</vt:lpstr>
      <vt:lpstr>Arial Unicode MS</vt:lpstr>
      <vt:lpstr>Corbel</vt:lpstr>
      <vt:lpstr>Calibri</vt:lpstr>
      <vt:lpstr>Parallax</vt:lpstr>
      <vt:lpstr> Semiconductor   P-N Junction  </vt:lpstr>
      <vt:lpstr>Conductor</vt:lpstr>
      <vt:lpstr>Insulator</vt:lpstr>
      <vt:lpstr>Semiconductor</vt:lpstr>
      <vt:lpstr>Comparison of a Semiconductor Atom to a Conductor Atom</vt:lpstr>
      <vt:lpstr>Silicon and Germanium</vt:lpstr>
      <vt:lpstr>Current in Semiconductors</vt:lpstr>
      <vt:lpstr>Comparison</vt:lpstr>
      <vt:lpstr>Structure of Semiconductor</vt:lpstr>
      <vt:lpstr>PowerPoint 演示文稿</vt:lpstr>
      <vt:lpstr>Characteristics of Semiconductor</vt:lpstr>
      <vt:lpstr>PowerPoint 演示文稿</vt:lpstr>
      <vt:lpstr>Extrinsic Semiconductors</vt:lpstr>
      <vt:lpstr>PowerPoint 演示文稿</vt:lpstr>
      <vt:lpstr>PowerPoint 演示文稿</vt:lpstr>
      <vt:lpstr>P-type Semiconductor</vt:lpstr>
      <vt:lpstr>N-type Semiconductor</vt:lpstr>
      <vt:lpstr>P-N Junction Diode:</vt:lpstr>
      <vt:lpstr>PowerPoint 演示文稿</vt:lpstr>
      <vt:lpstr>Characteristics of a Diode: </vt:lpstr>
      <vt:lpstr> Forward Biased Diode:</vt:lpstr>
      <vt:lpstr> Forward Biased Diode</vt:lpstr>
      <vt:lpstr>  Reverse Biased Diode:</vt:lpstr>
      <vt:lpstr>PowerPoint 演示文稿</vt:lpstr>
      <vt:lpstr>Thankyou…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crown commputer</dc:creator>
  <cp:lastModifiedBy>Engr Asif Ali</cp:lastModifiedBy>
  <cp:revision>30</cp:revision>
  <dcterms:created xsi:type="dcterms:W3CDTF">2024-04-01T00:45:00Z</dcterms:created>
  <dcterms:modified xsi:type="dcterms:W3CDTF">2024-04-23T07:03:31Z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5C88C55DF8044E52AE52D314EEFD470E_12</vt:lpwstr>
  </property>
  <property fmtid="{D5CDD505-2E9C-101B-9397-08002B2CF9AE}" pid="3" name="KSOProductBuildVer">
    <vt:lpwstr>1033-12.2.0.16731</vt:lpwstr>
  </property>
</Properties>
</file>
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65" r:id="rId2"/>
    <p:sldId id="264" r:id="rId3"/>
    <p:sldId id="256" r:id="rId4"/>
    <p:sldId id="257" r:id="rId5"/>
    <p:sldId id="258" r:id="rId6"/>
    <p:sldId id="259" r:id="rId7"/>
    <p:sldId id="260" r:id="rId8"/>
    <p:sldId id="261" r:id="rId9"/>
    <p:sldId id="262" r:id="rId10"/>
    <p:sldId id="263" r:id="rId11"/>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6" d="100"/>
          <a:sy n="96" d="100"/>
        </p:scale>
        <p:origin x="37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0338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590EF8A4-CA7D-DF80-39A8-A5BDA02A0B8B}"/>
              </a:ext>
            </a:extLst>
          </p:cNvPr>
          <p:cNvSpPr txBox="1"/>
          <p:nvPr/>
        </p:nvSpPr>
        <p:spPr>
          <a:xfrm>
            <a:off x="1524000" y="1811867"/>
            <a:ext cx="12987866" cy="1815882"/>
          </a:xfrm>
          <a:prstGeom prst="rect">
            <a:avLst/>
          </a:prstGeom>
          <a:noFill/>
        </p:spPr>
        <p:txBody>
          <a:bodyPr wrap="square" rtlCol="0">
            <a:spAutoFit/>
          </a:bodyPr>
          <a:lstStyle/>
          <a:p>
            <a:endParaRPr lang="en-US" sz="3400" b="1" dirty="0"/>
          </a:p>
          <a:p>
            <a:endParaRPr lang="en-US" sz="3400" b="1" dirty="0"/>
          </a:p>
          <a:p>
            <a:r>
              <a:rPr lang="en-US" sz="4400" b="1" dirty="0"/>
              <a:t>Transistors, Operations and it’s basic Structure </a:t>
            </a:r>
          </a:p>
        </p:txBody>
      </p:sp>
      <p:sp>
        <p:nvSpPr>
          <p:cNvPr id="3" name="TextBox 2">
            <a:extLst>
              <a:ext uri="{FF2B5EF4-FFF2-40B4-BE49-F238E27FC236}">
                <a16:creationId xmlns:a16="http://schemas.microsoft.com/office/drawing/2014/main" xmlns="" id="{6F540E1A-635D-97E8-8AF9-D89F3D882E4B}"/>
              </a:ext>
            </a:extLst>
          </p:cNvPr>
          <p:cNvSpPr txBox="1"/>
          <p:nvPr/>
        </p:nvSpPr>
        <p:spPr>
          <a:xfrm>
            <a:off x="8398934" y="6146800"/>
            <a:ext cx="5808133" cy="1600438"/>
          </a:xfrm>
          <a:prstGeom prst="rect">
            <a:avLst/>
          </a:prstGeom>
          <a:noFill/>
        </p:spPr>
        <p:txBody>
          <a:bodyPr wrap="square" rtlCol="0">
            <a:spAutoFit/>
          </a:bodyPr>
          <a:lstStyle/>
          <a:p>
            <a:r>
              <a:rPr lang="en-US" sz="4900" b="1" dirty="0"/>
              <a:t>Ayesha Hassan </a:t>
            </a:r>
          </a:p>
          <a:p>
            <a:r>
              <a:rPr lang="en-US" sz="4900" b="1" dirty="0" err="1"/>
              <a:t>Eylaf</a:t>
            </a:r>
            <a:r>
              <a:rPr lang="en-US" sz="4900" b="1" dirty="0"/>
              <a:t> Khalil Ahmed </a:t>
            </a:r>
          </a:p>
        </p:txBody>
      </p:sp>
    </p:spTree>
    <p:extLst>
      <p:ext uri="{BB962C8B-B14F-4D97-AF65-F5344CB8AC3E}">
        <p14:creationId xmlns:p14="http://schemas.microsoft.com/office/powerpoint/2010/main" val="39041288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EAC738E2-6D44-1569-918A-182688A50422}"/>
              </a:ext>
            </a:extLst>
          </p:cNvPr>
          <p:cNvSpPr txBox="1"/>
          <p:nvPr/>
        </p:nvSpPr>
        <p:spPr>
          <a:xfrm>
            <a:off x="3753853" y="1267326"/>
            <a:ext cx="6898105" cy="5416868"/>
          </a:xfrm>
          <a:prstGeom prst="rect">
            <a:avLst/>
          </a:prstGeom>
          <a:noFill/>
        </p:spPr>
        <p:txBody>
          <a:bodyPr wrap="square" rtlCol="0">
            <a:spAutoFit/>
          </a:bodyPr>
          <a:lstStyle/>
          <a:p>
            <a:r>
              <a:rPr lang="en-US" sz="4000" b="1" dirty="0"/>
              <a:t>Agenda:</a:t>
            </a:r>
          </a:p>
          <a:p>
            <a:pPr marL="285750" indent="-285750">
              <a:buFont typeface="Arial" panose="020B0604020202020204" pitchFamily="34" charset="0"/>
              <a:buChar char="•"/>
            </a:pPr>
            <a:r>
              <a:rPr lang="en-US" sz="3400" b="1" dirty="0"/>
              <a:t>Introduction of Transistors </a:t>
            </a:r>
          </a:p>
          <a:p>
            <a:pPr marL="285750" indent="-285750">
              <a:buFont typeface="Arial" panose="020B0604020202020204" pitchFamily="34" charset="0"/>
              <a:buChar char="•"/>
            </a:pPr>
            <a:r>
              <a:rPr lang="en-US" sz="3400" b="1" dirty="0"/>
              <a:t>Importance of Transistors </a:t>
            </a:r>
          </a:p>
          <a:p>
            <a:pPr marL="285750" indent="-285750">
              <a:buFont typeface="Arial" panose="020B0604020202020204" pitchFamily="34" charset="0"/>
              <a:buChar char="•"/>
            </a:pPr>
            <a:r>
              <a:rPr lang="en-US" sz="3400" b="1" dirty="0"/>
              <a:t>Types of Transistors </a:t>
            </a:r>
          </a:p>
          <a:p>
            <a:pPr marL="285750" indent="-285750">
              <a:buFont typeface="Arial" panose="020B0604020202020204" pitchFamily="34" charset="0"/>
              <a:buChar char="•"/>
            </a:pPr>
            <a:r>
              <a:rPr lang="en-US" sz="3400" b="1" dirty="0"/>
              <a:t>Basic Structure of Transistors </a:t>
            </a:r>
          </a:p>
          <a:p>
            <a:pPr marL="285750" indent="-285750">
              <a:buFont typeface="Arial" panose="020B0604020202020204" pitchFamily="34" charset="0"/>
              <a:buChar char="•"/>
            </a:pPr>
            <a:r>
              <a:rPr lang="en-US" sz="3400" b="1" dirty="0"/>
              <a:t>Operations of Transistors </a:t>
            </a:r>
          </a:p>
          <a:p>
            <a:pPr marL="285750" indent="-285750">
              <a:buFont typeface="Arial" panose="020B0604020202020204" pitchFamily="34" charset="0"/>
              <a:buChar char="•"/>
            </a:pPr>
            <a:r>
              <a:rPr lang="en-US" sz="3400" b="1" dirty="0"/>
              <a:t>Applications of Transistors </a:t>
            </a:r>
          </a:p>
          <a:p>
            <a:pPr marL="285750" indent="-285750">
              <a:buFont typeface="Arial" panose="020B0604020202020204" pitchFamily="34" charset="0"/>
              <a:buChar char="•"/>
            </a:pPr>
            <a:r>
              <a:rPr lang="en-US" sz="3400" b="1" dirty="0"/>
              <a:t>Advantages and Disadvantages of Transistors </a:t>
            </a:r>
          </a:p>
          <a:p>
            <a:pPr marL="285750" indent="-285750">
              <a:buFont typeface="Arial" panose="020B0604020202020204" pitchFamily="34" charset="0"/>
              <a:buChar char="•"/>
            </a:pPr>
            <a:r>
              <a:rPr lang="en-US" sz="3400" b="1" dirty="0"/>
              <a:t>Conclusion </a:t>
            </a:r>
          </a:p>
        </p:txBody>
      </p:sp>
    </p:spTree>
    <p:extLst>
      <p:ext uri="{BB962C8B-B14F-4D97-AF65-F5344CB8AC3E}">
        <p14:creationId xmlns:p14="http://schemas.microsoft.com/office/powerpoint/2010/main" val="5854390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txBody>
          <a:bodyPr/>
          <a:lstStyle/>
          <a:p>
            <a:endParaRPr lang="en-US"/>
          </a:p>
        </p:txBody>
      </p:sp>
      <p:sp>
        <p:nvSpPr>
          <p:cNvPr id="3" name="Shape 1"/>
          <p:cNvSpPr/>
          <p:nvPr/>
        </p:nvSpPr>
        <p:spPr>
          <a:xfrm>
            <a:off x="0" y="0"/>
            <a:ext cx="14630400" cy="8229600"/>
          </a:xfrm>
          <a:prstGeom prst="rect">
            <a:avLst/>
          </a:prstGeom>
          <a:solidFill>
            <a:srgbClr val="F9F6F0"/>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9151620" y="0"/>
            <a:ext cx="5486400" cy="8229600"/>
          </a:xfrm>
          <a:prstGeom prst="rect">
            <a:avLst/>
          </a:prstGeom>
        </p:spPr>
      </p:pic>
      <p:sp>
        <p:nvSpPr>
          <p:cNvPr id="5" name="Text 2"/>
          <p:cNvSpPr/>
          <p:nvPr/>
        </p:nvSpPr>
        <p:spPr>
          <a:xfrm>
            <a:off x="833199" y="2279094"/>
            <a:ext cx="7477601" cy="1916430"/>
          </a:xfrm>
          <a:prstGeom prst="rect">
            <a:avLst/>
          </a:prstGeom>
          <a:noFill/>
          <a:ln/>
        </p:spPr>
        <p:txBody>
          <a:bodyPr wrap="square" rtlCol="0" anchor="t"/>
          <a:lstStyle/>
          <a:p>
            <a:pPr marL="0" indent="0">
              <a:lnSpc>
                <a:spcPts val="7545"/>
              </a:lnSpc>
              <a:buNone/>
            </a:pPr>
            <a:r>
              <a:rPr lang="en-US" sz="6036" b="1" dirty="0">
                <a:solidFill>
                  <a:srgbClr val="000000"/>
                </a:solidFill>
                <a:latin typeface="Gelasio" pitchFamily="34" charset="0"/>
                <a:ea typeface="Gelasio" pitchFamily="34" charset="-122"/>
                <a:cs typeface="Gelasio" pitchFamily="34" charset="-120"/>
              </a:rPr>
              <a:t>Introduction to Transistors</a:t>
            </a:r>
            <a:endParaRPr lang="en-US" sz="6036" dirty="0"/>
          </a:p>
        </p:txBody>
      </p:sp>
      <p:sp>
        <p:nvSpPr>
          <p:cNvPr id="6" name="Text 3"/>
          <p:cNvSpPr/>
          <p:nvPr/>
        </p:nvSpPr>
        <p:spPr>
          <a:xfrm>
            <a:off x="833199" y="4528780"/>
            <a:ext cx="7477601" cy="1421606"/>
          </a:xfrm>
          <a:prstGeom prst="rect">
            <a:avLst/>
          </a:prstGeom>
          <a:noFill/>
          <a:ln/>
        </p:spPr>
        <p:txBody>
          <a:bodyPr wrap="square" rtlCol="0" anchor="t"/>
          <a:lstStyle/>
          <a:p>
            <a:pPr marL="342900" indent="-342900">
              <a:lnSpc>
                <a:spcPts val="2799"/>
              </a:lnSpc>
              <a:buFont typeface="Wingdings" panose="05000000000000000000" pitchFamily="2" charset="2"/>
              <a:buChar char="Ø"/>
            </a:pPr>
            <a:r>
              <a:rPr lang="en-US" sz="2000" dirty="0">
                <a:solidFill>
                  <a:srgbClr val="000000"/>
                </a:solidFill>
                <a:latin typeface="Gelasio" pitchFamily="34" charset="0"/>
                <a:ea typeface="Gelasio" pitchFamily="34" charset="-122"/>
                <a:cs typeface="Gelasio" pitchFamily="34" charset="-120"/>
              </a:rPr>
              <a:t>Transistors are semiconductor </a:t>
            </a:r>
            <a:r>
              <a:rPr lang="en-US" sz="2000" dirty="0" smtClean="0">
                <a:solidFill>
                  <a:srgbClr val="000000"/>
                </a:solidFill>
                <a:latin typeface="Gelasio" pitchFamily="34" charset="0"/>
                <a:ea typeface="Gelasio" pitchFamily="34" charset="-122"/>
                <a:cs typeface="Gelasio" pitchFamily="34" charset="-120"/>
              </a:rPr>
              <a:t>device. </a:t>
            </a:r>
          </a:p>
          <a:p>
            <a:pPr marL="342900" indent="-342900">
              <a:lnSpc>
                <a:spcPts val="2799"/>
              </a:lnSpc>
              <a:buFont typeface="Wingdings" panose="05000000000000000000" pitchFamily="2" charset="2"/>
              <a:buChar char="Ø"/>
            </a:pPr>
            <a:r>
              <a:rPr lang="en-US" sz="2000" dirty="0" smtClean="0">
                <a:solidFill>
                  <a:srgbClr val="000000"/>
                </a:solidFill>
                <a:latin typeface="Gelasio" pitchFamily="34" charset="0"/>
                <a:ea typeface="Gelasio" pitchFamily="34" charset="-122"/>
                <a:cs typeface="Gelasio" pitchFamily="34" charset="-120"/>
              </a:rPr>
              <a:t>It </a:t>
            </a:r>
            <a:r>
              <a:rPr lang="en-US" sz="2000" dirty="0">
                <a:solidFill>
                  <a:srgbClr val="000000"/>
                </a:solidFill>
                <a:latin typeface="Gelasio" pitchFamily="34" charset="0"/>
                <a:ea typeface="Gelasio" pitchFamily="34" charset="-122"/>
                <a:cs typeface="Gelasio" pitchFamily="34" charset="-120"/>
              </a:rPr>
              <a:t>act as </a:t>
            </a:r>
            <a:r>
              <a:rPr lang="en-US" sz="2000" dirty="0" smtClean="0">
                <a:solidFill>
                  <a:srgbClr val="000000"/>
                </a:solidFill>
                <a:latin typeface="Gelasio" pitchFamily="34" charset="0"/>
                <a:ea typeface="Gelasio" pitchFamily="34" charset="-122"/>
                <a:cs typeface="Gelasio" pitchFamily="34" charset="-120"/>
              </a:rPr>
              <a:t>amplifier </a:t>
            </a:r>
            <a:r>
              <a:rPr lang="en-US" sz="2000" dirty="0">
                <a:solidFill>
                  <a:srgbClr val="000000"/>
                </a:solidFill>
                <a:latin typeface="Gelasio" pitchFamily="34" charset="0"/>
                <a:ea typeface="Gelasio" pitchFamily="34" charset="-122"/>
                <a:cs typeface="Gelasio" pitchFamily="34" charset="-120"/>
              </a:rPr>
              <a:t>or </a:t>
            </a:r>
            <a:r>
              <a:rPr lang="en-US" sz="2000" dirty="0" smtClean="0">
                <a:solidFill>
                  <a:srgbClr val="000000"/>
                </a:solidFill>
                <a:latin typeface="Gelasio" pitchFamily="34" charset="0"/>
                <a:ea typeface="Gelasio" pitchFamily="34" charset="-122"/>
                <a:cs typeface="Gelasio" pitchFamily="34" charset="-120"/>
              </a:rPr>
              <a:t>switch.</a:t>
            </a:r>
          </a:p>
          <a:p>
            <a:pPr marL="342900" indent="-342900">
              <a:lnSpc>
                <a:spcPts val="2799"/>
              </a:lnSpc>
              <a:buFont typeface="Wingdings" panose="05000000000000000000" pitchFamily="2" charset="2"/>
              <a:buChar char="Ø"/>
            </a:pPr>
            <a:r>
              <a:rPr lang="en-US" sz="2000" dirty="0" smtClean="0">
                <a:solidFill>
                  <a:srgbClr val="000000"/>
                </a:solidFill>
                <a:latin typeface="Gelasio" pitchFamily="34" charset="0"/>
                <a:ea typeface="Gelasio" pitchFamily="34" charset="-122"/>
                <a:cs typeface="Gelasio" pitchFamily="34" charset="-120"/>
              </a:rPr>
              <a:t>It play </a:t>
            </a:r>
            <a:r>
              <a:rPr lang="en-US" sz="2000" dirty="0">
                <a:solidFill>
                  <a:srgbClr val="000000"/>
                </a:solidFill>
                <a:latin typeface="Gelasio" pitchFamily="34" charset="0"/>
                <a:ea typeface="Gelasio" pitchFamily="34" charset="-122"/>
                <a:cs typeface="Gelasio" pitchFamily="34" charset="-120"/>
              </a:rPr>
              <a:t>a fundamental role in modern electronics. </a:t>
            </a:r>
            <a:endParaRPr lang="en-US" sz="2000" dirty="0" smtClean="0">
              <a:solidFill>
                <a:srgbClr val="000000"/>
              </a:solidFill>
              <a:latin typeface="Gelasio" pitchFamily="34" charset="0"/>
              <a:ea typeface="Gelasio" pitchFamily="34" charset="-122"/>
              <a:cs typeface="Gelasio" pitchFamily="34" charset="-120"/>
            </a:endParaRPr>
          </a:p>
          <a:p>
            <a:pPr marL="342900" indent="-342900">
              <a:lnSpc>
                <a:spcPts val="2799"/>
              </a:lnSpc>
              <a:buFont typeface="Wingdings" panose="05000000000000000000" pitchFamily="2" charset="2"/>
              <a:buChar char="Ø"/>
            </a:pPr>
            <a:r>
              <a:rPr lang="en-US" sz="2000" dirty="0" smtClean="0">
                <a:solidFill>
                  <a:srgbClr val="000000"/>
                </a:solidFill>
                <a:latin typeface="Gelasio" pitchFamily="34" charset="0"/>
                <a:ea typeface="Gelasio" pitchFamily="34" charset="-122"/>
                <a:cs typeface="Gelasio" pitchFamily="34" charset="-120"/>
              </a:rPr>
              <a:t>They </a:t>
            </a:r>
            <a:r>
              <a:rPr lang="en-US" sz="2000" dirty="0">
                <a:solidFill>
                  <a:srgbClr val="000000"/>
                </a:solidFill>
                <a:latin typeface="Gelasio" pitchFamily="34" charset="0"/>
                <a:ea typeface="Gelasio" pitchFamily="34" charset="-122"/>
                <a:cs typeface="Gelasio" pitchFamily="34" charset="-120"/>
              </a:rPr>
              <a:t>are the building blocks of integrated circuits, enabling the design of complex electronic systems that power our digital world.</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txBody>
          <a:bodyPr/>
          <a:lstStyle/>
          <a:p>
            <a:endParaRPr lang="en-US"/>
          </a:p>
        </p:txBody>
      </p:sp>
      <p:sp>
        <p:nvSpPr>
          <p:cNvPr id="3" name="Shape 1"/>
          <p:cNvSpPr/>
          <p:nvPr/>
        </p:nvSpPr>
        <p:spPr>
          <a:xfrm>
            <a:off x="0" y="0"/>
            <a:ext cx="14630400" cy="8229600"/>
          </a:xfrm>
          <a:prstGeom prst="rect">
            <a:avLst/>
          </a:prstGeom>
          <a:solidFill>
            <a:srgbClr val="F2EBDF"/>
          </a:solidFill>
          <a:ln/>
        </p:spPr>
        <p:txBody>
          <a:bodyPr/>
          <a:lstStyle/>
          <a:p>
            <a:endParaRPr lang="en-US"/>
          </a:p>
        </p:txBody>
      </p:sp>
      <p:sp>
        <p:nvSpPr>
          <p:cNvPr id="4" name="Text 2"/>
          <p:cNvSpPr/>
          <p:nvPr/>
        </p:nvSpPr>
        <p:spPr>
          <a:xfrm>
            <a:off x="2037993" y="2572107"/>
            <a:ext cx="7176135" cy="694373"/>
          </a:xfrm>
          <a:prstGeom prst="rect">
            <a:avLst/>
          </a:prstGeom>
          <a:noFill/>
          <a:ln/>
        </p:spPr>
        <p:txBody>
          <a:bodyPr wrap="none" rtlCol="0" anchor="t"/>
          <a:lstStyle/>
          <a:p>
            <a:pPr marL="0" indent="0">
              <a:lnSpc>
                <a:spcPts val="5468"/>
              </a:lnSpc>
              <a:buNone/>
            </a:pPr>
            <a:r>
              <a:rPr lang="en-US" sz="4374" b="1" dirty="0">
                <a:solidFill>
                  <a:srgbClr val="000000"/>
                </a:solidFill>
                <a:latin typeface="Gelasio" pitchFamily="34" charset="0"/>
                <a:ea typeface="Gelasio" pitchFamily="34" charset="-122"/>
                <a:cs typeface="Gelasio" pitchFamily="34" charset="-120"/>
              </a:rPr>
              <a:t>Importance of Transistors</a:t>
            </a:r>
            <a:endParaRPr lang="en-US" sz="4374" dirty="0"/>
          </a:p>
        </p:txBody>
      </p:sp>
      <p:sp>
        <p:nvSpPr>
          <p:cNvPr id="5" name="Text 3"/>
          <p:cNvSpPr/>
          <p:nvPr/>
        </p:nvSpPr>
        <p:spPr>
          <a:xfrm>
            <a:off x="2037993" y="3821906"/>
            <a:ext cx="2777490" cy="347186"/>
          </a:xfrm>
          <a:prstGeom prst="rect">
            <a:avLst/>
          </a:prstGeom>
          <a:noFill/>
          <a:ln/>
        </p:spPr>
        <p:txBody>
          <a:bodyPr wrap="none" rtlCol="0" anchor="t"/>
          <a:lstStyle/>
          <a:p>
            <a:pPr marL="0" indent="0">
              <a:lnSpc>
                <a:spcPts val="2734"/>
              </a:lnSpc>
              <a:buNone/>
            </a:pPr>
            <a:r>
              <a:rPr lang="en-US" sz="2187" b="1" dirty="0">
                <a:solidFill>
                  <a:srgbClr val="000000"/>
                </a:solidFill>
                <a:latin typeface="Gelasio" pitchFamily="34" charset="0"/>
                <a:ea typeface="Gelasio" pitchFamily="34" charset="-122"/>
                <a:cs typeface="Gelasio" pitchFamily="34" charset="-120"/>
              </a:rPr>
              <a:t>Flexibility</a:t>
            </a:r>
            <a:endParaRPr lang="en-US" sz="2187" dirty="0"/>
          </a:p>
        </p:txBody>
      </p:sp>
      <p:sp>
        <p:nvSpPr>
          <p:cNvPr id="6" name="Text 4"/>
          <p:cNvSpPr/>
          <p:nvPr/>
        </p:nvSpPr>
        <p:spPr>
          <a:xfrm>
            <a:off x="2037993" y="4391263"/>
            <a:ext cx="5006221" cy="1066205"/>
          </a:xfrm>
          <a:prstGeom prst="rect">
            <a:avLst/>
          </a:prstGeom>
          <a:noFill/>
          <a:ln/>
        </p:spPr>
        <p:txBody>
          <a:bodyPr wrap="square" rtlCol="0" anchor="t"/>
          <a:lstStyle/>
          <a:p>
            <a:pPr marL="0" indent="0">
              <a:lnSpc>
                <a:spcPts val="2799"/>
              </a:lnSpc>
              <a:buNone/>
            </a:pPr>
            <a:r>
              <a:rPr lang="en-US" sz="1750" dirty="0">
                <a:solidFill>
                  <a:srgbClr val="000000"/>
                </a:solidFill>
                <a:latin typeface="Gelasio" pitchFamily="34" charset="0"/>
                <a:ea typeface="Gelasio" pitchFamily="34" charset="-122"/>
                <a:cs typeface="Gelasio" pitchFamily="34" charset="-120"/>
              </a:rPr>
              <a:t>Transistors can function as amplifiers, switches, and logic gates, making them essential for a wide range of electronic applications.</a:t>
            </a:r>
            <a:endParaRPr lang="en-US" sz="1750" dirty="0"/>
          </a:p>
        </p:txBody>
      </p:sp>
      <p:sp>
        <p:nvSpPr>
          <p:cNvPr id="7" name="Text 5"/>
          <p:cNvSpPr/>
          <p:nvPr/>
        </p:nvSpPr>
        <p:spPr>
          <a:xfrm>
            <a:off x="7593806" y="3821906"/>
            <a:ext cx="2777490" cy="347186"/>
          </a:xfrm>
          <a:prstGeom prst="rect">
            <a:avLst/>
          </a:prstGeom>
          <a:noFill/>
          <a:ln/>
        </p:spPr>
        <p:txBody>
          <a:bodyPr wrap="none" rtlCol="0" anchor="t"/>
          <a:lstStyle/>
          <a:p>
            <a:pPr marL="0" indent="0">
              <a:lnSpc>
                <a:spcPts val="2734"/>
              </a:lnSpc>
              <a:buNone/>
            </a:pPr>
            <a:r>
              <a:rPr lang="en-US" sz="2187" b="1" dirty="0">
                <a:solidFill>
                  <a:srgbClr val="000000"/>
                </a:solidFill>
                <a:latin typeface="Gelasio" pitchFamily="34" charset="0"/>
                <a:ea typeface="Gelasio" pitchFamily="34" charset="-122"/>
                <a:cs typeface="Gelasio" pitchFamily="34" charset="-120"/>
              </a:rPr>
              <a:t>Power Efficiency</a:t>
            </a:r>
            <a:endParaRPr lang="en-US" sz="2187" dirty="0"/>
          </a:p>
        </p:txBody>
      </p:sp>
      <p:sp>
        <p:nvSpPr>
          <p:cNvPr id="8" name="Text 6"/>
          <p:cNvSpPr/>
          <p:nvPr/>
        </p:nvSpPr>
        <p:spPr>
          <a:xfrm>
            <a:off x="7593806" y="4391263"/>
            <a:ext cx="5006221" cy="1066205"/>
          </a:xfrm>
          <a:prstGeom prst="rect">
            <a:avLst/>
          </a:prstGeom>
          <a:noFill/>
          <a:ln/>
        </p:spPr>
        <p:txBody>
          <a:bodyPr wrap="square" rtlCol="0" anchor="t"/>
          <a:lstStyle/>
          <a:p>
            <a:pPr marL="0" indent="0">
              <a:lnSpc>
                <a:spcPts val="2799"/>
              </a:lnSpc>
              <a:buNone/>
            </a:pPr>
            <a:r>
              <a:rPr lang="en-US" sz="1750" dirty="0">
                <a:solidFill>
                  <a:srgbClr val="000000"/>
                </a:solidFill>
                <a:latin typeface="Gelasio" pitchFamily="34" charset="0"/>
                <a:ea typeface="Gelasio" pitchFamily="34" charset="-122"/>
                <a:cs typeface="Gelasio" pitchFamily="34" charset="-120"/>
              </a:rPr>
              <a:t>The small size and low power consumption of transistors have enabled the development of energy-efficient electronic devices.</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txBody>
          <a:bodyPr/>
          <a:lstStyle/>
          <a:p>
            <a:endParaRPr lang="en-US"/>
          </a:p>
        </p:txBody>
      </p:sp>
      <p:sp>
        <p:nvSpPr>
          <p:cNvPr id="3" name="Shape 1"/>
          <p:cNvSpPr/>
          <p:nvPr/>
        </p:nvSpPr>
        <p:spPr>
          <a:xfrm>
            <a:off x="0" y="0"/>
            <a:ext cx="14630400" cy="8230553"/>
          </a:xfrm>
          <a:prstGeom prst="rect">
            <a:avLst/>
          </a:prstGeom>
          <a:solidFill>
            <a:srgbClr val="F2EBDF"/>
          </a:solidFill>
          <a:ln/>
        </p:spPr>
        <p:txBody>
          <a:bodyPr/>
          <a:lstStyle/>
          <a:p>
            <a:endParaRPr lang="en-US"/>
          </a:p>
        </p:txBody>
      </p:sp>
      <p:sp>
        <p:nvSpPr>
          <p:cNvPr id="4" name="Text 2"/>
          <p:cNvSpPr/>
          <p:nvPr/>
        </p:nvSpPr>
        <p:spPr>
          <a:xfrm>
            <a:off x="2557820" y="550783"/>
            <a:ext cx="5007769" cy="625912"/>
          </a:xfrm>
          <a:prstGeom prst="rect">
            <a:avLst/>
          </a:prstGeom>
          <a:noFill/>
          <a:ln/>
        </p:spPr>
        <p:txBody>
          <a:bodyPr wrap="none" rtlCol="0" anchor="t"/>
          <a:lstStyle/>
          <a:p>
            <a:pPr marL="0" indent="0">
              <a:lnSpc>
                <a:spcPts val="4929"/>
              </a:lnSpc>
              <a:buNone/>
            </a:pPr>
            <a:r>
              <a:rPr lang="en-US" sz="3943" b="1" dirty="0">
                <a:solidFill>
                  <a:srgbClr val="484237"/>
                </a:solidFill>
                <a:latin typeface="Gelasio" pitchFamily="34" charset="0"/>
                <a:ea typeface="Gelasio" pitchFamily="34" charset="-122"/>
                <a:cs typeface="Gelasio" pitchFamily="34" charset="-120"/>
              </a:rPr>
              <a:t>Types of Transistors</a:t>
            </a:r>
            <a:endParaRPr lang="en-US" sz="3943" dirty="0"/>
          </a:p>
        </p:txBody>
      </p:sp>
      <p:sp>
        <p:nvSpPr>
          <p:cNvPr id="5" name="Text 3"/>
          <p:cNvSpPr/>
          <p:nvPr/>
        </p:nvSpPr>
        <p:spPr>
          <a:xfrm>
            <a:off x="2557820" y="1577221"/>
            <a:ext cx="9514761" cy="320397"/>
          </a:xfrm>
          <a:prstGeom prst="rect">
            <a:avLst/>
          </a:prstGeom>
          <a:noFill/>
          <a:ln/>
        </p:spPr>
        <p:txBody>
          <a:bodyPr wrap="none" rtlCol="0" anchor="t"/>
          <a:lstStyle/>
          <a:p>
            <a:pPr marL="0" indent="0">
              <a:lnSpc>
                <a:spcPts val="2524"/>
              </a:lnSpc>
              <a:buNone/>
            </a:pPr>
            <a:r>
              <a:rPr lang="en-US" sz="1577" dirty="0">
                <a:solidFill>
                  <a:srgbClr val="000000"/>
                </a:solidFill>
                <a:latin typeface="Gelasio" pitchFamily="34" charset="0"/>
                <a:ea typeface="Gelasio" pitchFamily="34" charset="-122"/>
                <a:cs typeface="Gelasio" pitchFamily="34" charset="-120"/>
              </a:rPr>
              <a:t>BJTs and FETs are types of transistors:</a:t>
            </a:r>
            <a:endParaRPr lang="en-US" sz="1577" dirty="0"/>
          </a:p>
        </p:txBody>
      </p:sp>
      <p:sp>
        <p:nvSpPr>
          <p:cNvPr id="6" name="Text 4"/>
          <p:cNvSpPr/>
          <p:nvPr/>
        </p:nvSpPr>
        <p:spPr>
          <a:xfrm>
            <a:off x="2557820" y="2198013"/>
            <a:ext cx="5184815" cy="375642"/>
          </a:xfrm>
          <a:prstGeom prst="rect">
            <a:avLst/>
          </a:prstGeom>
          <a:noFill/>
          <a:ln/>
        </p:spPr>
        <p:txBody>
          <a:bodyPr wrap="none" rtlCol="0" anchor="t"/>
          <a:lstStyle/>
          <a:p>
            <a:pPr marL="0" indent="0">
              <a:lnSpc>
                <a:spcPts val="2957"/>
              </a:lnSpc>
              <a:buNone/>
            </a:pPr>
            <a:r>
              <a:rPr lang="en-US" sz="2366" b="1" u="sng" dirty="0">
                <a:solidFill>
                  <a:srgbClr val="4D4D4D"/>
                </a:solidFill>
                <a:latin typeface="Gelasio" pitchFamily="34" charset="0"/>
                <a:ea typeface="Gelasio" pitchFamily="34" charset="-122"/>
                <a:cs typeface="Gelasio" pitchFamily="34" charset="-120"/>
              </a:rPr>
              <a:t>BJTs</a:t>
            </a:r>
            <a:r>
              <a:rPr lang="en-US" sz="2366" b="1" dirty="0">
                <a:solidFill>
                  <a:srgbClr val="484237"/>
                </a:solidFill>
                <a:latin typeface="Gelasio" pitchFamily="34" charset="0"/>
                <a:ea typeface="Gelasio" pitchFamily="34" charset="-122"/>
                <a:cs typeface="Gelasio" pitchFamily="34" charset="-120"/>
              </a:rPr>
              <a:t> (Bipolar Junction Transistor)</a:t>
            </a:r>
            <a:endParaRPr lang="en-US" sz="2366" dirty="0"/>
          </a:p>
        </p:txBody>
      </p:sp>
      <p:sp>
        <p:nvSpPr>
          <p:cNvPr id="7" name="Text 5"/>
          <p:cNvSpPr/>
          <p:nvPr/>
        </p:nvSpPr>
        <p:spPr>
          <a:xfrm>
            <a:off x="2878098" y="2874050"/>
            <a:ext cx="9194483" cy="320397"/>
          </a:xfrm>
          <a:prstGeom prst="rect">
            <a:avLst/>
          </a:prstGeom>
          <a:noFill/>
          <a:ln/>
        </p:spPr>
        <p:txBody>
          <a:bodyPr wrap="none" rtlCol="0" anchor="t"/>
          <a:lstStyle/>
          <a:p>
            <a:pPr marL="342900" indent="-342900" algn="l">
              <a:lnSpc>
                <a:spcPts val="2524"/>
              </a:lnSpc>
              <a:buSzPct val="100000"/>
              <a:buChar char="•"/>
            </a:pPr>
            <a:r>
              <a:rPr lang="en-US" sz="1577" dirty="0">
                <a:solidFill>
                  <a:srgbClr val="000000"/>
                </a:solidFill>
                <a:latin typeface="Gelasio" pitchFamily="34" charset="0"/>
                <a:ea typeface="Gelasio" pitchFamily="34" charset="-122"/>
                <a:cs typeface="Gelasio" pitchFamily="34" charset="-120"/>
              </a:rPr>
              <a:t>Use both electrons and holes.</a:t>
            </a:r>
            <a:endParaRPr lang="en-US" sz="1577" dirty="0"/>
          </a:p>
        </p:txBody>
      </p:sp>
      <p:sp>
        <p:nvSpPr>
          <p:cNvPr id="8" name="Text 6"/>
          <p:cNvSpPr/>
          <p:nvPr/>
        </p:nvSpPr>
        <p:spPr>
          <a:xfrm>
            <a:off x="2878098" y="3274457"/>
            <a:ext cx="9194483" cy="320397"/>
          </a:xfrm>
          <a:prstGeom prst="rect">
            <a:avLst/>
          </a:prstGeom>
          <a:noFill/>
          <a:ln/>
        </p:spPr>
        <p:txBody>
          <a:bodyPr wrap="none" rtlCol="0" anchor="t"/>
          <a:lstStyle/>
          <a:p>
            <a:pPr marL="342900" indent="-342900" algn="l">
              <a:lnSpc>
                <a:spcPts val="2524"/>
              </a:lnSpc>
              <a:buSzPct val="100000"/>
              <a:buChar char="•"/>
            </a:pPr>
            <a:r>
              <a:rPr lang="en-US" sz="1577" dirty="0">
                <a:solidFill>
                  <a:srgbClr val="000000"/>
                </a:solidFill>
                <a:latin typeface="Gelasio" pitchFamily="34" charset="0"/>
                <a:ea typeface="Gelasio" pitchFamily="34" charset="-122"/>
                <a:cs typeface="Gelasio" pitchFamily="34" charset="-120"/>
              </a:rPr>
              <a:t>NPN: Electrons flow from emitter to collector with base current.</a:t>
            </a:r>
            <a:endParaRPr lang="en-US" sz="1577" dirty="0"/>
          </a:p>
        </p:txBody>
      </p:sp>
      <p:sp>
        <p:nvSpPr>
          <p:cNvPr id="9" name="Text 7"/>
          <p:cNvSpPr/>
          <p:nvPr/>
        </p:nvSpPr>
        <p:spPr>
          <a:xfrm>
            <a:off x="2878098" y="3674864"/>
            <a:ext cx="9194483" cy="320397"/>
          </a:xfrm>
          <a:prstGeom prst="rect">
            <a:avLst/>
          </a:prstGeom>
          <a:noFill/>
          <a:ln/>
        </p:spPr>
        <p:txBody>
          <a:bodyPr wrap="none" rtlCol="0" anchor="t"/>
          <a:lstStyle/>
          <a:p>
            <a:pPr marL="342900" indent="-342900" algn="l">
              <a:lnSpc>
                <a:spcPts val="2524"/>
              </a:lnSpc>
              <a:buSzPct val="100000"/>
              <a:buChar char="•"/>
            </a:pPr>
            <a:r>
              <a:rPr lang="en-US" sz="1577" dirty="0">
                <a:solidFill>
                  <a:srgbClr val="000000"/>
                </a:solidFill>
                <a:latin typeface="Gelasio" pitchFamily="34" charset="0"/>
                <a:ea typeface="Gelasio" pitchFamily="34" charset="-122"/>
                <a:cs typeface="Gelasio" pitchFamily="34" charset="-120"/>
              </a:rPr>
              <a:t>PNP: Holes flow from emitter to collector with base current.</a:t>
            </a:r>
            <a:endParaRPr lang="en-US" sz="1577" dirty="0"/>
          </a:p>
        </p:txBody>
      </p:sp>
      <p:sp>
        <p:nvSpPr>
          <p:cNvPr id="10" name="Text 8"/>
          <p:cNvSpPr/>
          <p:nvPr/>
        </p:nvSpPr>
        <p:spPr>
          <a:xfrm>
            <a:off x="2557820" y="4220528"/>
            <a:ext cx="9514761" cy="320397"/>
          </a:xfrm>
          <a:prstGeom prst="rect">
            <a:avLst/>
          </a:prstGeom>
          <a:noFill/>
          <a:ln/>
        </p:spPr>
        <p:txBody>
          <a:bodyPr wrap="none" rtlCol="0" anchor="t"/>
          <a:lstStyle/>
          <a:p>
            <a:pPr marL="0" indent="0">
              <a:lnSpc>
                <a:spcPts val="2524"/>
              </a:lnSpc>
              <a:buNone/>
            </a:pPr>
            <a:endParaRPr lang="en-US" sz="1577" dirty="0"/>
          </a:p>
        </p:txBody>
      </p:sp>
      <p:sp>
        <p:nvSpPr>
          <p:cNvPr id="11" name="Text 9"/>
          <p:cNvSpPr/>
          <p:nvPr/>
        </p:nvSpPr>
        <p:spPr>
          <a:xfrm>
            <a:off x="2557820" y="4841319"/>
            <a:ext cx="4547354" cy="375642"/>
          </a:xfrm>
          <a:prstGeom prst="rect">
            <a:avLst/>
          </a:prstGeom>
          <a:noFill/>
          <a:ln/>
        </p:spPr>
        <p:txBody>
          <a:bodyPr wrap="none" rtlCol="0" anchor="t"/>
          <a:lstStyle/>
          <a:p>
            <a:pPr marL="0" indent="0">
              <a:lnSpc>
                <a:spcPts val="2957"/>
              </a:lnSpc>
              <a:buNone/>
            </a:pPr>
            <a:r>
              <a:rPr lang="en-US" sz="2366" b="1" u="sng" dirty="0">
                <a:solidFill>
                  <a:srgbClr val="000000"/>
                </a:solidFill>
                <a:latin typeface="Gelasio" pitchFamily="34" charset="0"/>
                <a:ea typeface="Gelasio" pitchFamily="34" charset="-122"/>
                <a:cs typeface="Gelasio" pitchFamily="34" charset="-120"/>
              </a:rPr>
              <a:t>FETs</a:t>
            </a:r>
            <a:r>
              <a:rPr lang="en-US" sz="2366" b="1" dirty="0">
                <a:solidFill>
                  <a:srgbClr val="484237"/>
                </a:solidFill>
                <a:latin typeface="Gelasio" pitchFamily="34" charset="0"/>
                <a:ea typeface="Gelasio" pitchFamily="34" charset="-122"/>
                <a:cs typeface="Gelasio" pitchFamily="34" charset="-120"/>
              </a:rPr>
              <a:t> ( Field Effect Transistor) </a:t>
            </a:r>
            <a:endParaRPr lang="en-US" sz="2366" dirty="0"/>
          </a:p>
        </p:txBody>
      </p:sp>
      <p:sp>
        <p:nvSpPr>
          <p:cNvPr id="12" name="Text 10"/>
          <p:cNvSpPr/>
          <p:nvPr/>
        </p:nvSpPr>
        <p:spPr>
          <a:xfrm>
            <a:off x="2878098" y="5517356"/>
            <a:ext cx="9194483" cy="320397"/>
          </a:xfrm>
          <a:prstGeom prst="rect">
            <a:avLst/>
          </a:prstGeom>
          <a:noFill/>
          <a:ln/>
        </p:spPr>
        <p:txBody>
          <a:bodyPr wrap="none" rtlCol="0" anchor="t"/>
          <a:lstStyle/>
          <a:p>
            <a:pPr marL="342900" indent="-342900" algn="l">
              <a:lnSpc>
                <a:spcPts val="2524"/>
              </a:lnSpc>
              <a:buSzPct val="100000"/>
              <a:buChar char="•"/>
            </a:pPr>
            <a:r>
              <a:rPr lang="en-US" sz="1577" dirty="0">
                <a:solidFill>
                  <a:srgbClr val="000000"/>
                </a:solidFill>
                <a:latin typeface="Gelasio" pitchFamily="34" charset="0"/>
                <a:ea typeface="Gelasio" pitchFamily="34" charset="-122"/>
                <a:cs typeface="Gelasio" pitchFamily="34" charset="-120"/>
              </a:rPr>
              <a:t>Control current using an electric field.</a:t>
            </a:r>
            <a:endParaRPr lang="en-US" sz="1577" dirty="0"/>
          </a:p>
        </p:txBody>
      </p:sp>
      <p:sp>
        <p:nvSpPr>
          <p:cNvPr id="13" name="Text 11"/>
          <p:cNvSpPr/>
          <p:nvPr/>
        </p:nvSpPr>
        <p:spPr>
          <a:xfrm>
            <a:off x="2878098" y="5917763"/>
            <a:ext cx="9194483" cy="320397"/>
          </a:xfrm>
          <a:prstGeom prst="rect">
            <a:avLst/>
          </a:prstGeom>
          <a:noFill/>
          <a:ln/>
        </p:spPr>
        <p:txBody>
          <a:bodyPr wrap="none" rtlCol="0" anchor="t"/>
          <a:lstStyle/>
          <a:p>
            <a:pPr marL="342900" indent="-342900" algn="l">
              <a:lnSpc>
                <a:spcPts val="2524"/>
              </a:lnSpc>
              <a:buSzPct val="100000"/>
              <a:buChar char="•"/>
            </a:pPr>
            <a:r>
              <a:rPr lang="en-US" sz="1577" dirty="0">
                <a:solidFill>
                  <a:srgbClr val="000000"/>
                </a:solidFill>
                <a:latin typeface="Gelasio" pitchFamily="34" charset="0"/>
                <a:ea typeface="Gelasio" pitchFamily="34" charset="-122"/>
                <a:cs typeface="Gelasio" pitchFamily="34" charset="-120"/>
              </a:rPr>
              <a:t>There are two types of FETS </a:t>
            </a:r>
            <a:endParaRPr lang="en-US" sz="1577" dirty="0"/>
          </a:p>
        </p:txBody>
      </p:sp>
      <p:sp>
        <p:nvSpPr>
          <p:cNvPr id="14" name="Text 12"/>
          <p:cNvSpPr/>
          <p:nvPr/>
        </p:nvSpPr>
        <p:spPr>
          <a:xfrm>
            <a:off x="2878098" y="6318171"/>
            <a:ext cx="9194483" cy="640794"/>
          </a:xfrm>
          <a:prstGeom prst="rect">
            <a:avLst/>
          </a:prstGeom>
          <a:noFill/>
          <a:ln/>
        </p:spPr>
        <p:txBody>
          <a:bodyPr wrap="square" rtlCol="0" anchor="t"/>
          <a:lstStyle/>
          <a:p>
            <a:pPr marL="342900" indent="-342900" algn="l">
              <a:lnSpc>
                <a:spcPts val="2524"/>
              </a:lnSpc>
              <a:buSzPct val="100000"/>
              <a:buChar char="•"/>
            </a:pPr>
            <a:r>
              <a:rPr lang="en-US" sz="1577" u="sng" dirty="0">
                <a:solidFill>
                  <a:srgbClr val="000000"/>
                </a:solidFill>
                <a:latin typeface="Gelasio" pitchFamily="34" charset="0"/>
                <a:ea typeface="Gelasio" pitchFamily="34" charset="-122"/>
                <a:cs typeface="Gelasio" pitchFamily="34" charset="-120"/>
              </a:rPr>
              <a:t>MOSFET (Metal Oxide Semiconductor Field Effect Transistor) :</a:t>
            </a:r>
            <a:r>
              <a:rPr lang="en-US" sz="1577" dirty="0">
                <a:solidFill>
                  <a:srgbClr val="000000"/>
                </a:solidFill>
                <a:latin typeface="Gelasio" pitchFamily="34" charset="0"/>
                <a:ea typeface="Gelasio" pitchFamily="34" charset="-122"/>
                <a:cs typeface="Gelasio" pitchFamily="34" charset="-120"/>
              </a:rPr>
              <a:t> Uses gate voltage to control conductivity.</a:t>
            </a:r>
            <a:endParaRPr lang="en-US" sz="1577" dirty="0"/>
          </a:p>
        </p:txBody>
      </p:sp>
      <p:sp>
        <p:nvSpPr>
          <p:cNvPr id="15" name="Text 13"/>
          <p:cNvSpPr/>
          <p:nvPr/>
        </p:nvSpPr>
        <p:spPr>
          <a:xfrm>
            <a:off x="2878098" y="7038975"/>
            <a:ext cx="9194483" cy="640794"/>
          </a:xfrm>
          <a:prstGeom prst="rect">
            <a:avLst/>
          </a:prstGeom>
          <a:noFill/>
          <a:ln/>
        </p:spPr>
        <p:txBody>
          <a:bodyPr wrap="square" rtlCol="0" anchor="t"/>
          <a:lstStyle/>
          <a:p>
            <a:pPr marL="342900" indent="-342900" algn="l">
              <a:lnSpc>
                <a:spcPts val="2524"/>
              </a:lnSpc>
              <a:buSzPct val="100000"/>
              <a:buChar char="•"/>
            </a:pPr>
            <a:r>
              <a:rPr lang="en-US" sz="1577" dirty="0">
                <a:solidFill>
                  <a:srgbClr val="000000"/>
                </a:solidFill>
                <a:latin typeface="Gelasio" pitchFamily="34" charset="0"/>
                <a:ea typeface="Gelasio" pitchFamily="34" charset="-122"/>
                <a:cs typeface="Gelasio" pitchFamily="34" charset="-120"/>
              </a:rPr>
              <a:t>JFET(</a:t>
            </a:r>
            <a:r>
              <a:rPr lang="en-US" sz="1577" u="sng" dirty="0">
                <a:solidFill>
                  <a:srgbClr val="000000"/>
                </a:solidFill>
                <a:latin typeface="Gelasio" pitchFamily="34" charset="0"/>
                <a:ea typeface="Gelasio" pitchFamily="34" charset="-122"/>
                <a:cs typeface="Gelasio" pitchFamily="34" charset="-120"/>
              </a:rPr>
              <a:t>Junction Field Effect Transistor)</a:t>
            </a:r>
            <a:r>
              <a:rPr lang="en-US" sz="1577" dirty="0">
                <a:solidFill>
                  <a:srgbClr val="000000"/>
                </a:solidFill>
                <a:latin typeface="Gelasio" pitchFamily="34" charset="0"/>
                <a:ea typeface="Gelasio" pitchFamily="34" charset="-122"/>
                <a:cs typeface="Gelasio" pitchFamily="34" charset="-120"/>
              </a:rPr>
              <a:t>: Controls current flow along the channel with a semiconductor junction.</a:t>
            </a:r>
            <a:endParaRPr lang="en-US" sz="1577"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txBody>
          <a:bodyPr/>
          <a:lstStyle/>
          <a:p>
            <a:endParaRPr lang="en-US"/>
          </a:p>
        </p:txBody>
      </p:sp>
      <p:sp>
        <p:nvSpPr>
          <p:cNvPr id="3" name="Shape 1"/>
          <p:cNvSpPr/>
          <p:nvPr/>
        </p:nvSpPr>
        <p:spPr>
          <a:xfrm>
            <a:off x="0" y="0"/>
            <a:ext cx="14630400" cy="8229600"/>
          </a:xfrm>
          <a:prstGeom prst="rect">
            <a:avLst/>
          </a:prstGeom>
          <a:solidFill>
            <a:srgbClr val="F2EBDF"/>
          </a:solidFill>
          <a:ln/>
        </p:spPr>
        <p:txBody>
          <a:bodyPr/>
          <a:lstStyle/>
          <a:p>
            <a:endParaRPr lang="en-US"/>
          </a:p>
        </p:txBody>
      </p:sp>
      <p:sp>
        <p:nvSpPr>
          <p:cNvPr id="4" name="Text 2"/>
          <p:cNvSpPr/>
          <p:nvPr/>
        </p:nvSpPr>
        <p:spPr>
          <a:xfrm>
            <a:off x="2037993" y="1468517"/>
            <a:ext cx="8352115" cy="694373"/>
          </a:xfrm>
          <a:prstGeom prst="rect">
            <a:avLst/>
          </a:prstGeom>
          <a:noFill/>
          <a:ln/>
        </p:spPr>
        <p:txBody>
          <a:bodyPr wrap="none" rtlCol="0" anchor="t"/>
          <a:lstStyle/>
          <a:p>
            <a:pPr marL="0" indent="0">
              <a:lnSpc>
                <a:spcPts val="5468"/>
              </a:lnSpc>
              <a:buNone/>
            </a:pPr>
            <a:r>
              <a:rPr lang="en-US" sz="4374" b="1" dirty="0">
                <a:solidFill>
                  <a:srgbClr val="484237"/>
                </a:solidFill>
                <a:latin typeface="Gelasio" pitchFamily="34" charset="0"/>
                <a:ea typeface="Gelasio" pitchFamily="34" charset="-122"/>
                <a:cs typeface="Gelasio" pitchFamily="34" charset="-120"/>
              </a:rPr>
              <a:t>Basic Structure of a Transistor</a:t>
            </a:r>
            <a:endParaRPr lang="en-US" sz="4374" dirty="0"/>
          </a:p>
        </p:txBody>
      </p:sp>
      <p:sp>
        <p:nvSpPr>
          <p:cNvPr id="5" name="Text 3"/>
          <p:cNvSpPr/>
          <p:nvPr/>
        </p:nvSpPr>
        <p:spPr>
          <a:xfrm>
            <a:off x="2037993" y="2607231"/>
            <a:ext cx="10554414" cy="710803"/>
          </a:xfrm>
          <a:prstGeom prst="rect">
            <a:avLst/>
          </a:prstGeom>
          <a:noFill/>
          <a:ln/>
        </p:spPr>
        <p:txBody>
          <a:bodyPr wrap="square" rtlCol="0" anchor="t"/>
          <a:lstStyle/>
          <a:p>
            <a:pPr marL="0" indent="0">
              <a:lnSpc>
                <a:spcPts val="2799"/>
              </a:lnSpc>
              <a:buNone/>
            </a:pPr>
            <a:r>
              <a:rPr lang="en-US" sz="1750" b="1" dirty="0">
                <a:solidFill>
                  <a:srgbClr val="000000"/>
                </a:solidFill>
                <a:latin typeface="Gelasio" pitchFamily="34" charset="0"/>
                <a:ea typeface="Gelasio" pitchFamily="34" charset="-122"/>
                <a:cs typeface="Gelasio" pitchFamily="34" charset="-120"/>
              </a:rPr>
              <a:t>Imagine a transistor like a sandwich made of three layers of semiconductor material: the Emitter, Base, and Collector.</a:t>
            </a:r>
            <a:endParaRPr lang="en-US" sz="1750" dirty="0"/>
          </a:p>
        </p:txBody>
      </p:sp>
      <p:sp>
        <p:nvSpPr>
          <p:cNvPr id="6" name="Text 4"/>
          <p:cNvSpPr/>
          <p:nvPr/>
        </p:nvSpPr>
        <p:spPr>
          <a:xfrm>
            <a:off x="2037993" y="3790117"/>
            <a:ext cx="3156347" cy="416481"/>
          </a:xfrm>
          <a:prstGeom prst="rect">
            <a:avLst/>
          </a:prstGeom>
          <a:noFill/>
          <a:ln/>
        </p:spPr>
        <p:txBody>
          <a:bodyPr wrap="none" rtlCol="0" anchor="t"/>
          <a:lstStyle/>
          <a:p>
            <a:pPr marL="0" indent="0">
              <a:lnSpc>
                <a:spcPts val="3281"/>
              </a:lnSpc>
              <a:buNone/>
            </a:pPr>
            <a:r>
              <a:rPr lang="en-US" sz="2624" b="1" dirty="0">
                <a:solidFill>
                  <a:srgbClr val="484237"/>
                </a:solidFill>
                <a:latin typeface="Gelasio" pitchFamily="34" charset="0"/>
                <a:ea typeface="Gelasio" pitchFamily="34" charset="-122"/>
                <a:cs typeface="Gelasio" pitchFamily="34" charset="-120"/>
              </a:rPr>
              <a:t> </a:t>
            </a:r>
            <a:r>
              <a:rPr lang="en-US" sz="2624" b="1" dirty="0">
                <a:solidFill>
                  <a:srgbClr val="000000"/>
                </a:solidFill>
                <a:latin typeface="Gelasio" pitchFamily="34" charset="0"/>
                <a:ea typeface="Gelasio" pitchFamily="34" charset="-122"/>
                <a:cs typeface="Gelasio" pitchFamily="34" charset="-120"/>
              </a:rPr>
              <a:t>Emitter</a:t>
            </a:r>
            <a:endParaRPr lang="en-US" sz="2624" dirty="0"/>
          </a:p>
        </p:txBody>
      </p:sp>
      <p:sp>
        <p:nvSpPr>
          <p:cNvPr id="7" name="Text 5"/>
          <p:cNvSpPr/>
          <p:nvPr/>
        </p:nvSpPr>
        <p:spPr>
          <a:xfrm>
            <a:off x="2037993" y="4428768"/>
            <a:ext cx="3156347" cy="1066205"/>
          </a:xfrm>
          <a:prstGeom prst="rect">
            <a:avLst/>
          </a:prstGeom>
          <a:noFill/>
          <a:ln/>
        </p:spPr>
        <p:txBody>
          <a:bodyPr wrap="square" rtlCol="0" anchor="t"/>
          <a:lstStyle/>
          <a:p>
            <a:pPr marL="0" indent="0">
              <a:lnSpc>
                <a:spcPts val="2799"/>
              </a:lnSpc>
              <a:buNone/>
            </a:pPr>
            <a:r>
              <a:rPr lang="en-US" sz="1750" dirty="0">
                <a:solidFill>
                  <a:srgbClr val="000000"/>
                </a:solidFill>
                <a:latin typeface="Gelasio" pitchFamily="34" charset="0"/>
                <a:ea typeface="Gelasio" pitchFamily="34" charset="-122"/>
                <a:cs typeface="Gelasio" pitchFamily="34" charset="-120"/>
              </a:rPr>
              <a:t>layer is like the top slice of bread, heavily packed with impurities and extra electrons</a:t>
            </a:r>
            <a:endParaRPr lang="en-US" sz="1750" dirty="0"/>
          </a:p>
        </p:txBody>
      </p:sp>
      <p:sp>
        <p:nvSpPr>
          <p:cNvPr id="8" name="Text 6"/>
          <p:cNvSpPr/>
          <p:nvPr/>
        </p:nvSpPr>
        <p:spPr>
          <a:xfrm>
            <a:off x="5743932" y="3790117"/>
            <a:ext cx="3156347" cy="416481"/>
          </a:xfrm>
          <a:prstGeom prst="rect">
            <a:avLst/>
          </a:prstGeom>
          <a:noFill/>
          <a:ln/>
        </p:spPr>
        <p:txBody>
          <a:bodyPr wrap="none" rtlCol="0" anchor="t"/>
          <a:lstStyle/>
          <a:p>
            <a:pPr marL="0" indent="0">
              <a:lnSpc>
                <a:spcPts val="3281"/>
              </a:lnSpc>
              <a:buNone/>
            </a:pPr>
            <a:r>
              <a:rPr lang="en-US" sz="2624" b="1" dirty="0">
                <a:solidFill>
                  <a:srgbClr val="000000"/>
                </a:solidFill>
                <a:latin typeface="Gelasio" pitchFamily="34" charset="0"/>
                <a:ea typeface="Gelasio" pitchFamily="34" charset="-122"/>
                <a:cs typeface="Gelasio" pitchFamily="34" charset="-120"/>
              </a:rPr>
              <a:t>Base </a:t>
            </a:r>
            <a:endParaRPr lang="en-US" sz="2624" dirty="0"/>
          </a:p>
        </p:txBody>
      </p:sp>
      <p:sp>
        <p:nvSpPr>
          <p:cNvPr id="9" name="Text 7"/>
          <p:cNvSpPr/>
          <p:nvPr/>
        </p:nvSpPr>
        <p:spPr>
          <a:xfrm>
            <a:off x="5743932" y="4428768"/>
            <a:ext cx="3156347" cy="1777008"/>
          </a:xfrm>
          <a:prstGeom prst="rect">
            <a:avLst/>
          </a:prstGeom>
          <a:noFill/>
          <a:ln/>
        </p:spPr>
        <p:txBody>
          <a:bodyPr wrap="square" rtlCol="0" anchor="t"/>
          <a:lstStyle/>
          <a:p>
            <a:pPr marL="0" indent="0">
              <a:lnSpc>
                <a:spcPts val="2799"/>
              </a:lnSpc>
              <a:buNone/>
            </a:pPr>
            <a:r>
              <a:rPr lang="en-US" sz="1750" dirty="0">
                <a:solidFill>
                  <a:srgbClr val="000000"/>
                </a:solidFill>
                <a:latin typeface="Gelasio" pitchFamily="34" charset="0"/>
                <a:ea typeface="Gelasio" pitchFamily="34" charset="-122"/>
                <a:cs typeface="Gelasio" pitchFamily="34" charset="-120"/>
              </a:rPr>
              <a:t>layer is like the filling in the middle, lightly doped, and controls the flow of electrons between the Emitter and Collector.</a:t>
            </a:r>
            <a:endParaRPr lang="en-US" sz="1750" dirty="0"/>
          </a:p>
        </p:txBody>
      </p:sp>
      <p:sp>
        <p:nvSpPr>
          <p:cNvPr id="10" name="Text 8"/>
          <p:cNvSpPr/>
          <p:nvPr/>
        </p:nvSpPr>
        <p:spPr>
          <a:xfrm>
            <a:off x="9449872" y="3790117"/>
            <a:ext cx="3156347" cy="416481"/>
          </a:xfrm>
          <a:prstGeom prst="rect">
            <a:avLst/>
          </a:prstGeom>
          <a:noFill/>
          <a:ln/>
        </p:spPr>
        <p:txBody>
          <a:bodyPr wrap="none" rtlCol="0" anchor="t"/>
          <a:lstStyle/>
          <a:p>
            <a:pPr marL="0" indent="0">
              <a:lnSpc>
                <a:spcPts val="3281"/>
              </a:lnSpc>
              <a:buNone/>
            </a:pPr>
            <a:r>
              <a:rPr lang="en-US" sz="2624" b="1" dirty="0">
                <a:solidFill>
                  <a:srgbClr val="000000"/>
                </a:solidFill>
                <a:latin typeface="Gelasio" pitchFamily="34" charset="0"/>
                <a:ea typeface="Gelasio" pitchFamily="34" charset="-122"/>
                <a:cs typeface="Gelasio" pitchFamily="34" charset="-120"/>
              </a:rPr>
              <a:t>Collector</a:t>
            </a:r>
            <a:endParaRPr lang="en-US" sz="2624" dirty="0"/>
          </a:p>
        </p:txBody>
      </p:sp>
      <p:sp>
        <p:nvSpPr>
          <p:cNvPr id="11" name="Text 9"/>
          <p:cNvSpPr/>
          <p:nvPr/>
        </p:nvSpPr>
        <p:spPr>
          <a:xfrm>
            <a:off x="9449872" y="4428768"/>
            <a:ext cx="3156347" cy="2132409"/>
          </a:xfrm>
          <a:prstGeom prst="rect">
            <a:avLst/>
          </a:prstGeom>
          <a:noFill/>
          <a:ln/>
        </p:spPr>
        <p:txBody>
          <a:bodyPr wrap="square" rtlCol="0" anchor="t"/>
          <a:lstStyle/>
          <a:p>
            <a:pPr marL="0" indent="0">
              <a:lnSpc>
                <a:spcPts val="2799"/>
              </a:lnSpc>
              <a:buNone/>
            </a:pPr>
            <a:r>
              <a:rPr lang="en-US" sz="1750" dirty="0">
                <a:solidFill>
                  <a:srgbClr val="000000"/>
                </a:solidFill>
                <a:latin typeface="Gelasio" pitchFamily="34" charset="0"/>
                <a:ea typeface="Gelasio" pitchFamily="34" charset="-122"/>
                <a:cs typeface="Gelasio" pitchFamily="34" charset="-120"/>
              </a:rPr>
              <a:t>layer is like the bottom slice of bread, also doped with impurities but not as much as the Emitter. It collects the majority of electrons from the Emitter.</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txBody>
          <a:bodyPr/>
          <a:lstStyle/>
          <a:p>
            <a:endParaRPr lang="en-US"/>
          </a:p>
        </p:txBody>
      </p:sp>
      <p:sp>
        <p:nvSpPr>
          <p:cNvPr id="3" name="Shape 1"/>
          <p:cNvSpPr/>
          <p:nvPr/>
        </p:nvSpPr>
        <p:spPr>
          <a:xfrm>
            <a:off x="0" y="0"/>
            <a:ext cx="14630400" cy="8229600"/>
          </a:xfrm>
          <a:prstGeom prst="rect">
            <a:avLst/>
          </a:prstGeom>
          <a:solidFill>
            <a:srgbClr val="F2EBDF"/>
          </a:solidFill>
          <a:ln/>
        </p:spPr>
        <p:txBody>
          <a:bodyPr/>
          <a:lstStyle/>
          <a:p>
            <a:endParaRPr lang="en-US"/>
          </a:p>
        </p:txBody>
      </p:sp>
      <p:sp>
        <p:nvSpPr>
          <p:cNvPr id="4" name="Text 2"/>
          <p:cNvSpPr/>
          <p:nvPr/>
        </p:nvSpPr>
        <p:spPr>
          <a:xfrm>
            <a:off x="2037993" y="1340882"/>
            <a:ext cx="7014448" cy="694373"/>
          </a:xfrm>
          <a:prstGeom prst="rect">
            <a:avLst/>
          </a:prstGeom>
          <a:noFill/>
          <a:ln/>
        </p:spPr>
        <p:txBody>
          <a:bodyPr wrap="none" rtlCol="0" anchor="t"/>
          <a:lstStyle/>
          <a:p>
            <a:pPr marL="0" indent="0">
              <a:lnSpc>
                <a:spcPts val="5468"/>
              </a:lnSpc>
              <a:buNone/>
            </a:pPr>
            <a:r>
              <a:rPr lang="en-US" sz="4374" b="1" dirty="0">
                <a:solidFill>
                  <a:srgbClr val="484237"/>
                </a:solidFill>
                <a:latin typeface="Gelasio" pitchFamily="34" charset="0"/>
                <a:ea typeface="Gelasio" pitchFamily="34" charset="-122"/>
                <a:cs typeface="Gelasio" pitchFamily="34" charset="-120"/>
              </a:rPr>
              <a:t>Operations of Transistors</a:t>
            </a:r>
            <a:endParaRPr lang="en-US" sz="4374" dirty="0"/>
          </a:p>
        </p:txBody>
      </p:sp>
      <p:sp>
        <p:nvSpPr>
          <p:cNvPr id="5" name="Text 3"/>
          <p:cNvSpPr/>
          <p:nvPr/>
        </p:nvSpPr>
        <p:spPr>
          <a:xfrm>
            <a:off x="2037993" y="2479596"/>
            <a:ext cx="10554414" cy="355402"/>
          </a:xfrm>
          <a:prstGeom prst="rect">
            <a:avLst/>
          </a:prstGeom>
          <a:noFill/>
          <a:ln/>
        </p:spPr>
        <p:txBody>
          <a:bodyPr wrap="none" rtlCol="0" anchor="t"/>
          <a:lstStyle/>
          <a:p>
            <a:pPr marL="0" indent="0">
              <a:lnSpc>
                <a:spcPts val="2799"/>
              </a:lnSpc>
              <a:buNone/>
            </a:pPr>
            <a:r>
              <a:rPr lang="en-US" sz="1750" b="1" dirty="0">
                <a:solidFill>
                  <a:srgbClr val="000000"/>
                </a:solidFill>
                <a:latin typeface="Gelasio" pitchFamily="34" charset="0"/>
                <a:ea typeface="Gelasio" pitchFamily="34" charset="-122"/>
                <a:cs typeface="Gelasio" pitchFamily="34" charset="-120"/>
              </a:rPr>
              <a:t>Transistors are like tiny switches for electricity. They have three parts:</a:t>
            </a:r>
            <a:endParaRPr lang="en-US" sz="1750" dirty="0"/>
          </a:p>
        </p:txBody>
      </p:sp>
      <p:sp>
        <p:nvSpPr>
          <p:cNvPr id="6" name="Text 4"/>
          <p:cNvSpPr/>
          <p:nvPr/>
        </p:nvSpPr>
        <p:spPr>
          <a:xfrm>
            <a:off x="2393394" y="3084909"/>
            <a:ext cx="10199013" cy="355402"/>
          </a:xfrm>
          <a:prstGeom prst="rect">
            <a:avLst/>
          </a:prstGeom>
          <a:noFill/>
          <a:ln/>
        </p:spPr>
        <p:txBody>
          <a:bodyPr wrap="none" rtlCol="0" anchor="t"/>
          <a:lstStyle/>
          <a:p>
            <a:pPr marL="342900" indent="-342900" algn="l">
              <a:lnSpc>
                <a:spcPts val="2799"/>
              </a:lnSpc>
              <a:buSzPct val="100000"/>
              <a:buFont typeface="+mj-lt"/>
              <a:buAutoNum type="arabicPeriod"/>
            </a:pPr>
            <a:r>
              <a:rPr lang="en-US" sz="1750" dirty="0">
                <a:solidFill>
                  <a:srgbClr val="000000"/>
                </a:solidFill>
                <a:latin typeface="Gelasio" pitchFamily="34" charset="0"/>
                <a:ea typeface="Gelasio" pitchFamily="34" charset="-122"/>
                <a:cs typeface="Gelasio" pitchFamily="34" charset="-120"/>
              </a:rPr>
              <a:t>Emitter: Where electricity starts.</a:t>
            </a:r>
            <a:endParaRPr lang="en-US" sz="1750" dirty="0"/>
          </a:p>
        </p:txBody>
      </p:sp>
      <p:sp>
        <p:nvSpPr>
          <p:cNvPr id="7" name="Text 5"/>
          <p:cNvSpPr/>
          <p:nvPr/>
        </p:nvSpPr>
        <p:spPr>
          <a:xfrm>
            <a:off x="2393394" y="3529132"/>
            <a:ext cx="10199013" cy="355402"/>
          </a:xfrm>
          <a:prstGeom prst="rect">
            <a:avLst/>
          </a:prstGeom>
          <a:noFill/>
          <a:ln/>
        </p:spPr>
        <p:txBody>
          <a:bodyPr wrap="none" rtlCol="0" anchor="t"/>
          <a:lstStyle/>
          <a:p>
            <a:pPr marL="342900" indent="-342900" algn="l">
              <a:lnSpc>
                <a:spcPts val="2799"/>
              </a:lnSpc>
              <a:buSzPct val="100000"/>
              <a:buFont typeface="+mj-lt"/>
              <a:buAutoNum type="arabicPeriod" startAt="2"/>
            </a:pPr>
            <a:r>
              <a:rPr lang="en-US" sz="1750" dirty="0">
                <a:solidFill>
                  <a:srgbClr val="000000"/>
                </a:solidFill>
                <a:latin typeface="Gelasio" pitchFamily="34" charset="0"/>
                <a:ea typeface="Gelasio" pitchFamily="34" charset="-122"/>
                <a:cs typeface="Gelasio" pitchFamily="34" charset="-120"/>
              </a:rPr>
              <a:t>Base: Controls electricity.</a:t>
            </a:r>
            <a:endParaRPr lang="en-US" sz="1750" dirty="0"/>
          </a:p>
        </p:txBody>
      </p:sp>
      <p:sp>
        <p:nvSpPr>
          <p:cNvPr id="8" name="Text 6"/>
          <p:cNvSpPr/>
          <p:nvPr/>
        </p:nvSpPr>
        <p:spPr>
          <a:xfrm>
            <a:off x="2393394" y="3973354"/>
            <a:ext cx="10199013" cy="355402"/>
          </a:xfrm>
          <a:prstGeom prst="rect">
            <a:avLst/>
          </a:prstGeom>
          <a:noFill/>
          <a:ln/>
        </p:spPr>
        <p:txBody>
          <a:bodyPr wrap="none" rtlCol="0" anchor="t"/>
          <a:lstStyle/>
          <a:p>
            <a:pPr marL="342900" indent="-342900" algn="l">
              <a:lnSpc>
                <a:spcPts val="2799"/>
              </a:lnSpc>
              <a:buSzPct val="100000"/>
              <a:buFont typeface="+mj-lt"/>
              <a:buAutoNum type="arabicPeriod" startAt="3"/>
            </a:pPr>
            <a:r>
              <a:rPr lang="en-US" sz="1750" dirty="0">
                <a:solidFill>
                  <a:srgbClr val="000000"/>
                </a:solidFill>
                <a:latin typeface="Gelasio" pitchFamily="34" charset="0"/>
                <a:ea typeface="Gelasio" pitchFamily="34" charset="-122"/>
                <a:cs typeface="Gelasio" pitchFamily="34" charset="-120"/>
              </a:rPr>
              <a:t>Collector: Where electricity ends.</a:t>
            </a:r>
            <a:endParaRPr lang="en-US" sz="1750" dirty="0"/>
          </a:p>
        </p:txBody>
      </p:sp>
      <p:sp>
        <p:nvSpPr>
          <p:cNvPr id="9" name="Text 7"/>
          <p:cNvSpPr/>
          <p:nvPr/>
        </p:nvSpPr>
        <p:spPr>
          <a:xfrm>
            <a:off x="2393394" y="4417576"/>
            <a:ext cx="10199013" cy="710803"/>
          </a:xfrm>
          <a:prstGeom prst="rect">
            <a:avLst/>
          </a:prstGeom>
          <a:noFill/>
          <a:ln/>
        </p:spPr>
        <p:txBody>
          <a:bodyPr wrap="square" rtlCol="0" anchor="t"/>
          <a:lstStyle/>
          <a:p>
            <a:pPr marL="342900" indent="-342900" algn="l">
              <a:lnSpc>
                <a:spcPts val="2799"/>
              </a:lnSpc>
              <a:buSzPct val="100000"/>
              <a:buChar char="•"/>
            </a:pPr>
            <a:r>
              <a:rPr lang="en-US" sz="1750" b="1" dirty="0">
                <a:solidFill>
                  <a:srgbClr val="000000"/>
                </a:solidFill>
                <a:latin typeface="Gelasio" pitchFamily="34" charset="0"/>
                <a:ea typeface="Gelasio" pitchFamily="34" charset="-122"/>
                <a:cs typeface="Gelasio" pitchFamily="34" charset="-120"/>
              </a:rPr>
              <a:t>Bipolar Junction Transistor (BJT):</a:t>
            </a:r>
            <a:r>
              <a:rPr lang="en-US" sz="1750" dirty="0">
                <a:solidFill>
                  <a:srgbClr val="000000"/>
                </a:solidFill>
                <a:latin typeface="Gelasio" pitchFamily="34" charset="0"/>
                <a:ea typeface="Gelasio" pitchFamily="34" charset="-122"/>
                <a:cs typeface="Gelasio" pitchFamily="34" charset="-120"/>
              </a:rPr>
              <a:t> Works like a faucet, controlling electricity. Two types: NPN and PNP, for different charges.</a:t>
            </a:r>
            <a:endParaRPr lang="en-US" sz="1750" dirty="0"/>
          </a:p>
        </p:txBody>
      </p:sp>
      <p:sp>
        <p:nvSpPr>
          <p:cNvPr id="10" name="Text 8"/>
          <p:cNvSpPr/>
          <p:nvPr/>
        </p:nvSpPr>
        <p:spPr>
          <a:xfrm>
            <a:off x="2393394" y="5217200"/>
            <a:ext cx="10199013" cy="710803"/>
          </a:xfrm>
          <a:prstGeom prst="rect">
            <a:avLst/>
          </a:prstGeom>
          <a:noFill/>
          <a:ln/>
        </p:spPr>
        <p:txBody>
          <a:bodyPr wrap="square" rtlCol="0" anchor="t"/>
          <a:lstStyle/>
          <a:p>
            <a:pPr marL="342900" indent="-342900" algn="l">
              <a:lnSpc>
                <a:spcPts val="2799"/>
              </a:lnSpc>
              <a:buSzPct val="100000"/>
              <a:buChar char="•"/>
            </a:pPr>
            <a:r>
              <a:rPr lang="en-US" sz="1750" b="1" dirty="0">
                <a:solidFill>
                  <a:srgbClr val="000000"/>
                </a:solidFill>
                <a:latin typeface="Gelasio" pitchFamily="34" charset="0"/>
                <a:ea typeface="Gelasio" pitchFamily="34" charset="-122"/>
                <a:cs typeface="Gelasio" pitchFamily="34" charset="-120"/>
              </a:rPr>
              <a:t>Field Effect Transistor (FET):</a:t>
            </a:r>
            <a:r>
              <a:rPr lang="en-US" sz="1750" dirty="0">
                <a:solidFill>
                  <a:srgbClr val="000000"/>
                </a:solidFill>
                <a:latin typeface="Gelasio" pitchFamily="34" charset="0"/>
                <a:ea typeface="Gelasio" pitchFamily="34" charset="-122"/>
                <a:cs typeface="Gelasio" pitchFamily="34" charset="-120"/>
              </a:rPr>
              <a:t> Acts as a gate: voltage opens or closes it, letting electricity flow. MOSFETs have a metal gate and insulating layer; JFETs use a semiconductor gate.</a:t>
            </a:r>
            <a:endParaRPr lang="en-US" sz="1750" dirty="0"/>
          </a:p>
        </p:txBody>
      </p:sp>
      <p:sp>
        <p:nvSpPr>
          <p:cNvPr id="11" name="Text 9"/>
          <p:cNvSpPr/>
          <p:nvPr/>
        </p:nvSpPr>
        <p:spPr>
          <a:xfrm>
            <a:off x="2037993" y="6177915"/>
            <a:ext cx="10554414" cy="710803"/>
          </a:xfrm>
          <a:prstGeom prst="rect">
            <a:avLst/>
          </a:prstGeom>
          <a:noFill/>
          <a:ln/>
        </p:spPr>
        <p:txBody>
          <a:bodyPr wrap="square" rtlCol="0" anchor="t"/>
          <a:lstStyle/>
          <a:p>
            <a:pPr marL="0" indent="0">
              <a:lnSpc>
                <a:spcPts val="2799"/>
              </a:lnSpc>
              <a:buNone/>
            </a:pPr>
            <a:r>
              <a:rPr lang="en-US" sz="1750" dirty="0">
                <a:solidFill>
                  <a:srgbClr val="000000"/>
                </a:solidFill>
                <a:latin typeface="Gelasio" pitchFamily="34" charset="0"/>
                <a:ea typeface="Gelasio" pitchFamily="34" charset="-122"/>
                <a:cs typeface="Gelasio" pitchFamily="34" charset="-120"/>
              </a:rPr>
              <a:t>Transistors are super important for controlling electricity in devices like amplifiers, computers, smartphones, and TVs. Without them, our gadgets wouldn't work as well</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txBody>
          <a:bodyPr/>
          <a:lstStyle/>
          <a:p>
            <a:endParaRPr lang="en-US"/>
          </a:p>
        </p:txBody>
      </p:sp>
      <p:sp>
        <p:nvSpPr>
          <p:cNvPr id="3" name="Shape 1"/>
          <p:cNvSpPr/>
          <p:nvPr/>
        </p:nvSpPr>
        <p:spPr>
          <a:xfrm>
            <a:off x="0" y="0"/>
            <a:ext cx="14630400" cy="8229600"/>
          </a:xfrm>
          <a:prstGeom prst="rect">
            <a:avLst/>
          </a:prstGeom>
          <a:solidFill>
            <a:srgbClr val="F2EBDF"/>
          </a:solidFill>
          <a:ln/>
        </p:spPr>
        <p:txBody>
          <a:bodyPr/>
          <a:lstStyle/>
          <a:p>
            <a:endParaRPr lang="en-US"/>
          </a:p>
        </p:txBody>
      </p:sp>
      <p:sp>
        <p:nvSpPr>
          <p:cNvPr id="4" name="Text 2"/>
          <p:cNvSpPr/>
          <p:nvPr/>
        </p:nvSpPr>
        <p:spPr>
          <a:xfrm>
            <a:off x="2037993" y="1265634"/>
            <a:ext cx="7405568" cy="694373"/>
          </a:xfrm>
          <a:prstGeom prst="rect">
            <a:avLst/>
          </a:prstGeom>
          <a:noFill/>
          <a:ln/>
        </p:spPr>
        <p:txBody>
          <a:bodyPr wrap="none" rtlCol="0" anchor="t"/>
          <a:lstStyle/>
          <a:p>
            <a:pPr marL="0" indent="0">
              <a:lnSpc>
                <a:spcPts val="5468"/>
              </a:lnSpc>
              <a:buNone/>
            </a:pPr>
            <a:r>
              <a:rPr lang="en-US" sz="4374" b="1" dirty="0">
                <a:solidFill>
                  <a:srgbClr val="000000"/>
                </a:solidFill>
                <a:latin typeface="Gelasio" pitchFamily="34" charset="0"/>
                <a:ea typeface="Gelasio" pitchFamily="34" charset="-122"/>
                <a:cs typeface="Gelasio" pitchFamily="34" charset="-120"/>
              </a:rPr>
              <a:t>Applications of Transistors</a:t>
            </a:r>
            <a:endParaRPr lang="en-US" sz="4374" dirty="0"/>
          </a:p>
        </p:txBody>
      </p:sp>
      <p:sp>
        <p:nvSpPr>
          <p:cNvPr id="5" name="Shape 3"/>
          <p:cNvSpPr/>
          <p:nvPr/>
        </p:nvSpPr>
        <p:spPr>
          <a:xfrm>
            <a:off x="2037993" y="2404348"/>
            <a:ext cx="5166122" cy="2701766"/>
          </a:xfrm>
          <a:prstGeom prst="roundRect">
            <a:avLst>
              <a:gd name="adj" fmla="val 4935"/>
            </a:avLst>
          </a:prstGeom>
          <a:solidFill>
            <a:srgbClr val="E8DBC6"/>
          </a:solidFill>
          <a:ln/>
        </p:spPr>
        <p:txBody>
          <a:bodyPr/>
          <a:lstStyle/>
          <a:p>
            <a:endParaRPr lang="en-US"/>
          </a:p>
        </p:txBody>
      </p:sp>
      <p:sp>
        <p:nvSpPr>
          <p:cNvPr id="6" name="Text 4"/>
          <p:cNvSpPr/>
          <p:nvPr/>
        </p:nvSpPr>
        <p:spPr>
          <a:xfrm>
            <a:off x="2260163" y="2626519"/>
            <a:ext cx="2806660" cy="347186"/>
          </a:xfrm>
          <a:prstGeom prst="rect">
            <a:avLst/>
          </a:prstGeom>
          <a:noFill/>
          <a:ln/>
        </p:spPr>
        <p:txBody>
          <a:bodyPr wrap="none" rtlCol="0" anchor="t"/>
          <a:lstStyle/>
          <a:p>
            <a:pPr marL="0" indent="0">
              <a:lnSpc>
                <a:spcPts val="2734"/>
              </a:lnSpc>
              <a:buNone/>
            </a:pPr>
            <a:r>
              <a:rPr lang="en-US" sz="2187" b="1" dirty="0">
                <a:solidFill>
                  <a:srgbClr val="000000"/>
                </a:solidFill>
                <a:latin typeface="Gelasio" pitchFamily="34" charset="0"/>
                <a:ea typeface="Gelasio" pitchFamily="34" charset="-122"/>
                <a:cs typeface="Gelasio" pitchFamily="34" charset="-120"/>
              </a:rPr>
              <a:t>Computing Devices: </a:t>
            </a:r>
            <a:endParaRPr lang="en-US" sz="2187" dirty="0"/>
          </a:p>
        </p:txBody>
      </p:sp>
      <p:sp>
        <p:nvSpPr>
          <p:cNvPr id="7" name="Text 5"/>
          <p:cNvSpPr/>
          <p:nvPr/>
        </p:nvSpPr>
        <p:spPr>
          <a:xfrm>
            <a:off x="2260163" y="3106936"/>
            <a:ext cx="4721781" cy="1777008"/>
          </a:xfrm>
          <a:prstGeom prst="rect">
            <a:avLst/>
          </a:prstGeom>
          <a:noFill/>
          <a:ln/>
        </p:spPr>
        <p:txBody>
          <a:bodyPr wrap="square" rtlCol="0" anchor="t"/>
          <a:lstStyle/>
          <a:p>
            <a:pPr marL="0" indent="0">
              <a:lnSpc>
                <a:spcPts val="2799"/>
              </a:lnSpc>
              <a:buNone/>
            </a:pPr>
            <a:r>
              <a:rPr lang="en-US" sz="1750" dirty="0">
                <a:solidFill>
                  <a:srgbClr val="000000"/>
                </a:solidFill>
                <a:latin typeface="Gelasio" pitchFamily="34" charset="0"/>
                <a:ea typeface="Gelasio" pitchFamily="34" charset="-122"/>
                <a:cs typeface="Gelasio" pitchFamily="34" charset="-120"/>
              </a:rPr>
              <a:t>Transistors in computers, including CPUs, GPUs, and memory chips, act as tiny switches controlling electrical signals, crucial for executing tasks like data processing and user interactions.</a:t>
            </a:r>
            <a:endParaRPr lang="en-US" sz="1750" dirty="0"/>
          </a:p>
        </p:txBody>
      </p:sp>
      <p:sp>
        <p:nvSpPr>
          <p:cNvPr id="8" name="Shape 6"/>
          <p:cNvSpPr/>
          <p:nvPr/>
        </p:nvSpPr>
        <p:spPr>
          <a:xfrm>
            <a:off x="7426285" y="2404348"/>
            <a:ext cx="5166122" cy="2701766"/>
          </a:xfrm>
          <a:prstGeom prst="roundRect">
            <a:avLst>
              <a:gd name="adj" fmla="val 4935"/>
            </a:avLst>
          </a:prstGeom>
          <a:solidFill>
            <a:srgbClr val="E8DBC6"/>
          </a:solidFill>
          <a:ln/>
        </p:spPr>
        <p:txBody>
          <a:bodyPr/>
          <a:lstStyle/>
          <a:p>
            <a:endParaRPr lang="en-US"/>
          </a:p>
        </p:txBody>
      </p:sp>
      <p:sp>
        <p:nvSpPr>
          <p:cNvPr id="9" name="Text 7"/>
          <p:cNvSpPr/>
          <p:nvPr/>
        </p:nvSpPr>
        <p:spPr>
          <a:xfrm>
            <a:off x="7648456" y="2626519"/>
            <a:ext cx="2777490" cy="347186"/>
          </a:xfrm>
          <a:prstGeom prst="rect">
            <a:avLst/>
          </a:prstGeom>
          <a:noFill/>
          <a:ln/>
        </p:spPr>
        <p:txBody>
          <a:bodyPr wrap="none" rtlCol="0" anchor="t"/>
          <a:lstStyle/>
          <a:p>
            <a:pPr marL="0" indent="0">
              <a:lnSpc>
                <a:spcPts val="2734"/>
              </a:lnSpc>
              <a:buNone/>
            </a:pPr>
            <a:r>
              <a:rPr lang="en-US" sz="2187" b="1" dirty="0">
                <a:solidFill>
                  <a:srgbClr val="000000"/>
                </a:solidFill>
                <a:latin typeface="Gelasio" pitchFamily="34" charset="0"/>
                <a:ea typeface="Gelasio" pitchFamily="34" charset="-122"/>
                <a:cs typeface="Gelasio" pitchFamily="34" charset="-120"/>
              </a:rPr>
              <a:t>Mobile Phones:</a:t>
            </a:r>
            <a:endParaRPr lang="en-US" sz="2187" dirty="0"/>
          </a:p>
        </p:txBody>
      </p:sp>
      <p:sp>
        <p:nvSpPr>
          <p:cNvPr id="10" name="Text 8"/>
          <p:cNvSpPr/>
          <p:nvPr/>
        </p:nvSpPr>
        <p:spPr>
          <a:xfrm>
            <a:off x="7648456" y="3106936"/>
            <a:ext cx="4721781" cy="1777008"/>
          </a:xfrm>
          <a:prstGeom prst="rect">
            <a:avLst/>
          </a:prstGeom>
          <a:noFill/>
          <a:ln/>
        </p:spPr>
        <p:txBody>
          <a:bodyPr wrap="square" rtlCol="0" anchor="t"/>
          <a:lstStyle/>
          <a:p>
            <a:pPr marL="0" indent="0">
              <a:lnSpc>
                <a:spcPts val="2799"/>
              </a:lnSpc>
              <a:buNone/>
            </a:pPr>
            <a:r>
              <a:rPr lang="en-US" sz="1750" dirty="0">
                <a:solidFill>
                  <a:srgbClr val="000000"/>
                </a:solidFill>
                <a:latin typeface="Gelasio" pitchFamily="34" charset="0"/>
                <a:ea typeface="Gelasio" pitchFamily="34" charset="-122"/>
                <a:cs typeface="Gelasio" pitchFamily="34" charset="-120"/>
              </a:rPr>
              <a:t> Modern smartphones contain millions to billions of transistors integrated into their processors, enabling efficient processing of tasks from calls to high-definition video streaming.</a:t>
            </a:r>
            <a:endParaRPr lang="en-US" sz="1750" dirty="0"/>
          </a:p>
        </p:txBody>
      </p:sp>
      <p:sp>
        <p:nvSpPr>
          <p:cNvPr id="11" name="Shape 9"/>
          <p:cNvSpPr/>
          <p:nvPr/>
        </p:nvSpPr>
        <p:spPr>
          <a:xfrm>
            <a:off x="2037993" y="5328285"/>
            <a:ext cx="10554414" cy="1635562"/>
          </a:xfrm>
          <a:prstGeom prst="roundRect">
            <a:avLst>
              <a:gd name="adj" fmla="val 8151"/>
            </a:avLst>
          </a:prstGeom>
          <a:solidFill>
            <a:srgbClr val="E8DBC6"/>
          </a:solidFill>
          <a:ln/>
        </p:spPr>
        <p:txBody>
          <a:bodyPr/>
          <a:lstStyle/>
          <a:p>
            <a:endParaRPr lang="en-US"/>
          </a:p>
        </p:txBody>
      </p:sp>
      <p:sp>
        <p:nvSpPr>
          <p:cNvPr id="12" name="Text 10"/>
          <p:cNvSpPr/>
          <p:nvPr/>
        </p:nvSpPr>
        <p:spPr>
          <a:xfrm>
            <a:off x="2260163" y="5550456"/>
            <a:ext cx="2777490" cy="347186"/>
          </a:xfrm>
          <a:prstGeom prst="rect">
            <a:avLst/>
          </a:prstGeom>
          <a:noFill/>
          <a:ln/>
        </p:spPr>
        <p:txBody>
          <a:bodyPr wrap="none" rtlCol="0" anchor="t"/>
          <a:lstStyle/>
          <a:p>
            <a:pPr marL="0" indent="0">
              <a:lnSpc>
                <a:spcPts val="2734"/>
              </a:lnSpc>
              <a:buNone/>
            </a:pPr>
            <a:r>
              <a:rPr lang="en-US" sz="2187" b="1" dirty="0">
                <a:solidFill>
                  <a:srgbClr val="000000"/>
                </a:solidFill>
                <a:latin typeface="Gelasio" pitchFamily="34" charset="0"/>
                <a:ea typeface="Gelasio" pitchFamily="34" charset="-122"/>
                <a:cs typeface="Gelasio" pitchFamily="34" charset="-120"/>
              </a:rPr>
              <a:t>Audio Amplifiers:</a:t>
            </a:r>
            <a:r>
              <a:rPr lang="en-US" sz="2187" b="1" dirty="0">
                <a:solidFill>
                  <a:srgbClr val="484237"/>
                </a:solidFill>
                <a:latin typeface="Gelasio" pitchFamily="34" charset="0"/>
                <a:ea typeface="Gelasio" pitchFamily="34" charset="-122"/>
                <a:cs typeface="Gelasio" pitchFamily="34" charset="-120"/>
              </a:rPr>
              <a:t> </a:t>
            </a:r>
            <a:endParaRPr lang="en-US" sz="2187" dirty="0"/>
          </a:p>
        </p:txBody>
      </p:sp>
      <p:sp>
        <p:nvSpPr>
          <p:cNvPr id="13" name="Text 11"/>
          <p:cNvSpPr/>
          <p:nvPr/>
        </p:nvSpPr>
        <p:spPr>
          <a:xfrm>
            <a:off x="2260163" y="6030873"/>
            <a:ext cx="10110073" cy="710803"/>
          </a:xfrm>
          <a:prstGeom prst="rect">
            <a:avLst/>
          </a:prstGeom>
          <a:noFill/>
          <a:ln/>
        </p:spPr>
        <p:txBody>
          <a:bodyPr wrap="square" rtlCol="0" anchor="t"/>
          <a:lstStyle/>
          <a:p>
            <a:pPr marL="0" indent="0">
              <a:lnSpc>
                <a:spcPts val="2799"/>
              </a:lnSpc>
              <a:buNone/>
            </a:pPr>
            <a:r>
              <a:rPr lang="en-US" sz="1750" dirty="0">
                <a:solidFill>
                  <a:srgbClr val="000000"/>
                </a:solidFill>
                <a:latin typeface="Gelasio" pitchFamily="34" charset="0"/>
                <a:ea typeface="Gelasio" pitchFamily="34" charset="-122"/>
                <a:cs typeface="Gelasio" pitchFamily="34" charset="-120"/>
              </a:rPr>
              <a:t>Transistors amplify audio signals in devices like home audio systems and headphones, enhancing weak signals for clearer and louder playback.</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txBody>
          <a:bodyPr/>
          <a:lstStyle/>
          <a:p>
            <a:endParaRPr lang="en-US"/>
          </a:p>
        </p:txBody>
      </p:sp>
      <p:sp>
        <p:nvSpPr>
          <p:cNvPr id="3" name="Shape 1"/>
          <p:cNvSpPr/>
          <p:nvPr/>
        </p:nvSpPr>
        <p:spPr>
          <a:xfrm>
            <a:off x="0" y="0"/>
            <a:ext cx="14630400" cy="8229600"/>
          </a:xfrm>
          <a:prstGeom prst="rect">
            <a:avLst/>
          </a:prstGeom>
          <a:solidFill>
            <a:srgbClr val="F2EBDF"/>
          </a:solidFill>
          <a:ln/>
        </p:spPr>
        <p:txBody>
          <a:bodyPr/>
          <a:lstStyle/>
          <a:p>
            <a:endParaRPr lang="en-US"/>
          </a:p>
        </p:txBody>
      </p:sp>
      <p:sp>
        <p:nvSpPr>
          <p:cNvPr id="4" name="Text 2"/>
          <p:cNvSpPr/>
          <p:nvPr/>
        </p:nvSpPr>
        <p:spPr>
          <a:xfrm>
            <a:off x="2037993" y="2013942"/>
            <a:ext cx="10554414" cy="1388745"/>
          </a:xfrm>
          <a:prstGeom prst="rect">
            <a:avLst/>
          </a:prstGeom>
          <a:noFill/>
          <a:ln/>
        </p:spPr>
        <p:txBody>
          <a:bodyPr wrap="square" rtlCol="0" anchor="t"/>
          <a:lstStyle/>
          <a:p>
            <a:pPr marL="0" indent="0">
              <a:lnSpc>
                <a:spcPts val="5468"/>
              </a:lnSpc>
              <a:buNone/>
            </a:pPr>
            <a:r>
              <a:rPr lang="en-US" sz="4374" b="1" dirty="0">
                <a:solidFill>
                  <a:srgbClr val="484237"/>
                </a:solidFill>
                <a:latin typeface="Gelasio" pitchFamily="34" charset="0"/>
                <a:ea typeface="Gelasio" pitchFamily="34" charset="-122"/>
                <a:cs typeface="Gelasio" pitchFamily="34" charset="-120"/>
              </a:rPr>
              <a:t>Advantages and Disadvantages of Transistors</a:t>
            </a:r>
            <a:endParaRPr lang="en-US" sz="4374" dirty="0"/>
          </a:p>
        </p:txBody>
      </p:sp>
      <p:sp>
        <p:nvSpPr>
          <p:cNvPr id="5" name="Text 3"/>
          <p:cNvSpPr/>
          <p:nvPr/>
        </p:nvSpPr>
        <p:spPr>
          <a:xfrm>
            <a:off x="2037993" y="3958114"/>
            <a:ext cx="2777490" cy="347186"/>
          </a:xfrm>
          <a:prstGeom prst="rect">
            <a:avLst/>
          </a:prstGeom>
          <a:noFill/>
          <a:ln/>
        </p:spPr>
        <p:txBody>
          <a:bodyPr wrap="none" rtlCol="0" anchor="t"/>
          <a:lstStyle/>
          <a:p>
            <a:pPr marL="0" indent="0">
              <a:lnSpc>
                <a:spcPts val="2734"/>
              </a:lnSpc>
              <a:buNone/>
            </a:pPr>
            <a:r>
              <a:rPr lang="en-US" sz="2187" b="1" dirty="0">
                <a:solidFill>
                  <a:srgbClr val="000000"/>
                </a:solidFill>
                <a:latin typeface="Gelasio" pitchFamily="34" charset="0"/>
                <a:ea typeface="Gelasio" pitchFamily="34" charset="-122"/>
                <a:cs typeface="Gelasio" pitchFamily="34" charset="-120"/>
              </a:rPr>
              <a:t>Advantages</a:t>
            </a:r>
            <a:endParaRPr lang="en-US" sz="2187" dirty="0"/>
          </a:p>
        </p:txBody>
      </p:sp>
      <p:sp>
        <p:nvSpPr>
          <p:cNvPr id="6" name="Text 4"/>
          <p:cNvSpPr/>
          <p:nvPr/>
        </p:nvSpPr>
        <p:spPr>
          <a:xfrm>
            <a:off x="2393394" y="4527471"/>
            <a:ext cx="4650819" cy="355402"/>
          </a:xfrm>
          <a:prstGeom prst="rect">
            <a:avLst/>
          </a:prstGeom>
          <a:noFill/>
          <a:ln/>
        </p:spPr>
        <p:txBody>
          <a:bodyPr wrap="none" rtlCol="0" anchor="t"/>
          <a:lstStyle/>
          <a:p>
            <a:pPr marL="342900" indent="-342900" algn="l">
              <a:lnSpc>
                <a:spcPts val="2799"/>
              </a:lnSpc>
              <a:buSzPct val="100000"/>
              <a:buChar char="•"/>
            </a:pPr>
            <a:r>
              <a:rPr lang="en-US" sz="1750" dirty="0">
                <a:solidFill>
                  <a:srgbClr val="000000"/>
                </a:solidFill>
                <a:latin typeface="Gelasio" pitchFamily="34" charset="0"/>
                <a:ea typeface="Gelasio" pitchFamily="34" charset="-122"/>
                <a:cs typeface="Gelasio" pitchFamily="34" charset="-120"/>
              </a:rPr>
              <a:t>Small size and low power consumption</a:t>
            </a:r>
            <a:endParaRPr lang="en-US" sz="1750" dirty="0"/>
          </a:p>
        </p:txBody>
      </p:sp>
      <p:sp>
        <p:nvSpPr>
          <p:cNvPr id="7" name="Text 5"/>
          <p:cNvSpPr/>
          <p:nvPr/>
        </p:nvSpPr>
        <p:spPr>
          <a:xfrm>
            <a:off x="2393394" y="4971693"/>
            <a:ext cx="4650819" cy="355402"/>
          </a:xfrm>
          <a:prstGeom prst="rect">
            <a:avLst/>
          </a:prstGeom>
          <a:noFill/>
          <a:ln/>
        </p:spPr>
        <p:txBody>
          <a:bodyPr wrap="none" rtlCol="0" anchor="t"/>
          <a:lstStyle/>
          <a:p>
            <a:pPr marL="342900" indent="-342900" algn="l">
              <a:lnSpc>
                <a:spcPts val="2799"/>
              </a:lnSpc>
              <a:buSzPct val="100000"/>
              <a:buChar char="•"/>
            </a:pPr>
            <a:r>
              <a:rPr lang="en-US" sz="1750" dirty="0">
                <a:solidFill>
                  <a:srgbClr val="000000"/>
                </a:solidFill>
                <a:latin typeface="Gelasio" pitchFamily="34" charset="0"/>
                <a:ea typeface="Gelasio" pitchFamily="34" charset="-122"/>
                <a:cs typeface="Gelasio" pitchFamily="34" charset="-120"/>
              </a:rPr>
              <a:t>Reliable and durable performance</a:t>
            </a:r>
            <a:endParaRPr lang="en-US" sz="1750" dirty="0"/>
          </a:p>
        </p:txBody>
      </p:sp>
      <p:sp>
        <p:nvSpPr>
          <p:cNvPr id="8" name="Text 6"/>
          <p:cNvSpPr/>
          <p:nvPr/>
        </p:nvSpPr>
        <p:spPr>
          <a:xfrm>
            <a:off x="2393394" y="5415915"/>
            <a:ext cx="4650819" cy="710803"/>
          </a:xfrm>
          <a:prstGeom prst="rect">
            <a:avLst/>
          </a:prstGeom>
          <a:noFill/>
          <a:ln/>
        </p:spPr>
        <p:txBody>
          <a:bodyPr wrap="square" rtlCol="0" anchor="t"/>
          <a:lstStyle/>
          <a:p>
            <a:pPr marL="342900" indent="-342900" algn="l">
              <a:lnSpc>
                <a:spcPts val="2799"/>
              </a:lnSpc>
              <a:buSzPct val="100000"/>
              <a:buChar char="•"/>
            </a:pPr>
            <a:r>
              <a:rPr lang="en-US" sz="1750" dirty="0">
                <a:solidFill>
                  <a:srgbClr val="000000"/>
                </a:solidFill>
                <a:latin typeface="Gelasio" pitchFamily="34" charset="0"/>
                <a:ea typeface="Gelasio" pitchFamily="34" charset="-122"/>
                <a:cs typeface="Gelasio" pitchFamily="34" charset="-120"/>
              </a:rPr>
              <a:t>Transistors amplify signals, making them stronger and more usable in electronic devices.</a:t>
            </a:r>
            <a:endParaRPr lang="en-US" sz="1750" dirty="0"/>
          </a:p>
        </p:txBody>
      </p:sp>
      <p:sp>
        <p:nvSpPr>
          <p:cNvPr id="9" name="Text 7"/>
          <p:cNvSpPr/>
          <p:nvPr/>
        </p:nvSpPr>
        <p:spPr>
          <a:xfrm>
            <a:off x="7593806" y="3958114"/>
            <a:ext cx="2777490" cy="347186"/>
          </a:xfrm>
          <a:prstGeom prst="rect">
            <a:avLst/>
          </a:prstGeom>
          <a:noFill/>
          <a:ln/>
        </p:spPr>
        <p:txBody>
          <a:bodyPr wrap="none" rtlCol="0" anchor="t"/>
          <a:lstStyle/>
          <a:p>
            <a:pPr marL="0" indent="0">
              <a:lnSpc>
                <a:spcPts val="2734"/>
              </a:lnSpc>
              <a:buNone/>
            </a:pPr>
            <a:r>
              <a:rPr lang="en-US" sz="2187" b="1" dirty="0">
                <a:solidFill>
                  <a:srgbClr val="000000"/>
                </a:solidFill>
                <a:latin typeface="Gelasio" pitchFamily="34" charset="0"/>
                <a:ea typeface="Gelasio" pitchFamily="34" charset="-122"/>
                <a:cs typeface="Gelasio" pitchFamily="34" charset="-120"/>
              </a:rPr>
              <a:t>Disadvantages</a:t>
            </a:r>
            <a:endParaRPr lang="en-US" sz="2187" dirty="0"/>
          </a:p>
        </p:txBody>
      </p:sp>
      <p:sp>
        <p:nvSpPr>
          <p:cNvPr id="10" name="Text 8"/>
          <p:cNvSpPr/>
          <p:nvPr/>
        </p:nvSpPr>
        <p:spPr>
          <a:xfrm>
            <a:off x="7949208" y="4527471"/>
            <a:ext cx="4650819" cy="710803"/>
          </a:xfrm>
          <a:prstGeom prst="rect">
            <a:avLst/>
          </a:prstGeom>
          <a:noFill/>
          <a:ln/>
        </p:spPr>
        <p:txBody>
          <a:bodyPr wrap="square" rtlCol="0" anchor="t"/>
          <a:lstStyle/>
          <a:p>
            <a:pPr marL="342900" indent="-342900" algn="l">
              <a:lnSpc>
                <a:spcPts val="2799"/>
              </a:lnSpc>
              <a:buSzPct val="100000"/>
              <a:buChar char="•"/>
            </a:pPr>
            <a:r>
              <a:rPr lang="en-US" sz="1750" dirty="0">
                <a:solidFill>
                  <a:srgbClr val="000000"/>
                </a:solidFill>
                <a:latin typeface="Gelasio" pitchFamily="34" charset="0"/>
                <a:ea typeface="Gelasio" pitchFamily="34" charset="-122"/>
                <a:cs typeface="Gelasio" pitchFamily="34" charset="-120"/>
              </a:rPr>
              <a:t>easily damaged if it gets too hot or if there's too much electricity flowing through it.</a:t>
            </a:r>
            <a:endParaRPr lang="en-US" sz="1750" dirty="0"/>
          </a:p>
        </p:txBody>
      </p:sp>
      <p:sp>
        <p:nvSpPr>
          <p:cNvPr id="11" name="Text 9"/>
          <p:cNvSpPr/>
          <p:nvPr/>
        </p:nvSpPr>
        <p:spPr>
          <a:xfrm>
            <a:off x="7949208" y="5327094"/>
            <a:ext cx="4650819" cy="710803"/>
          </a:xfrm>
          <a:prstGeom prst="rect">
            <a:avLst/>
          </a:prstGeom>
          <a:noFill/>
          <a:ln/>
        </p:spPr>
        <p:txBody>
          <a:bodyPr wrap="square" rtlCol="0" anchor="t"/>
          <a:lstStyle/>
          <a:p>
            <a:pPr marL="342900" indent="-342900" algn="l">
              <a:lnSpc>
                <a:spcPts val="2799"/>
              </a:lnSpc>
              <a:buSzPct val="100000"/>
              <a:buChar char="•"/>
            </a:pPr>
            <a:r>
              <a:rPr lang="en-US" sz="1750" dirty="0">
                <a:solidFill>
                  <a:srgbClr val="000000"/>
                </a:solidFill>
                <a:latin typeface="Gelasio" pitchFamily="34" charset="0"/>
                <a:ea typeface="Gelasio" pitchFamily="34" charset="-122"/>
                <a:cs typeface="Gelasio" pitchFamily="34" charset="-120"/>
              </a:rPr>
              <a:t>it's complicated and needs special knowledge and tools to do it right.</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txBody>
          <a:bodyPr/>
          <a:lstStyle/>
          <a:p>
            <a:endParaRPr lang="en-US"/>
          </a:p>
        </p:txBody>
      </p:sp>
      <p:sp>
        <p:nvSpPr>
          <p:cNvPr id="3" name="Shape 1"/>
          <p:cNvSpPr/>
          <p:nvPr/>
        </p:nvSpPr>
        <p:spPr>
          <a:xfrm>
            <a:off x="0" y="0"/>
            <a:ext cx="14630400" cy="8229600"/>
          </a:xfrm>
          <a:prstGeom prst="rect">
            <a:avLst/>
          </a:prstGeom>
          <a:solidFill>
            <a:srgbClr val="F2EBDF"/>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0" y="0"/>
            <a:ext cx="14630400" cy="2777490"/>
          </a:xfrm>
          <a:prstGeom prst="rect">
            <a:avLst/>
          </a:prstGeom>
        </p:spPr>
      </p:pic>
      <p:sp>
        <p:nvSpPr>
          <p:cNvPr id="5" name="Text 2"/>
          <p:cNvSpPr/>
          <p:nvPr/>
        </p:nvSpPr>
        <p:spPr>
          <a:xfrm>
            <a:off x="2037993" y="4278868"/>
            <a:ext cx="5554980" cy="694373"/>
          </a:xfrm>
          <a:prstGeom prst="rect">
            <a:avLst/>
          </a:prstGeom>
          <a:noFill/>
          <a:ln/>
        </p:spPr>
        <p:txBody>
          <a:bodyPr wrap="none" rtlCol="0" anchor="t"/>
          <a:lstStyle/>
          <a:p>
            <a:pPr marL="0" indent="0">
              <a:lnSpc>
                <a:spcPts val="5468"/>
              </a:lnSpc>
              <a:buNone/>
            </a:pPr>
            <a:r>
              <a:rPr lang="en-US" sz="4374" b="1" dirty="0">
                <a:solidFill>
                  <a:srgbClr val="000000"/>
                </a:solidFill>
                <a:latin typeface="Gelasio" pitchFamily="34" charset="0"/>
                <a:ea typeface="Gelasio" pitchFamily="34" charset="-122"/>
                <a:cs typeface="Gelasio" pitchFamily="34" charset="-120"/>
              </a:rPr>
              <a:t>Conclusion</a:t>
            </a:r>
            <a:endParaRPr lang="en-US" sz="4374" dirty="0"/>
          </a:p>
        </p:txBody>
      </p:sp>
      <p:sp>
        <p:nvSpPr>
          <p:cNvPr id="6" name="Text 3"/>
          <p:cNvSpPr/>
          <p:nvPr/>
        </p:nvSpPr>
        <p:spPr>
          <a:xfrm>
            <a:off x="2037993" y="5306497"/>
            <a:ext cx="10554414" cy="1421606"/>
          </a:xfrm>
          <a:prstGeom prst="rect">
            <a:avLst/>
          </a:prstGeom>
          <a:noFill/>
          <a:ln/>
        </p:spPr>
        <p:txBody>
          <a:bodyPr wrap="square" rtlCol="0" anchor="t"/>
          <a:lstStyle/>
          <a:p>
            <a:pPr marL="0" indent="0">
              <a:lnSpc>
                <a:spcPts val="2799"/>
              </a:lnSpc>
              <a:buNone/>
            </a:pPr>
            <a:r>
              <a:rPr lang="en-US" sz="1750" b="1" dirty="0">
                <a:solidFill>
                  <a:srgbClr val="000000"/>
                </a:solidFill>
                <a:latin typeface="Gelasio" pitchFamily="34" charset="0"/>
                <a:ea typeface="Gelasio" pitchFamily="34" charset="-122"/>
                <a:cs typeface="Gelasio" pitchFamily="34" charset="-120"/>
              </a:rPr>
              <a:t>Transistors are like the superheroes of electronics. They're everywhere and do amazing things! Understanding how they're built and how they work is super important for designing all the cool gadgets we use every day. Let's keep embracing the power of transistors and see where they take us in the future!</a:t>
            </a:r>
            <a:endParaRPr lang="en-US" sz="1750" dirty="0"/>
          </a:p>
        </p:txBody>
      </p:sp>
    </p:spTree>
  </p:cSld>
  <p:clrMapOvr>
    <a:masterClrMapping/>
  </p:clrMapOvr>
</p:sld>
</file>

<file path=ppt/theme/theme1.xml><?xml version="1.0" encoding="utf-8"?>
<a:theme xmlns:a="http://schemas.openxmlformats.org/drawingml/2006/main" name="Office Theme">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671</Words>
  <Application>Microsoft Office PowerPoint</Application>
  <PresentationFormat>Custom</PresentationFormat>
  <Paragraphs>76</Paragraphs>
  <Slides>10</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vt:lpstr>
      <vt:lpstr>Arial</vt:lpstr>
      <vt:lpstr>Calibri</vt:lpstr>
      <vt:lpstr>Gelasio</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Engr Asif Ali</cp:lastModifiedBy>
  <cp:revision>3</cp:revision>
  <dcterms:created xsi:type="dcterms:W3CDTF">2024-04-23T18:57:34Z</dcterms:created>
  <dcterms:modified xsi:type="dcterms:W3CDTF">2024-05-01T08:25:28Z</dcterms:modified>
</cp:coreProperties>
</file>
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</p:sldIdLst>
  <p:sldSz cx="9144000" cy="6858000" type="screen4x3"/>
  <p:notesSz cx="6858000" cy="9144000"/>
  <p:defaultTextStyle>
    <a:lvl1pPr marL="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Times New Roman" pitchFamily="18" charset="0"/>
        <a:sym typeface="Times New Roman" pitchFamily="18" charset="0"/>
      </a:defRPr>
    </a:lvl1pPr>
    <a:lvl2pPr marL="4572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Times New Roman" pitchFamily="18" charset="0"/>
        <a:sym typeface="Times New Roman" pitchFamily="18" charset="0"/>
      </a:defRPr>
    </a:lvl2pPr>
    <a:lvl3pPr marL="9144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Times New Roman" pitchFamily="18" charset="0"/>
        <a:sym typeface="Times New Roman" pitchFamily="18" charset="0"/>
      </a:defRPr>
    </a:lvl3pPr>
    <a:lvl4pPr marL="13716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Times New Roman" pitchFamily="18" charset="0"/>
        <a:sym typeface="Times New Roman" pitchFamily="18" charset="0"/>
      </a:defRPr>
    </a:lvl4pPr>
    <a:lvl5pPr marL="18288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Times New Roman" pitchFamily="18" charset="0"/>
        <a:sym typeface="Times New Roman" pitchFamily="18" charset="0"/>
      </a:defRPr>
    </a:lvl5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62" autoAdjust="0"/>
    <p:restoredTop sz="94660"/>
  </p:normalViewPr>
  <p:slideViewPr>
    <p:cSldViewPr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/>
            <a:endParaRPr lang="en-US" altLang="en-US" sz="1200">
              <a:latin typeface="Arial" pitchFamily="34" charset="0"/>
            </a:endParaRPr>
          </a:p>
        </p:txBody>
      </p:sp>
      <p:sp>
        <p:nvSpPr>
          <p:cNvPr id="1048771" name="Rectangle 3"/>
          <p:cNvSpPr>
            <a:spLocks noGrp="1"/>
          </p:cNvSpPr>
          <p:nvPr>
            <p:ph type="dt" sz="quarter" idx="1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 eaLnBrk="1" hangingPunct="1"/>
            <a:endParaRPr lang="en-US" altLang="en-US" sz="1200">
              <a:latin typeface="Arial" pitchFamily="34" charset="0"/>
            </a:endParaRPr>
          </a:p>
        </p:txBody>
      </p:sp>
      <p:sp>
        <p:nvSpPr>
          <p:cNvPr id="1048772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eaLnBrk="1" hangingPunct="1"/>
            <a:endParaRPr lang="en-US" altLang="en-US" sz="1200">
              <a:latin typeface="Arial" pitchFamily="34" charset="0"/>
            </a:endParaRPr>
          </a:p>
        </p:txBody>
      </p:sp>
      <p:sp>
        <p:nvSpPr>
          <p:cNvPr id="1048773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hangingPunct="1"/>
            <a:fld id="{566ABCEB-ACFC-4714-9973-3DA970169C29}" type="slidenum">
              <a:rPr lang="en-US" altLang="en-US" sz="1200">
                <a:latin typeface="Arial" pitchFamily="34" charset="0"/>
              </a:rPr>
              <a:pPr lvl="0" algn="r" eaLnBrk="1" hangingPunct="1"/>
              <a:t>‹#›</a:t>
            </a:fld>
            <a:endParaRPr lang="en-US" altLang="en-US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570544"/>
      </p:ext>
    </p:extLst>
  </p:cSld>
  <p:clrMap bg1="dk1" tx1="dk1" bg2="dk1" tx2="dk1" accent1="dk1" accent2="dk1" accent3="dk1" accent4="dk1" accent5="dk1" accent6="dk1" hlink="dk1" folHlink="dk1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/>
            <a:endParaRPr lang="en-US" altLang="en-US" sz="1200">
              <a:latin typeface="Arial" pitchFamily="34" charset="0"/>
            </a:endParaRPr>
          </a:p>
        </p:txBody>
      </p:sp>
      <p:sp>
        <p:nvSpPr>
          <p:cNvPr id="1048765" name="Rectangle 3"/>
          <p:cNvSpPr>
            <a:spLocks noGrp="1"/>
          </p:cNvSpPr>
          <p:nvPr>
            <p:ph type="dt" idx="1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 eaLnBrk="1" hangingPunct="1"/>
            <a:endParaRPr lang="en-US" altLang="en-US" sz="1200">
              <a:latin typeface="Arial" pitchFamily="34" charset="0"/>
            </a:endParaRPr>
          </a:p>
        </p:txBody>
      </p:sp>
      <p:sp>
        <p:nvSpPr>
          <p:cNvPr id="104876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767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76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eaLnBrk="1" hangingPunct="1"/>
            <a:endParaRPr lang="en-US" altLang="en-US" sz="1200">
              <a:latin typeface="Arial" pitchFamily="34" charset="0"/>
            </a:endParaRPr>
          </a:p>
        </p:txBody>
      </p:sp>
      <p:sp>
        <p:nvSpPr>
          <p:cNvPr id="104876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hangingPunct="1"/>
            <a:fld id="{566ABCEB-ACFC-4714-9973-3DA970169C29}" type="slidenum">
              <a:rPr lang="en-US" altLang="en-US" sz="1200">
                <a:latin typeface="Arial" pitchFamily="34" charset="0"/>
              </a:rPr>
              <a:pPr lvl="0" algn="r" eaLnBrk="1" hangingPunct="1"/>
              <a:t>‹#›</a:t>
            </a:fld>
            <a:endParaRPr lang="en-US" altLang="en-US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44704"/>
      </p:ext>
    </p:extLst>
  </p:cSld>
  <p:clrMap bg1="dk1" tx1="dk1" bg2="dk1" tx2="dk1" accent1="dk1" accent2="dk1" accent3="dk1" accent4="dk1" accent5="dk1" accent6="dk1" hlink="dk1" folHlink="dk1"/>
  <p:notesStyle>
    <a:lvl1pPr marL="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sym typeface="Times New Roman" pitchFamily="18" charset="0"/>
      </a:defRPr>
    </a:lvl1pPr>
    <a:lvl2pPr marL="4572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sym typeface="Times New Roman" pitchFamily="18" charset="0"/>
      </a:defRPr>
    </a:lvl2pPr>
    <a:lvl3pPr marL="9144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sym typeface="Times New Roman" pitchFamily="18" charset="0"/>
      </a:defRPr>
    </a:lvl3pPr>
    <a:lvl4pPr marL="13716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sym typeface="Times New Roman" pitchFamily="18" charset="0"/>
      </a:defRPr>
    </a:lvl4pPr>
    <a:lvl5pPr marL="18288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itchFamily="34" charset="0"/>
        <a:sym typeface="Times New Roman" pitchFamily="18" charset="0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2">
            <a:alphaModFix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377825" y="1676400"/>
            <a:ext cx="8389938" cy="4421187"/>
            <a:chOff x="238" y="1056"/>
            <a:chExt cx="5285" cy="2785"/>
          </a:xfrm>
        </p:grpSpPr>
        <p:grpSp>
          <p:nvGrpSpPr>
            <p:cNvPr id="50" name="Group 49"/>
            <p:cNvGrpSpPr/>
            <p:nvPr/>
          </p:nvGrpSpPr>
          <p:grpSpPr>
            <a:xfrm>
              <a:off x="238" y="1056"/>
              <a:ext cx="5285" cy="1393"/>
              <a:chOff x="238" y="1056"/>
              <a:chExt cx="5285" cy="1393"/>
            </a:xfrm>
          </p:grpSpPr>
          <p:sp>
            <p:nvSpPr>
              <p:cNvPr id="1048605" name="Rectangle 4"/>
              <p:cNvSpPr/>
              <p:nvPr/>
            </p:nvSpPr>
            <p:spPr>
              <a:xfrm>
                <a:off x="243" y="1057"/>
                <a:ext cx="5272" cy="1391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</p:spPr>
            <p:txBody>
              <a:bodyPr vert="horz" wrap="none" lIns="91440" tIns="45720" rIns="91440" bIns="45720" anchor="ctr"/>
              <a:lstStyle>
                <a:lvl1pPr marL="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marL="4572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marL="9144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marL="13716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marL="18288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lang="en-GB" altLang="en-US"/>
              </a:p>
            </p:txBody>
          </p:sp>
          <p:sp>
            <p:nvSpPr>
              <p:cNvPr id="1048606" name="Freeform 5"/>
              <p:cNvSpPr/>
              <p:nvPr/>
            </p:nvSpPr>
            <p:spPr bwMode="auto">
              <a:xfrm>
                <a:off x="238" y="1056"/>
                <a:ext cx="5273" cy="1393"/>
              </a:xfrm>
              <a:custGeom>
                <a:avLst/>
                <a:gdLst/>
                <a:ahLst/>
                <a:cxnLst/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0" y="0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607" name="Freeform 6"/>
              <p:cNvSpPr/>
              <p:nvPr/>
            </p:nvSpPr>
            <p:spPr bwMode="auto">
              <a:xfrm>
                <a:off x="250" y="1056"/>
                <a:ext cx="5273" cy="1393"/>
              </a:xfrm>
              <a:custGeom>
                <a:avLst/>
                <a:gdLst/>
                <a:ahLst/>
                <a:cxnLst/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5272" y="1392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  <p:grpSp>
          <p:nvGrpSpPr>
            <p:cNvPr id="51" name="Group 50"/>
            <p:cNvGrpSpPr/>
            <p:nvPr/>
          </p:nvGrpSpPr>
          <p:grpSpPr>
            <a:xfrm>
              <a:off x="240" y="3744"/>
              <a:ext cx="5281" cy="97"/>
              <a:chOff x="240" y="3744"/>
              <a:chExt cx="5281" cy="97"/>
            </a:xfrm>
          </p:grpSpPr>
          <p:sp>
            <p:nvSpPr>
              <p:cNvPr id="1048608" name="Rectangle 8"/>
              <p:cNvSpPr/>
              <p:nvPr/>
            </p:nvSpPr>
            <p:spPr>
              <a:xfrm>
                <a:off x="240" y="3744"/>
                <a:ext cx="5280" cy="96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</p:spPr>
            <p:txBody>
              <a:bodyPr vert="horz" wrap="none" lIns="91440" tIns="45720" rIns="91440" bIns="45720" anchor="ctr"/>
              <a:lstStyle>
                <a:lvl1pPr marL="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marL="4572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marL="9144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marL="13716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marL="18288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lang="en-GB" altLang="en-US"/>
              </a:p>
            </p:txBody>
          </p:sp>
          <p:sp>
            <p:nvSpPr>
              <p:cNvPr id="1048609" name="Freeform 9"/>
              <p:cNvSpPr/>
              <p:nvPr/>
            </p:nvSpPr>
            <p:spPr bwMode="auto">
              <a:xfrm>
                <a:off x="240" y="3744"/>
                <a:ext cx="5281" cy="97"/>
              </a:xfrm>
              <a:custGeom>
                <a:avLst/>
                <a:gdLst/>
                <a:ahLst/>
                <a:cxnLst/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610" name="Freeform 10"/>
              <p:cNvSpPr/>
              <p:nvPr/>
            </p:nvSpPr>
            <p:spPr bwMode="auto">
              <a:xfrm>
                <a:off x="240" y="3744"/>
                <a:ext cx="5281" cy="97"/>
              </a:xfrm>
              <a:custGeom>
                <a:avLst/>
                <a:gdLst/>
                <a:ahLst/>
                <a:cxnLst/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5280" y="96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  <p:grpSp>
          <p:nvGrpSpPr>
            <p:cNvPr id="52" name="Group 51"/>
            <p:cNvGrpSpPr/>
            <p:nvPr/>
          </p:nvGrpSpPr>
          <p:grpSpPr>
            <a:xfrm>
              <a:off x="338" y="1200"/>
              <a:ext cx="97" cy="1104"/>
              <a:chOff x="338" y="1200"/>
              <a:chExt cx="97" cy="1104"/>
            </a:xfrm>
          </p:grpSpPr>
          <p:sp>
            <p:nvSpPr>
              <p:cNvPr id="1048611" name="Rectangle 12"/>
              <p:cNvSpPr/>
              <p:nvPr/>
            </p:nvSpPr>
            <p:spPr>
              <a:xfrm>
                <a:off x="338" y="1201"/>
                <a:ext cx="96" cy="110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none" lIns="91440" tIns="45720" rIns="91440" bIns="45720" anchor="ctr"/>
              <a:lstStyle>
                <a:lvl1pPr marL="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marL="4572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marL="9144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marL="13716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marL="18288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lang="en-GB" altLang="en-US"/>
              </a:p>
            </p:txBody>
          </p:sp>
          <p:sp>
            <p:nvSpPr>
              <p:cNvPr id="1048612" name="Freeform 13"/>
              <p:cNvSpPr/>
              <p:nvPr/>
            </p:nvSpPr>
            <p:spPr bwMode="auto">
              <a:xfrm>
                <a:off x="338" y="1200"/>
                <a:ext cx="97" cy="1104"/>
              </a:xfrm>
              <a:custGeom>
                <a:avLst/>
                <a:gdLst/>
                <a:ahLst/>
                <a:cxnLst/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96" y="1103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613" name="Freeform 14"/>
              <p:cNvSpPr/>
              <p:nvPr/>
            </p:nvSpPr>
            <p:spPr bwMode="auto">
              <a:xfrm>
                <a:off x="338" y="1200"/>
                <a:ext cx="97" cy="1104"/>
              </a:xfrm>
              <a:custGeom>
                <a:avLst/>
                <a:gdLst/>
                <a:ahLst/>
                <a:cxnLst/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</p:grpSp>
      <p:sp>
        <p:nvSpPr>
          <p:cNvPr id="1048616" name="Rectangle 17"/>
          <p:cNvSpPr>
            <a:spLocks noGrp="1"/>
          </p:cNvSpPr>
          <p:nvPr>
            <p:ph type="dt" sz="quarter" idx="2"/>
          </p:nvPr>
        </p:nvSpPr>
        <p:spPr>
          <a:xfrm>
            <a:off x="3810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617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  <p:sp>
        <p:nvSpPr>
          <p:cNvPr id="1048618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620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0386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1048619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836613" y="2133600"/>
            <a:ext cx="7772400" cy="1143000"/>
          </a:xfrm>
        </p:spPr>
        <p:txBody>
          <a:bodyPr/>
          <a:lstStyle/>
          <a:p>
            <a:pPr lvl="0"/>
            <a:r>
              <a:rPr lang="en-US" altLang="en-US" noProof="0" smtClean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45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59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98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7526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47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748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74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750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52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753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55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</a:pPr>
            <a:endParaRPr kumimoji="0" lang="en-GB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6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5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42900"/>
            <a:ext cx="1943100" cy="5524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6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42900"/>
            <a:ext cx="5676900" cy="55245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626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627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7526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Title 1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104876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763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00" y="17526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>
            <a:alphaModFix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381000" y="304800"/>
            <a:ext cx="8383587" cy="6022975"/>
            <a:chOff x="240" y="192"/>
            <a:chExt cx="5281" cy="3794"/>
          </a:xfrm>
        </p:grpSpPr>
        <p:grpSp>
          <p:nvGrpSpPr>
            <p:cNvPr id="38" name="Group 37"/>
            <p:cNvGrpSpPr/>
            <p:nvPr/>
          </p:nvGrpSpPr>
          <p:grpSpPr>
            <a:xfrm>
              <a:off x="240" y="1008"/>
              <a:ext cx="5281" cy="2978"/>
              <a:chOff x="240" y="1008"/>
              <a:chExt cx="5281" cy="2978"/>
            </a:xfrm>
          </p:grpSpPr>
          <p:sp>
            <p:nvSpPr>
              <p:cNvPr id="1048576" name="Rectangle 4"/>
              <p:cNvSpPr/>
              <p:nvPr/>
            </p:nvSpPr>
            <p:spPr>
              <a:xfrm>
                <a:off x="245" y="1010"/>
                <a:ext cx="5269" cy="2976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</p:spPr>
            <p:txBody>
              <a:bodyPr vert="horz" wrap="none" lIns="91440" tIns="45720" rIns="91440" bIns="45720" anchor="ctr"/>
              <a:lstStyle>
                <a:lvl1pPr marL="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marL="4572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marL="9144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marL="13716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marL="18288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lang="en-GB" altLang="en-US"/>
              </a:p>
            </p:txBody>
          </p:sp>
          <p:sp>
            <p:nvSpPr>
              <p:cNvPr id="1048577" name="Freeform 5"/>
              <p:cNvSpPr/>
              <p:nvPr/>
            </p:nvSpPr>
            <p:spPr bwMode="auto">
              <a:xfrm>
                <a:off x="240" y="1008"/>
                <a:ext cx="5269" cy="2977"/>
              </a:xfrm>
              <a:custGeom>
                <a:avLst/>
                <a:gdLst/>
                <a:ahLst/>
                <a:cxnLst/>
                <a:rect l="0" t="0" r="r" b="b"/>
                <a:pathLst>
                  <a:path w="5269" h="2977">
                    <a:moveTo>
                      <a:pt x="5268" y="0"/>
                    </a:moveTo>
                    <a:lnTo>
                      <a:pt x="0" y="0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578" name="Freeform 6"/>
              <p:cNvSpPr/>
              <p:nvPr/>
            </p:nvSpPr>
            <p:spPr bwMode="auto">
              <a:xfrm>
                <a:off x="252" y="1008"/>
                <a:ext cx="5269" cy="2977"/>
              </a:xfrm>
              <a:custGeom>
                <a:avLst/>
                <a:gdLst/>
                <a:ahLst/>
                <a:cxnLst/>
                <a:rect l="0" t="0" r="r" b="b"/>
                <a:pathLst>
                  <a:path w="5269" h="2977">
                    <a:moveTo>
                      <a:pt x="5268" y="0"/>
                    </a:moveTo>
                    <a:lnTo>
                      <a:pt x="5268" y="2976"/>
                    </a:lnTo>
                    <a:lnTo>
                      <a:pt x="0" y="2976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  <p:grpSp>
          <p:nvGrpSpPr>
            <p:cNvPr id="39" name="Group 38"/>
            <p:cNvGrpSpPr/>
            <p:nvPr/>
          </p:nvGrpSpPr>
          <p:grpSpPr>
            <a:xfrm>
              <a:off x="336" y="1103"/>
              <a:ext cx="97" cy="2785"/>
              <a:chOff x="336" y="1103"/>
              <a:chExt cx="97" cy="2785"/>
            </a:xfrm>
          </p:grpSpPr>
          <p:sp>
            <p:nvSpPr>
              <p:cNvPr id="1048579" name="Rectangle 8"/>
              <p:cNvSpPr/>
              <p:nvPr/>
            </p:nvSpPr>
            <p:spPr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none" lIns="91440" tIns="45720" rIns="91440" bIns="45720" anchor="ctr"/>
              <a:lstStyle>
                <a:lvl1pPr marL="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marL="4572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marL="9144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marL="13716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marL="18288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lang="en-GB" altLang="en-US"/>
              </a:p>
            </p:txBody>
          </p:sp>
          <p:sp>
            <p:nvSpPr>
              <p:cNvPr id="1048580" name="Freeform 9"/>
              <p:cNvSpPr/>
              <p:nvPr/>
            </p:nvSpPr>
            <p:spPr bwMode="auto">
              <a:xfrm>
                <a:off x="336" y="1103"/>
                <a:ext cx="97" cy="2785"/>
              </a:xfrm>
              <a:custGeom>
                <a:avLst/>
                <a:gdLst/>
                <a:ahLst/>
                <a:cxnLst/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581" name="Freeform 10"/>
              <p:cNvSpPr/>
              <p:nvPr/>
            </p:nvSpPr>
            <p:spPr bwMode="auto">
              <a:xfrm>
                <a:off x="336" y="1103"/>
                <a:ext cx="97" cy="2785"/>
              </a:xfrm>
              <a:custGeom>
                <a:avLst/>
                <a:gdLst/>
                <a:ahLst/>
                <a:cxnLst/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  <p:grpSp>
          <p:nvGrpSpPr>
            <p:cNvPr id="40" name="Group 39"/>
            <p:cNvGrpSpPr/>
            <p:nvPr/>
          </p:nvGrpSpPr>
          <p:grpSpPr>
            <a:xfrm>
              <a:off x="240" y="192"/>
              <a:ext cx="193" cy="721"/>
              <a:chOff x="240" y="192"/>
              <a:chExt cx="193" cy="721"/>
            </a:xfrm>
          </p:grpSpPr>
          <p:sp>
            <p:nvSpPr>
              <p:cNvPr id="1048582" name="Rectangle 12"/>
              <p:cNvSpPr/>
              <p:nvPr/>
            </p:nvSpPr>
            <p:spPr>
              <a:xfrm>
                <a:off x="240" y="192"/>
                <a:ext cx="192" cy="720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</p:spPr>
            <p:txBody>
              <a:bodyPr vert="horz" wrap="none" lIns="91440" tIns="45720" rIns="91440" bIns="45720" anchor="ctr"/>
              <a:lstStyle>
                <a:lvl1pPr marL="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1pPr>
                <a:lvl2pPr marL="4572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2pPr>
                <a:lvl3pPr marL="9144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3pPr>
                <a:lvl4pPr marL="13716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4pPr>
                <a:lvl5pPr marL="1828800" indent="0" algn="l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sz="1800" b="0" i="0" u="none" baseline="0">
                    <a:solidFill>
                      <a:schemeClr val="dk1"/>
                    </a:solidFill>
                    <a:latin typeface="Times New Roman" pitchFamily="18" charset="0"/>
                    <a:sym typeface="Times New Roman" pitchFamily="18" charset="0"/>
                  </a:defRPr>
                </a:lvl5pPr>
              </a:lstStyle>
              <a:p>
                <a:endParaRPr lang="en-GB" altLang="en-US"/>
              </a:p>
            </p:txBody>
          </p:sp>
          <p:sp>
            <p:nvSpPr>
              <p:cNvPr id="1048583" name="Freeform 13"/>
              <p:cNvSpPr/>
              <p:nvPr/>
            </p:nvSpPr>
            <p:spPr bwMode="auto">
              <a:xfrm>
                <a:off x="240" y="192"/>
                <a:ext cx="193" cy="721"/>
              </a:xfrm>
              <a:custGeom>
                <a:avLst/>
                <a:gdLst/>
                <a:ahLst/>
                <a:cxnLst/>
                <a:rect l="0" t="0" r="r" b="b"/>
                <a:pathLst>
                  <a:path w="193" h="721">
                    <a:moveTo>
                      <a:pt x="192" y="0"/>
                    </a:moveTo>
                    <a:lnTo>
                      <a:pt x="0" y="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B2B2B2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584" name="Freeform 14"/>
              <p:cNvSpPr/>
              <p:nvPr/>
            </p:nvSpPr>
            <p:spPr bwMode="auto">
              <a:xfrm>
                <a:off x="240" y="192"/>
                <a:ext cx="193" cy="721"/>
              </a:xfrm>
              <a:custGeom>
                <a:avLst/>
                <a:gdLst/>
                <a:ahLst/>
                <a:cxnLst/>
                <a:rect l="0" t="0" r="r" b="b"/>
                <a:pathLst>
                  <a:path w="193" h="721">
                    <a:moveTo>
                      <a:pt x="192" y="0"/>
                    </a:moveTo>
                    <a:lnTo>
                      <a:pt x="192" y="720"/>
                    </a:lnTo>
                    <a:lnTo>
                      <a:pt x="0" y="720"/>
                    </a:lnTo>
                  </a:path>
                </a:pathLst>
              </a:custGeom>
              <a:noFill/>
              <a:ln w="12700" cap="rnd" cmpd="sng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</p:sp>
        </p:grpSp>
      </p:grpSp>
      <p:sp>
        <p:nvSpPr>
          <p:cNvPr id="1048585" name="Rectangle 15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586" name="Rectangle 16"/>
          <p:cNvSpPr>
            <a:spLocks noGrp="1"/>
          </p:cNvSpPr>
          <p:nvPr>
            <p:ph type="body" idx="1"/>
          </p:nvPr>
        </p:nvSpPr>
        <p:spPr>
          <a:xfrm>
            <a:off x="838200" y="1752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87" name="Rectangle 17"/>
          <p:cNvSpPr>
            <a:spLocks noGrp="1"/>
          </p:cNvSpPr>
          <p:nvPr>
            <p:ph type="dt" sz="half" idx="2"/>
          </p:nvPr>
        </p:nvSpPr>
        <p:spPr>
          <a:xfrm>
            <a:off x="381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endParaRPr lang="en-US" altLang="en-US" sz="1400"/>
          </a:p>
        </p:txBody>
      </p:sp>
      <p:sp>
        <p:nvSpPr>
          <p:cNvPr id="104858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3230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ctr"/>
            <a:endParaRPr lang="en-US" altLang="en-US" sz="1400"/>
          </a:p>
        </p:txBody>
      </p:sp>
      <p:sp>
        <p:nvSpPr>
          <p:cNvPr id="1048589" name="Rectangle 19"/>
          <p:cNvSpPr>
            <a:spLocks noGrp="1"/>
          </p:cNvSpPr>
          <p:nvPr>
            <p:ph type="sldNum" sz="quarter" idx="4"/>
          </p:nvPr>
        </p:nvSpPr>
        <p:spPr>
          <a:xfrm>
            <a:off x="6858000" y="63230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 algn="r"/>
            <a:fld id="{566ABCEB-ACFC-4714-9973-3DA970169C29}" type="slidenum">
              <a:rPr lang="en-US" altLang="en-US" sz="1400"/>
              <a:pPr lvl="0" algn="r"/>
              <a:t>‹#›</a:t>
            </a:fld>
            <a:endParaRPr lang="en-US" altLang="en-US"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Rectangle 2"/>
          <p:cNvSpPr>
            <a:spLocks noGrp="1"/>
          </p:cNvSpPr>
          <p:nvPr>
            <p:ph type="ctrTitle" idx="4294967295"/>
          </p:nvPr>
        </p:nvSpPr>
        <p:spPr>
          <a:xfrm>
            <a:off x="3657600" y="2209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algn="l">
              <a:defRPr sz="4400"/>
            </a:lvl1pPr>
          </a:lstStyle>
          <a:p>
            <a:r>
              <a:rPr lang="en-US" altLang="en-US"/>
              <a:t>LENZ’S LAW</a:t>
            </a:r>
          </a:p>
        </p:txBody>
      </p:sp>
      <p:pic>
        <p:nvPicPr>
          <p:cNvPr id="2097155" name="Picture 5" descr="Cartoon_cop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752600"/>
            <a:ext cx="3429000" cy="2065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9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lang="en-US" altLang="en-US"/>
              <a:t>CONTENT</a:t>
            </a:r>
          </a:p>
        </p:txBody>
      </p:sp>
      <p:sp>
        <p:nvSpPr>
          <p:cNvPr id="104862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7526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pPr lvl="0"/>
            <a:r>
              <a:rPr lang="en-US" altLang="en-US" sz="3200"/>
              <a:t>Magnetic Field</a:t>
            </a:r>
          </a:p>
          <a:p>
            <a:pPr lvl="0"/>
            <a:r>
              <a:rPr lang="en-US" altLang="en-US" sz="3200"/>
              <a:t>Induction</a:t>
            </a:r>
          </a:p>
          <a:p>
            <a:pPr lvl="0"/>
            <a:r>
              <a:rPr lang="en-US" altLang="en-US" sz="3200"/>
              <a:t>Faraday’s Laws</a:t>
            </a:r>
          </a:p>
          <a:p>
            <a:pPr lvl="0"/>
            <a:r>
              <a:rPr lang="en-US" altLang="en-US" sz="3200"/>
              <a:t>Lenz’s Law</a:t>
            </a:r>
          </a:p>
          <a:p>
            <a:pPr lvl="0"/>
            <a:r>
              <a:rPr lang="en-US" altLang="en-US" sz="3200"/>
              <a:t>Right Hand Rule</a:t>
            </a:r>
          </a:p>
          <a:p>
            <a:pPr lvl="0"/>
            <a:r>
              <a:rPr lang="en-US" altLang="en-US" sz="3200"/>
              <a:t>Direction of induced Current</a:t>
            </a:r>
          </a:p>
          <a:p>
            <a:pPr lvl="0"/>
            <a:endParaRPr lang="en-GB" altLang="en-US" sz="3200"/>
          </a:p>
        </p:txBody>
      </p:sp>
      <p:sp>
        <p:nvSpPr>
          <p:cNvPr id="104862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7526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pPr lvl="0"/>
            <a:r>
              <a:rPr lang="en-US" altLang="en-US" sz="3200"/>
              <a:t>Examples</a:t>
            </a:r>
          </a:p>
          <a:p>
            <a:pPr lvl="0"/>
            <a:r>
              <a:rPr lang="en-US" altLang="en-US" sz="3200"/>
              <a:t>Applications Of Lenz’s 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Rectangle 7"/>
          <p:cNvSpPr>
            <a:spLocks noGrp="1"/>
          </p:cNvSpPr>
          <p:nvPr>
            <p:ph type="body" sz="half" idx="1"/>
          </p:nvPr>
        </p:nvSpPr>
        <p:spPr>
          <a:xfrm>
            <a:off x="533400" y="1752600"/>
            <a:ext cx="4724400" cy="4495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pPr lvl="0">
              <a:lnSpc>
                <a:spcPct val="80000"/>
              </a:lnSpc>
            </a:pPr>
            <a:r>
              <a:rPr lang="en-US" altLang="en-US" sz="2400"/>
              <a:t>Russian physicist </a:t>
            </a:r>
          </a:p>
          <a:p>
            <a:pPr lvl="0">
              <a:lnSpc>
                <a:spcPct val="80000"/>
              </a:lnSpc>
            </a:pPr>
            <a:r>
              <a:rPr lang="en-US" altLang="en-US" sz="2400"/>
              <a:t>(1804-1865</a:t>
            </a:r>
            <a:r>
              <a:rPr lang="en-US" altLang="en-US" sz="2400" b="1"/>
              <a:t>)</a:t>
            </a:r>
          </a:p>
          <a:p>
            <a:pPr lvl="0">
              <a:lnSpc>
                <a:spcPct val="80000"/>
              </a:lnSpc>
            </a:pPr>
            <a:r>
              <a:rPr lang="en-US" altLang="en-US" sz="2400"/>
              <a:t>1834 Lenz’s Law</a:t>
            </a:r>
          </a:p>
          <a:p>
            <a:pPr lvl="0">
              <a:lnSpc>
                <a:spcPct val="80000"/>
              </a:lnSpc>
            </a:pPr>
            <a:r>
              <a:rPr lang="en-US" altLang="en-US" b="1" i="1"/>
              <a:t>There is an induced current in a closed conducting loop if and only if the magnetic flux through the loop is changing.  The direction of the induced current is such that the induced magnetic field always </a:t>
            </a:r>
            <a:r>
              <a:rPr lang="en-US" altLang="en-US" b="1" i="1">
                <a:solidFill>
                  <a:srgbClr val="CC0000"/>
                </a:solidFill>
              </a:rPr>
              <a:t>opposes</a:t>
            </a:r>
            <a:r>
              <a:rPr lang="en-US" altLang="en-US" b="1" i="1"/>
              <a:t> the change in the flux.</a:t>
            </a:r>
          </a:p>
        </p:txBody>
      </p:sp>
      <p:pic>
        <p:nvPicPr>
          <p:cNvPr id="2097157" name="Picture 4" descr="lenz"/>
          <p:cNvPicPr>
            <a:picLocks noGrp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370512" y="1676400"/>
            <a:ext cx="320992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3" descr="33_20"/>
          <p:cNvPicPr>
            <a:picLocks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>
          <a:xfrm>
            <a:off x="381000" y="1828800"/>
            <a:ext cx="449580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Picture 4" descr="33_21"/>
          <p:cNvPicPr>
            <a:picLocks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>
          <a:xfrm>
            <a:off x="5029200" y="1600200"/>
            <a:ext cx="342582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9" name="Text Box 7"/>
          <p:cNvSpPr txBox="1"/>
          <p:nvPr/>
        </p:nvSpPr>
        <p:spPr>
          <a:xfrm>
            <a:off x="685800" y="387350"/>
            <a:ext cx="8229600" cy="115824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 b="1" i="1">
                <a:latin typeface="Comic Sans MS" pitchFamily="66" charset="0"/>
              </a:rPr>
              <a:t>There is an induced current in a closed conducting loop if and only if the magnetic flux through the loop is changing.  The direction of the induced current is such that the induced magnetic field always </a:t>
            </a:r>
            <a:r>
              <a:rPr lang="en-US" altLang="en-US" sz="1800" b="1" i="1">
                <a:solidFill>
                  <a:srgbClr val="CC0000"/>
                </a:solidFill>
                <a:latin typeface="Comic Sans MS" pitchFamily="66" charset="0"/>
              </a:rPr>
              <a:t>opposes</a:t>
            </a:r>
            <a:r>
              <a:rPr lang="en-US" altLang="en-US" sz="1800" b="1" i="1">
                <a:latin typeface="Comic Sans MS" pitchFamily="66" charset="0"/>
              </a:rPr>
              <a:t> the change in the flux.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ctangle 10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lang="en-US" altLang="en-US"/>
              <a:t>Right Hand Rule</a:t>
            </a:r>
          </a:p>
        </p:txBody>
      </p:sp>
      <p:pic>
        <p:nvPicPr>
          <p:cNvPr id="2097160" name="Picture 4" descr="rt hand"/>
          <p:cNvPicPr>
            <a:picLocks noGrp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648200" y="1600200"/>
            <a:ext cx="3890962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2" name="Rectangle 11"/>
          <p:cNvSpPr>
            <a:spLocks noGrp="1"/>
          </p:cNvSpPr>
          <p:nvPr>
            <p:ph sz="half" idx="2"/>
          </p:nvPr>
        </p:nvSpPr>
        <p:spPr>
          <a:xfrm>
            <a:off x="909637" y="1752600"/>
            <a:ext cx="3814762" cy="4114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pPr lvl="0"/>
            <a:r>
              <a:rPr lang="en-US" altLang="en-US" sz="3200"/>
              <a:t>If you wrap your fingers around the coil in the direction of the current, your thumb  points north.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Rectangle 2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lang="en-US" altLang="en-US" sz="2400">
                <a:solidFill>
                  <a:schemeClr val="dk1"/>
                </a:solidFill>
              </a:rPr>
              <a:t>If the field of the bar magnet is already in the loop and the magnet is removed, the induced current is in the direction that tries to keep the field constant</a:t>
            </a:r>
          </a:p>
        </p:txBody>
      </p:sp>
      <p:pic>
        <p:nvPicPr>
          <p:cNvPr id="2097161" name="Picture 3" descr="33_22_01"/>
          <p:cNvPicPr>
            <a:picLocks/>
          </p:cNvPicPr>
          <p:nvPr/>
        </p:nvPicPr>
        <p:blipFill>
          <a:blip r:embed="rId2">
            <a:lum bright="-20000" contrast="40000"/>
          </a:blip>
          <a:srcRect/>
          <a:stretch>
            <a:fillRect/>
          </a:stretch>
        </p:blipFill>
        <p:spPr>
          <a:xfrm>
            <a:off x="0" y="1676400"/>
            <a:ext cx="4953000" cy="3932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2" name="Picture 4" descr="33_22_02"/>
          <p:cNvPicPr>
            <a:picLocks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>
          <a:xfrm>
            <a:off x="4953000" y="1905000"/>
            <a:ext cx="4038600" cy="34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Rectangle 2"/>
          <p:cNvSpPr>
            <a:spLocks noGrp="1"/>
          </p:cNvSpPr>
          <p:nvPr>
            <p:ph type="title" idx="4294967295"/>
          </p:nvPr>
        </p:nvSpPr>
        <p:spPr>
          <a:xfrm>
            <a:off x="576262" y="304800"/>
            <a:ext cx="8170862" cy="1468437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marL="952500" lvl="0" indent="-952500"/>
            <a:r>
              <a:rPr lang="zh-TW" altLang="en-US">
                <a:ea typeface="新細明體" charset="-120"/>
              </a:rPr>
              <a:t>2	</a:t>
            </a:r>
            <a:r>
              <a:rPr lang="en-US" altLang="zh-TW">
                <a:ea typeface="新細明體" charset="-120"/>
              </a:rPr>
              <a:t>Direction of induced current</a:t>
            </a:r>
          </a:p>
        </p:txBody>
      </p:sp>
      <p:pic>
        <p:nvPicPr>
          <p:cNvPr id="2097163" name="Picture 3" descr="17_1016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" y="2409825"/>
            <a:ext cx="4062412" cy="130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4" name="Picture 4" descr="17_1018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600" y="3889375"/>
            <a:ext cx="4062412" cy="1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5" name="Line 5"/>
          <p:cNvSpPr/>
          <p:nvPr/>
        </p:nvSpPr>
        <p:spPr>
          <a:xfrm>
            <a:off x="1066800" y="2968625"/>
            <a:ext cx="838200" cy="0"/>
          </a:xfrm>
          <a:prstGeom prst="line">
            <a:avLst/>
          </a:prstGeom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36" name="Line 6"/>
          <p:cNvSpPr/>
          <p:nvPr/>
        </p:nvSpPr>
        <p:spPr>
          <a:xfrm flipH="1">
            <a:off x="1066800" y="4452937"/>
            <a:ext cx="838200" cy="0"/>
          </a:xfrm>
          <a:prstGeom prst="line">
            <a:avLst/>
          </a:prstGeom>
          <a:noFill/>
          <a:ln w="222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37" name="Text Box 7"/>
          <p:cNvSpPr txBox="1"/>
          <p:nvPr/>
        </p:nvSpPr>
        <p:spPr>
          <a:xfrm>
            <a:off x="5013325" y="2309812"/>
            <a:ext cx="4130675" cy="94615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ctr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fontAlgn="ctr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2800">
                <a:latin typeface="Tahoma" pitchFamily="34" charset="0"/>
                <a:ea typeface="新細明體" charset="-120"/>
                <a:sym typeface="Symbol" pitchFamily="18" charset="2"/>
              </a:rPr>
              <a:t>In both cases, magnet moves </a:t>
            </a:r>
            <a:r>
              <a:rPr lang="zh-TW" altLang="zh-TW" sz="2800" b="1">
                <a:latin typeface="Tahoma" pitchFamily="34" charset="0"/>
                <a:ea typeface="新細明體" charset="-120"/>
                <a:sym typeface="Symbol" pitchFamily="18" charset="2"/>
              </a:rPr>
              <a:t>against a force</a:t>
            </a:r>
            <a:r>
              <a:rPr lang="zh-TW" altLang="zh-TW" sz="2800">
                <a:latin typeface="Tahoma" pitchFamily="34" charset="0"/>
                <a:ea typeface="新細明體" charset="-120"/>
                <a:sym typeface="Symbol" pitchFamily="18" charset="2"/>
              </a:rPr>
              <a:t>.</a:t>
            </a:r>
          </a:p>
        </p:txBody>
      </p:sp>
      <p:sp>
        <p:nvSpPr>
          <p:cNvPr id="1048638" name="Text Box 8"/>
          <p:cNvSpPr txBox="1"/>
          <p:nvPr/>
        </p:nvSpPr>
        <p:spPr>
          <a:xfrm>
            <a:off x="4999037" y="3521899"/>
            <a:ext cx="4144962" cy="1350901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ctr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fontAlgn="ctr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2800" b="1">
                <a:latin typeface="Tahoma" pitchFamily="34" charset="0"/>
                <a:ea typeface="新細明體" charset="-120"/>
                <a:sym typeface="Symbol" pitchFamily="18" charset="2"/>
              </a:rPr>
              <a:t>Work is done</a:t>
            </a:r>
            <a:r>
              <a:rPr lang="zh-TW" altLang="zh-TW" sz="2800">
                <a:latin typeface="Tahoma" pitchFamily="34" charset="0"/>
                <a:ea typeface="新細明體" charset="-120"/>
                <a:sym typeface="Symbol" pitchFamily="18" charset="2"/>
              </a:rPr>
              <a:t> during the motion &amp; it is transferred as electrical energy.</a:t>
            </a:r>
          </a:p>
        </p:txBody>
      </p:sp>
      <p:sp>
        <p:nvSpPr>
          <p:cNvPr id="1048639" name="AutoShape 9" descr="Parchment"/>
          <p:cNvSpPr/>
          <p:nvPr/>
        </p:nvSpPr>
        <p:spPr>
          <a:xfrm>
            <a:off x="868362" y="5409636"/>
            <a:ext cx="7332662" cy="982202"/>
          </a:xfrm>
          <a:prstGeom prst="horizontalScroll">
            <a:avLst/>
          </a:prstGeom>
          <a:blipFill rotWithShape="0">
            <a:blip r:embed="rId4">
              <a:alphaModFix/>
            </a:blip>
            <a:srcRect/>
            <a:tile tx="0" ty="0" sx="100000" sy="100000" flip="none" algn="tl"/>
          </a:blip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vert="horz" lIns="91440" tIns="72000" rIns="91440" bIns="72000" anchor="ctr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28575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800">
                <a:solidFill>
                  <a:srgbClr val="006184"/>
                </a:solidFill>
                <a:latin typeface="Tahoma" pitchFamily="34" charset="0"/>
                <a:ea typeface="新細明體" charset="-120"/>
              </a:rPr>
              <a:t>Induced </a:t>
            </a:r>
            <a:r>
              <a:rPr lang="en-US" altLang="zh-TW" sz="2800" i="1">
                <a:solidFill>
                  <a:srgbClr val="006184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 sz="2800" i="1">
                <a:latin typeface="Tahoma" pitchFamily="34" charset="0"/>
                <a:ea typeface="新細明體" charset="-120"/>
              </a:rPr>
              <a:t> 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always </a:t>
            </a:r>
            <a:r>
              <a:rPr lang="en-US" altLang="zh-TW" sz="2800">
                <a:solidFill>
                  <a:schemeClr val="lt2"/>
                </a:solidFill>
                <a:latin typeface="Tahoma" pitchFamily="34" charset="0"/>
                <a:ea typeface="新細明體" charset="-120"/>
              </a:rPr>
              <a:t>flows to oppose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 the movement which started it.</a:t>
            </a:r>
          </a:p>
        </p:txBody>
      </p:sp>
      <p:sp>
        <p:nvSpPr>
          <p:cNvPr id="1048640" name="Text Box 10"/>
          <p:cNvSpPr txBox="1"/>
          <p:nvPr/>
        </p:nvSpPr>
        <p:spPr>
          <a:xfrm>
            <a:off x="1366837" y="1544637"/>
            <a:ext cx="4895850" cy="641350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anchor="ctr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762000" lvl="0" indent="-762000" eaLnBrk="1" fontAlgn="ctr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3600" b="1">
                <a:latin typeface="Tahoma" pitchFamily="34" charset="0"/>
                <a:ea typeface="新細明體" charset="-120"/>
                <a:sym typeface="Symbol" pitchFamily="18" charset="2"/>
              </a:rPr>
              <a:t>b	Lenz's law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7" grpId="0"/>
      <p:bldP spid="1048638" grpId="0"/>
      <p:bldP spid="10486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5" name="Picture 1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337" y="0"/>
            <a:ext cx="90773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Rectangle 2"/>
          <p:cNvSpPr>
            <a:spLocks noGrp="1"/>
          </p:cNvSpPr>
          <p:nvPr>
            <p:ph type="title" idx="4294967295"/>
          </p:nvPr>
        </p:nvSpPr>
        <p:spPr>
          <a:xfrm>
            <a:off x="1249362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lang="en-US" altLang="zh-TW">
                <a:ea typeface="新細明體" charset="-120"/>
              </a:rPr>
              <a:t>Example 1</a:t>
            </a:r>
          </a:p>
        </p:txBody>
      </p:sp>
      <p:sp>
        <p:nvSpPr>
          <p:cNvPr id="1048677" name="Rectangle 3"/>
          <p:cNvSpPr/>
          <p:nvPr/>
        </p:nvSpPr>
        <p:spPr>
          <a:xfrm>
            <a:off x="4841875" y="3768725"/>
            <a:ext cx="0" cy="48736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endParaRPr lang="zh-TW" altLang="en-US">
              <a:ea typeface="新細明體" charset="-120"/>
            </a:endParaRPr>
          </a:p>
        </p:txBody>
      </p:sp>
      <p:sp>
        <p:nvSpPr>
          <p:cNvPr id="1048678" name="Text Box 4"/>
          <p:cNvSpPr txBox="1"/>
          <p:nvPr/>
        </p:nvSpPr>
        <p:spPr>
          <a:xfrm>
            <a:off x="1335087" y="912812"/>
            <a:ext cx="3328987" cy="396875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000">
                <a:solidFill>
                  <a:schemeClr val="lt2"/>
                </a:solidFill>
                <a:latin typeface="Tahoma" pitchFamily="34" charset="0"/>
                <a:ea typeface="新細明體" charset="-120"/>
              </a:rPr>
              <a:t>Current induced along a coil</a:t>
            </a:r>
          </a:p>
        </p:txBody>
      </p:sp>
      <p:sp>
        <p:nvSpPr>
          <p:cNvPr id="1048679" name="Rectangle 5"/>
          <p:cNvSpPr/>
          <p:nvPr/>
        </p:nvSpPr>
        <p:spPr>
          <a:xfrm>
            <a:off x="673100" y="1295400"/>
            <a:ext cx="8534400" cy="5794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666750" lvl="0" indent="-66675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>
                <a:latin typeface="Tahoma" pitchFamily="34" charset="0"/>
                <a:ea typeface="新細明體" charset="-120"/>
              </a:rPr>
              <a:t>A bar magnet passes through a coil:</a:t>
            </a:r>
          </a:p>
        </p:txBody>
      </p:sp>
      <p:pic>
        <p:nvPicPr>
          <p:cNvPr id="2097176" name="Picture 6" descr="17_102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3100" y="2057400"/>
            <a:ext cx="2925762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7" name="Picture 7" descr="17_1024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78300" y="2057400"/>
            <a:ext cx="15557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8" name="Picture 8" descr="17_1025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99187" y="2057400"/>
            <a:ext cx="2932112" cy="17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80" name="Line 9"/>
          <p:cNvSpPr/>
          <p:nvPr/>
        </p:nvSpPr>
        <p:spPr>
          <a:xfrm flipH="1">
            <a:off x="6159500" y="2209800"/>
            <a:ext cx="277812" cy="0"/>
          </a:xfrm>
          <a:prstGeom prst="line">
            <a:avLst/>
          </a:prstGeom>
          <a:noFill/>
          <a:ln w="5080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sm" len="sm"/>
          </a:ln>
        </p:spPr>
      </p:sp>
      <p:sp>
        <p:nvSpPr>
          <p:cNvPr id="1048681" name="Text Box 10"/>
          <p:cNvSpPr txBox="1"/>
          <p:nvPr/>
        </p:nvSpPr>
        <p:spPr>
          <a:xfrm>
            <a:off x="673100" y="44958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666750" lvl="0" indent="-66675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>
                <a:latin typeface="Tahoma" pitchFamily="34" charset="0"/>
                <a:ea typeface="新細明體" charset="-120"/>
              </a:rPr>
              <a:t>(</a:t>
            </a:r>
            <a:r>
              <a:rPr lang="en-US" altLang="zh-TW">
                <a:latin typeface="Tahoma" pitchFamily="34" charset="0"/>
                <a:ea typeface="新細明體" charset="-120"/>
              </a:rPr>
              <a:t>a)	Indicate the direction of the </a:t>
            </a:r>
            <a:r>
              <a:rPr lang="en-US" altLang="zh-TW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induced </a:t>
            </a:r>
            <a:r>
              <a:rPr lang="en-US" altLang="zh-TW" i="1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>
                <a:latin typeface="Tahoma" pitchFamily="34" charset="0"/>
                <a:ea typeface="新細明體" charset="-120"/>
              </a:rPr>
              <a:t> in each case. Explain briefly.</a:t>
            </a:r>
          </a:p>
        </p:txBody>
      </p:sp>
      <p:sp>
        <p:nvSpPr>
          <p:cNvPr id="1048682" name="Rectangle 11"/>
          <p:cNvSpPr/>
          <p:nvPr/>
        </p:nvSpPr>
        <p:spPr>
          <a:xfrm>
            <a:off x="1222375" y="3733800"/>
            <a:ext cx="411162" cy="366712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1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1800">
                <a:latin typeface="Tahoma" pitchFamily="34" charset="0"/>
                <a:ea typeface="新細明體" charset="-120"/>
              </a:rPr>
              <a:t>i)</a:t>
            </a:r>
          </a:p>
        </p:txBody>
      </p:sp>
      <p:sp>
        <p:nvSpPr>
          <p:cNvPr id="1048683" name="Rectangle 12"/>
          <p:cNvSpPr/>
          <p:nvPr/>
        </p:nvSpPr>
        <p:spPr>
          <a:xfrm>
            <a:off x="4727575" y="3733800"/>
            <a:ext cx="436881" cy="3581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1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1800">
                <a:latin typeface="Tahoma" pitchFamily="34" charset="0"/>
                <a:ea typeface="新細明體" charset="-120"/>
              </a:rPr>
              <a:t>ii)</a:t>
            </a:r>
          </a:p>
        </p:txBody>
      </p:sp>
      <p:sp>
        <p:nvSpPr>
          <p:cNvPr id="1048684" name="Rectangle 13"/>
          <p:cNvSpPr/>
          <p:nvPr/>
        </p:nvSpPr>
        <p:spPr>
          <a:xfrm>
            <a:off x="8102600" y="3733800"/>
            <a:ext cx="487681" cy="3581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1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1800">
                <a:latin typeface="Tahoma" pitchFamily="34" charset="0"/>
                <a:ea typeface="新細明體" charset="-120"/>
              </a:rPr>
              <a:t>iii)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8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Rectangle 2"/>
          <p:cNvSpPr>
            <a:spLocks noGrp="1"/>
          </p:cNvSpPr>
          <p:nvPr>
            <p:ph type="title" idx="4294967295"/>
          </p:nvPr>
        </p:nvSpPr>
        <p:spPr>
          <a:xfrm>
            <a:off x="109537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lang="en-US" altLang="zh-TW">
                <a:ea typeface="新細明體" charset="-120"/>
              </a:rPr>
              <a:t>Example 1</a:t>
            </a:r>
          </a:p>
        </p:txBody>
      </p:sp>
      <p:sp>
        <p:nvSpPr>
          <p:cNvPr id="1048686" name="Rectangle 3"/>
          <p:cNvSpPr/>
          <p:nvPr/>
        </p:nvSpPr>
        <p:spPr>
          <a:xfrm>
            <a:off x="4778375" y="3768725"/>
            <a:ext cx="0" cy="48736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endParaRPr lang="zh-TW" altLang="en-US">
              <a:ea typeface="新細明體" charset="-120"/>
            </a:endParaRPr>
          </a:p>
        </p:txBody>
      </p:sp>
      <p:sp>
        <p:nvSpPr>
          <p:cNvPr id="1048687" name="Text Box 4"/>
          <p:cNvSpPr txBox="1"/>
          <p:nvPr/>
        </p:nvSpPr>
        <p:spPr>
          <a:xfrm>
            <a:off x="1090612" y="912812"/>
            <a:ext cx="3328987" cy="396875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000">
                <a:solidFill>
                  <a:schemeClr val="lt2"/>
                </a:solidFill>
                <a:latin typeface="Tahoma" pitchFamily="34" charset="0"/>
                <a:ea typeface="新細明體" charset="-120"/>
              </a:rPr>
              <a:t>Current induced along a coil</a:t>
            </a:r>
          </a:p>
        </p:txBody>
      </p:sp>
      <p:sp>
        <p:nvSpPr>
          <p:cNvPr id="1048688" name="Rectangle 5"/>
          <p:cNvSpPr/>
          <p:nvPr/>
        </p:nvSpPr>
        <p:spPr>
          <a:xfrm>
            <a:off x="882650" y="1295400"/>
            <a:ext cx="8534400" cy="5191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2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a)  Indicate the direction of the </a:t>
            </a:r>
            <a:r>
              <a:rPr lang="en-US" altLang="zh-TW" sz="2800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induced </a:t>
            </a:r>
            <a:r>
              <a:rPr lang="en-US" altLang="zh-TW" sz="2800" i="1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. Explain.</a:t>
            </a:r>
          </a:p>
        </p:txBody>
      </p:sp>
      <p:pic>
        <p:nvPicPr>
          <p:cNvPr id="2097179" name="Picture 6" descr="17_102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44600" y="2057400"/>
            <a:ext cx="2925762" cy="17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89" name="Rectangle 7"/>
          <p:cNvSpPr/>
          <p:nvPr/>
        </p:nvSpPr>
        <p:spPr>
          <a:xfrm>
            <a:off x="1158875" y="3733800"/>
            <a:ext cx="411162" cy="366712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1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1800">
                <a:latin typeface="Tahoma" pitchFamily="34" charset="0"/>
                <a:ea typeface="新細明體" charset="-120"/>
              </a:rPr>
              <a:t>i)</a:t>
            </a:r>
          </a:p>
        </p:txBody>
      </p:sp>
      <p:sp>
        <p:nvSpPr>
          <p:cNvPr id="1048690" name="Line 8"/>
          <p:cNvSpPr/>
          <p:nvPr/>
        </p:nvSpPr>
        <p:spPr>
          <a:xfrm flipV="1">
            <a:off x="2025650" y="3429000"/>
            <a:ext cx="136525" cy="273050"/>
          </a:xfrm>
          <a:prstGeom prst="line">
            <a:avLst/>
          </a:prstGeom>
          <a:noFill/>
          <a:ln w="50800" cap="flat" cmpd="sng">
            <a:solidFill>
              <a:schemeClr val="accent2">
                <a:alpha val="100000"/>
              </a:schemeClr>
            </a:solidFill>
            <a:prstDash val="solid"/>
            <a:round/>
            <a:tailEnd type="triangle" w="sm" len="sm"/>
          </a:ln>
        </p:spPr>
      </p:sp>
      <p:sp>
        <p:nvSpPr>
          <p:cNvPr id="1048691" name="Text Box 9"/>
          <p:cNvSpPr txBox="1"/>
          <p:nvPr/>
        </p:nvSpPr>
        <p:spPr>
          <a:xfrm>
            <a:off x="2819400" y="2743200"/>
            <a:ext cx="5867400" cy="9461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800">
                <a:latin typeface="Tahoma" pitchFamily="34" charset="0"/>
                <a:ea typeface="新細明體" charset="-120"/>
              </a:rPr>
              <a:t>When magnet’s N-pole is moving into coil,</a:t>
            </a:r>
          </a:p>
        </p:txBody>
      </p:sp>
      <p:sp>
        <p:nvSpPr>
          <p:cNvPr id="1048692" name="Text Box 10"/>
          <p:cNvSpPr txBox="1"/>
          <p:nvPr/>
        </p:nvSpPr>
        <p:spPr>
          <a:xfrm>
            <a:off x="2819400" y="3689350"/>
            <a:ext cx="6172200" cy="9461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induced </a:t>
            </a:r>
            <a:r>
              <a:rPr lang="en-US" altLang="zh-TW" sz="2800" i="1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 sz="2800" i="1">
                <a:latin typeface="Tahoma" pitchFamily="34" charset="0"/>
                <a:ea typeface="新細明體" charset="-120"/>
              </a:rPr>
              <a:t> 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flows in such a direction as to produce a N-pole</a:t>
            </a:r>
          </a:p>
        </p:txBody>
      </p:sp>
      <p:sp>
        <p:nvSpPr>
          <p:cNvPr id="1048693" name="Text Box 11"/>
          <p:cNvSpPr txBox="1"/>
          <p:nvPr/>
        </p:nvSpPr>
        <p:spPr>
          <a:xfrm>
            <a:off x="2819400" y="4660900"/>
            <a:ext cx="6400800" cy="5191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800">
                <a:latin typeface="Tahoma" pitchFamily="34" charset="0"/>
                <a:ea typeface="新細明體" charset="-120"/>
              </a:rPr>
              <a:t>to </a:t>
            </a:r>
            <a:r>
              <a:rPr lang="en-US" altLang="zh-TW" sz="2800">
                <a:solidFill>
                  <a:schemeClr val="lt2"/>
                </a:solidFill>
                <a:latin typeface="Tahoma" pitchFamily="34" charset="0"/>
                <a:ea typeface="新細明體" charset="-120"/>
              </a:rPr>
              <a:t>oppose the approaching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 of magnet.</a:t>
            </a:r>
          </a:p>
        </p:txBody>
      </p:sp>
      <p:sp>
        <p:nvSpPr>
          <p:cNvPr id="1048694" name="AutoShape 12"/>
          <p:cNvSpPr/>
          <p:nvPr/>
        </p:nvSpPr>
        <p:spPr>
          <a:xfrm>
            <a:off x="457200" y="4586446"/>
            <a:ext cx="1828800" cy="426720"/>
          </a:xfrm>
          <a:prstGeom prst="cloudCallout">
            <a:avLst>
              <a:gd name="adj1" fmla="val 81685"/>
              <a:gd name="adj2" fmla="val -59287"/>
            </a:avLst>
          </a:prstGeom>
          <a:solidFill>
            <a:schemeClr val="accent1"/>
          </a:solidFill>
          <a:ln w="381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vert="horz" lIns="91440" tIns="45720" rIns="91440" bIns="45720" anchor="ctr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spcBef>
                <a:spcPct val="0"/>
              </a:spcBef>
              <a:buSzPct val="100000"/>
              <a:buFontTx/>
              <a:buNone/>
            </a:pPr>
            <a:r>
              <a:rPr lang="en-US" altLang="zh-TW" sz="2800">
                <a:latin typeface="Tahoma" pitchFamily="34" charset="0"/>
                <a:ea typeface="新細明體" charset="-120"/>
              </a:rPr>
              <a:t>Lenz’s law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882650" y="2362200"/>
            <a:ext cx="1800225" cy="1212070"/>
            <a:chOff x="816" y="1801"/>
            <a:chExt cx="1042" cy="850"/>
          </a:xfrm>
        </p:grpSpPr>
        <p:sp>
          <p:nvSpPr>
            <p:cNvPr id="1048695" name="Line 14"/>
            <p:cNvSpPr/>
            <p:nvPr/>
          </p:nvSpPr>
          <p:spPr>
            <a:xfrm>
              <a:off x="1086" y="2469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696" name="Line 15"/>
            <p:cNvSpPr/>
            <p:nvPr/>
          </p:nvSpPr>
          <p:spPr>
            <a:xfrm>
              <a:off x="1256" y="180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697" name="Line 16"/>
            <p:cNvSpPr/>
            <p:nvPr/>
          </p:nvSpPr>
          <p:spPr>
            <a:xfrm>
              <a:off x="1336" y="180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698" name="Line 17"/>
            <p:cNvSpPr/>
            <p:nvPr/>
          </p:nvSpPr>
          <p:spPr>
            <a:xfrm>
              <a:off x="1416" y="180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699" name="Line 18"/>
            <p:cNvSpPr/>
            <p:nvPr/>
          </p:nvSpPr>
          <p:spPr>
            <a:xfrm>
              <a:off x="1498" y="180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0" name="Line 19"/>
            <p:cNvSpPr/>
            <p:nvPr/>
          </p:nvSpPr>
          <p:spPr>
            <a:xfrm>
              <a:off x="1578" y="180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1" name="Line 20"/>
            <p:cNvSpPr/>
            <p:nvPr/>
          </p:nvSpPr>
          <p:spPr>
            <a:xfrm>
              <a:off x="1658" y="180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2" name="Line 21"/>
            <p:cNvSpPr/>
            <p:nvPr/>
          </p:nvSpPr>
          <p:spPr>
            <a:xfrm>
              <a:off x="1742" y="180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3" name="Line 22"/>
            <p:cNvSpPr/>
            <p:nvPr/>
          </p:nvSpPr>
          <p:spPr>
            <a:xfrm>
              <a:off x="1824" y="180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4" name="Line 23"/>
            <p:cNvSpPr/>
            <p:nvPr/>
          </p:nvSpPr>
          <p:spPr>
            <a:xfrm flipV="1">
              <a:off x="1858" y="2385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5" name="Rectangle 24"/>
            <p:cNvSpPr/>
            <p:nvPr/>
          </p:nvSpPr>
          <p:spPr>
            <a:xfrm>
              <a:off x="816" y="2292"/>
              <a:ext cx="162" cy="35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32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8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4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zh-TW" sz="2800" i="1">
                  <a:solidFill>
                    <a:srgbClr val="0000FF"/>
                  </a:solidFill>
                  <a:latin typeface="Tahoma" pitchFamily="34" charset="0"/>
                  <a:ea typeface="新細明體" charset="-120"/>
                </a:rPr>
                <a:t>I</a:t>
              </a:r>
            </a:p>
          </p:txBody>
        </p:sp>
        <p:sp>
          <p:nvSpPr>
            <p:cNvPr id="1048706" name="Line 25"/>
            <p:cNvSpPr/>
            <p:nvPr/>
          </p:nvSpPr>
          <p:spPr>
            <a:xfrm>
              <a:off x="1096" y="180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07" name="Line 26"/>
            <p:cNvSpPr/>
            <p:nvPr/>
          </p:nvSpPr>
          <p:spPr>
            <a:xfrm>
              <a:off x="1176" y="180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</p:grpSp>
      <p:grpSp>
        <p:nvGrpSpPr>
          <p:cNvPr id="74" name="Group 73"/>
          <p:cNvGrpSpPr/>
          <p:nvPr/>
        </p:nvGrpSpPr>
        <p:grpSpPr>
          <a:xfrm>
            <a:off x="895350" y="1819275"/>
            <a:ext cx="2187575" cy="457200"/>
            <a:chOff x="814" y="1489"/>
            <a:chExt cx="1284" cy="288"/>
          </a:xfrm>
        </p:grpSpPr>
        <p:sp>
          <p:nvSpPr>
            <p:cNvPr id="1048708" name="Text Box 28"/>
            <p:cNvSpPr txBox="1"/>
            <p:nvPr/>
          </p:nvSpPr>
          <p:spPr>
            <a:xfrm flipH="1">
              <a:off x="814" y="1489"/>
              <a:ext cx="208" cy="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32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8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4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  <a:latin typeface="Tahoma" pitchFamily="34" charset="0"/>
                  <a:ea typeface="新細明體" charset="-120"/>
                </a:rPr>
                <a:t>S</a:t>
              </a:r>
            </a:p>
          </p:txBody>
        </p:sp>
        <p:sp>
          <p:nvSpPr>
            <p:cNvPr id="1048709" name="Text Box 29"/>
            <p:cNvSpPr txBox="1"/>
            <p:nvPr/>
          </p:nvSpPr>
          <p:spPr>
            <a:xfrm flipH="1">
              <a:off x="1871" y="1489"/>
              <a:ext cx="227" cy="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32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8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4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  <a:latin typeface="Tahoma" pitchFamily="34" charset="0"/>
                  <a:ea typeface="新細明體" charset="-120"/>
                </a:rPr>
                <a:t>N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4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4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1" grpId="0"/>
      <p:bldP spid="1048692" grpId="0"/>
      <p:bldP spid="1048693" grpId="0"/>
      <p:bldP spid="10486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Rectangle 2"/>
          <p:cNvSpPr>
            <a:spLocks noGrp="1"/>
          </p:cNvSpPr>
          <p:nvPr>
            <p:ph type="title" idx="4294967295"/>
          </p:nvPr>
        </p:nvSpPr>
        <p:spPr>
          <a:xfrm>
            <a:off x="113347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lang="en-US" altLang="zh-TW">
                <a:ea typeface="新細明體" charset="-120"/>
              </a:rPr>
              <a:t>Example 1</a:t>
            </a:r>
          </a:p>
        </p:txBody>
      </p:sp>
      <p:sp>
        <p:nvSpPr>
          <p:cNvPr id="1048711" name="Rectangle 3"/>
          <p:cNvSpPr/>
          <p:nvPr/>
        </p:nvSpPr>
        <p:spPr>
          <a:xfrm>
            <a:off x="4778375" y="3768725"/>
            <a:ext cx="0" cy="48736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endParaRPr lang="zh-TW" altLang="en-US">
              <a:ea typeface="新細明體" charset="-120"/>
            </a:endParaRPr>
          </a:p>
        </p:txBody>
      </p:sp>
      <p:sp>
        <p:nvSpPr>
          <p:cNvPr id="1048712" name="Text Box 4"/>
          <p:cNvSpPr txBox="1"/>
          <p:nvPr/>
        </p:nvSpPr>
        <p:spPr>
          <a:xfrm>
            <a:off x="1193800" y="912812"/>
            <a:ext cx="3328987" cy="396875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000">
                <a:solidFill>
                  <a:schemeClr val="lt2"/>
                </a:solidFill>
                <a:latin typeface="Tahoma" pitchFamily="34" charset="0"/>
                <a:ea typeface="新細明體" charset="-120"/>
              </a:rPr>
              <a:t>Current induced along a coil</a:t>
            </a:r>
          </a:p>
        </p:txBody>
      </p:sp>
      <p:sp>
        <p:nvSpPr>
          <p:cNvPr id="1048713" name="Rectangle 5"/>
          <p:cNvSpPr/>
          <p:nvPr/>
        </p:nvSpPr>
        <p:spPr>
          <a:xfrm>
            <a:off x="609600" y="1295400"/>
            <a:ext cx="8534400" cy="5191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2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a)  Indicate the direction of the </a:t>
            </a:r>
            <a:r>
              <a:rPr lang="en-US" altLang="zh-TW" sz="2800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induced </a:t>
            </a:r>
            <a:r>
              <a:rPr lang="en-US" altLang="zh-TW" sz="2800" i="1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. Explain.</a:t>
            </a:r>
          </a:p>
        </p:txBody>
      </p:sp>
      <p:pic>
        <p:nvPicPr>
          <p:cNvPr id="2097180" name="Picture 6" descr="17_1024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14800" y="2057400"/>
            <a:ext cx="1555750" cy="17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14" name="Rectangle 7"/>
          <p:cNvSpPr/>
          <p:nvPr/>
        </p:nvSpPr>
        <p:spPr>
          <a:xfrm>
            <a:off x="4664075" y="3733800"/>
            <a:ext cx="436881" cy="3581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1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1800">
                <a:latin typeface="Tahoma" pitchFamily="34" charset="0"/>
                <a:ea typeface="新細明體" charset="-120"/>
              </a:rPr>
              <a:t>ii)</a:t>
            </a:r>
          </a:p>
        </p:txBody>
      </p:sp>
      <p:sp>
        <p:nvSpPr>
          <p:cNvPr id="1048715" name="Text Box 8"/>
          <p:cNvSpPr txBox="1"/>
          <p:nvPr/>
        </p:nvSpPr>
        <p:spPr>
          <a:xfrm>
            <a:off x="2097087" y="4487862"/>
            <a:ext cx="5089525" cy="579437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>
                <a:latin typeface="Tahoma" pitchFamily="34" charset="0"/>
                <a:ea typeface="新細明體" charset="-120"/>
              </a:rPr>
              <a:t>The </a:t>
            </a:r>
            <a:r>
              <a:rPr lang="en-US" altLang="zh-TW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induced </a:t>
            </a:r>
            <a:r>
              <a:rPr lang="en-US" altLang="zh-TW" i="1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 i="1">
                <a:latin typeface="Tahoma" pitchFamily="34" charset="0"/>
                <a:ea typeface="新細明體" charset="-120"/>
              </a:rPr>
              <a:t> </a:t>
            </a:r>
            <a:r>
              <a:rPr lang="en-US" altLang="zh-TW">
                <a:latin typeface="Tahoma" pitchFamily="34" charset="0"/>
                <a:ea typeface="新細明體" charset="-120"/>
              </a:rPr>
              <a:t>become zero</a:t>
            </a:r>
          </a:p>
        </p:txBody>
      </p:sp>
      <p:sp>
        <p:nvSpPr>
          <p:cNvPr id="1048716" name="Text Box 9"/>
          <p:cNvSpPr txBox="1"/>
          <p:nvPr/>
        </p:nvSpPr>
        <p:spPr>
          <a:xfrm rot="10800000">
            <a:off x="2101850" y="5048250"/>
            <a:ext cx="534987" cy="579437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en-US">
                <a:latin typeface="Tahoma" pitchFamily="34" charset="0"/>
                <a:ea typeface="新細明體" charset="-120"/>
                <a:sym typeface="Symbol" pitchFamily="18" charset="2"/>
              </a:rPr>
              <a:t></a:t>
            </a:r>
          </a:p>
        </p:txBody>
      </p:sp>
      <p:sp>
        <p:nvSpPr>
          <p:cNvPr id="1048717" name="Text Box 10"/>
          <p:cNvSpPr txBox="1"/>
          <p:nvPr/>
        </p:nvSpPr>
        <p:spPr>
          <a:xfrm>
            <a:off x="2586037" y="5010150"/>
            <a:ext cx="5517277" cy="5740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i="1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 i="1">
                <a:latin typeface="Tahoma" pitchFamily="34" charset="0"/>
                <a:ea typeface="新細明體" charset="-120"/>
              </a:rPr>
              <a:t> </a:t>
            </a:r>
            <a:r>
              <a:rPr lang="en-US" altLang="zh-TW">
                <a:latin typeface="Tahoma" pitchFamily="34" charset="0"/>
                <a:ea typeface="新細明體" charset="-120"/>
              </a:rPr>
              <a:t>is about to </a:t>
            </a:r>
            <a:r>
              <a:rPr lang="en-US" altLang="zh-TW">
                <a:solidFill>
                  <a:srgbClr val="009900"/>
                </a:solidFill>
                <a:latin typeface="Tahoma" pitchFamily="34" charset="0"/>
                <a:ea typeface="新細明體" charset="-120"/>
              </a:rPr>
              <a:t>change direction</a:t>
            </a:r>
            <a:r>
              <a:rPr lang="en-US" altLang="zh-TW">
                <a:latin typeface="Tahoma" pitchFamily="34" charset="0"/>
                <a:ea typeface="新細明體" charset="-120"/>
              </a:rPr>
              <a:t>.</a:t>
            </a:r>
          </a:p>
        </p:txBody>
      </p:sp>
      <p:sp>
        <p:nvSpPr>
          <p:cNvPr id="1048718" name="Line 11"/>
          <p:cNvSpPr/>
          <p:nvPr/>
        </p:nvSpPr>
        <p:spPr>
          <a:xfrm rot="10800000">
            <a:off x="4891087" y="3484562"/>
            <a:ext cx="0" cy="241300"/>
          </a:xfrm>
          <a:prstGeom prst="line">
            <a:avLst/>
          </a:prstGeom>
          <a:noFill/>
          <a:ln w="57150" cap="flat" cmpd="sng">
            <a:solidFill>
              <a:srgbClr val="FF0000">
                <a:alpha val="100000"/>
              </a:srgbClr>
            </a:solidFill>
            <a:prstDash val="solid"/>
            <a:round/>
            <a:tailEnd type="triangle" w="sm" len="sm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4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5" grpId="0"/>
      <p:bldP spid="1048716" grpId="0"/>
      <p:bldP spid="10487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Rectangle 2"/>
          <p:cNvSpPr>
            <a:spLocks noGrp="1"/>
          </p:cNvSpPr>
          <p:nvPr>
            <p:ph type="title" idx="4294967295"/>
          </p:nvPr>
        </p:nvSpPr>
        <p:spPr>
          <a:xfrm>
            <a:off x="1147762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pPr lvl="0"/>
            <a:r>
              <a:rPr lang="en-US" altLang="zh-TW">
                <a:ea typeface="新細明體" charset="-120"/>
              </a:rPr>
              <a:t>Example 1</a:t>
            </a:r>
          </a:p>
        </p:txBody>
      </p:sp>
      <p:sp>
        <p:nvSpPr>
          <p:cNvPr id="1048720" name="Rectangle 3"/>
          <p:cNvSpPr/>
          <p:nvPr/>
        </p:nvSpPr>
        <p:spPr>
          <a:xfrm>
            <a:off x="4778375" y="3768725"/>
            <a:ext cx="0" cy="48736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endParaRPr lang="zh-TW" altLang="en-US">
              <a:ea typeface="新細明體" charset="-120"/>
            </a:endParaRPr>
          </a:p>
        </p:txBody>
      </p:sp>
      <p:sp>
        <p:nvSpPr>
          <p:cNvPr id="1048721" name="Text Box 4"/>
          <p:cNvSpPr txBox="1"/>
          <p:nvPr/>
        </p:nvSpPr>
        <p:spPr>
          <a:xfrm>
            <a:off x="1141412" y="873125"/>
            <a:ext cx="3328987" cy="396875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000">
                <a:solidFill>
                  <a:schemeClr val="lt2"/>
                </a:solidFill>
                <a:latin typeface="Tahoma" pitchFamily="34" charset="0"/>
                <a:ea typeface="新細明體" charset="-120"/>
              </a:rPr>
              <a:t>Current induced along a coil</a:t>
            </a:r>
          </a:p>
        </p:txBody>
      </p:sp>
      <p:sp>
        <p:nvSpPr>
          <p:cNvPr id="1048722" name="Rectangle 5"/>
          <p:cNvSpPr/>
          <p:nvPr/>
        </p:nvSpPr>
        <p:spPr>
          <a:xfrm>
            <a:off x="609600" y="1295400"/>
            <a:ext cx="8534400" cy="5191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2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a)  Indicate the direction of the </a:t>
            </a:r>
            <a:r>
              <a:rPr lang="en-US" altLang="zh-TW" sz="2800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induced </a:t>
            </a:r>
            <a:r>
              <a:rPr lang="en-US" altLang="zh-TW" sz="2800" i="1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. Explain.</a:t>
            </a:r>
          </a:p>
        </p:txBody>
      </p:sp>
      <p:pic>
        <p:nvPicPr>
          <p:cNvPr id="2097181" name="Picture 6" descr="17_1025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49487" y="2057400"/>
            <a:ext cx="2932112" cy="17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23" name="Line 7"/>
          <p:cNvSpPr/>
          <p:nvPr/>
        </p:nvSpPr>
        <p:spPr>
          <a:xfrm flipH="1">
            <a:off x="2209800" y="2209800"/>
            <a:ext cx="277812" cy="0"/>
          </a:xfrm>
          <a:prstGeom prst="line">
            <a:avLst/>
          </a:prstGeom>
          <a:noFill/>
          <a:ln w="5080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sm" len="sm"/>
          </a:ln>
        </p:spPr>
      </p:sp>
      <p:sp>
        <p:nvSpPr>
          <p:cNvPr id="1048724" name="Rectangle 8"/>
          <p:cNvSpPr/>
          <p:nvPr/>
        </p:nvSpPr>
        <p:spPr>
          <a:xfrm>
            <a:off x="4152900" y="3733800"/>
            <a:ext cx="487680" cy="3581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zh-TW" altLang="zh-TW" sz="1800">
                <a:latin typeface="Tahoma" pitchFamily="34" charset="0"/>
                <a:ea typeface="新細明體" charset="-120"/>
              </a:rPr>
              <a:t>(</a:t>
            </a:r>
            <a:r>
              <a:rPr lang="en-US" altLang="zh-TW" sz="1800">
                <a:latin typeface="Tahoma" pitchFamily="34" charset="0"/>
                <a:ea typeface="新細明體" charset="-120"/>
              </a:rPr>
              <a:t>iii)</a:t>
            </a:r>
          </a:p>
        </p:txBody>
      </p:sp>
      <p:sp>
        <p:nvSpPr>
          <p:cNvPr id="1048725" name="Line 9"/>
          <p:cNvSpPr/>
          <p:nvPr/>
        </p:nvSpPr>
        <p:spPr>
          <a:xfrm flipH="1" flipV="1">
            <a:off x="4254500" y="3492500"/>
            <a:ext cx="169862" cy="225425"/>
          </a:xfrm>
          <a:prstGeom prst="line">
            <a:avLst/>
          </a:prstGeom>
          <a:noFill/>
          <a:ln w="50800" cap="flat" cmpd="sng">
            <a:solidFill>
              <a:srgbClr val="FF0000">
                <a:alpha val="100000"/>
              </a:srgbClr>
            </a:solidFill>
            <a:prstDash val="solid"/>
            <a:round/>
            <a:tailEnd type="triangle" w="sm" len="sm"/>
          </a:ln>
        </p:spPr>
      </p:sp>
      <p:sp>
        <p:nvSpPr>
          <p:cNvPr id="1048726" name="Text Box 10"/>
          <p:cNvSpPr txBox="1"/>
          <p:nvPr/>
        </p:nvSpPr>
        <p:spPr>
          <a:xfrm>
            <a:off x="1219200" y="4487862"/>
            <a:ext cx="6587005" cy="510541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800">
                <a:latin typeface="Tahoma" pitchFamily="34" charset="0"/>
                <a:ea typeface="新細明體" charset="-120"/>
              </a:rPr>
              <a:t>When magnet’s S-pole is leaving the coil,</a:t>
            </a:r>
          </a:p>
        </p:txBody>
      </p:sp>
      <p:sp>
        <p:nvSpPr>
          <p:cNvPr id="1048727" name="Text Box 11"/>
          <p:cNvSpPr txBox="1"/>
          <p:nvPr/>
        </p:nvSpPr>
        <p:spPr>
          <a:xfrm>
            <a:off x="1219200" y="4994275"/>
            <a:ext cx="6380778" cy="5105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800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induced </a:t>
            </a:r>
            <a:r>
              <a:rPr lang="en-US" altLang="zh-TW" sz="2800" i="1">
                <a:solidFill>
                  <a:srgbClr val="0000FF"/>
                </a:solidFill>
                <a:latin typeface="Tahoma" pitchFamily="34" charset="0"/>
                <a:ea typeface="新細明體" charset="-120"/>
              </a:rPr>
              <a:t>I</a:t>
            </a:r>
            <a:r>
              <a:rPr lang="en-US" altLang="zh-TW" sz="2800" i="1">
                <a:latin typeface="Tahoma" pitchFamily="34" charset="0"/>
                <a:ea typeface="新細明體" charset="-120"/>
              </a:rPr>
              <a:t> </a:t>
            </a:r>
            <a:r>
              <a:rPr lang="en-US" altLang="zh-TW" sz="2800">
                <a:latin typeface="Tahoma" pitchFamily="34" charset="0"/>
                <a:ea typeface="新細明體" charset="-120"/>
              </a:rPr>
              <a:t>flows in such a direction as to</a:t>
            </a:r>
          </a:p>
        </p:txBody>
      </p:sp>
      <p:sp>
        <p:nvSpPr>
          <p:cNvPr id="1048728" name="Text Box 12"/>
          <p:cNvSpPr txBox="1"/>
          <p:nvPr/>
        </p:nvSpPr>
        <p:spPr>
          <a:xfrm>
            <a:off x="1219200" y="5486400"/>
            <a:ext cx="7085012" cy="9461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Pct val="100000"/>
              <a:buFontTx/>
              <a:buNone/>
            </a:pPr>
            <a:r>
              <a:rPr lang="en-US" altLang="zh-TW" sz="2800">
                <a:latin typeface="Tahoma" pitchFamily="34" charset="0"/>
                <a:ea typeface="新細明體" charset="-120"/>
              </a:rPr>
              <a:t>produce a N-pole to </a:t>
            </a:r>
            <a:r>
              <a:rPr lang="en-US" altLang="zh-TW" sz="2800">
                <a:solidFill>
                  <a:schemeClr val="accent2"/>
                </a:solidFill>
                <a:latin typeface="Tahoma" pitchFamily="34" charset="0"/>
                <a:ea typeface="新細明體" charset="-120"/>
              </a:rPr>
              <a:t>oppose the leaving of magnet.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3411537" y="2298700"/>
            <a:ext cx="1677987" cy="1211262"/>
            <a:chOff x="2719" y="1591"/>
            <a:chExt cx="945" cy="763"/>
          </a:xfrm>
        </p:grpSpPr>
        <p:sp>
          <p:nvSpPr>
            <p:cNvPr id="1048729" name="Line 14"/>
            <p:cNvSpPr/>
            <p:nvPr/>
          </p:nvSpPr>
          <p:spPr>
            <a:xfrm flipV="1">
              <a:off x="2905" y="2124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0" name="Line 15"/>
            <p:cNvSpPr/>
            <p:nvPr/>
          </p:nvSpPr>
          <p:spPr>
            <a:xfrm flipV="1">
              <a:off x="3077" y="159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1" name="Line 16"/>
            <p:cNvSpPr/>
            <p:nvPr/>
          </p:nvSpPr>
          <p:spPr>
            <a:xfrm flipV="1">
              <a:off x="3157" y="159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2" name="Line 17"/>
            <p:cNvSpPr/>
            <p:nvPr/>
          </p:nvSpPr>
          <p:spPr>
            <a:xfrm flipV="1">
              <a:off x="3235" y="159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3" name="Line 18"/>
            <p:cNvSpPr/>
            <p:nvPr/>
          </p:nvSpPr>
          <p:spPr>
            <a:xfrm flipV="1">
              <a:off x="3313" y="159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4" name="Line 19"/>
            <p:cNvSpPr/>
            <p:nvPr/>
          </p:nvSpPr>
          <p:spPr>
            <a:xfrm flipV="1">
              <a:off x="3393" y="159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5" name="Line 20"/>
            <p:cNvSpPr/>
            <p:nvPr/>
          </p:nvSpPr>
          <p:spPr>
            <a:xfrm flipV="1">
              <a:off x="3472" y="159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6" name="Line 21"/>
            <p:cNvSpPr/>
            <p:nvPr/>
          </p:nvSpPr>
          <p:spPr>
            <a:xfrm flipV="1">
              <a:off x="3551" y="159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7" name="Line 22"/>
            <p:cNvSpPr/>
            <p:nvPr/>
          </p:nvSpPr>
          <p:spPr>
            <a:xfrm flipV="1">
              <a:off x="3633" y="1592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8" name="Line 23"/>
            <p:cNvSpPr/>
            <p:nvPr/>
          </p:nvSpPr>
          <p:spPr>
            <a:xfrm>
              <a:off x="3664" y="2208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39" name="Rectangle 24"/>
            <p:cNvSpPr/>
            <p:nvPr/>
          </p:nvSpPr>
          <p:spPr>
            <a:xfrm flipV="1">
              <a:off x="2719" y="2032"/>
              <a:ext cx="158" cy="322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32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8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4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zh-TW" sz="2800" i="1">
                  <a:solidFill>
                    <a:srgbClr val="0000FF"/>
                  </a:solidFill>
                  <a:latin typeface="Tahoma" pitchFamily="34" charset="0"/>
                  <a:ea typeface="新細明體" charset="-120"/>
                </a:rPr>
                <a:t>I</a:t>
              </a:r>
            </a:p>
          </p:txBody>
        </p:sp>
        <p:sp>
          <p:nvSpPr>
            <p:cNvPr id="1048740" name="Line 25"/>
            <p:cNvSpPr/>
            <p:nvPr/>
          </p:nvSpPr>
          <p:spPr>
            <a:xfrm flipV="1">
              <a:off x="2919" y="159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  <p:sp>
          <p:nvSpPr>
            <p:cNvPr id="1048741" name="Line 26"/>
            <p:cNvSpPr/>
            <p:nvPr/>
          </p:nvSpPr>
          <p:spPr>
            <a:xfrm flipV="1">
              <a:off x="2997" y="1591"/>
              <a:ext cx="0" cy="48"/>
            </a:xfrm>
            <a:prstGeom prst="line">
              <a:avLst/>
            </a:prstGeom>
            <a:noFill/>
            <a:ln w="38100" cap="flat" cmpd="sng">
              <a:solidFill>
                <a:srgbClr val="004D68">
                  <a:alpha val="100000"/>
                </a:srgbClr>
              </a:solidFill>
              <a:prstDash val="solid"/>
              <a:round/>
              <a:tailEnd type="triangle" w="sm" len="med"/>
            </a:ln>
          </p:spPr>
        </p:sp>
      </p:grpSp>
      <p:grpSp>
        <p:nvGrpSpPr>
          <p:cNvPr id="78" name="Group 77"/>
          <p:cNvGrpSpPr/>
          <p:nvPr/>
        </p:nvGrpSpPr>
        <p:grpSpPr>
          <a:xfrm flipH="1">
            <a:off x="3328987" y="1835150"/>
            <a:ext cx="2109787" cy="457200"/>
            <a:chOff x="811" y="1489"/>
            <a:chExt cx="1282" cy="288"/>
          </a:xfrm>
        </p:grpSpPr>
        <p:sp>
          <p:nvSpPr>
            <p:cNvPr id="1048742" name="Text Box 28"/>
            <p:cNvSpPr txBox="1"/>
            <p:nvPr/>
          </p:nvSpPr>
          <p:spPr>
            <a:xfrm flipH="1">
              <a:off x="1858" y="1489"/>
              <a:ext cx="235" cy="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32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8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4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  <a:latin typeface="Tahoma" pitchFamily="34" charset="0"/>
                  <a:ea typeface="新細明體" charset="-120"/>
                </a:rPr>
                <a:t>N</a:t>
              </a:r>
            </a:p>
          </p:txBody>
        </p:sp>
        <p:sp>
          <p:nvSpPr>
            <p:cNvPr id="1048743" name="Text Box 29"/>
            <p:cNvSpPr txBox="1"/>
            <p:nvPr/>
          </p:nvSpPr>
          <p:spPr>
            <a:xfrm flipH="1">
              <a:off x="811" y="1489"/>
              <a:ext cx="215" cy="2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32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8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4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2"/>
                </a:buClr>
                <a:buSzPct val="75000"/>
                <a:buFontTx/>
                <a:buChar char="•"/>
                <a:defRPr sz="2000" b="0" i="0" u="none" baseline="0">
                  <a:solidFill>
                    <a:schemeClr val="dk1"/>
                  </a:solidFill>
                  <a:latin typeface="Times New Roman" pitchFamily="18" charset="0"/>
                  <a:sym typeface="Times New Roman" pitchFamily="18" charset="0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zh-TW" sz="2400">
                  <a:solidFill>
                    <a:srgbClr val="0000FF"/>
                  </a:solidFill>
                  <a:latin typeface="Tahoma" pitchFamily="34" charset="0"/>
                  <a:ea typeface="新細明體" charset="-120"/>
                </a:rPr>
                <a:t>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4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4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6" grpId="0"/>
      <p:bldP spid="1048727" grpId="0"/>
      <p:bldP spid="10487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Rectangle 10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lang="en-US" altLang="en-US"/>
              <a:t>Lenz’s Law</a:t>
            </a:r>
          </a:p>
        </p:txBody>
      </p:sp>
      <p:pic>
        <p:nvPicPr>
          <p:cNvPr id="2097154" name="Picture 4"/>
          <p:cNvPicPr>
            <a:picLocks noGrp="1"/>
          </p:cNvPicPr>
          <p:nvPr>
            <p:ph sz="half"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>
          <a:xfrm>
            <a:off x="1054100" y="2514600"/>
            <a:ext cx="3598862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2" name="Rectangle 11"/>
          <p:cNvSpPr>
            <a:spLocks noGrp="1"/>
          </p:cNvSpPr>
          <p:nvPr>
            <p:ph sz="half" idx="2"/>
          </p:nvPr>
        </p:nvSpPr>
        <p:spPr>
          <a:xfrm>
            <a:off x="4795837" y="1752600"/>
            <a:ext cx="3814762" cy="4114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r>
              <a:rPr lang="en-US" altLang="en-US"/>
              <a:t>Alternating current through the coil</a:t>
            </a:r>
          </a:p>
          <a:p>
            <a:r>
              <a:rPr lang="en-US" altLang="en-US"/>
              <a:t>What happens to Iron core?</a:t>
            </a:r>
          </a:p>
          <a:p>
            <a:r>
              <a:rPr lang="en-US" altLang="en-US"/>
              <a:t>What will happen to the ring?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8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Rectangle 7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lang="en-US" altLang="en-US"/>
              <a:t>Lenz’s Law</a:t>
            </a:r>
          </a:p>
        </p:txBody>
      </p:sp>
      <p:pic>
        <p:nvPicPr>
          <p:cNvPr id="2097153" name="Picture 4"/>
          <p:cNvPicPr>
            <a:picLocks noGrp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2286000"/>
            <a:ext cx="419100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0" name="Rectangle 8"/>
          <p:cNvSpPr>
            <a:spLocks noGrp="1"/>
          </p:cNvSpPr>
          <p:nvPr>
            <p:ph sz="half" idx="2"/>
          </p:nvPr>
        </p:nvSpPr>
        <p:spPr>
          <a:xfrm>
            <a:off x="4495800" y="1676400"/>
            <a:ext cx="4343400" cy="41910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r>
              <a:rPr lang="en-US" altLang="en-US"/>
              <a:t>The changing magnetic field in the coil due to the change in current induces a current in the metal ring.  Lenz’s Law states that the magnetic field in the ring opposes the magnetic field of the coil and forces the ring to fly away.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7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lang="en-US" altLang="en-US"/>
              <a:t>Lenz’s Law</a:t>
            </a:r>
          </a:p>
        </p:txBody>
      </p:sp>
      <p:pic>
        <p:nvPicPr>
          <p:cNvPr id="2097152" name="Picture 4"/>
          <p:cNvPicPr>
            <a:picLocks noGrp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85787" y="1828800"/>
            <a:ext cx="3452812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5" name="Rectangle 8"/>
          <p:cNvSpPr>
            <a:spLocks noGrp="1"/>
          </p:cNvSpPr>
          <p:nvPr>
            <p:ph sz="half" idx="2"/>
          </p:nvPr>
        </p:nvSpPr>
        <p:spPr>
          <a:xfrm>
            <a:off x="4795837" y="1752600"/>
            <a:ext cx="3814762" cy="4114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800">
                <a:solidFill>
                  <a:schemeClr val="dk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400">
                <a:solidFill>
                  <a:schemeClr val="dk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2000">
                <a:solidFill>
                  <a:schemeClr val="dk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Char char="•"/>
              <a:defRPr sz="1800">
                <a:solidFill>
                  <a:schemeClr val="dk1"/>
                </a:solidFill>
              </a:defRPr>
            </a:lvl5pPr>
          </a:lstStyle>
          <a:p>
            <a:r>
              <a:rPr lang="en-US" altLang="en-US"/>
              <a:t>What just happened?</a:t>
            </a:r>
          </a:p>
          <a:p>
            <a:r>
              <a:rPr lang="en-US" altLang="en-US"/>
              <a:t>How often does this occur?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lt2"/>
                </a:solidFill>
                <a:latin typeface="Times New Roman" pitchFamily="18" charset="0"/>
                <a:sym typeface="Times New Roman" pitchFamily="18" charset="0"/>
              </a:defRPr>
            </a:lvl1pPr>
          </a:lstStyle>
          <a:p>
            <a:r>
              <a:rPr lang="en-US" altLang="en-US"/>
              <a:t>Application of Lenz’s Law</a:t>
            </a:r>
          </a:p>
        </p:txBody>
      </p:sp>
      <p:sp>
        <p:nvSpPr>
          <p:cNvPr id="1048591" name="Content Placeholder 4"/>
          <p:cNvSpPr>
            <a:spLocks noGrp="1"/>
          </p:cNvSpPr>
          <p:nvPr>
            <p:ph idx="1"/>
          </p:nvPr>
        </p:nvSpPr>
        <p:spPr>
          <a:xfrm>
            <a:off x="838200" y="1752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32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8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4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2"/>
              </a:buClr>
              <a:buSzPct val="75000"/>
              <a:buFontTx/>
              <a:buChar char="•"/>
              <a:defRPr sz="2000" b="0" i="0" u="none" baseline="0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r>
              <a:rPr lang="en-US" altLang="en-US"/>
              <a:t>Breaking Systems of train</a:t>
            </a:r>
          </a:p>
          <a:p>
            <a:r>
              <a:rPr lang="en-US" altLang="en-US"/>
              <a:t>AC Generator </a:t>
            </a:r>
          </a:p>
          <a:p>
            <a:r>
              <a:rPr lang="en-US" altLang="en-US"/>
              <a:t>Microphones</a:t>
            </a:r>
          </a:p>
          <a:p>
            <a:r>
              <a:rPr lang="en-US" altLang="en-US"/>
              <a:t>Motors </a:t>
            </a:r>
          </a:p>
          <a:p>
            <a:r>
              <a:rPr lang="en-US" altLang="en-US"/>
              <a:t>Transformer</a:t>
            </a:r>
          </a:p>
          <a:p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Title 104877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B2B2B2"/>
      </a:dk2>
      <a:lt2>
        <a:srgbClr val="000000"/>
      </a:lt2>
      <a:accent1>
        <a:srgbClr val="6600FF"/>
      </a:accent1>
      <a:accent2>
        <a:srgbClr val="CC00FF"/>
      </a:accent2>
      <a:accent3>
        <a:srgbClr val="FFFFFF"/>
      </a:accent3>
      <a:accent4>
        <a:srgbClr val="000000"/>
      </a:accent4>
      <a:accent5>
        <a:srgbClr val="B9AAFF"/>
      </a:accent5>
      <a:accent6>
        <a:srgbClr val="B700E5"/>
      </a:accent6>
      <a:hlink>
        <a:srgbClr val="00CC99"/>
      </a:hlink>
      <a:folHlink>
        <a:srgbClr val="0099CC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B2B2B2"/>
        </a:dk2>
        <a:lt2>
          <a:srgbClr val="000000"/>
        </a:lt2>
        <a:accent1>
          <a:srgbClr val="6600FF"/>
        </a:accent1>
        <a:accent2>
          <a:srgbClr val="CC00FF"/>
        </a:accent2>
        <a:accent3>
          <a:srgbClr val="FFFFFF"/>
        </a:accent3>
        <a:accent4>
          <a:srgbClr val="000000"/>
        </a:accent4>
        <a:accent5>
          <a:srgbClr val="B9AAFF"/>
        </a:accent5>
        <a:accent6>
          <a:srgbClr val="B700E5"/>
        </a:accent6>
        <a:hlink>
          <a:srgbClr val="00CC99"/>
        </a:hlink>
        <a:folHlink>
          <a:srgbClr val="0099CC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B2B2B2"/>
        </a:dk2>
        <a:lt2>
          <a:srgbClr val="00000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FF99CC"/>
        </a:hlink>
        <a:folHlink>
          <a:srgbClr val="CBCBCB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B2B2B2"/>
        </a:dk2>
        <a:lt2>
          <a:srgbClr val="000000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2F2F2"/>
        </a:accent5>
        <a:accent6>
          <a:srgbClr val="555555"/>
        </a:accent6>
        <a:hlink>
          <a:srgbClr val="969696"/>
        </a:hlink>
        <a:folHlink>
          <a:srgbClr val="CBCBCB"/>
        </a:folHlink>
      </a:clrScheme>
    </a:extraClrScheme>
    <a:extraClrScheme>
      <a:clrScheme name="Default Color Scheme 4">
        <a:dk1>
          <a:srgbClr val="000000"/>
        </a:dk1>
        <a:lt1>
          <a:srgbClr val="FFFFFF"/>
        </a:lt1>
        <a:dk2>
          <a:srgbClr val="B2B2B2"/>
        </a:dk2>
        <a:lt2>
          <a:srgbClr val="000000"/>
        </a:lt2>
        <a:accent1>
          <a:srgbClr val="FF0033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AAAD"/>
        </a:accent5>
        <a:accent6>
          <a:srgbClr val="B75B00"/>
        </a:accent6>
        <a:hlink>
          <a:srgbClr val="999933"/>
        </a:hlink>
        <a:folHlink>
          <a:srgbClr val="A50021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Office PowerPoint</Application>
  <PresentationFormat>On-screen Show (4:3)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Comic Sans MS</vt:lpstr>
      <vt:lpstr>新細明體</vt:lpstr>
      <vt:lpstr>Symbol</vt:lpstr>
      <vt:lpstr>Tahoma</vt:lpstr>
      <vt:lpstr>Times New Roman</vt:lpstr>
      <vt:lpstr>Office 主题</vt:lpstr>
      <vt:lpstr>LENZ’S LAW</vt:lpstr>
      <vt:lpstr>CONTENT</vt:lpstr>
      <vt:lpstr>PowerPoint Presentation</vt:lpstr>
      <vt:lpstr>PowerPoint Presentation</vt:lpstr>
      <vt:lpstr>Right Hand Rule</vt:lpstr>
      <vt:lpstr>If the field of the bar magnet is already in the loop and the magnet is removed, the induced current is in the direction that tries to keep the field constant</vt:lpstr>
      <vt:lpstr>2 Direction of induced current</vt:lpstr>
      <vt:lpstr>PowerPoint Presentation</vt:lpstr>
      <vt:lpstr>Example 1</vt:lpstr>
      <vt:lpstr>Example 1</vt:lpstr>
      <vt:lpstr>Example 1</vt:lpstr>
      <vt:lpstr>Example 1</vt:lpstr>
      <vt:lpstr>Lenz’s Law</vt:lpstr>
      <vt:lpstr>Lenz’s Law</vt:lpstr>
      <vt:lpstr>Lenz’s Law</vt:lpstr>
      <vt:lpstr>Application of Lenz’s Law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LENZ’S LAW</dc:title>
  <dc:creator>Raymond Yoh</dc:creator>
  <cp:lastModifiedBy>Mushtaque Ali</cp:lastModifiedBy>
  <cp:revision>3</cp:revision>
  <dcterms:created xsi:type="dcterms:W3CDTF">2004-07-23T19:10:56Z</dcterms:created>
  <dcterms:modified xsi:type="dcterms:W3CDTF">2024-05-16T08:19:19Z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60c9cd3a5c894b289610e9c2cbe96a8e</vt:lpwstr>
  </property>
</Properties>
</file>